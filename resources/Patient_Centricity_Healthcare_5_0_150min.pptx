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54088568f34b5b" /><Relationship Type="http://schemas.openxmlformats.org/officeDocument/2006/relationships/extended-properties" Target="/docProps/app.xml" Id="Rfb02643b3bca4b6c" /><Relationship Type="http://schemas.openxmlformats.org/officeDocument/2006/relationships/officeDocument" Target="/ppt/presentation.xml" Id="Rf07400e12e834fd6" /></Relationships>
</file>

<file path=ppt/presentation.xml><?xml version="1.0" encoding="utf-8"?>
<p:presentation xmlns:p="http://schemas.openxmlformats.org/presentationml/2006/main">
  <p:sldMasterIdLst>
    <p:sldMasterId xmlns:r="http://schemas.openxmlformats.org/officeDocument/2006/relationships" id="2147483648" r:id="R71d86c52ad7f47cc"/>
  </p:sldMasterIdLst>
  <p:notesMasterIdLst>
    <p:notesMasterId xmlns:r="http://schemas.openxmlformats.org/officeDocument/2006/relationships" r:id="R6f211a6348d649b3"/>
  </p:notesMasterIdLst>
  <p:sldIdLst>
    <p:sldId xmlns:r="http://schemas.openxmlformats.org/officeDocument/2006/relationships" id="256" r:id="R7c6b181d6890420a"/>
    <p:sldId xmlns:r="http://schemas.openxmlformats.org/officeDocument/2006/relationships" id="257" r:id="R02cb3da38e1046e3"/>
    <p:sldId xmlns:r="http://schemas.openxmlformats.org/officeDocument/2006/relationships" id="258" r:id="R269daad7a83541f3"/>
    <p:sldId xmlns:r="http://schemas.openxmlformats.org/officeDocument/2006/relationships" id="259" r:id="R73f70f8abee043b3"/>
    <p:sldId xmlns:r="http://schemas.openxmlformats.org/officeDocument/2006/relationships" id="260" r:id="Rc2ff3fcc756749be"/>
    <p:sldId xmlns:r="http://schemas.openxmlformats.org/officeDocument/2006/relationships" id="261" r:id="R8794adcf3fda4164"/>
    <p:sldId xmlns:r="http://schemas.openxmlformats.org/officeDocument/2006/relationships" id="262" r:id="R80f5306b02df484d"/>
    <p:sldId xmlns:r="http://schemas.openxmlformats.org/officeDocument/2006/relationships" id="263" r:id="R198f8a8b409046c0"/>
    <p:sldId xmlns:r="http://schemas.openxmlformats.org/officeDocument/2006/relationships" id="264" r:id="R6ad6ab30445c4bd6"/>
    <p:sldId xmlns:r="http://schemas.openxmlformats.org/officeDocument/2006/relationships" id="265" r:id="R175e3d9ea9254e35"/>
    <p:sldId xmlns:r="http://schemas.openxmlformats.org/officeDocument/2006/relationships" id="266" r:id="R6b95a66a5a1141c0"/>
    <p:sldId xmlns:r="http://schemas.openxmlformats.org/officeDocument/2006/relationships" id="267" r:id="R6ae1d7651cec4045"/>
    <p:sldId xmlns:r="http://schemas.openxmlformats.org/officeDocument/2006/relationships" id="268" r:id="R1a8c8b27728d4924"/>
    <p:sldId xmlns:r="http://schemas.openxmlformats.org/officeDocument/2006/relationships" id="269" r:id="Rcb726630668b4fcd"/>
    <p:sldId xmlns:r="http://schemas.openxmlformats.org/officeDocument/2006/relationships" id="270" r:id="Rdf4f8166cce649f1"/>
    <p:sldId xmlns:r="http://schemas.openxmlformats.org/officeDocument/2006/relationships" id="271" r:id="R517a634bbecd4899"/>
    <p:sldId xmlns:r="http://schemas.openxmlformats.org/officeDocument/2006/relationships" id="272" r:id="Ra2a3cfec0e5a4677"/>
    <p:sldId xmlns:r="http://schemas.openxmlformats.org/officeDocument/2006/relationships" id="273" r:id="Raf5e6d9e991b4229"/>
    <p:sldId xmlns:r="http://schemas.openxmlformats.org/officeDocument/2006/relationships" id="274" r:id="Rf6e54c1d84ec436d"/>
    <p:sldId xmlns:r="http://schemas.openxmlformats.org/officeDocument/2006/relationships" id="275" r:id="R689703f0a5b8416c"/>
    <p:sldId xmlns:r="http://schemas.openxmlformats.org/officeDocument/2006/relationships" id="276" r:id="Re06e7aed46534612"/>
    <p:sldId xmlns:r="http://schemas.openxmlformats.org/officeDocument/2006/relationships" id="277" r:id="Rce2cf9d51a6a47cd"/>
    <p:sldId xmlns:r="http://schemas.openxmlformats.org/officeDocument/2006/relationships" id="278" r:id="R8184bdf472f74d8f"/>
    <p:sldId xmlns:r="http://schemas.openxmlformats.org/officeDocument/2006/relationships" id="279" r:id="R2d07e2c865654259"/>
    <p:sldId xmlns:r="http://schemas.openxmlformats.org/officeDocument/2006/relationships" id="280" r:id="Rae081dc8bc66422a"/>
    <p:sldId xmlns:r="http://schemas.openxmlformats.org/officeDocument/2006/relationships" id="281" r:id="R90d91c4e65fe4450"/>
    <p:sldId xmlns:r="http://schemas.openxmlformats.org/officeDocument/2006/relationships" id="282" r:id="R14e8e02ec3864e81"/>
    <p:sldId xmlns:r="http://schemas.openxmlformats.org/officeDocument/2006/relationships" id="283" r:id="Raeff05297676452a"/>
    <p:sldId xmlns:r="http://schemas.openxmlformats.org/officeDocument/2006/relationships" id="284" r:id="Rb1bf75d11a6f4437"/>
    <p:sldId xmlns:r="http://schemas.openxmlformats.org/officeDocument/2006/relationships" id="285" r:id="R7f000d817c5d4306"/>
    <p:sldId xmlns:r="http://schemas.openxmlformats.org/officeDocument/2006/relationships" id="286" r:id="R58ce788648a44db2"/>
    <p:sldId xmlns:r="http://schemas.openxmlformats.org/officeDocument/2006/relationships" id="287" r:id="Rd2e531f9efa14339"/>
    <p:sldId xmlns:r="http://schemas.openxmlformats.org/officeDocument/2006/relationships" id="288" r:id="R77f9e68c07d8478d"/>
    <p:sldId xmlns:r="http://schemas.openxmlformats.org/officeDocument/2006/relationships" id="289" r:id="R784bb077b92c4ef0"/>
    <p:sldId xmlns:r="http://schemas.openxmlformats.org/officeDocument/2006/relationships" id="290" r:id="Rfd5c678d8e014214"/>
    <p:sldId xmlns:r="http://schemas.openxmlformats.org/officeDocument/2006/relationships" id="291" r:id="R2204fd9119714198"/>
    <p:sldId xmlns:r="http://schemas.openxmlformats.org/officeDocument/2006/relationships" id="292" r:id="Ref1251ab5c6c4506"/>
    <p:sldId xmlns:r="http://schemas.openxmlformats.org/officeDocument/2006/relationships" id="293" r:id="R1208b1306fa04f5c"/>
    <p:sldId xmlns:r="http://schemas.openxmlformats.org/officeDocument/2006/relationships" id="294" r:id="R79f3216343b0479f"/>
    <p:sldId xmlns:r="http://schemas.openxmlformats.org/officeDocument/2006/relationships" id="295" r:id="R26a4d3b8942b4c8e"/>
    <p:sldId xmlns:r="http://schemas.openxmlformats.org/officeDocument/2006/relationships" id="296" r:id="R3afe123c915d444c"/>
    <p:sldId xmlns:r="http://schemas.openxmlformats.org/officeDocument/2006/relationships" id="297" r:id="R7009a56102ad4ca1"/>
    <p:sldId xmlns:r="http://schemas.openxmlformats.org/officeDocument/2006/relationships" id="298" r:id="R30506e7f485345fe"/>
    <p:sldId xmlns:r="http://schemas.openxmlformats.org/officeDocument/2006/relationships" id="299" r:id="Rfbe49f2a164341d8"/>
    <p:sldId xmlns:r="http://schemas.openxmlformats.org/officeDocument/2006/relationships" id="300" r:id="Rdb82b981c5a644ad"/>
    <p:sldId xmlns:r="http://schemas.openxmlformats.org/officeDocument/2006/relationships" id="301" r:id="Reaeb6b48aa1b4846"/>
    <p:sldId xmlns:r="http://schemas.openxmlformats.org/officeDocument/2006/relationships" id="302" r:id="R1a22dd97d9604508"/>
    <p:sldId xmlns:r="http://schemas.openxmlformats.org/officeDocument/2006/relationships" id="303" r:id="Rddedaa87109f4bbf"/>
    <p:sldId xmlns:r="http://schemas.openxmlformats.org/officeDocument/2006/relationships" id="304" r:id="Rae6e38099df04648"/>
    <p:sldId xmlns:r="http://schemas.openxmlformats.org/officeDocument/2006/relationships" id="305" r:id="Rd03c8e02c2204519"/>
    <p:sldId xmlns:r="http://schemas.openxmlformats.org/officeDocument/2006/relationships" id="306" r:id="R258d61282e1f46f7"/>
    <p:sldId xmlns:r="http://schemas.openxmlformats.org/officeDocument/2006/relationships" id="307" r:id="R76c49838d3df4dde"/>
    <p:sldId xmlns:r="http://schemas.openxmlformats.org/officeDocument/2006/relationships" id="308" r:id="R9a56ada792d9459b"/>
    <p:sldId xmlns:r="http://schemas.openxmlformats.org/officeDocument/2006/relationships" id="309" r:id="Rcc4d662276d24b24"/>
    <p:sldId xmlns:r="http://schemas.openxmlformats.org/officeDocument/2006/relationships" id="310" r:id="R08d00ddb3bff4028"/>
    <p:sldId xmlns:r="http://schemas.openxmlformats.org/officeDocument/2006/relationships" id="311" r:id="R077793309fc047e8"/>
    <p:sldId xmlns:r="http://schemas.openxmlformats.org/officeDocument/2006/relationships" id="312" r:id="R87568266955f42bd"/>
    <p:sldId xmlns:r="http://schemas.openxmlformats.org/officeDocument/2006/relationships" id="313" r:id="Ra013b5cfe0d94b06"/>
    <p:sldId xmlns:r="http://schemas.openxmlformats.org/officeDocument/2006/relationships" id="314" r:id="Rc368cfd5d47147f7"/>
    <p:sldId xmlns:r="http://schemas.openxmlformats.org/officeDocument/2006/relationships" id="315" r:id="R7aca44b7137d4d1f"/>
    <p:sldId xmlns:r="http://schemas.openxmlformats.org/officeDocument/2006/relationships" id="316" r:id="R4fa57fb267cc46a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6252452ea241d7" /><Relationship Type="http://schemas.openxmlformats.org/officeDocument/2006/relationships/slideMaster" Target="/ppt/slideMasters/slideMaster1.xml" Id="R71d86c52ad7f47cc" /><Relationship Type="http://schemas.openxmlformats.org/officeDocument/2006/relationships/notesMaster" Target="/ppt/notesMasters/notesMaster1.xml" Id="R6f211a6348d649b3" /><Relationship Type="http://schemas.openxmlformats.org/officeDocument/2006/relationships/presProps" Target="/ppt/presProps.xml" Id="R0a1f71277cfe4433" /><Relationship Type="http://schemas.openxmlformats.org/officeDocument/2006/relationships/tableStyles" Target="/ppt/tableStyles.xml" Id="Rf8ff056fd8ab4930" /><Relationship Type="http://schemas.openxmlformats.org/officeDocument/2006/relationships/slide" Target="/ppt/slides/slide1.xml" Id="R7c6b181d6890420a" /><Relationship Type="http://schemas.openxmlformats.org/officeDocument/2006/relationships/slide" Target="/ppt/slides/slide2.xml" Id="R02cb3da38e1046e3" /><Relationship Type="http://schemas.openxmlformats.org/officeDocument/2006/relationships/slide" Target="/ppt/slides/slide3.xml" Id="R269daad7a83541f3" /><Relationship Type="http://schemas.openxmlformats.org/officeDocument/2006/relationships/slide" Target="/ppt/slides/slide4.xml" Id="R73f70f8abee043b3" /><Relationship Type="http://schemas.openxmlformats.org/officeDocument/2006/relationships/slide" Target="/ppt/slides/slide5.xml" Id="Rc2ff3fcc756749be" /><Relationship Type="http://schemas.openxmlformats.org/officeDocument/2006/relationships/slide" Target="/ppt/slides/slide6.xml" Id="R8794adcf3fda4164" /><Relationship Type="http://schemas.openxmlformats.org/officeDocument/2006/relationships/slide" Target="/ppt/slides/slide7.xml" Id="R80f5306b02df484d" /><Relationship Type="http://schemas.openxmlformats.org/officeDocument/2006/relationships/slide" Target="/ppt/slides/slide8.xml" Id="R198f8a8b409046c0" /><Relationship Type="http://schemas.openxmlformats.org/officeDocument/2006/relationships/slide" Target="/ppt/slides/slide9.xml" Id="R6ad6ab30445c4bd6" /><Relationship Type="http://schemas.openxmlformats.org/officeDocument/2006/relationships/slide" Target="/ppt/slides/slide10.xml" Id="R175e3d9ea9254e35" /><Relationship Type="http://schemas.openxmlformats.org/officeDocument/2006/relationships/slide" Target="/ppt/slides/slide11.xml" Id="R6b95a66a5a1141c0" /><Relationship Type="http://schemas.openxmlformats.org/officeDocument/2006/relationships/slide" Target="/ppt/slides/slide12.xml" Id="R6ae1d7651cec4045" /><Relationship Type="http://schemas.openxmlformats.org/officeDocument/2006/relationships/slide" Target="/ppt/slides/slide13.xml" Id="R1a8c8b27728d4924" /><Relationship Type="http://schemas.openxmlformats.org/officeDocument/2006/relationships/slide" Target="/ppt/slides/slide14.xml" Id="Rcb726630668b4fcd" /><Relationship Type="http://schemas.openxmlformats.org/officeDocument/2006/relationships/slide" Target="/ppt/slides/slide15.xml" Id="Rdf4f8166cce649f1" /><Relationship Type="http://schemas.openxmlformats.org/officeDocument/2006/relationships/slide" Target="/ppt/slides/slide16.xml" Id="R517a634bbecd4899" /><Relationship Type="http://schemas.openxmlformats.org/officeDocument/2006/relationships/slide" Target="/ppt/slides/slide17.xml" Id="Ra2a3cfec0e5a4677" /><Relationship Type="http://schemas.openxmlformats.org/officeDocument/2006/relationships/slide" Target="/ppt/slides/slide18.xml" Id="Raf5e6d9e991b4229" /><Relationship Type="http://schemas.openxmlformats.org/officeDocument/2006/relationships/slide" Target="/ppt/slides/slide19.xml" Id="Rf6e54c1d84ec436d" /><Relationship Type="http://schemas.openxmlformats.org/officeDocument/2006/relationships/slide" Target="/ppt/slides/slide20.xml" Id="R689703f0a5b8416c" /><Relationship Type="http://schemas.openxmlformats.org/officeDocument/2006/relationships/slide" Target="/ppt/slides/slide21.xml" Id="Re06e7aed46534612" /><Relationship Type="http://schemas.openxmlformats.org/officeDocument/2006/relationships/slide" Target="/ppt/slides/slide22.xml" Id="Rce2cf9d51a6a47cd" /><Relationship Type="http://schemas.openxmlformats.org/officeDocument/2006/relationships/slide" Target="/ppt/slides/slide23.xml" Id="R8184bdf472f74d8f" /><Relationship Type="http://schemas.openxmlformats.org/officeDocument/2006/relationships/slide" Target="/ppt/slides/slide24.xml" Id="R2d07e2c865654259" /><Relationship Type="http://schemas.openxmlformats.org/officeDocument/2006/relationships/slide" Target="/ppt/slides/slide25.xml" Id="Rae081dc8bc66422a" /><Relationship Type="http://schemas.openxmlformats.org/officeDocument/2006/relationships/slide" Target="/ppt/slides/slide26.xml" Id="R90d91c4e65fe4450" /><Relationship Type="http://schemas.openxmlformats.org/officeDocument/2006/relationships/slide" Target="/ppt/slides/slide27.xml" Id="R14e8e02ec3864e81" /><Relationship Type="http://schemas.openxmlformats.org/officeDocument/2006/relationships/slide" Target="/ppt/slides/slide28.xml" Id="Raeff05297676452a" /><Relationship Type="http://schemas.openxmlformats.org/officeDocument/2006/relationships/slide" Target="/ppt/slides/slide29.xml" Id="Rb1bf75d11a6f4437" /><Relationship Type="http://schemas.openxmlformats.org/officeDocument/2006/relationships/slide" Target="/ppt/slides/slide30.xml" Id="R7f000d817c5d4306" /><Relationship Type="http://schemas.openxmlformats.org/officeDocument/2006/relationships/slide" Target="/ppt/slides/slide31.xml" Id="R58ce788648a44db2" /><Relationship Type="http://schemas.openxmlformats.org/officeDocument/2006/relationships/slide" Target="/ppt/slides/slide32.xml" Id="Rd2e531f9efa14339" /><Relationship Type="http://schemas.openxmlformats.org/officeDocument/2006/relationships/slide" Target="/ppt/slides/slide33.xml" Id="R77f9e68c07d8478d" /><Relationship Type="http://schemas.openxmlformats.org/officeDocument/2006/relationships/slide" Target="/ppt/slides/slide34.xml" Id="R784bb077b92c4ef0" /><Relationship Type="http://schemas.openxmlformats.org/officeDocument/2006/relationships/slide" Target="/ppt/slides/slide35.xml" Id="Rfd5c678d8e014214" /><Relationship Type="http://schemas.openxmlformats.org/officeDocument/2006/relationships/slide" Target="/ppt/slides/slide36.xml" Id="R2204fd9119714198" /><Relationship Type="http://schemas.openxmlformats.org/officeDocument/2006/relationships/slide" Target="/ppt/slides/slide37.xml" Id="Ref1251ab5c6c4506" /><Relationship Type="http://schemas.openxmlformats.org/officeDocument/2006/relationships/slide" Target="/ppt/slides/slide38.xml" Id="R1208b1306fa04f5c" /><Relationship Type="http://schemas.openxmlformats.org/officeDocument/2006/relationships/slide" Target="/ppt/slides/slide39.xml" Id="R79f3216343b0479f" /><Relationship Type="http://schemas.openxmlformats.org/officeDocument/2006/relationships/slide" Target="/ppt/slides/slide40.xml" Id="R26a4d3b8942b4c8e" /><Relationship Type="http://schemas.openxmlformats.org/officeDocument/2006/relationships/slide" Target="/ppt/slides/slide41.xml" Id="R3afe123c915d444c" /><Relationship Type="http://schemas.openxmlformats.org/officeDocument/2006/relationships/slide" Target="/ppt/slides/slide42.xml" Id="R7009a56102ad4ca1" /><Relationship Type="http://schemas.openxmlformats.org/officeDocument/2006/relationships/slide" Target="/ppt/slides/slide43.xml" Id="R30506e7f485345fe" /><Relationship Type="http://schemas.openxmlformats.org/officeDocument/2006/relationships/slide" Target="/ppt/slides/slide44.xml" Id="Rfbe49f2a164341d8" /><Relationship Type="http://schemas.openxmlformats.org/officeDocument/2006/relationships/slide" Target="/ppt/slides/slide45.xml" Id="Rdb82b981c5a644ad" /><Relationship Type="http://schemas.openxmlformats.org/officeDocument/2006/relationships/slide" Target="/ppt/slides/slide46.xml" Id="Reaeb6b48aa1b4846" /><Relationship Type="http://schemas.openxmlformats.org/officeDocument/2006/relationships/slide" Target="/ppt/slides/slide47.xml" Id="R1a22dd97d9604508" /><Relationship Type="http://schemas.openxmlformats.org/officeDocument/2006/relationships/slide" Target="/ppt/slides/slide48.xml" Id="Rddedaa87109f4bbf" /><Relationship Type="http://schemas.openxmlformats.org/officeDocument/2006/relationships/slide" Target="/ppt/slides/slide49.xml" Id="Rae6e38099df04648" /><Relationship Type="http://schemas.openxmlformats.org/officeDocument/2006/relationships/slide" Target="/ppt/slides/slide50.xml" Id="Rd03c8e02c2204519" /><Relationship Type="http://schemas.openxmlformats.org/officeDocument/2006/relationships/slide" Target="/ppt/slides/slide51.xml" Id="R258d61282e1f46f7" /><Relationship Type="http://schemas.openxmlformats.org/officeDocument/2006/relationships/slide" Target="/ppt/slides/slide52.xml" Id="R76c49838d3df4dde" /><Relationship Type="http://schemas.openxmlformats.org/officeDocument/2006/relationships/slide" Target="/ppt/slides/slide53.xml" Id="R9a56ada792d9459b" /><Relationship Type="http://schemas.openxmlformats.org/officeDocument/2006/relationships/slide" Target="/ppt/slides/slide54.xml" Id="Rcc4d662276d24b24" /><Relationship Type="http://schemas.openxmlformats.org/officeDocument/2006/relationships/slide" Target="/ppt/slides/slide55.xml" Id="R08d00ddb3bff4028" /><Relationship Type="http://schemas.openxmlformats.org/officeDocument/2006/relationships/slide" Target="/ppt/slides/slide56.xml" Id="R077793309fc047e8" /><Relationship Type="http://schemas.openxmlformats.org/officeDocument/2006/relationships/slide" Target="/ppt/slides/slide57.xml" Id="R87568266955f42bd" /><Relationship Type="http://schemas.openxmlformats.org/officeDocument/2006/relationships/slide" Target="/ppt/slides/slide58.xml" Id="Ra013b5cfe0d94b06" /><Relationship Type="http://schemas.openxmlformats.org/officeDocument/2006/relationships/slide" Target="/ppt/slides/slide59.xml" Id="Rc368cfd5d47147f7" /><Relationship Type="http://schemas.openxmlformats.org/officeDocument/2006/relationships/slide" Target="/ppt/slides/slide60.xml" Id="R7aca44b7137d4d1f" /><Relationship Type="http://schemas.openxmlformats.org/officeDocument/2006/relationships/slide" Target="/ppt/slides/slide61.xml" Id="R4fa57fb267cc46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be33f25fce4a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023f6cfe0e43ff" /><Relationship Type="http://schemas.openxmlformats.org/officeDocument/2006/relationships/notesMaster" Target="/ppt/notesMasters/notesMaster1.xml" Id="Rb8759db9450d46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e24d18e75641ab" /><Relationship Type="http://schemas.openxmlformats.org/officeDocument/2006/relationships/notesMaster" Target="/ppt/notesMasters/notesMaster1.xml" Id="R224371c24c1d41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499a04621d4957" /><Relationship Type="http://schemas.openxmlformats.org/officeDocument/2006/relationships/notesMaster" Target="/ppt/notesMasters/notesMaster1.xml" Id="R81390367761e42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0a1a88501d4ed7" /><Relationship Type="http://schemas.openxmlformats.org/officeDocument/2006/relationships/notesMaster" Target="/ppt/notesMasters/notesMaster1.xml" Id="Rb84f04510ab94c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295fd23e5a4822" /><Relationship Type="http://schemas.openxmlformats.org/officeDocument/2006/relationships/notesMaster" Target="/ppt/notesMasters/notesMaster1.xml" Id="Rdcc37c4bec0d44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2c060ff0f94d35" /><Relationship Type="http://schemas.openxmlformats.org/officeDocument/2006/relationships/notesMaster" Target="/ppt/notesMasters/notesMaster1.xml" Id="Rbd9f389e90b64f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0e42ca4ee24669" /><Relationship Type="http://schemas.openxmlformats.org/officeDocument/2006/relationships/notesMaster" Target="/ppt/notesMasters/notesMaster1.xml" Id="R9da3ab7c5de44d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0122dd81244623" /><Relationship Type="http://schemas.openxmlformats.org/officeDocument/2006/relationships/notesMaster" Target="/ppt/notesMasters/notesMaster1.xml" Id="R395b78bf74ea4f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755652e4b042fa" /><Relationship Type="http://schemas.openxmlformats.org/officeDocument/2006/relationships/notesMaster" Target="/ppt/notesMasters/notesMaster1.xml" Id="Rc6e9e2fcd5ec40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30915a961e4347" /><Relationship Type="http://schemas.openxmlformats.org/officeDocument/2006/relationships/notesMaster" Target="/ppt/notesMasters/notesMaster1.xml" Id="Rcbd1d673090e44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904e150a384a3e" /><Relationship Type="http://schemas.openxmlformats.org/officeDocument/2006/relationships/notesMaster" Target="/ppt/notesMasters/notesMaster1.xml" Id="R42fe4a9481c348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d0029e4a344099" /><Relationship Type="http://schemas.openxmlformats.org/officeDocument/2006/relationships/notesMaster" Target="/ppt/notesMasters/notesMaster1.xml" Id="Rbbc0cbaa4a7d420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118bb1db2041d7" /><Relationship Type="http://schemas.openxmlformats.org/officeDocument/2006/relationships/notesMaster" Target="/ppt/notesMasters/notesMaster1.xml" Id="R0d0c3bcf2b54441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fd789e767a4cb1" /><Relationship Type="http://schemas.openxmlformats.org/officeDocument/2006/relationships/notesMaster" Target="/ppt/notesMasters/notesMaster1.xml" Id="R1120c754875948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16e6fa8b0684b22" /><Relationship Type="http://schemas.openxmlformats.org/officeDocument/2006/relationships/notesMaster" Target="/ppt/notesMasters/notesMaster1.xml" Id="Ra9606d0608944f4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190070aee704803" /><Relationship Type="http://schemas.openxmlformats.org/officeDocument/2006/relationships/notesMaster" Target="/ppt/notesMasters/notesMaster1.xml" Id="R4af599ab7e1745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75ba6a3c3c44a6" /><Relationship Type="http://schemas.openxmlformats.org/officeDocument/2006/relationships/notesMaster" Target="/ppt/notesMasters/notesMaster1.xml" Id="R03c88d0cd897457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ead4768021d4ef8" /><Relationship Type="http://schemas.openxmlformats.org/officeDocument/2006/relationships/notesMaster" Target="/ppt/notesMasters/notesMaster1.xml" Id="Ra5e819b3b8d843d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e863f2decf04184" /><Relationship Type="http://schemas.openxmlformats.org/officeDocument/2006/relationships/notesMaster" Target="/ppt/notesMasters/notesMaster1.xml" Id="Rf683f56693b24aa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9a69cd4423f498b" /><Relationship Type="http://schemas.openxmlformats.org/officeDocument/2006/relationships/notesMaster" Target="/ppt/notesMasters/notesMaster1.xml" Id="Rcc22162807d6420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b51956602754278" /><Relationship Type="http://schemas.openxmlformats.org/officeDocument/2006/relationships/notesMaster" Target="/ppt/notesMasters/notesMaster1.xml" Id="R949852c76389430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033d20c11c04b2b" /><Relationship Type="http://schemas.openxmlformats.org/officeDocument/2006/relationships/notesMaster" Target="/ppt/notesMasters/notesMaster1.xml" Id="Rf7d46fa540f54f6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7d4b1029ae945c0" /><Relationship Type="http://schemas.openxmlformats.org/officeDocument/2006/relationships/notesMaster" Target="/ppt/notesMasters/notesMaster1.xml" Id="Rda0be50e95ae453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53821dd456448c3" /><Relationship Type="http://schemas.openxmlformats.org/officeDocument/2006/relationships/notesMaster" Target="/ppt/notesMasters/notesMaster1.xml" Id="Re3dfbe929053428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39ce046f5e7438a" /><Relationship Type="http://schemas.openxmlformats.org/officeDocument/2006/relationships/notesMaster" Target="/ppt/notesMasters/notesMaster1.xml" Id="R89a606f4ded541f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5c9dae3e1c146f9" /><Relationship Type="http://schemas.openxmlformats.org/officeDocument/2006/relationships/notesMaster" Target="/ppt/notesMasters/notesMaster1.xml" Id="R3d0d6bd6b6d5452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292e6972f5c4edb" /><Relationship Type="http://schemas.openxmlformats.org/officeDocument/2006/relationships/notesMaster" Target="/ppt/notesMasters/notesMaster1.xml" Id="R7a0f7b2c2a8e4c5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2f0c6eb15b74259" /><Relationship Type="http://schemas.openxmlformats.org/officeDocument/2006/relationships/notesMaster" Target="/ppt/notesMasters/notesMaster1.xml" Id="R43a9608bd3dc4b5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7053f1352d14d44" /><Relationship Type="http://schemas.openxmlformats.org/officeDocument/2006/relationships/notesMaster" Target="/ppt/notesMasters/notesMaster1.xml" Id="Ra58e29452fc84b4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07068d4f68c4b3f" /><Relationship Type="http://schemas.openxmlformats.org/officeDocument/2006/relationships/notesMaster" Target="/ppt/notesMasters/notesMaster1.xml" Id="R34dcb9558eeb449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c10ff2594584015" /><Relationship Type="http://schemas.openxmlformats.org/officeDocument/2006/relationships/notesMaster" Target="/ppt/notesMasters/notesMaster1.xml" Id="R36f44616057d412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dc50bf747ce4478" /><Relationship Type="http://schemas.openxmlformats.org/officeDocument/2006/relationships/notesMaster" Target="/ppt/notesMasters/notesMaster1.xml" Id="R123b3ba082f4400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1e44a56f38f4cac" /><Relationship Type="http://schemas.openxmlformats.org/officeDocument/2006/relationships/notesMaster" Target="/ppt/notesMasters/notesMaster1.xml" Id="R752f6c2e7b50438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20a694c2c5242fc" /><Relationship Type="http://schemas.openxmlformats.org/officeDocument/2006/relationships/notesMaster" Target="/ppt/notesMasters/notesMaster1.xml" Id="Rb3b8f7849fc0479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c5bfde4d6524310" /><Relationship Type="http://schemas.openxmlformats.org/officeDocument/2006/relationships/notesMaster" Target="/ppt/notesMasters/notesMaster1.xml" Id="R77df60e2d66f493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d8338040b6740be" /><Relationship Type="http://schemas.openxmlformats.org/officeDocument/2006/relationships/notesMaster" Target="/ppt/notesMasters/notesMaster1.xml" Id="Rf576f4e70c87428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0dd170f90f04454" /><Relationship Type="http://schemas.openxmlformats.org/officeDocument/2006/relationships/notesMaster" Target="/ppt/notesMasters/notesMaster1.xml" Id="Rba7f1b18c0f841e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f18fe80dc134421" /><Relationship Type="http://schemas.openxmlformats.org/officeDocument/2006/relationships/notesMaster" Target="/ppt/notesMasters/notesMaster1.xml" Id="R92bdec2eb5fe419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7e8af80522843ab" /><Relationship Type="http://schemas.openxmlformats.org/officeDocument/2006/relationships/notesMaster" Target="/ppt/notesMasters/notesMaster1.xml" Id="R931169f9998a4eb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e698458c8024f85" /><Relationship Type="http://schemas.openxmlformats.org/officeDocument/2006/relationships/notesMaster" Target="/ppt/notesMasters/notesMaster1.xml" Id="R287dd5c23420423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3419169caf0414f" /><Relationship Type="http://schemas.openxmlformats.org/officeDocument/2006/relationships/notesMaster" Target="/ppt/notesMasters/notesMaster1.xml" Id="R706452bcdf9340e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43c08db443749eb" /><Relationship Type="http://schemas.openxmlformats.org/officeDocument/2006/relationships/notesMaster" Target="/ppt/notesMasters/notesMaster1.xml" Id="R037a539c90ad4e2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b620f4732344915" /><Relationship Type="http://schemas.openxmlformats.org/officeDocument/2006/relationships/notesMaster" Target="/ppt/notesMasters/notesMaster1.xml" Id="Rba8812e2da774c7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a7303b5d38b41a8" /><Relationship Type="http://schemas.openxmlformats.org/officeDocument/2006/relationships/notesMaster" Target="/ppt/notesMasters/notesMaster1.xml" Id="Rfa45cfacaec3494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d57c3b5910346a7" /><Relationship Type="http://schemas.openxmlformats.org/officeDocument/2006/relationships/notesMaster" Target="/ppt/notesMasters/notesMaster1.xml" Id="R32c3527a60ed4d6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b189d7386864a01" /><Relationship Type="http://schemas.openxmlformats.org/officeDocument/2006/relationships/notesMaster" Target="/ppt/notesMasters/notesMaster1.xml" Id="R01d95a6aa9d646d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ee850de9df24a6e" /><Relationship Type="http://schemas.openxmlformats.org/officeDocument/2006/relationships/notesMaster" Target="/ppt/notesMasters/notesMaster1.xml" Id="R810c007218ba433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9a5e4be718046c9" /><Relationship Type="http://schemas.openxmlformats.org/officeDocument/2006/relationships/notesMaster" Target="/ppt/notesMasters/notesMaster1.xml" Id="R46195a5fdb3446d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5bbcd21c4934c4c" /><Relationship Type="http://schemas.openxmlformats.org/officeDocument/2006/relationships/notesMaster" Target="/ppt/notesMasters/notesMaster1.xml" Id="R81bfbb0fe09048e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c3142a41c594639" /><Relationship Type="http://schemas.openxmlformats.org/officeDocument/2006/relationships/notesMaster" Target="/ppt/notesMasters/notesMaster1.xml" Id="R7ecb0207ec6a466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f934114269f4b26" /><Relationship Type="http://schemas.openxmlformats.org/officeDocument/2006/relationships/notesMaster" Target="/ppt/notesMasters/notesMaster1.xml" Id="R2c990ac786cb4c4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008a8dd38fd4179" /><Relationship Type="http://schemas.openxmlformats.org/officeDocument/2006/relationships/notesMaster" Target="/ppt/notesMasters/notesMaster1.xml" Id="R260a789bbf5a4d1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6872791167747bd" /><Relationship Type="http://schemas.openxmlformats.org/officeDocument/2006/relationships/notesMaster" Target="/ppt/notesMasters/notesMaster1.xml" Id="R1bdf0101e6d746b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3d5d18271534461" /><Relationship Type="http://schemas.openxmlformats.org/officeDocument/2006/relationships/notesMaster" Target="/ppt/notesMasters/notesMaster1.xml" Id="Re6cee591e595421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62612b3f5fc4221" /><Relationship Type="http://schemas.openxmlformats.org/officeDocument/2006/relationships/notesMaster" Target="/ppt/notesMasters/notesMaster1.xml" Id="R165c9d8a328549e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796d0ce9e8445b5" /><Relationship Type="http://schemas.openxmlformats.org/officeDocument/2006/relationships/notesMaster" Target="/ppt/notesMasters/notesMaster1.xml" Id="R7f18547ea0bc4ca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218c455fa434913" /><Relationship Type="http://schemas.openxmlformats.org/officeDocument/2006/relationships/notesMaster" Target="/ppt/notesMasters/notesMaster1.xml" Id="R1bdad07b0fc049e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59ef8a5e5204b5a" /><Relationship Type="http://schemas.openxmlformats.org/officeDocument/2006/relationships/notesMaster" Target="/ppt/notesMasters/notesMaster1.xml" Id="Ra554f4e1d35442d7"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51245ab061894c03" /><Relationship Type="http://schemas.openxmlformats.org/officeDocument/2006/relationships/notesMaster" Target="/ppt/notesMasters/notesMaster1.xml" Id="Rbdc03c52594444aa"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43535dc5318c4b18" /><Relationship Type="http://schemas.openxmlformats.org/officeDocument/2006/relationships/notesMaster" Target="/ppt/notesMasters/notesMaster1.xml" Id="R1020ae51873745a1"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d9d0cc93af44357" /><Relationship Type="http://schemas.openxmlformats.org/officeDocument/2006/relationships/notesMaster" Target="/ppt/notesMasters/notesMaster1.xml" Id="Rb0a5b1edb42a40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1 minute.</a:t>
            </a:r>
          </a:p>
          <a:p xmlns:a="http://schemas.openxmlformats.org/drawingml/2006/main">
            <a:r>
              <a:t>Welcome participants; confirm that all cases and exercises are educational and synthetic.</a:t>
            </a:r>
          </a:p>
          <a:p xmlns:a="http://schemas.openxmlformats.org/drawingml/2006/main">
            <a:r>
              <a:t>Frame the day as patient-centric operating design, not a product showcase.</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4 minutes.</a:t>
            </a:r>
          </a:p>
          <a:p xmlns:a="http://schemas.openxmlformats.org/drawingml/2006/main">
            <a:r>
              <a:t>Pairs: 60 seconds each; harvest two friction points.</a:t>
            </a:r>
          </a:p>
          <a:p xmlns:a="http://schemas.openxmlformats.org/drawingml/2006/main">
            <a:r>
              <a:t>Keep the examples for the workshop scorecard.</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3 minutes.</a:t>
            </a:r>
          </a:p>
          <a:p xmlns:a="http://schemas.openxmlformats.org/drawingml/2006/main">
            <a:r>
              <a:t>Participants choose one capability they most need to improve.</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4 minutes.</a:t>
            </a:r>
          </a:p>
          <a:p xmlns:a="http://schemas.openxmlformats.org/drawingml/2006/main">
            <a:r>
              <a:t>Apply each letter to one synthetic consultation and one pharma medical-information interaction.</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1 minute.</a:t>
            </a:r>
          </a:p>
          <a:p xmlns:a="http://schemas.openxmlformats.org/drawingml/2006/main">
            <a:r>
              <a:t>The evidence labels differ: operational case, survey, education study, participatory workshop, prototype, implementation evidence and narrative chapter.</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4 minutes.</a:t>
            </a:r>
          </a:p>
          <a:p xmlns:a="http://schemas.openxmlformats.org/drawingml/2006/main">
            <a:r>
              <a:t>Evidence label: 2025 operational case study and local model validation.</a:t>
            </a:r>
          </a:p>
          <a:p xmlns:a="http://schemas.openxmlformats.org/drawingml/2006/main">
            <a:r>
              <a:t>Ask the displayed discussion question, then insist on the visible limitation and human checkpoint.</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2 minutes.</a:t>
            </a:r>
          </a:p>
          <a:p xmlns:a="http://schemas.openxmlformats.org/drawingml/2006/main">
            <a:r>
              <a:t>Ask: what action follows an attendance-risk flag, and who documents it?</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3 minutes.</a:t>
            </a:r>
          </a:p>
          <a:p xmlns:a="http://schemas.openxmlformats.org/drawingml/2006/main">
            <a:r>
              <a:t>Evidence label: 2024 qualitative study and human-AI prototype evaluation.</a:t>
            </a:r>
          </a:p>
          <a:p xmlns:a="http://schemas.openxmlformats.org/drawingml/2006/main">
            <a:r>
              <a:t>Ask the displayed discussion question, then insist on the visible limitation and human checkpoint.</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2 minutes.</a:t>
            </a:r>
          </a:p>
          <a:p xmlns:a="http://schemas.openxmlformats.org/drawingml/2006/main">
            <a:r>
              <a:t>Ask which one alert in participants’ work would benefit from trend, uncertainty or a what-if view.</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1 minute.</a:t>
            </a:r>
          </a:p>
          <a:p xmlns:a="http://schemas.openxmlformats.org/drawingml/2006/main">
            <a:r>
              <a:t>Transition from model quality to operating-model quality.</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4 minutes.</a:t>
            </a:r>
          </a:p>
          <a:p xmlns:a="http://schemas.openxmlformats.org/drawingml/2006/main">
            <a:r>
              <a:t>Evidence label: 2024 cross-sectional perception survey.</a:t>
            </a:r>
          </a:p>
          <a:p xmlns:a="http://schemas.openxmlformats.org/drawingml/2006/main">
            <a:r>
              <a:t>Ask the displayed discussion question, then insist on the visible limitation and human checkpoint.</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4 minutes.</a:t>
            </a:r>
          </a:p>
          <a:p xmlns:a="http://schemas.openxmlformats.org/drawingml/2006/main">
            <a:r>
              <a:t>Evidence label: Implementation dissertation plus growing health-system observational evidence.</a:t>
            </a:r>
          </a:p>
          <a:p xmlns:a="http://schemas.openxmlformats.org/drawingml/2006/main">
            <a:r>
              <a:t>Ask the displayed discussion question, then insist on the visible limitation and human checkpoint.</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1 minute.</a:t>
            </a:r>
          </a:p>
          <a:p xmlns:a="http://schemas.openxmlformats.org/drawingml/2006/main">
            <a:r>
              <a:t>Invite one hospital and one pharma participant to name their accountable service owner.</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1 minute.</a:t>
            </a:r>
          </a:p>
          <a:p xmlns:a="http://schemas.openxmlformats.org/drawingml/2006/main">
            <a:r>
              <a:t>Separate learning outcomes from clinical outcomes.</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4 minutes.</a:t>
            </a:r>
          </a:p>
          <a:p xmlns:a="http://schemas.openxmlformats.org/drawingml/2006/main">
            <a:r>
              <a:t>Evidence label: 2025 comparative educational study.</a:t>
            </a:r>
          </a:p>
          <a:p xmlns:a="http://schemas.openxmlformats.org/drawingml/2006/main">
            <a:r>
              <a:t>Ask the displayed discussion question, then insist on the visible limitation and human checkpoint.</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2 minutes.</a:t>
            </a:r>
          </a:p>
          <a:p xmlns:a="http://schemas.openxmlformats.org/drawingml/2006/main">
            <a:r>
              <a:t>Point out the small, single-course design and avoid claiming general educational superiority.</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4 minutes.</a:t>
            </a:r>
          </a:p>
          <a:p xmlns:a="http://schemas.openxmlformats.org/drawingml/2006/main">
            <a:r>
              <a:t>Evidence label: 2025 single-institution qualitative participatory-design case.</a:t>
            </a:r>
          </a:p>
          <a:p xmlns:a="http://schemas.openxmlformats.org/drawingml/2006/main">
            <a:r>
              <a:t>Ask the displayed discussion question, then insist on the visible limitation and human checkpoint.</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1 minute.</a:t>
            </a:r>
          </a:p>
          <a:p xmlns:a="http://schemas.openxmlformats.org/drawingml/2006/main">
            <a:r>
              <a:t>Ask which capability belongs in every plausible 2035 scenario.</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1 minute.</a:t>
            </a:r>
          </a:p>
          <a:p xmlns:a="http://schemas.openxmlformats.org/drawingml/2006/main">
            <a:r>
              <a:t>Shift from seeing an explanation to evaluating intended use and validation.</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4 minutes.</a:t>
            </a:r>
          </a:p>
          <a:p xmlns:a="http://schemas.openxmlformats.org/drawingml/2006/main">
            <a:r>
              <a:t>Evidence label: Narrative reference chapter with illustrative case applications.</a:t>
            </a:r>
          </a:p>
          <a:p xmlns:a="http://schemas.openxmlformats.org/drawingml/2006/main">
            <a:r>
              <a:t>Ask the displayed discussion question, then insist on the visible limitation and human checkpoint.</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3 minutes.</a:t>
            </a:r>
          </a:p>
          <a:p xmlns:a="http://schemas.openxmlformats.org/drawingml/2006/main">
            <a:r>
              <a:t>Use Prompt 8 in the lab for a complete vendor evaluation.</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3 minutes.</a:t>
            </a:r>
          </a:p>
          <a:p xmlns:a="http://schemas.openxmlformats.org/drawingml/2006/main">
            <a:r>
              <a:t>Ask participants to correct one overclaim by attaching the right evidence label.</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2 minutes.</a:t>
            </a:r>
          </a:p>
          <a:p xmlns:a="http://schemas.openxmlformats.org/drawingml/2006/main">
            <a:r>
              <a:t>This is educational, not legal advice; participants must use organisational SOPs.</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THEORY — 1 minute.</a:t>
            </a:r>
          </a:p>
          <a:p xmlns:a="http://schemas.openxmlformats.org/drawingml/2006/main">
            <a:r>
              <a:t>Confirm the theory clock at exactly 60 minutes.</a:t>
            </a:r>
          </a:p>
          <a:p xmlns:a="http://schemas.openxmlformats.org/drawingml/2006/main">
            <a:r>
              <a:t>Move participants into mixed doctor–pharma groups of 3–5.</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2 minutes.</a:t>
            </a:r>
          </a:p>
          <a:p xmlns:a="http://schemas.openxmlformats.org/drawingml/2006/main">
            <a:r>
              <a:t>Every station has a specialised-tool route, ChatGPT route, human checkpoint and fallback.</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3 minutes.</a:t>
            </a:r>
          </a:p>
          <a:p xmlns:a="http://schemas.openxmlformats.org/drawingml/2006/main">
            <a:r>
              <a:t>Show the Demo Readiness sheet and assign one account owner per live tool.</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3 minutes.</a:t>
            </a:r>
          </a:p>
          <a:p xmlns:a="http://schemas.openxmlformats.org/drawingml/2006/main">
            <a:r>
              <a:t>Participants save the wrapper as a reusable instruction.</a:t>
            </a:r>
          </a:p>
          <a:p xmlns:a="http://schemas.openxmlformats.org/drawingml/2006/main">
            <a:r>
              <a:t>Ask them to underline the separation of facts, assumptions and unknowns.</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1 minute.</a:t>
            </a:r>
          </a:p>
          <a:p xmlns:a="http://schemas.openxmlformats.org/drawingml/2006/main">
            <a:r>
              <a:t>State the outcome, roles, time box and stop rule before opening any tool.</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4 minutes.</a:t>
            </a:r>
          </a:p>
          <a:p xmlns:a="http://schemas.openxmlformats.org/drawingml/2006/main">
            <a:r>
              <a:t>Do not record a participant or upload any real clinical data.</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2 minutes.</a:t>
            </a:r>
          </a:p>
          <a:p xmlns:a="http://schemas.openxmlformats.org/drawingml/2006/main">
            <a:r>
              <a:t>Assign one participant as reviewer and one as patient advocate.</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4 minutes.</a:t>
            </a:r>
          </a:p>
          <a:p xmlns:a="http://schemas.openxmlformats.org/drawingml/2006/main">
            <a:r>
              <a:t>Use a prepared facilitator account or screenshots.</a:t>
            </a:r>
          </a:p>
          <a:p xmlns:a="http://schemas.openxmlformats.org/drawingml/2006/main">
            <a:r>
              <a:t>Deliberately insert one transcript ambiguity and ask participants to detect it.</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4 minutes.</a:t>
            </a:r>
          </a:p>
          <a:p xmlns:a="http://schemas.openxmlformats.org/drawingml/2006/main">
            <a:r>
              <a:t>Use Prompt Card 1: Consultation continuity.</a:t>
            </a:r>
          </a:p>
          <a:p xmlns:a="http://schemas.openxmlformats.org/drawingml/2006/main">
            <a:r>
              <a:t>Discussion: What attention did the tool return—and what new verification work did it create?</a:t>
            </a:r>
          </a:p>
          <a:p xmlns:a="http://schemas.openxmlformats.org/drawingml/2006/main">
            <a:r>
              <a:t>Failure mode to surface: Invented findings or a polished draft copied into the record without review.</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3 minutes.</a:t>
            </a:r>
          </a:p>
          <a:p xmlns:a="http://schemas.openxmlformats.org/drawingml/2006/main">
            <a:r>
              <a:t>Teams record one benefit, one new risk and one stop criterion in the workbook.</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1 minute.</a:t>
            </a:r>
          </a:p>
          <a:p xmlns:a="http://schemas.openxmlformats.org/drawingml/2006/main">
            <a:r>
              <a:t>State the outcome, roles, time box and stop rule before opening any tool.</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4 minutes.</a:t>
            </a:r>
          </a:p>
          <a:p xmlns:a="http://schemas.openxmlformats.org/drawingml/2006/main">
            <a:r>
              <a:t>Make clear that none of these removes clinician responsibility.</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2 minutes.</a:t>
            </a:r>
          </a:p>
          <a:p xmlns:a="http://schemas.openxmlformats.org/drawingml/2006/main">
            <a:r>
              <a:t>No treatment discussion. Focus on red flags, missing information and source verification.</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4 minutes.</a:t>
            </a:r>
          </a:p>
          <a:p xmlns:a="http://schemas.openxmlformats.org/drawingml/2006/main">
            <a:r>
              <a:t>Use Prompt Card 2: Diagnostic reasoning without outsourcing diagnosis.</a:t>
            </a:r>
          </a:p>
          <a:p xmlns:a="http://schemas.openxmlformats.org/drawingml/2006/main">
            <a:r>
              <a:t>Discussion: Did the output widen attention or create noise?</a:t>
            </a:r>
          </a:p>
          <a:p xmlns:a="http://schemas.openxmlformats.org/drawingml/2006/main">
            <a:r>
              <a:t>Failure mode to surface: A plausible list mistaken for a diagnosis or a reason to delay escalation.</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4 minutes.</a:t>
            </a:r>
          </a:p>
          <a:p xmlns:a="http://schemas.openxmlformats.org/drawingml/2006/main">
            <a:r>
              <a:t>Run the exact same synthetic problem representation across available tools.</a:t>
            </a:r>
          </a:p>
          <a:p xmlns:a="http://schemas.openxmlformats.org/drawingml/2006/main">
            <a:r>
              <a:t>Capture missed red flags, unsupported assertions and citation quality.</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3 minutes.</a:t>
            </a:r>
          </a:p>
          <a:p xmlns:a="http://schemas.openxmlformats.org/drawingml/2006/main">
            <a:r>
              <a:t>Checkpoint: Licensed prescriber/pharmacist checks labels, formulary, renal/hepatic context and local protocol.</a:t>
            </a:r>
          </a:p>
          <a:p xmlns:a="http://schemas.openxmlformats.org/drawingml/2006/main">
            <a:r>
              <a:t>If time permits, demonstrate MDCalc input verification and an Epocrates interaction lookup with synthetic medicines.</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3 minutes.</a:t>
            </a:r>
          </a:p>
          <a:p xmlns:a="http://schemas.openxmlformats.org/drawingml/2006/main">
            <a:r>
              <a:t>Each team opens one cited source and names one reason it may not apply locally.</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2 minutes.</a:t>
            </a:r>
          </a:p>
          <a:p xmlns:a="http://schemas.openxmlformats.org/drawingml/2006/main">
            <a:r>
              <a:t>Teams enter their answer in the Participant Workbook and nominate one check they would automate.</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1 minute.</a:t>
            </a:r>
          </a:p>
          <a:p xmlns:a="http://schemas.openxmlformats.org/drawingml/2006/main">
            <a:r>
              <a:t>State the outcome, roles, time box and stop rule before opening any tool.</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3 minutes.</a:t>
            </a:r>
          </a:p>
          <a:p xmlns:a="http://schemas.openxmlformats.org/drawingml/2006/main">
            <a:r>
              <a:t>Design polish is the last step, never the evidence source.</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5 minutes.</a:t>
            </a:r>
          </a:p>
          <a:p xmlns:a="http://schemas.openxmlformats.org/drawingml/2006/main">
            <a:r>
              <a:t>Use Prompt Card 4: Patient-education asset.</a:t>
            </a:r>
          </a:p>
          <a:p xmlns:a="http://schemas.openxmlformats.org/drawingml/2006/main">
            <a:r>
              <a:t>Discussion: Can the patient act safely—and is routine advice separated from urgent action?</a:t>
            </a:r>
          </a:p>
          <a:p xmlns:a="http://schemas.openxmlformats.org/drawingml/2006/main">
            <a:r>
              <a:t>Failure mode to surface: Unsafe simplification, mistranslation or an unsupported promise.</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4 minutes.</a:t>
            </a:r>
          </a:p>
          <a:p xmlns:a="http://schemas.openxmlformats.org/drawingml/2006/main">
            <a:r>
              <a:t>Use Prompt Card 7: Pharma medical-information and safety triage.</a:t>
            </a:r>
          </a:p>
          <a:p xmlns:a="http://schemas.openxmlformats.org/drawingml/2006/main">
            <a:r>
              <a:t>Discussion: Which part belongs to medical information, PV, product quality or MLR?</a:t>
            </a:r>
          </a:p>
          <a:p xmlns:a="http://schemas.openxmlformats.org/drawingml/2006/main">
            <a:r>
              <a:t>Failure mode to surface: A polished response that misses or delays an adverse-event report.</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3 minutes.</a:t>
            </a:r>
          </a:p>
          <a:p xmlns:a="http://schemas.openxmlformats.org/drawingml/2006/main">
            <a:r>
              <a:t>Discussion: Does the post prove usefulness before claiming authority?</a:t>
            </a:r>
          </a:p>
          <a:p xmlns:a="http://schemas.openxmlformats.org/drawingml/2006/main">
            <a:r>
              <a:t>Require medical/legal/regulatory approval where relevant and an AI-assistance disclosure.</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3 minutes.</a:t>
            </a:r>
          </a:p>
          <a:p xmlns:a="http://schemas.openxmlformats.org/drawingml/2006/main">
            <a:r>
              <a:t>Teams mark one [REVIEW] statement and route it to the right owner.</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1 minute.</a:t>
            </a:r>
          </a:p>
          <a:p xmlns:a="http://schemas.openxmlformats.org/drawingml/2006/main">
            <a:r>
              <a:t>State the outcome, roles, time box and stop rule before opening any tool.</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3 minutes.</a:t>
            </a:r>
          </a:p>
          <a:p xmlns:a="http://schemas.openxmlformats.org/drawingml/2006/main">
            <a:r>
              <a:t>Use one verified seed paper, not a generated citation.</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2 minutes.</a:t>
            </a:r>
          </a:p>
          <a:p xmlns:a="http://schemas.openxmlformats.org/drawingml/2006/main">
            <a:r>
              <a:t>Teams rewrite one broad AI question as PICO and name the decision it will inform.</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4 minutes.</a:t>
            </a:r>
          </a:p>
          <a:p xmlns:a="http://schemas.openxmlformats.org/drawingml/2006/main">
            <a:r>
              <a:t>Use Prompt Card 11: Rapid evidence map.</a:t>
            </a:r>
          </a:p>
          <a:p xmlns:a="http://schemas.openxmlformats.org/drawingml/2006/main">
            <a:r>
              <a:t>Discussion: Which evidence was actually verified—and why is this not a systematic review?</a:t>
            </a:r>
          </a:p>
          <a:p xmlns:a="http://schemas.openxmlformats.org/drawingml/2006/main">
            <a:r>
              <a:t>Failure mode to surface: A fluent synthesis with fabricated or mischaracterised studies.</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3 minutes.</a:t>
            </a:r>
          </a:p>
          <a:p xmlns:a="http://schemas.openxmlformats.org/drawingml/2006/main">
            <a:r>
              <a:t>Use Prompt Card 9: Socratic medical teaching.</a:t>
            </a:r>
          </a:p>
          <a:p xmlns:a="http://schemas.openxmlformats.org/drawingml/2006/main">
            <a:r>
              <a:t>Discussion: Did the AI promote reasoning or replace it?</a:t>
            </a:r>
          </a:p>
          <a:p xmlns:a="http://schemas.openxmlformats.org/drawingml/2006/main">
            <a:r>
              <a:t>Failure mode to surface: Instant answers reduce productive struggle and create look-alike submissions.</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2 minutes.</a:t>
            </a:r>
          </a:p>
          <a:p xmlns:a="http://schemas.openxmlformats.org/drawingml/2006/main">
            <a:r>
              <a:t>Teams show one source and one limitation; facilitator checks that the original record opens.</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3 minutes.</a:t>
            </a:r>
          </a:p>
          <a:p xmlns:a="http://schemas.openxmlformats.org/drawingml/2006/main">
            <a:r>
              <a:t>Score 1–5 for each dimension; no tool advances with Ownership or Privacy below 3.</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2 minutes.</a:t>
            </a:r>
          </a:p>
          <a:p xmlns:a="http://schemas.openxmlformats.org/drawingml/2006/main">
            <a:r>
              <a:t>Participants write the experiment in the workbook and name the accountable reviewer.</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LAB — 2 minutes.</a:t>
            </a:r>
          </a:p>
          <a:p xmlns:a="http://schemas.openxmlformats.org/drawingml/2006/main">
            <a:r>
              <a:t>Invite one-sentence commitments and close with the human-ownership rule.</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UNTIMED APPENDIX.</a:t>
            </a:r>
          </a:p>
          <a:p xmlns:a="http://schemas.openxmlformats.org/drawingml/2006/main">
            <a:r>
              <a:t>Use the Tool Matrix and Demo Readiness sheet to choose the live subset.</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UNTIMED APPENDIX.</a:t>
            </a:r>
          </a:p>
          <a:p xmlns:a="http://schemas.openxmlformats.org/drawingml/2006/main">
            <a:r>
              <a:t>Print or distribute the Prompt Cards PDF before the workshop.</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UNTIMED APPENDIX.</a:t>
            </a:r>
          </a:p>
          <a:p xmlns:a="http://schemas.openxmlformats.org/drawingml/2006/main">
            <a:r>
              <a:t>This slide is an orientation list, not legal advice.</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UNTIMED APPENDIX.</a:t>
            </a:r>
          </a:p>
          <a:p xmlns:a="http://schemas.openxmlformats.org/drawingml/2006/main">
            <a:r>
              <a:t>Open the original sources; do not rely on the deck as the evidence record.</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UNTIMED APPENDIX.</a:t>
            </a:r>
          </a:p>
          <a:p xmlns:a="http://schemas.openxmlformats.org/drawingml/2006/main">
            <a:r>
              <a:t>The Demo Readiness workbook provides a tool-by-tool version of this matrix.</a:t>
            </a:r>
          </a:p>
          <a:p xmlns:a="http://schemas.openxmlformats.org/drawingml/2006/main">
            <a:r>
              <a:t>Safety: use only synthetic/de-identified information; human review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c214de9ee34e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48fa6f6dfb460d" /><Relationship Type="http://schemas.openxmlformats.org/officeDocument/2006/relationships/slideLayout" Target="/ppt/slideLayouts/slideLayout1.xml" Id="R414fc6fe0a1844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4fc6fe0a1844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f7b78de2f249e4" /><Relationship Type="http://schemas.openxmlformats.org/officeDocument/2006/relationships/notesSlide" Target="/ppt/notesSlides/notesSlide1.xml" Id="R5e9ada811a4c40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ad715064765406d" /><Relationship Type="http://schemas.openxmlformats.org/officeDocument/2006/relationships/notesSlide" Target="/ppt/notesSlides/notesSlide2.xml" Id="R482b875ec0674f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545716cdcd44b7" /><Relationship Type="http://schemas.openxmlformats.org/officeDocument/2006/relationships/notesSlide" Target="/ppt/notesSlides/notesSlide3.xml" Id="Rf6d4df96c50945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d575f718754784" /><Relationship Type="http://schemas.openxmlformats.org/officeDocument/2006/relationships/notesSlide" Target="/ppt/notesSlides/notesSlide4.xml" Id="R70c0638fdebf4c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e474c882be4e73" /><Relationship Type="http://schemas.openxmlformats.org/officeDocument/2006/relationships/notesSlide" Target="/ppt/notesSlides/notesSlide5.xml" Id="R16724ec6524d4a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bab2075b58a47c8" /><Relationship Type="http://schemas.openxmlformats.org/officeDocument/2006/relationships/notesSlide" Target="/ppt/notesSlides/notesSlide6.xml" Id="R21c250b2988747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fa2e729e624d30" /><Relationship Type="http://schemas.openxmlformats.org/officeDocument/2006/relationships/notesSlide" Target="/ppt/notesSlides/notesSlide7.xml" Id="Rde773f9f267d49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0771ed0fd54520" /><Relationship Type="http://schemas.openxmlformats.org/officeDocument/2006/relationships/notesSlide" Target="/ppt/notesSlides/notesSlide8.xml" Id="R6ebeb4c411d74d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5aa8c9b4a5482c" /><Relationship Type="http://schemas.openxmlformats.org/officeDocument/2006/relationships/notesSlide" Target="/ppt/notesSlides/notesSlide9.xml" Id="Rcc4133e870d44e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ab81cc932094ea7" /><Relationship Type="http://schemas.openxmlformats.org/officeDocument/2006/relationships/notesSlide" Target="/ppt/notesSlides/notesSlide10.xml" Id="R5d2b0e73d6994c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75088295dce4a3b" /><Relationship Type="http://schemas.openxmlformats.org/officeDocument/2006/relationships/notesSlide" Target="/ppt/notesSlides/notesSlide11.xml" Id="R9780f93fdd9c4e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52fddfdb4694b10" /><Relationship Type="http://schemas.openxmlformats.org/officeDocument/2006/relationships/notesSlide" Target="/ppt/notesSlides/notesSlide12.xml" Id="R29ff5b47065641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27d91117f7848ce" /><Relationship Type="http://schemas.openxmlformats.org/officeDocument/2006/relationships/notesSlide" Target="/ppt/notesSlides/notesSlide13.xml" Id="Ra64d4cb3e53348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131f90714a24694" /><Relationship Type="http://schemas.openxmlformats.org/officeDocument/2006/relationships/notesSlide" Target="/ppt/notesSlides/notesSlide14.xml" Id="Re742462bbdf3451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6631c86608548fe" /><Relationship Type="http://schemas.openxmlformats.org/officeDocument/2006/relationships/notesSlide" Target="/ppt/notesSlides/notesSlide15.xml" Id="R9529258cbdcb427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092294ea43e488a" /><Relationship Type="http://schemas.openxmlformats.org/officeDocument/2006/relationships/notesSlide" Target="/ppt/notesSlides/notesSlide16.xml" Id="R5cb2e62610754a7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453bfecda514407" /><Relationship Type="http://schemas.openxmlformats.org/officeDocument/2006/relationships/notesSlide" Target="/ppt/notesSlides/notesSlide17.xml" Id="R04e16c2262a141b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6ca8cea8ff24d16" /><Relationship Type="http://schemas.openxmlformats.org/officeDocument/2006/relationships/notesSlide" Target="/ppt/notesSlides/notesSlide18.xml" Id="R436d82f7c455421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879a48c36f849f4" /><Relationship Type="http://schemas.openxmlformats.org/officeDocument/2006/relationships/notesSlide" Target="/ppt/notesSlides/notesSlide19.xml" Id="R80e0f8a04e25479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93d1fe992b447f4" /><Relationship Type="http://schemas.openxmlformats.org/officeDocument/2006/relationships/notesSlide" Target="/ppt/notesSlides/notesSlide20.xml" Id="R8a833c0a11d14a0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0261e993e56425d" /><Relationship Type="http://schemas.openxmlformats.org/officeDocument/2006/relationships/notesSlide" Target="/ppt/notesSlides/notesSlide21.xml" Id="R60d1275ca841457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82bb566e47a431e" /><Relationship Type="http://schemas.openxmlformats.org/officeDocument/2006/relationships/notesSlide" Target="/ppt/notesSlides/notesSlide22.xml" Id="R4651cc5988384d1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595e9bbacfd4ef2" /><Relationship Type="http://schemas.openxmlformats.org/officeDocument/2006/relationships/notesSlide" Target="/ppt/notesSlides/notesSlide23.xml" Id="Rdbc9427c3bf546a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b6f105ec0694928" /><Relationship Type="http://schemas.openxmlformats.org/officeDocument/2006/relationships/notesSlide" Target="/ppt/notesSlides/notesSlide24.xml" Id="R0fee51aceba348b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143c0a262374e10" /><Relationship Type="http://schemas.openxmlformats.org/officeDocument/2006/relationships/notesSlide" Target="/ppt/notesSlides/notesSlide25.xml" Id="Rdc2c6d33893e481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a1b44bf0a894eb6" /><Relationship Type="http://schemas.openxmlformats.org/officeDocument/2006/relationships/notesSlide" Target="/ppt/notesSlides/notesSlide26.xml" Id="Rc75578197f46481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f30093112c040c4" /><Relationship Type="http://schemas.openxmlformats.org/officeDocument/2006/relationships/notesSlide" Target="/ppt/notesSlides/notesSlide27.xml" Id="R5633aab97a624ba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9c891fe0ed2462c" /><Relationship Type="http://schemas.openxmlformats.org/officeDocument/2006/relationships/notesSlide" Target="/ppt/notesSlides/notesSlide28.xml" Id="Rba000540aead4d1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73c1d2965ff4d55" /><Relationship Type="http://schemas.openxmlformats.org/officeDocument/2006/relationships/notesSlide" Target="/ppt/notesSlides/notesSlide29.xml" Id="R7f164c807a58452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44ad9d585b246d3" /><Relationship Type="http://schemas.openxmlformats.org/officeDocument/2006/relationships/notesSlide" Target="/ppt/notesSlides/notesSlide30.xml" Id="Rd1a6a32b58ed4dd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ef02d7cf353450f" /><Relationship Type="http://schemas.openxmlformats.org/officeDocument/2006/relationships/notesSlide" Target="/ppt/notesSlides/notesSlide31.xml" Id="R3bfd82c33b32403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12f342709ec4a97" /><Relationship Type="http://schemas.openxmlformats.org/officeDocument/2006/relationships/notesSlide" Target="/ppt/notesSlides/notesSlide32.xml" Id="Rf0fa714be9cb4bd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2065b20951b4740" /><Relationship Type="http://schemas.openxmlformats.org/officeDocument/2006/relationships/notesSlide" Target="/ppt/notesSlides/notesSlide33.xml" Id="R8427c4552b0144c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0e55ca3b8b64872" /><Relationship Type="http://schemas.openxmlformats.org/officeDocument/2006/relationships/notesSlide" Target="/ppt/notesSlides/notesSlide34.xml" Id="R5f524523cc68415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84866c0f9b848ff" /><Relationship Type="http://schemas.openxmlformats.org/officeDocument/2006/relationships/notesSlide" Target="/ppt/notesSlides/notesSlide35.xml" Id="Rab2550e88bb4488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d6da12631b04359" /><Relationship Type="http://schemas.openxmlformats.org/officeDocument/2006/relationships/notesSlide" Target="/ppt/notesSlides/notesSlide36.xml" Id="Rce44679fd7684bd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e0a514583cd4722" /><Relationship Type="http://schemas.openxmlformats.org/officeDocument/2006/relationships/notesSlide" Target="/ppt/notesSlides/notesSlide37.xml" Id="R1d2f968d52a641d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b3c9ad6cea04da6" /><Relationship Type="http://schemas.openxmlformats.org/officeDocument/2006/relationships/notesSlide" Target="/ppt/notesSlides/notesSlide38.xml" Id="R6e807aced37c437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22fcbd8ccf6418c" /><Relationship Type="http://schemas.openxmlformats.org/officeDocument/2006/relationships/notesSlide" Target="/ppt/notesSlides/notesSlide39.xml" Id="Rd8ed33633794445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a6e447685a64e5c" /><Relationship Type="http://schemas.openxmlformats.org/officeDocument/2006/relationships/notesSlide" Target="/ppt/notesSlides/notesSlide40.xml" Id="R8245850e808946c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4557e4dce334602" /><Relationship Type="http://schemas.openxmlformats.org/officeDocument/2006/relationships/notesSlide" Target="/ppt/notesSlides/notesSlide41.xml" Id="R0b7fc6874c9e411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48083259cb74a08" /><Relationship Type="http://schemas.openxmlformats.org/officeDocument/2006/relationships/notesSlide" Target="/ppt/notesSlides/notesSlide42.xml" Id="Rc86890b298374df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dc16b2ebaa64eb4" /><Relationship Type="http://schemas.openxmlformats.org/officeDocument/2006/relationships/notesSlide" Target="/ppt/notesSlides/notesSlide43.xml" Id="Rb14e8a5cefba49a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2d0e07f36294017" /><Relationship Type="http://schemas.openxmlformats.org/officeDocument/2006/relationships/notesSlide" Target="/ppt/notesSlides/notesSlide44.xml" Id="R0fa076e2874a44a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b6bd6b625204ee9" /><Relationship Type="http://schemas.openxmlformats.org/officeDocument/2006/relationships/notesSlide" Target="/ppt/notesSlides/notesSlide45.xml" Id="R6ddcd7b1fbbb4d6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35086deeb6b040b9" /><Relationship Type="http://schemas.openxmlformats.org/officeDocument/2006/relationships/notesSlide" Target="/ppt/notesSlides/notesSlide46.xml" Id="R124434b96a174e7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64a4b4403964c40" /><Relationship Type="http://schemas.openxmlformats.org/officeDocument/2006/relationships/notesSlide" Target="/ppt/notesSlides/notesSlide47.xml" Id="Rd88cf56c3a8840f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81e6734fd934749" /><Relationship Type="http://schemas.openxmlformats.org/officeDocument/2006/relationships/notesSlide" Target="/ppt/notesSlides/notesSlide48.xml" Id="R63af6d3e858d4d1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1daec1e78fce4231" /><Relationship Type="http://schemas.openxmlformats.org/officeDocument/2006/relationships/notesSlide" Target="/ppt/notesSlides/notesSlide49.xml" Id="R4eb17e9d1bc946a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ccfebfd290ce4e0f" /><Relationship Type="http://schemas.openxmlformats.org/officeDocument/2006/relationships/notesSlide" Target="/ppt/notesSlides/notesSlide50.xml" Id="R5bd837c97ba34e3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c1ac0754dae4f2f" /><Relationship Type="http://schemas.openxmlformats.org/officeDocument/2006/relationships/notesSlide" Target="/ppt/notesSlides/notesSlide51.xml" Id="Rc3641072a08d433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7d385508793a4365" /><Relationship Type="http://schemas.openxmlformats.org/officeDocument/2006/relationships/notesSlide" Target="/ppt/notesSlides/notesSlide52.xml" Id="R282f3e110ad7439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7baece83f98b4175" /><Relationship Type="http://schemas.openxmlformats.org/officeDocument/2006/relationships/notesSlide" Target="/ppt/notesSlides/notesSlide53.xml" Id="R6358ac8fe8c8413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f351189317b44788" /><Relationship Type="http://schemas.openxmlformats.org/officeDocument/2006/relationships/notesSlide" Target="/ppt/notesSlides/notesSlide54.xml" Id="Ra825eba720914e9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c2092060c41543a5" /><Relationship Type="http://schemas.openxmlformats.org/officeDocument/2006/relationships/notesSlide" Target="/ppt/notesSlides/notesSlide55.xml" Id="Rbbf4507af6a0469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4146b46f21e414e" /><Relationship Type="http://schemas.openxmlformats.org/officeDocument/2006/relationships/notesSlide" Target="/ppt/notesSlides/notesSlide56.xml" Id="R643f7503c2b544c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2d6e600882b54562" /><Relationship Type="http://schemas.openxmlformats.org/officeDocument/2006/relationships/notesSlide" Target="/ppt/notesSlides/notesSlide57.xml" Id="R646614c31047402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499d798b15df4bff" /><Relationship Type="http://schemas.openxmlformats.org/officeDocument/2006/relationships/notesSlide" Target="/ppt/notesSlides/notesSlide58.xml" Id="R507239e005a14c6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24d6236f3b7d4bea" /><Relationship Type="http://schemas.openxmlformats.org/officeDocument/2006/relationships/notesSlide" Target="/ppt/notesSlides/notesSlide59.xml" Id="R815931c46aad4a2f"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fa6cdaf1cdb94f78" /><Relationship Type="http://schemas.openxmlformats.org/officeDocument/2006/relationships/notesSlide" Target="/ppt/notesSlides/notesSlide60.xml" Id="R9dc66cf0b4424612"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5620b98e3e8d45f9" /><Relationship Type="http://schemas.openxmlformats.org/officeDocument/2006/relationships/notesSlide" Target="/ppt/notesSlides/notesSlide61.xml" Id="Rb508e0d96fc34dc7" /></Relationships>
</file>

<file path=ppt/slides/slide1.xml><?xml version="1.0" encoding="utf-8"?>
<p:sld xmlns:p="http://schemas.openxmlformats.org/presentationml/2006/main">
  <p:cSld>
    <p:bg>
      <p:bgPr>
        <a:solidFill xmlns:a="http://schemas.openxmlformats.org/drawingml/2006/main">
          <a:srgbClr val="08263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DE8C52B-C5E6-4DBA-8703-6F0F87DE0BD8}"/>
              </a:ext>
            </a:extLst>
          </p:cNvPr>
          <p:cNvSpPr>
            <a:spLocks xmlns:a="http://schemas.openxmlformats.org/drawingml/2006/main" noGrp="1"/>
          </p:cNvSpPr>
          <p:nvPr/>
        </p:nvSpPr>
        <p:spPr>
          <a:xfrm xmlns:a="http://schemas.openxmlformats.org/drawingml/2006/main">
            <a:off x="0" y="0"/>
            <a:ext cx="7953375" cy="6858000"/>
          </a:xfrm>
          <a:prstGeom xmlns:a="http://schemas.openxmlformats.org/drawingml/2006/main" prst="rect">
            <a:avLst/>
          </a:prstGeom>
          <a:solidFill xmlns:a="http://schemas.openxmlformats.org/drawingml/2006/main">
            <a:srgbClr val="082638"/>
          </a:solidFill>
          <a:ln xmlns:a="http://schemas.openxmlformats.org/drawingml/2006/main" w="0">
            <a:solidFill>
              <a:srgbClr val="082638"/>
            </a:solidFill>
            <a:prstDash val="solid"/>
          </a:ln>
        </p:spPr>
      </p:sp>
      <p:sp>
        <p:nvSpPr>
          <p:cNvPr id="2" name="">
            <a:extLst xmlns:a="http://schemas.openxmlformats.org/drawingml/2006/main">
              <a:ext uri="{FF2B5EF4-FFF2-40B4-BE49-F238E27FC236}">
                <a16:creationId xmlns:a16="http://schemas.microsoft.com/office/drawing/2014/main" id="{F1A9BB73-C54D-4042-BC72-EEF6DD22691A}"/>
              </a:ext>
            </a:extLst>
          </p:cNvPr>
          <p:cNvSpPr>
            <a:spLocks xmlns:a="http://schemas.openxmlformats.org/drawingml/2006/main" noGrp="1"/>
          </p:cNvSpPr>
          <p:nvPr/>
        </p:nvSpPr>
        <p:spPr>
          <a:xfrm xmlns:a="http://schemas.openxmlformats.org/drawingml/2006/main">
            <a:off x="7953375" y="0"/>
            <a:ext cx="4238625"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3" name="">
            <a:extLst xmlns:a="http://schemas.openxmlformats.org/drawingml/2006/main">
              <a:ext uri="{FF2B5EF4-FFF2-40B4-BE49-F238E27FC236}">
                <a16:creationId xmlns:a16="http://schemas.microsoft.com/office/drawing/2014/main" id="{A8986CA8-095F-4BFB-B74E-820BAA1E6E01}"/>
              </a:ext>
            </a:extLst>
          </p:cNvPr>
          <p:cNvSpPr>
            <a:spLocks xmlns:a="http://schemas.openxmlformats.org/drawingml/2006/main" noGrp="1"/>
          </p:cNvSpPr>
          <p:nvPr/>
        </p:nvSpPr>
        <p:spPr>
          <a:xfrm xmlns:a="http://schemas.openxmlformats.org/drawingml/2006/main">
            <a:off x="647700" y="762000"/>
            <a:ext cx="67627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3000"/>
              </a:lnSpc>
              <a:buNone/>
              <a:defRPr sz="4200" b="1">
                <a:solidFill>
                  <a:srgbClr val="FFFFFF"/>
                </a:solidFill>
                <a:latin typeface="Aptos"/>
                <a:ea typeface="Aptos"/>
                <a:cs typeface="Aptos"/>
              </a:defRPr>
            </a:pPr>
            <a:r>
              <a:rPr sz="4200" b="1">
                <a:solidFill>
                  <a:srgbClr val="FFFFFF"/>
                </a:solidFill>
                <a:latin typeface="Aptos"/>
                <a:ea typeface="Aptos"/>
                <a:cs typeface="Aptos"/>
              </a:rPr>
              <a:t>PATIENT-CENTRIC</a:t>
            </a:r>
          </a:p>
          <a:p xmlns:a="http://schemas.openxmlformats.org/drawingml/2006/main">
            <a:pPr algn="l">
              <a:lnSpc>
                <a:spcPct val="83000"/>
              </a:lnSpc>
              <a:buNone/>
              <a:defRPr sz="4200" b="1">
                <a:solidFill>
                  <a:srgbClr val="FFFFFF"/>
                </a:solidFill>
                <a:latin typeface="Aptos"/>
                <a:ea typeface="Aptos"/>
                <a:cs typeface="Aptos"/>
              </a:defRPr>
            </a:pPr>
            <a:r>
              <a:rPr sz="4200" b="1">
                <a:solidFill>
                  <a:srgbClr val="FFFFFF"/>
                </a:solidFill>
                <a:latin typeface="Aptos"/>
                <a:ea typeface="Aptos"/>
                <a:cs typeface="Aptos"/>
              </a:rPr>
              <a:t>HEALTHCARE 5.0</a:t>
            </a:r>
          </a:p>
        </p:txBody>
      </p:sp>
      <p:sp>
        <p:nvSpPr>
          <p:cNvPr id="4" name="">
            <a:extLst xmlns:a="http://schemas.openxmlformats.org/drawingml/2006/main">
              <a:ext uri="{FF2B5EF4-FFF2-40B4-BE49-F238E27FC236}">
                <a16:creationId xmlns:a16="http://schemas.microsoft.com/office/drawing/2014/main" id="{CBBEBD94-664D-4D93-81D8-FAB9AE4E6F20}"/>
              </a:ext>
            </a:extLst>
          </p:cNvPr>
          <p:cNvSpPr>
            <a:spLocks xmlns:a="http://schemas.openxmlformats.org/drawingml/2006/main" noGrp="1"/>
          </p:cNvSpPr>
          <p:nvPr/>
        </p:nvSpPr>
        <p:spPr>
          <a:xfrm xmlns:a="http://schemas.openxmlformats.org/drawingml/2006/main">
            <a:off x="685800" y="2743200"/>
            <a:ext cx="657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875" b="0">
                <a:solidFill>
                  <a:srgbClr val="DCE8EC"/>
                </a:solidFill>
                <a:latin typeface="Aptos"/>
                <a:ea typeface="Aptos"/>
                <a:cs typeface="Aptos"/>
              </a:defRPr>
            </a:pPr>
            <a:r>
              <a:rPr sz="1875" b="0">
                <a:solidFill>
                  <a:srgbClr val="DCE8EC"/>
                </a:solidFill>
                <a:latin typeface="Aptos"/>
                <a:ea typeface="Aptos"/>
                <a:cs typeface="Aptos"/>
              </a:rPr>
              <a:t>AI for Better Conversations, Safer Decisions,</a:t>
            </a:r>
          </a:p>
          <a:p xmlns:a="http://schemas.openxmlformats.org/drawingml/2006/main">
            <a:pPr algn="l">
              <a:lnSpc>
                <a:spcPct val="103000"/>
              </a:lnSpc>
              <a:buNone/>
              <a:defRPr sz="1875" b="0">
                <a:solidFill>
                  <a:srgbClr val="DCE8EC"/>
                </a:solidFill>
                <a:latin typeface="Aptos"/>
                <a:ea typeface="Aptos"/>
                <a:cs typeface="Aptos"/>
              </a:defRPr>
            </a:pPr>
            <a:r>
              <a:rPr sz="1875" b="0">
                <a:solidFill>
                  <a:srgbClr val="DCE8EC"/>
                </a:solidFill>
                <a:latin typeface="Aptos"/>
                <a:ea typeface="Aptos"/>
                <a:cs typeface="Aptos"/>
              </a:rPr>
              <a:t>Professional Impact and Research</a:t>
            </a:r>
          </a:p>
        </p:txBody>
      </p:sp>
      <p:sp>
        <p:nvSpPr>
          <p:cNvPr id="5" name="">
            <a:extLst xmlns:a="http://schemas.openxmlformats.org/drawingml/2006/main">
              <a:ext uri="{FF2B5EF4-FFF2-40B4-BE49-F238E27FC236}">
                <a16:creationId xmlns:a16="http://schemas.microsoft.com/office/drawing/2014/main" id="{9AA3429F-AC2D-4CEB-B08E-96D3E34229EE}"/>
              </a:ext>
            </a:extLst>
          </p:cNvPr>
          <p:cNvSpPr>
            <a:spLocks xmlns:a="http://schemas.openxmlformats.org/drawingml/2006/main" noGrp="1"/>
          </p:cNvSpPr>
          <p:nvPr/>
        </p:nvSpPr>
        <p:spPr>
          <a:xfrm xmlns:a="http://schemas.openxmlformats.org/drawingml/2006/main">
            <a:off x="685800" y="3952875"/>
            <a:ext cx="2857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60 MIN THEORY + 90 MIN WORKSHOP</a:t>
            </a:r>
          </a:p>
        </p:txBody>
      </p:sp>
      <p:sp>
        <p:nvSpPr>
          <p:cNvPr id="6" name="">
            <a:extLst xmlns:a="http://schemas.openxmlformats.org/drawingml/2006/main">
              <a:ext uri="{FF2B5EF4-FFF2-40B4-BE49-F238E27FC236}">
                <a16:creationId xmlns:a16="http://schemas.microsoft.com/office/drawing/2014/main" id="{66B156D8-58FE-4755-8E67-99CCAD849168}"/>
              </a:ext>
            </a:extLst>
          </p:cNvPr>
          <p:cNvSpPr>
            <a:spLocks xmlns:a="http://schemas.openxmlformats.org/drawingml/2006/main" noGrp="1"/>
          </p:cNvSpPr>
          <p:nvPr/>
        </p:nvSpPr>
        <p:spPr>
          <a:xfrm xmlns:a="http://schemas.openxmlformats.org/drawingml/2006/main">
            <a:off x="685800" y="4448175"/>
            <a:ext cx="561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Doctors × Pharma Professionals</a:t>
            </a:r>
          </a:p>
        </p:txBody>
      </p:sp>
      <p:sp>
        <p:nvSpPr>
          <p:cNvPr id="7" name="">
            <a:extLst xmlns:a="http://schemas.openxmlformats.org/drawingml/2006/main">
              <a:ext uri="{FF2B5EF4-FFF2-40B4-BE49-F238E27FC236}">
                <a16:creationId xmlns:a16="http://schemas.microsoft.com/office/drawing/2014/main" id="{1179C3BD-D058-4D0D-BAB4-CFD0E06D5A7C}"/>
              </a:ext>
            </a:extLst>
          </p:cNvPr>
          <p:cNvSpPr>
            <a:spLocks xmlns:a="http://schemas.openxmlformats.org/drawingml/2006/main" noGrp="1"/>
          </p:cNvSpPr>
          <p:nvPr/>
        </p:nvSpPr>
        <p:spPr>
          <a:xfrm xmlns:a="http://schemas.openxmlformats.org/drawingml/2006/main">
            <a:off x="685800" y="5267325"/>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00" b="0">
                <a:solidFill>
                  <a:srgbClr val="DCE8EC"/>
                </a:solidFill>
                <a:latin typeface="Aptos"/>
                <a:ea typeface="Aptos"/>
                <a:cs typeface="Aptos"/>
              </a:defRPr>
            </a:pPr>
            <a:r>
              <a:rPr sz="1200" b="0">
                <a:solidFill>
                  <a:srgbClr val="DCE8EC"/>
                </a:solidFill>
                <a:latin typeface="Aptos"/>
                <a:ea typeface="Aptos"/>
                <a:cs typeface="Aptos"/>
              </a:rPr>
              <a:t>Facilitator: Dr. Alok Tiwari</a:t>
            </a:r>
          </a:p>
          <a:p xmlns:a="http://schemas.openxmlformats.org/drawingml/2006/main">
            <a:pPr algn="l">
              <a:lnSpc>
                <a:spcPct val="103000"/>
              </a:lnSpc>
              <a:buNone/>
              <a:defRPr sz="1200" b="0">
                <a:solidFill>
                  <a:srgbClr val="DCE8EC"/>
                </a:solidFill>
                <a:latin typeface="Aptos"/>
                <a:ea typeface="Aptos"/>
                <a:cs typeface="Aptos"/>
              </a:defRPr>
            </a:pPr>
            <a:r>
              <a:rPr sz="1200" b="0">
                <a:solidFill>
                  <a:srgbClr val="DCE8EC"/>
                </a:solidFill>
                <a:latin typeface="Aptos"/>
                <a:ea typeface="Aptos"/>
                <a:cs typeface="Aptos"/>
              </a:rPr>
              <a:t>Goa Institute of Management</a:t>
            </a:r>
          </a:p>
        </p:txBody>
      </p:sp>
      <p:sp>
        <p:nvSpPr>
          <p:cNvPr id="8" name="">
            <a:extLst xmlns:a="http://schemas.openxmlformats.org/drawingml/2006/main">
              <a:ext uri="{FF2B5EF4-FFF2-40B4-BE49-F238E27FC236}">
                <a16:creationId xmlns:a16="http://schemas.microsoft.com/office/drawing/2014/main" id="{44E9BDF9-7D2C-47C9-832C-734E2B6C9893}"/>
              </a:ext>
            </a:extLst>
          </p:cNvPr>
          <p:cNvSpPr>
            <a:spLocks xmlns:a="http://schemas.openxmlformats.org/drawingml/2006/main" noGrp="1"/>
          </p:cNvSpPr>
          <p:nvPr/>
        </p:nvSpPr>
        <p:spPr>
          <a:xfrm xmlns:a="http://schemas.openxmlformats.org/drawingml/2006/main">
            <a:off x="8591550" y="1171575"/>
            <a:ext cx="1314450" cy="13144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87E78"/>
                </a:solidFill>
                <a:latin typeface="Aptos"/>
                <a:ea typeface="Aptos"/>
                <a:cs typeface="Aptos"/>
              </a:defRPr>
            </a:pPr>
            <a:r>
              <a:rPr sz="1200" b="1">
                <a:solidFill>
                  <a:srgbClr val="087E78"/>
                </a:solidFill>
                <a:latin typeface="Aptos"/>
                <a:ea typeface="Aptos"/>
                <a:cs typeface="Aptos"/>
              </a:rPr>
              <a:t>PATIENT</a:t>
            </a:r>
          </a:p>
        </p:txBody>
      </p:sp>
      <p:sp>
        <p:nvSpPr>
          <p:cNvPr id="9" name="">
            <a:extLst xmlns:a="http://schemas.openxmlformats.org/drawingml/2006/main">
              <a:ext uri="{FF2B5EF4-FFF2-40B4-BE49-F238E27FC236}">
                <a16:creationId xmlns:a16="http://schemas.microsoft.com/office/drawing/2014/main" id="{FFA0B83D-4F25-4E6C-9EF3-F237F42AB891}"/>
              </a:ext>
            </a:extLst>
          </p:cNvPr>
          <p:cNvSpPr>
            <a:spLocks xmlns:a="http://schemas.openxmlformats.org/drawingml/2006/main" noGrp="1"/>
          </p:cNvSpPr>
          <p:nvPr/>
        </p:nvSpPr>
        <p:spPr>
          <a:xfrm xmlns:a="http://schemas.openxmlformats.org/drawingml/2006/main">
            <a:off x="10039350" y="3048000"/>
            <a:ext cx="1314450" cy="1314450"/>
          </a:xfrm>
          <a:prstGeom xmlns:a="http://schemas.openxmlformats.org/drawingml/2006/main" prst="ellipse">
            <a:avLst/>
          </a:prstGeom>
          <a:solidFill xmlns:a="http://schemas.openxmlformats.org/drawingml/2006/main">
            <a:srgbClr val="082638"/>
          </a:solidFill>
          <a:ln xmlns:a="http://schemas.openxmlformats.org/drawingml/2006/main" w="0">
            <a:solidFill>
              <a:srgbClr val="08263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CLINICIAN</a:t>
            </a:r>
          </a:p>
        </p:txBody>
      </p:sp>
      <p:sp>
        <p:nvSpPr>
          <p:cNvPr id="10" name="">
            <a:extLst xmlns:a="http://schemas.openxmlformats.org/drawingml/2006/main">
              <a:ext uri="{FF2B5EF4-FFF2-40B4-BE49-F238E27FC236}">
                <a16:creationId xmlns:a16="http://schemas.microsoft.com/office/drawing/2014/main" id="{90534887-07E8-420D-B2E1-17D42F437A3D}"/>
              </a:ext>
            </a:extLst>
          </p:cNvPr>
          <p:cNvSpPr>
            <a:spLocks xmlns:a="http://schemas.openxmlformats.org/drawingml/2006/main" noGrp="1"/>
          </p:cNvSpPr>
          <p:nvPr/>
        </p:nvSpPr>
        <p:spPr>
          <a:xfrm xmlns:a="http://schemas.openxmlformats.org/drawingml/2006/main">
            <a:off x="8286750" y="4762500"/>
            <a:ext cx="1314450" cy="1314450"/>
          </a:xfrm>
          <a:prstGeom xmlns:a="http://schemas.openxmlformats.org/drawingml/2006/main" prst="ellipse">
            <a:avLst/>
          </a:prstGeom>
          <a:solidFill xmlns:a="http://schemas.openxmlformats.org/drawingml/2006/main">
            <a:srgbClr val="E8694A"/>
          </a:solidFill>
          <a:ln xmlns:a="http://schemas.openxmlformats.org/drawingml/2006/main" w="0">
            <a:solidFill>
              <a:srgbClr val="E8694A"/>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PHARMA</a:t>
            </a:r>
          </a:p>
        </p:txBody>
      </p:sp>
      <p:sp>
        <p:nvSpPr>
          <p:cNvPr id="11" name="">
            <a:extLst xmlns:a="http://schemas.openxmlformats.org/drawingml/2006/main">
              <a:ext uri="{FF2B5EF4-FFF2-40B4-BE49-F238E27FC236}">
                <a16:creationId xmlns:a16="http://schemas.microsoft.com/office/drawing/2014/main" id="{16AA375D-C64E-4687-B8DE-B50857CEA8F6}"/>
              </a:ext>
            </a:extLst>
          </p:cNvPr>
          <p:cNvSpPr>
            <a:spLocks xmlns:a="http://schemas.openxmlformats.org/drawingml/2006/main" noGrp="1"/>
          </p:cNvSpPr>
          <p:nvPr/>
        </p:nvSpPr>
        <p:spPr>
          <a:xfrm xmlns:a="http://schemas.openxmlformats.org/drawingml/2006/main">
            <a:off x="9182100" y="2686050"/>
            <a:ext cx="95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2625" b="1">
                <a:solidFill>
                  <a:srgbClr val="FFFFFF"/>
                </a:solidFill>
                <a:latin typeface="Aptos"/>
                <a:ea typeface="Aptos"/>
                <a:cs typeface="Aptos"/>
              </a:defRPr>
            </a:pPr>
            <a:r>
              <a:rPr sz="2625" b="1">
                <a:solidFill>
                  <a:srgbClr val="FFFFFF"/>
                </a:solidFill>
                <a:latin typeface="Aptos"/>
                <a:ea typeface="Aptos"/>
                <a:cs typeface="Aptos"/>
              </a:rPr>
              <a:t>AI</a:t>
            </a:r>
          </a:p>
        </p:txBody>
      </p:sp>
    </p:spTree>
    <p:extLst>
      <p:ext uri="{BB962C8B-B14F-4D97-AF65-F5344CB8AC3E}">
        <p14:creationId xmlns:p14="http://schemas.microsoft.com/office/powerpoint/2010/main" val="353902846"/>
      </p:ext>
    </p:extLst>
  </p:cSld>
</p:sld>
</file>

<file path=ppt/slides/slide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6A04596-96A8-4A49-AC5D-FEECDEBFBAF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8694A"/>
          </a:solidFill>
          <a:ln xmlns:a="http://schemas.openxmlformats.org/drawingml/2006/main" w="0">
            <a:solidFill>
              <a:srgbClr val="E8694A"/>
            </a:solidFill>
            <a:prstDash val="solid"/>
          </a:ln>
        </p:spPr>
      </p:sp>
      <p:sp>
        <p:nvSpPr>
          <p:cNvPr id="2" name="">
            <a:extLst xmlns:a="http://schemas.openxmlformats.org/drawingml/2006/main">
              <a:ext uri="{FF2B5EF4-FFF2-40B4-BE49-F238E27FC236}">
                <a16:creationId xmlns:a16="http://schemas.microsoft.com/office/drawing/2014/main" id="{899DBFE1-CA0B-4797-9B77-7F5B9ECE3D9B}"/>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449"/>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OPENING CHALLENGE</a:t>
            </a:r>
          </a:p>
        </p:txBody>
      </p:sp>
      <p:sp>
        <p:nvSpPr>
          <p:cNvPr id="3" name="">
            <a:extLst xmlns:a="http://schemas.openxmlformats.org/drawingml/2006/main">
              <a:ext uri="{FF2B5EF4-FFF2-40B4-BE49-F238E27FC236}">
                <a16:creationId xmlns:a16="http://schemas.microsoft.com/office/drawing/2014/main" id="{47D22630-74F0-49BE-8AD9-0A38F0643E8A}"/>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The first question is not “What can AI do?”</a:t>
            </a:r>
          </a:p>
        </p:txBody>
      </p:sp>
      <p:sp>
        <p:nvSpPr>
          <p:cNvPr id="4" name="">
            <a:extLst xmlns:a="http://schemas.openxmlformats.org/drawingml/2006/main">
              <a:ext uri="{FF2B5EF4-FFF2-40B4-BE49-F238E27FC236}">
                <a16:creationId xmlns:a16="http://schemas.microsoft.com/office/drawing/2014/main" id="{BB8718AB-9C1B-495D-8AA1-39757C833DDC}"/>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E677536A-D660-408B-96CA-D1DE899DDCBC}"/>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DDB1A6BC-B3FF-4FC7-B7AA-EC4E8FD41595}"/>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6B6CE8C7-0593-4560-AD68-79E955F51711}"/>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8" name="">
            <a:extLst xmlns:a="http://schemas.openxmlformats.org/drawingml/2006/main">
              <a:ext uri="{FF2B5EF4-FFF2-40B4-BE49-F238E27FC236}">
                <a16:creationId xmlns:a16="http://schemas.microsoft.com/office/drawing/2014/main" id="{EED2C8C0-8E15-4436-899D-315FE52F2A59}"/>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29F77DE4-EBBA-4BCA-B32D-7702CC3039A2}"/>
              </a:ext>
            </a:extLst>
          </p:cNvPr>
          <p:cNvSpPr>
            <a:spLocks xmlns:a="http://schemas.openxmlformats.org/drawingml/2006/main" noGrp="1"/>
          </p:cNvSpPr>
          <p:nvPr/>
        </p:nvSpPr>
        <p:spPr>
          <a:xfrm xmlns:a="http://schemas.openxmlformats.org/drawingml/2006/main">
            <a:off x="666750" y="18097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63747C"/>
                </a:solidFill>
                <a:latin typeface="Aptos"/>
                <a:ea typeface="Aptos"/>
                <a:cs typeface="Aptos"/>
              </a:defRPr>
            </a:pPr>
            <a:r>
              <a:rPr sz="1500" b="1">
                <a:solidFill>
                  <a:srgbClr val="63747C"/>
                </a:solidFill>
                <a:latin typeface="Aptos"/>
                <a:ea typeface="Aptos"/>
                <a:cs typeface="Aptos"/>
              </a:rPr>
              <a:t>It is:</a:t>
            </a:r>
          </a:p>
        </p:txBody>
      </p:sp>
      <p:sp>
        <p:nvSpPr>
          <p:cNvPr id="10" name="">
            <a:extLst xmlns:a="http://schemas.openxmlformats.org/drawingml/2006/main">
              <a:ext uri="{FF2B5EF4-FFF2-40B4-BE49-F238E27FC236}">
                <a16:creationId xmlns:a16="http://schemas.microsoft.com/office/drawing/2014/main" id="{F5DAF806-8ED2-4AC2-BA9D-25FE1E26EBE1}"/>
              </a:ext>
            </a:extLst>
          </p:cNvPr>
          <p:cNvSpPr>
            <a:spLocks xmlns:a="http://schemas.openxmlformats.org/drawingml/2006/main" noGrp="1"/>
          </p:cNvSpPr>
          <p:nvPr/>
        </p:nvSpPr>
        <p:spPr>
          <a:xfrm xmlns:a="http://schemas.openxmlformats.org/drawingml/2006/main">
            <a:off x="666750" y="2266950"/>
            <a:ext cx="7048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000" b="1">
                <a:solidFill>
                  <a:srgbClr val="082638"/>
                </a:solidFill>
                <a:latin typeface="Aptos"/>
                <a:ea typeface="Aptos"/>
                <a:cs typeface="Aptos"/>
              </a:defRPr>
            </a:pPr>
            <a:r>
              <a:rPr sz="3000" b="1">
                <a:solidFill>
                  <a:srgbClr val="082638"/>
                </a:solidFill>
                <a:latin typeface="Aptos"/>
                <a:ea typeface="Aptos"/>
                <a:cs typeface="Aptos"/>
              </a:rPr>
              <a:t>Does this give the patient more</a:t>
            </a:r>
          </a:p>
          <a:p xmlns:a="http://schemas.openxmlformats.org/drawingml/2006/main">
            <a:pPr algn="l">
              <a:lnSpc>
                <a:spcPct val="94000"/>
              </a:lnSpc>
              <a:buNone/>
              <a:defRPr sz="3000" b="1">
                <a:solidFill>
                  <a:srgbClr val="082638"/>
                </a:solidFill>
                <a:latin typeface="Aptos"/>
                <a:ea typeface="Aptos"/>
                <a:cs typeface="Aptos"/>
              </a:defRPr>
            </a:pPr>
            <a:r>
              <a:rPr sz="3000" b="1">
                <a:solidFill>
                  <a:srgbClr val="082638"/>
                </a:solidFill>
                <a:latin typeface="Aptos"/>
                <a:ea typeface="Aptos"/>
                <a:cs typeface="Aptos"/>
              </a:rPr>
              <a:t>attention, understanding and safety?</a:t>
            </a:r>
          </a:p>
        </p:txBody>
      </p:sp>
      <p:sp>
        <p:nvSpPr>
          <p:cNvPr id="11" name="">
            <a:extLst xmlns:a="http://schemas.openxmlformats.org/drawingml/2006/main">
              <a:ext uri="{FF2B5EF4-FFF2-40B4-BE49-F238E27FC236}">
                <a16:creationId xmlns:a16="http://schemas.microsoft.com/office/drawing/2014/main" id="{288CDF26-4D90-4285-B018-C153543A2FFF}"/>
              </a:ext>
            </a:extLst>
          </p:cNvPr>
          <p:cNvSpPr>
            <a:spLocks xmlns:a="http://schemas.openxmlformats.org/drawingml/2006/main" noGrp="1"/>
          </p:cNvSpPr>
          <p:nvPr/>
        </p:nvSpPr>
        <p:spPr>
          <a:xfrm xmlns:a="http://schemas.openxmlformats.org/drawingml/2006/main">
            <a:off x="8239125" y="1857375"/>
            <a:ext cx="3048000" cy="2476500"/>
          </a:xfrm>
          <a:prstGeom xmlns:a="http://schemas.openxmlformats.org/drawingml/2006/main" prst="roundRect">
            <a:avLst>
              <a:gd name="adj" fmla="val 8462"/>
            </a:avLst>
          </a:prstGeom>
          <a:solidFill xmlns:a="http://schemas.openxmlformats.org/drawingml/2006/main">
            <a:srgbClr val="FFFDFC"/>
          </a:solidFill>
          <a:ln xmlns:a="http://schemas.openxmlformats.org/drawingml/2006/main" w="9525">
            <a:solidFill>
              <a:srgbClr val="E8694A"/>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D37BD37D-C897-4D9F-8901-F0B4AD59CA80}"/>
              </a:ext>
            </a:extLst>
          </p:cNvPr>
          <p:cNvSpPr>
            <a:spLocks xmlns:a="http://schemas.openxmlformats.org/drawingml/2006/main" noGrp="1"/>
          </p:cNvSpPr>
          <p:nvPr/>
        </p:nvSpPr>
        <p:spPr>
          <a:xfrm xmlns:a="http://schemas.openxmlformats.org/drawingml/2006/main">
            <a:off x="8543925" y="2133600"/>
            <a:ext cx="2428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050" b="1">
                <a:solidFill>
                  <a:srgbClr val="E8694A"/>
                </a:solidFill>
                <a:latin typeface="Aptos"/>
                <a:ea typeface="Aptos"/>
                <a:cs typeface="Aptos"/>
              </a:defRPr>
            </a:pPr>
            <a:r>
              <a:rPr sz="1050" b="1">
                <a:solidFill>
                  <a:srgbClr val="E8694A"/>
                </a:solidFill>
                <a:latin typeface="Aptos"/>
                <a:ea typeface="Aptos"/>
                <a:cs typeface="Aptos"/>
              </a:rPr>
              <a:t>PAIR DISCUSSION</a:t>
            </a:r>
          </a:p>
        </p:txBody>
      </p:sp>
      <p:sp>
        <p:nvSpPr>
          <p:cNvPr id="13" name="">
            <a:extLst xmlns:a="http://schemas.openxmlformats.org/drawingml/2006/main">
              <a:ext uri="{FF2B5EF4-FFF2-40B4-BE49-F238E27FC236}">
                <a16:creationId xmlns:a16="http://schemas.microsoft.com/office/drawing/2014/main" id="{2445640C-41FF-41AB-8F20-D2B59BF6F6F9}"/>
              </a:ext>
            </a:extLst>
          </p:cNvPr>
          <p:cNvSpPr>
            <a:spLocks xmlns:a="http://schemas.openxmlformats.org/drawingml/2006/main" noGrp="1"/>
          </p:cNvSpPr>
          <p:nvPr/>
        </p:nvSpPr>
        <p:spPr>
          <a:xfrm xmlns:a="http://schemas.openxmlformats.org/drawingml/2006/main">
            <a:off x="8591550" y="2686050"/>
            <a:ext cx="2333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017"/>
          </a:bodyPr>
          <a:lstStyle xmlns:a="http://schemas.openxmlformats.org/drawingml/2006/main"/>
          <a:p xmlns:a="http://schemas.openxmlformats.org/drawingml/2006/main">
            <a:pPr algn="ctr">
              <a:lnSpc>
                <a:spcPct val="103000"/>
              </a:lnSpc>
              <a:buNone/>
              <a:defRPr sz="1575" b="1">
                <a:solidFill>
                  <a:srgbClr val="183340"/>
                </a:solidFill>
                <a:latin typeface="Aptos"/>
                <a:ea typeface="Aptos"/>
                <a:cs typeface="Aptos"/>
              </a:defRPr>
            </a:pPr>
            <a:r>
              <a:rPr sz="1575" b="1">
                <a:solidFill>
                  <a:srgbClr val="183340"/>
                </a:solidFill>
                <a:latin typeface="Aptos"/>
                <a:ea typeface="Aptos"/>
                <a:cs typeface="Aptos"/>
              </a:rPr>
              <a:t>Where does technology currently pull attention away from the patient—or delay a safe decision?</a:t>
            </a:r>
          </a:p>
        </p:txBody>
      </p:sp>
      <p:sp>
        <p:nvSpPr>
          <p:cNvPr id="14" name="">
            <a:extLst xmlns:a="http://schemas.openxmlformats.org/drawingml/2006/main">
              <a:ext uri="{FF2B5EF4-FFF2-40B4-BE49-F238E27FC236}">
                <a16:creationId xmlns:a16="http://schemas.microsoft.com/office/drawing/2014/main" id="{CE3D7C0C-D9A1-4AE5-8D23-B3B8CF308223}"/>
              </a:ext>
            </a:extLst>
          </p:cNvPr>
          <p:cNvSpPr>
            <a:spLocks xmlns:a="http://schemas.openxmlformats.org/drawingml/2006/main" noGrp="1"/>
          </p:cNvSpPr>
          <p:nvPr/>
        </p:nvSpPr>
        <p:spPr>
          <a:xfrm xmlns:a="http://schemas.openxmlformats.org/drawingml/2006/main">
            <a:off x="781050" y="4886325"/>
            <a:ext cx="10096500" cy="714375"/>
          </a:xfrm>
          <a:prstGeom xmlns:a="http://schemas.openxmlformats.org/drawingml/2006/main" prst="roundRect">
            <a:avLst>
              <a:gd name="adj" fmla="val 21333"/>
            </a:avLst>
          </a:prstGeom>
          <a:solidFill xmlns:a="http://schemas.openxmlformats.org/drawingml/2006/main">
            <a:srgbClr val="FBE7DF"/>
          </a:solidFill>
          <a:ln xmlns:a="http://schemas.openxmlformats.org/drawingml/2006/main" w="9525">
            <a:solidFill>
              <a:srgbClr val="FBE7DF"/>
            </a:solidFill>
            <a:prstDash val="solid"/>
          </a:ln>
        </p:spPr>
      </p:sp>
      <p:sp>
        <p:nvSpPr>
          <p:cNvPr id="15" name="">
            <a:extLst xmlns:a="http://schemas.openxmlformats.org/drawingml/2006/main">
              <a:ext uri="{FF2B5EF4-FFF2-40B4-BE49-F238E27FC236}">
                <a16:creationId xmlns:a16="http://schemas.microsoft.com/office/drawing/2014/main" id="{C4270C9B-25B3-49D3-8A9D-8D0F677755D9}"/>
              </a:ext>
            </a:extLst>
          </p:cNvPr>
          <p:cNvSpPr>
            <a:spLocks xmlns:a="http://schemas.openxmlformats.org/drawingml/2006/main" noGrp="1"/>
          </p:cNvSpPr>
          <p:nvPr/>
        </p:nvSpPr>
        <p:spPr>
          <a:xfrm xmlns:a="http://schemas.openxmlformats.org/drawingml/2006/main">
            <a:off x="1047750" y="5076825"/>
            <a:ext cx="957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725" b="1">
                <a:solidFill>
                  <a:srgbClr val="B7433D"/>
                </a:solidFill>
                <a:latin typeface="Aptos"/>
                <a:ea typeface="Aptos"/>
                <a:cs typeface="Aptos"/>
              </a:defRPr>
            </a:pPr>
            <a:r>
              <a:rPr sz="1725" b="1">
                <a:solidFill>
                  <a:srgbClr val="B7433D"/>
                </a:solidFill>
                <a:latin typeface="Aptos"/>
                <a:ea typeface="Aptos"/>
                <a:cs typeface="Aptos"/>
              </a:rPr>
              <a:t>Design principle: automate friction, preserve relationship and make ownership visible.</a:t>
            </a:r>
          </a:p>
        </p:txBody>
      </p:sp>
    </p:spTree>
    <p:extLst>
      <p:ext uri="{BB962C8B-B14F-4D97-AF65-F5344CB8AC3E}">
        <p14:creationId xmlns:p14="http://schemas.microsoft.com/office/powerpoint/2010/main" val="1085334781"/>
      </p:ext>
    </p:extLst>
  </p:cSld>
</p:sld>
</file>

<file path=ppt/slides/slide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0CA317-B29D-404F-9275-0044D052F43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77F3EA96-23DB-4642-95A9-68F6AAA13558}"/>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OUTCOME</a:t>
            </a:r>
          </a:p>
        </p:txBody>
      </p:sp>
      <p:sp>
        <p:nvSpPr>
          <p:cNvPr id="3" name="">
            <a:extLst xmlns:a="http://schemas.openxmlformats.org/drawingml/2006/main">
              <a:ext uri="{FF2B5EF4-FFF2-40B4-BE49-F238E27FC236}">
                <a16:creationId xmlns:a16="http://schemas.microsoft.com/office/drawing/2014/main" id="{77B0D821-4049-4402-AC9A-77E790DA9B6B}"/>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Four capabilities—not a catalogue of apps</a:t>
            </a:r>
          </a:p>
        </p:txBody>
      </p:sp>
      <p:sp>
        <p:nvSpPr>
          <p:cNvPr id="4" name="">
            <a:extLst xmlns:a="http://schemas.openxmlformats.org/drawingml/2006/main">
              <a:ext uri="{FF2B5EF4-FFF2-40B4-BE49-F238E27FC236}">
                <a16:creationId xmlns:a16="http://schemas.microsoft.com/office/drawing/2014/main" id="{FDBBB9B9-D8AB-471B-B232-FF1ED680763A}"/>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CB07625E-2EAB-4452-8D5D-0D0595ED94E4}"/>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C61B6403-2659-4289-8A54-CD75C68A4924}"/>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7FD93573-2F64-494D-AB39-53A2C219B00B}"/>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8" name="">
            <a:extLst xmlns:a="http://schemas.openxmlformats.org/drawingml/2006/main">
              <a:ext uri="{FF2B5EF4-FFF2-40B4-BE49-F238E27FC236}">
                <a16:creationId xmlns:a16="http://schemas.microsoft.com/office/drawing/2014/main" id="{C725268A-40FF-4B5C-B1EB-118C6803F838}"/>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B565CF9E-E240-4E50-87BA-1EE85A69E40A}"/>
              </a:ext>
            </a:extLst>
          </p:cNvPr>
          <p:cNvSpPr>
            <a:spLocks xmlns:a="http://schemas.openxmlformats.org/drawingml/2006/main" noGrp="1"/>
          </p:cNvSpPr>
          <p:nvPr/>
        </p:nvSpPr>
        <p:spPr>
          <a:xfrm xmlns:a="http://schemas.openxmlformats.org/drawingml/2006/main">
            <a:off x="6096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2F6F9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72545A96-6933-4686-9B87-7900ADB0497D}"/>
              </a:ext>
            </a:extLst>
          </p:cNvPr>
          <p:cNvSpPr>
            <a:spLocks xmlns:a="http://schemas.openxmlformats.org/drawingml/2006/main" noGrp="1"/>
          </p:cNvSpPr>
          <p:nvPr/>
        </p:nvSpPr>
        <p:spPr>
          <a:xfrm xmlns:a="http://schemas.openxmlformats.org/drawingml/2006/main">
            <a:off x="762000" y="1905000"/>
            <a:ext cx="8191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OWN</a:t>
            </a:r>
          </a:p>
        </p:txBody>
      </p:sp>
      <p:sp>
        <p:nvSpPr>
          <p:cNvPr id="11" name="">
            <a:extLst xmlns:a="http://schemas.openxmlformats.org/drawingml/2006/main">
              <a:ext uri="{FF2B5EF4-FFF2-40B4-BE49-F238E27FC236}">
                <a16:creationId xmlns:a16="http://schemas.microsoft.com/office/drawing/2014/main" id="{901829C4-3012-464D-8CE2-3CE41A524476}"/>
              </a:ext>
            </a:extLst>
          </p:cNvPr>
          <p:cNvSpPr>
            <a:spLocks xmlns:a="http://schemas.openxmlformats.org/drawingml/2006/main" noGrp="1"/>
          </p:cNvSpPr>
          <p:nvPr/>
        </p:nvSpPr>
        <p:spPr>
          <a:xfrm xmlns:a="http://schemas.openxmlformats.org/drawingml/2006/main">
            <a:off x="7810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Own projection</a:t>
            </a:r>
          </a:p>
        </p:txBody>
      </p:sp>
      <p:sp>
        <p:nvSpPr>
          <p:cNvPr id="12" name="">
            <a:extLst xmlns:a="http://schemas.openxmlformats.org/drawingml/2006/main">
              <a:ext uri="{FF2B5EF4-FFF2-40B4-BE49-F238E27FC236}">
                <a16:creationId xmlns:a16="http://schemas.microsoft.com/office/drawing/2014/main" id="{4B142498-4375-4A2D-93E5-B2477182A909}"/>
              </a:ext>
            </a:extLst>
          </p:cNvPr>
          <p:cNvSpPr>
            <a:spLocks xmlns:a="http://schemas.openxmlformats.org/drawingml/2006/main" noGrp="1"/>
          </p:cNvSpPr>
          <p:nvPr/>
        </p:nvSpPr>
        <p:spPr>
          <a:xfrm xmlns:a="http://schemas.openxmlformats.org/drawingml/2006/main">
            <a:off x="7810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Build trusted professional visibility without promotion or unsupported claims.</a:t>
            </a:r>
          </a:p>
        </p:txBody>
      </p:sp>
      <p:sp>
        <p:nvSpPr>
          <p:cNvPr id="13" name="">
            <a:extLst xmlns:a="http://schemas.openxmlformats.org/drawingml/2006/main">
              <a:ext uri="{FF2B5EF4-FFF2-40B4-BE49-F238E27FC236}">
                <a16:creationId xmlns:a16="http://schemas.microsoft.com/office/drawing/2014/main" id="{68575933-5C9E-4642-AE53-95CE2E97F26D}"/>
              </a:ext>
            </a:extLst>
          </p:cNvPr>
          <p:cNvSpPr>
            <a:spLocks xmlns:a="http://schemas.openxmlformats.org/drawingml/2006/main" noGrp="1"/>
          </p:cNvSpPr>
          <p:nvPr/>
        </p:nvSpPr>
        <p:spPr>
          <a:xfrm xmlns:a="http://schemas.openxmlformats.org/drawingml/2006/main">
            <a:off x="433705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C5902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C2E53BBF-2DBC-4B4F-95D5-1837C19B0C58}"/>
              </a:ext>
            </a:extLst>
          </p:cNvPr>
          <p:cNvSpPr>
            <a:spLocks xmlns:a="http://schemas.openxmlformats.org/drawingml/2006/main" noGrp="1"/>
          </p:cNvSpPr>
          <p:nvPr/>
        </p:nvSpPr>
        <p:spPr>
          <a:xfrm xmlns:a="http://schemas.openxmlformats.org/drawingml/2006/main">
            <a:off x="4489450" y="1905000"/>
            <a:ext cx="8191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RESEARCH</a:t>
            </a:r>
          </a:p>
        </p:txBody>
      </p:sp>
      <p:sp>
        <p:nvSpPr>
          <p:cNvPr id="15" name="">
            <a:extLst xmlns:a="http://schemas.openxmlformats.org/drawingml/2006/main">
              <a:ext uri="{FF2B5EF4-FFF2-40B4-BE49-F238E27FC236}">
                <a16:creationId xmlns:a16="http://schemas.microsoft.com/office/drawing/2014/main" id="{40AE354A-91D5-48C5-97A6-BF8D21E8DDBE}"/>
              </a:ext>
            </a:extLst>
          </p:cNvPr>
          <p:cNvSpPr>
            <a:spLocks xmlns:a="http://schemas.openxmlformats.org/drawingml/2006/main" noGrp="1"/>
          </p:cNvSpPr>
          <p:nvPr/>
        </p:nvSpPr>
        <p:spPr>
          <a:xfrm xmlns:a="http://schemas.openxmlformats.org/drawingml/2006/main">
            <a:off x="450850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Find and appraise</a:t>
            </a:r>
          </a:p>
        </p:txBody>
      </p:sp>
      <p:sp>
        <p:nvSpPr>
          <p:cNvPr id="16" name="">
            <a:extLst xmlns:a="http://schemas.openxmlformats.org/drawingml/2006/main">
              <a:ext uri="{FF2B5EF4-FFF2-40B4-BE49-F238E27FC236}">
                <a16:creationId xmlns:a16="http://schemas.microsoft.com/office/drawing/2014/main" id="{7179672F-9484-4AD4-B8B0-84A56AF28B87}"/>
              </a:ext>
            </a:extLst>
          </p:cNvPr>
          <p:cNvSpPr>
            <a:spLocks xmlns:a="http://schemas.openxmlformats.org/drawingml/2006/main" noGrp="1"/>
          </p:cNvSpPr>
          <p:nvPr/>
        </p:nvSpPr>
        <p:spPr>
          <a:xfrm xmlns:a="http://schemas.openxmlformats.org/drawingml/2006/main">
            <a:off x="450850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Move from a focused question to traceable evidence and limitations.</a:t>
            </a:r>
          </a:p>
        </p:txBody>
      </p:sp>
      <p:sp>
        <p:nvSpPr>
          <p:cNvPr id="17" name="">
            <a:extLst xmlns:a="http://schemas.openxmlformats.org/drawingml/2006/main">
              <a:ext uri="{FF2B5EF4-FFF2-40B4-BE49-F238E27FC236}">
                <a16:creationId xmlns:a16="http://schemas.microsoft.com/office/drawing/2014/main" id="{6E5AF7AD-E37E-44D2-8413-3D964C458C5D}"/>
              </a:ext>
            </a:extLst>
          </p:cNvPr>
          <p:cNvSpPr>
            <a:spLocks xmlns:a="http://schemas.openxmlformats.org/drawingml/2006/main" noGrp="1"/>
          </p:cNvSpPr>
          <p:nvPr/>
        </p:nvSpPr>
        <p:spPr>
          <a:xfrm xmlns:a="http://schemas.openxmlformats.org/drawingml/2006/main">
            <a:off x="80645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087E7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B684904E-2CF9-4A3D-AB76-F2423C983492}"/>
              </a:ext>
            </a:extLst>
          </p:cNvPr>
          <p:cNvSpPr>
            <a:spLocks xmlns:a="http://schemas.openxmlformats.org/drawingml/2006/main" noGrp="1"/>
          </p:cNvSpPr>
          <p:nvPr/>
        </p:nvSpPr>
        <p:spPr>
          <a:xfrm xmlns:a="http://schemas.openxmlformats.org/drawingml/2006/main">
            <a:off x="8216900" y="1905000"/>
            <a:ext cx="8191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DIAGNOSIS</a:t>
            </a:r>
          </a:p>
        </p:txBody>
      </p:sp>
      <p:sp>
        <p:nvSpPr>
          <p:cNvPr id="19" name="">
            <a:extLst xmlns:a="http://schemas.openxmlformats.org/drawingml/2006/main">
              <a:ext uri="{FF2B5EF4-FFF2-40B4-BE49-F238E27FC236}">
                <a16:creationId xmlns:a16="http://schemas.microsoft.com/office/drawing/2014/main" id="{04548DF5-49BD-43B8-B33B-4E66A25B40D8}"/>
              </a:ext>
            </a:extLst>
          </p:cNvPr>
          <p:cNvSpPr>
            <a:spLocks xmlns:a="http://schemas.openxmlformats.org/drawingml/2006/main" noGrp="1"/>
          </p:cNvSpPr>
          <p:nvPr/>
        </p:nvSpPr>
        <p:spPr>
          <a:xfrm xmlns:a="http://schemas.openxmlformats.org/drawingml/2006/main">
            <a:off x="82359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Support reasoning</a:t>
            </a:r>
          </a:p>
        </p:txBody>
      </p:sp>
      <p:sp>
        <p:nvSpPr>
          <p:cNvPr id="20" name="">
            <a:extLst xmlns:a="http://schemas.openxmlformats.org/drawingml/2006/main">
              <a:ext uri="{FF2B5EF4-FFF2-40B4-BE49-F238E27FC236}">
                <a16:creationId xmlns:a16="http://schemas.microsoft.com/office/drawing/2014/main" id="{3DB0B519-97A4-41E7-9F41-94074983D432}"/>
              </a:ext>
            </a:extLst>
          </p:cNvPr>
          <p:cNvSpPr>
            <a:spLocks xmlns:a="http://schemas.openxmlformats.org/drawingml/2006/main" noGrp="1"/>
          </p:cNvSpPr>
          <p:nvPr/>
        </p:nvSpPr>
        <p:spPr>
          <a:xfrm xmlns:a="http://schemas.openxmlformats.org/drawingml/2006/main">
            <a:off x="82359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Expose hypotheses, urgency and missing information—never outsource diagnosis.</a:t>
            </a:r>
          </a:p>
        </p:txBody>
      </p:sp>
      <p:sp>
        <p:nvSpPr>
          <p:cNvPr id="21" name="">
            <a:extLst xmlns:a="http://schemas.openxmlformats.org/drawingml/2006/main">
              <a:ext uri="{FF2B5EF4-FFF2-40B4-BE49-F238E27FC236}">
                <a16:creationId xmlns:a16="http://schemas.microsoft.com/office/drawing/2014/main" id="{70589482-30A0-4B2C-871B-EF6B2E4A0512}"/>
              </a:ext>
            </a:extLst>
          </p:cNvPr>
          <p:cNvSpPr>
            <a:spLocks xmlns:a="http://schemas.openxmlformats.org/drawingml/2006/main" noGrp="1"/>
          </p:cNvSpPr>
          <p:nvPr/>
        </p:nvSpPr>
        <p:spPr>
          <a:xfrm xmlns:a="http://schemas.openxmlformats.org/drawingml/2006/main">
            <a:off x="609600" y="3333750"/>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E869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17E8A16B-F161-4405-9564-DC131E6253EC}"/>
              </a:ext>
            </a:extLst>
          </p:cNvPr>
          <p:cNvSpPr>
            <a:spLocks xmlns:a="http://schemas.openxmlformats.org/drawingml/2006/main" noGrp="1"/>
          </p:cNvSpPr>
          <p:nvPr/>
        </p:nvSpPr>
        <p:spPr>
          <a:xfrm xmlns:a="http://schemas.openxmlformats.org/drawingml/2006/main">
            <a:off x="762000" y="3476625"/>
            <a:ext cx="8191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PATIENT</a:t>
            </a:r>
          </a:p>
        </p:txBody>
      </p:sp>
      <p:sp>
        <p:nvSpPr>
          <p:cNvPr id="23" name="">
            <a:extLst xmlns:a="http://schemas.openxmlformats.org/drawingml/2006/main">
              <a:ext uri="{FF2B5EF4-FFF2-40B4-BE49-F238E27FC236}">
                <a16:creationId xmlns:a16="http://schemas.microsoft.com/office/drawing/2014/main" id="{AFB876BA-AD48-4CE2-90EF-9B18FB4EB556}"/>
              </a:ext>
            </a:extLst>
          </p:cNvPr>
          <p:cNvSpPr>
            <a:spLocks xmlns:a="http://schemas.openxmlformats.org/drawingml/2006/main" noGrp="1"/>
          </p:cNvSpPr>
          <p:nvPr/>
        </p:nvSpPr>
        <p:spPr>
          <a:xfrm xmlns:a="http://schemas.openxmlformats.org/drawingml/2006/main">
            <a:off x="781050" y="3829050"/>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Improve continuity</a:t>
            </a:r>
          </a:p>
        </p:txBody>
      </p:sp>
      <p:sp>
        <p:nvSpPr>
          <p:cNvPr id="24" name="">
            <a:extLst xmlns:a="http://schemas.openxmlformats.org/drawingml/2006/main">
              <a:ext uri="{FF2B5EF4-FFF2-40B4-BE49-F238E27FC236}">
                <a16:creationId xmlns:a16="http://schemas.microsoft.com/office/drawing/2014/main" id="{95F5702F-5057-439B-8801-213958D7CB10}"/>
              </a:ext>
            </a:extLst>
          </p:cNvPr>
          <p:cNvSpPr>
            <a:spLocks xmlns:a="http://schemas.openxmlformats.org/drawingml/2006/main" noGrp="1"/>
          </p:cNvSpPr>
          <p:nvPr/>
        </p:nvSpPr>
        <p:spPr>
          <a:xfrm xmlns:a="http://schemas.openxmlformats.org/drawingml/2006/main">
            <a:off x="781050" y="4200525"/>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Return attention, clarity, teach-back and follow-up to the care journey.</a:t>
            </a:r>
          </a:p>
        </p:txBody>
      </p:sp>
    </p:spTree>
    <p:extLst>
      <p:ext uri="{BB962C8B-B14F-4D97-AF65-F5344CB8AC3E}">
        <p14:creationId xmlns:p14="http://schemas.microsoft.com/office/powerpoint/2010/main" val="24734377"/>
      </p:ext>
    </p:extLst>
  </p:cSld>
</p:sld>
</file>

<file path=ppt/slides/slide4.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BB2144-2C60-4520-A6C6-3AA03ADFF5F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8694A"/>
          </a:solidFill>
          <a:ln xmlns:a="http://schemas.openxmlformats.org/drawingml/2006/main" w="0">
            <a:solidFill>
              <a:srgbClr val="E8694A"/>
            </a:solidFill>
            <a:prstDash val="solid"/>
          </a:ln>
        </p:spPr>
      </p:sp>
      <p:sp>
        <p:nvSpPr>
          <p:cNvPr id="2" name="">
            <a:extLst xmlns:a="http://schemas.openxmlformats.org/drawingml/2006/main">
              <a:ext uri="{FF2B5EF4-FFF2-40B4-BE49-F238E27FC236}">
                <a16:creationId xmlns:a16="http://schemas.microsoft.com/office/drawing/2014/main" id="{95E54528-353E-4285-AD18-F5CDF41078FD}"/>
              </a:ext>
            </a:extLst>
          </p:cNvPr>
          <p:cNvSpPr>
            <a:spLocks xmlns:a="http://schemas.openxmlformats.org/drawingml/2006/main" noGrp="1"/>
          </p:cNvSpPr>
          <p:nvPr/>
        </p:nvSpPr>
        <p:spPr>
          <a:xfrm xmlns:a="http://schemas.openxmlformats.org/drawingml/2006/main">
            <a:off x="590550" y="285750"/>
            <a:ext cx="157734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997"/>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SAFETY OPERATING SYSTEM</a:t>
            </a:r>
          </a:p>
        </p:txBody>
      </p:sp>
      <p:sp>
        <p:nvSpPr>
          <p:cNvPr id="3" name="">
            <a:extLst xmlns:a="http://schemas.openxmlformats.org/drawingml/2006/main">
              <a:ext uri="{FF2B5EF4-FFF2-40B4-BE49-F238E27FC236}">
                <a16:creationId xmlns:a16="http://schemas.microsoft.com/office/drawing/2014/main" id="{1EB405FE-4273-451C-8CDF-06BA23417CAD}"/>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Use P-A-T-I-E-N-T before any healthcare AI workflow</a:t>
            </a:r>
          </a:p>
        </p:txBody>
      </p:sp>
      <p:sp>
        <p:nvSpPr>
          <p:cNvPr id="4" name="">
            <a:extLst xmlns:a="http://schemas.openxmlformats.org/drawingml/2006/main">
              <a:ext uri="{FF2B5EF4-FFF2-40B4-BE49-F238E27FC236}">
                <a16:creationId xmlns:a16="http://schemas.microsoft.com/office/drawing/2014/main" id="{58923941-95FB-48DD-AC1D-DD0E51D4CFE7}"/>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A42A41CC-9A72-47F3-A737-86F3F25AAEDF}"/>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9EB77C42-AA59-4BF1-A40A-A9AA9B135B06}"/>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5802FEF7-5FA2-4073-86E9-3F8CD12A0518}"/>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ICMR AI Ethics (2023); India DPDP Act/Rules</a:t>
            </a:r>
          </a:p>
        </p:txBody>
      </p:sp>
      <p:sp>
        <p:nvSpPr>
          <p:cNvPr id="8" name="">
            <a:extLst xmlns:a="http://schemas.openxmlformats.org/drawingml/2006/main">
              <a:ext uri="{FF2B5EF4-FFF2-40B4-BE49-F238E27FC236}">
                <a16:creationId xmlns:a16="http://schemas.microsoft.com/office/drawing/2014/main" id="{B7D0F3FC-1F6D-432E-9367-5FF7F9A1B073}"/>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0B3D6735-D95F-4AF4-8EB0-EDED96203A95}"/>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04</a:t>
            </a:r>
          </a:p>
        </p:txBody>
      </p:sp>
      <p:sp>
        <p:nvSpPr>
          <p:cNvPr id="10" name="">
            <a:extLst xmlns:a="http://schemas.openxmlformats.org/drawingml/2006/main">
              <a:ext uri="{FF2B5EF4-FFF2-40B4-BE49-F238E27FC236}">
                <a16:creationId xmlns:a16="http://schemas.microsoft.com/office/drawing/2014/main" id="{34B9157C-9DAF-4582-8FC2-83158922F190}"/>
              </a:ext>
            </a:extLst>
          </p:cNvPr>
          <p:cNvSpPr>
            <a:spLocks xmlns:a="http://schemas.openxmlformats.org/drawingml/2006/main" noGrp="1"/>
          </p:cNvSpPr>
          <p:nvPr/>
        </p:nvSpPr>
        <p:spPr>
          <a:xfrm xmlns:a="http://schemas.openxmlformats.org/drawingml/2006/main">
            <a:off x="895350" y="1933575"/>
            <a:ext cx="742950" cy="742950"/>
          </a:xfrm>
          <a:prstGeom xmlns:a="http://schemas.openxmlformats.org/drawingml/2006/main" prst="ellipse">
            <a:avLst/>
          </a:prstGeom>
          <a:solidFill xmlns:a="http://schemas.openxmlformats.org/drawingml/2006/main">
            <a:srgbClr val="E8694A"/>
          </a:solidFill>
          <a:ln xmlns:a="http://schemas.openxmlformats.org/drawingml/2006/main" w="19050">
            <a:solidFill>
              <a:srgbClr val="E8694A"/>
            </a:solid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FFFFFF"/>
                </a:solidFill>
                <a:latin typeface="Aptos"/>
                <a:ea typeface="Aptos"/>
                <a:cs typeface="Aptos"/>
              </a:defRPr>
            </a:pPr>
            <a:r>
              <a:rPr sz="2325" b="1">
                <a:solidFill>
                  <a:srgbClr val="FFFFFF"/>
                </a:solidFill>
                <a:latin typeface="Aptos"/>
                <a:ea typeface="Aptos"/>
                <a:cs typeface="Aptos"/>
              </a:rPr>
              <a:t>P</a:t>
            </a:r>
          </a:p>
        </p:txBody>
      </p:sp>
      <p:sp>
        <p:nvSpPr>
          <p:cNvPr id="11" name="">
            <a:extLst xmlns:a="http://schemas.openxmlformats.org/drawingml/2006/main">
              <a:ext uri="{FF2B5EF4-FFF2-40B4-BE49-F238E27FC236}">
                <a16:creationId xmlns:a16="http://schemas.microsoft.com/office/drawing/2014/main" id="{70BEB583-77AE-417E-964B-30B33BE59FDD}"/>
              </a:ext>
            </a:extLst>
          </p:cNvPr>
          <p:cNvSpPr>
            <a:spLocks xmlns:a="http://schemas.openxmlformats.org/drawingml/2006/main" noGrp="1"/>
          </p:cNvSpPr>
          <p:nvPr/>
        </p:nvSpPr>
        <p:spPr>
          <a:xfrm xmlns:a="http://schemas.openxmlformats.org/drawingml/2006/main">
            <a:off x="457200" y="2886075"/>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Protect privacy</a:t>
            </a:r>
          </a:p>
        </p:txBody>
      </p:sp>
      <p:sp>
        <p:nvSpPr>
          <p:cNvPr id="12" name="">
            <a:extLst xmlns:a="http://schemas.openxmlformats.org/drawingml/2006/main">
              <a:ext uri="{FF2B5EF4-FFF2-40B4-BE49-F238E27FC236}">
                <a16:creationId xmlns:a16="http://schemas.microsoft.com/office/drawing/2014/main" id="{49AB9049-9982-40C6-9E55-53A19630394F}"/>
              </a:ext>
            </a:extLst>
          </p:cNvPr>
          <p:cNvSpPr>
            <a:spLocks xmlns:a="http://schemas.openxmlformats.org/drawingml/2006/main" noGrp="1"/>
          </p:cNvSpPr>
          <p:nvPr/>
        </p:nvSpPr>
        <p:spPr>
          <a:xfrm xmlns:a="http://schemas.openxmlformats.org/drawingml/2006/main">
            <a:off x="2533650" y="1933575"/>
            <a:ext cx="742950" cy="742950"/>
          </a:xfrm>
          <a:prstGeom xmlns:a="http://schemas.openxmlformats.org/drawingml/2006/main" prst="ellipse">
            <a:avLst/>
          </a:prstGeom>
          <a:solidFill xmlns:a="http://schemas.openxmlformats.org/drawingml/2006/main">
            <a:srgbClr val="FBE7DF"/>
          </a:solidFill>
          <a:ln xmlns:a="http://schemas.openxmlformats.org/drawingml/2006/main" w="19050">
            <a:solidFill>
              <a:srgbClr val="E8694A"/>
            </a:solid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E8694A"/>
                </a:solidFill>
                <a:latin typeface="Aptos"/>
                <a:ea typeface="Aptos"/>
                <a:cs typeface="Aptos"/>
              </a:defRPr>
            </a:pPr>
            <a:r>
              <a:rPr sz="2325" b="1">
                <a:solidFill>
                  <a:srgbClr val="E8694A"/>
                </a:solidFill>
                <a:latin typeface="Aptos"/>
                <a:ea typeface="Aptos"/>
                <a:cs typeface="Aptos"/>
              </a:rPr>
              <a:t>A</a:t>
            </a:r>
          </a:p>
        </p:txBody>
      </p:sp>
      <p:sp>
        <p:nvSpPr>
          <p:cNvPr id="13" name="">
            <a:extLst xmlns:a="http://schemas.openxmlformats.org/drawingml/2006/main">
              <a:ext uri="{FF2B5EF4-FFF2-40B4-BE49-F238E27FC236}">
                <a16:creationId xmlns:a16="http://schemas.microsoft.com/office/drawing/2014/main" id="{7FD1F7C8-D415-4CC9-8DF9-0FAB180D730F}"/>
              </a:ext>
            </a:extLst>
          </p:cNvPr>
          <p:cNvSpPr>
            <a:spLocks xmlns:a="http://schemas.openxmlformats.org/drawingml/2006/main" noGrp="1"/>
          </p:cNvSpPr>
          <p:nvPr/>
        </p:nvSpPr>
        <p:spPr>
          <a:xfrm xmlns:a="http://schemas.openxmlformats.org/drawingml/2006/main">
            <a:off x="2095500" y="2886075"/>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Assess accuracy</a:t>
            </a:r>
          </a:p>
        </p:txBody>
      </p:sp>
      <p:sp>
        <p:nvSpPr>
          <p:cNvPr id="14" name="">
            <a:extLst xmlns:a="http://schemas.openxmlformats.org/drawingml/2006/main">
              <a:ext uri="{FF2B5EF4-FFF2-40B4-BE49-F238E27FC236}">
                <a16:creationId xmlns:a16="http://schemas.microsoft.com/office/drawing/2014/main" id="{2B0CEA06-E917-4BA2-B024-99A2DDA984BD}"/>
              </a:ext>
            </a:extLst>
          </p:cNvPr>
          <p:cNvSpPr>
            <a:spLocks xmlns:a="http://schemas.openxmlformats.org/drawingml/2006/main" noGrp="1"/>
          </p:cNvSpPr>
          <p:nvPr/>
        </p:nvSpPr>
        <p:spPr>
          <a:xfrm xmlns:a="http://schemas.openxmlformats.org/drawingml/2006/main">
            <a:off x="4171950" y="1933575"/>
            <a:ext cx="742950" cy="742950"/>
          </a:xfrm>
          <a:prstGeom xmlns:a="http://schemas.openxmlformats.org/drawingml/2006/main" prst="ellipse">
            <a:avLst/>
          </a:prstGeom>
          <a:solidFill xmlns:a="http://schemas.openxmlformats.org/drawingml/2006/main">
            <a:srgbClr val="E8694A"/>
          </a:solidFill>
          <a:ln xmlns:a="http://schemas.openxmlformats.org/drawingml/2006/main" w="19050">
            <a:solidFill>
              <a:srgbClr val="E8694A"/>
            </a:solid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FFFFFF"/>
                </a:solidFill>
                <a:latin typeface="Aptos"/>
                <a:ea typeface="Aptos"/>
                <a:cs typeface="Aptos"/>
              </a:defRPr>
            </a:pPr>
            <a:r>
              <a:rPr sz="2325" b="1">
                <a:solidFill>
                  <a:srgbClr val="FFFFFF"/>
                </a:solidFill>
                <a:latin typeface="Aptos"/>
                <a:ea typeface="Aptos"/>
                <a:cs typeface="Aptos"/>
              </a:rPr>
              <a:t>T</a:t>
            </a:r>
          </a:p>
        </p:txBody>
      </p:sp>
      <p:sp>
        <p:nvSpPr>
          <p:cNvPr id="15" name="">
            <a:extLst xmlns:a="http://schemas.openxmlformats.org/drawingml/2006/main">
              <a:ext uri="{FF2B5EF4-FFF2-40B4-BE49-F238E27FC236}">
                <a16:creationId xmlns:a16="http://schemas.microsoft.com/office/drawing/2014/main" id="{DC592618-D524-4444-8EBD-FE085E3F814C}"/>
              </a:ext>
            </a:extLst>
          </p:cNvPr>
          <p:cNvSpPr>
            <a:spLocks xmlns:a="http://schemas.openxmlformats.org/drawingml/2006/main" noGrp="1"/>
          </p:cNvSpPr>
          <p:nvPr/>
        </p:nvSpPr>
        <p:spPr>
          <a:xfrm xmlns:a="http://schemas.openxmlformats.org/drawingml/2006/main">
            <a:off x="3733800" y="2886075"/>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Trace sources</a:t>
            </a:r>
          </a:p>
        </p:txBody>
      </p:sp>
      <p:sp>
        <p:nvSpPr>
          <p:cNvPr id="16" name="">
            <a:extLst xmlns:a="http://schemas.openxmlformats.org/drawingml/2006/main">
              <a:ext uri="{FF2B5EF4-FFF2-40B4-BE49-F238E27FC236}">
                <a16:creationId xmlns:a16="http://schemas.microsoft.com/office/drawing/2014/main" id="{414193EA-A7D4-46C6-9454-5C30B0EC2294}"/>
              </a:ext>
            </a:extLst>
          </p:cNvPr>
          <p:cNvSpPr>
            <a:spLocks xmlns:a="http://schemas.openxmlformats.org/drawingml/2006/main" noGrp="1"/>
          </p:cNvSpPr>
          <p:nvPr/>
        </p:nvSpPr>
        <p:spPr>
          <a:xfrm xmlns:a="http://schemas.openxmlformats.org/drawingml/2006/main">
            <a:off x="5810250" y="1933575"/>
            <a:ext cx="742950" cy="742950"/>
          </a:xfrm>
          <a:prstGeom xmlns:a="http://schemas.openxmlformats.org/drawingml/2006/main" prst="ellipse">
            <a:avLst/>
          </a:prstGeom>
          <a:solidFill xmlns:a="http://schemas.openxmlformats.org/drawingml/2006/main">
            <a:srgbClr val="FBE7DF"/>
          </a:solidFill>
          <a:ln xmlns:a="http://schemas.openxmlformats.org/drawingml/2006/main" w="19050">
            <a:solidFill>
              <a:srgbClr val="E8694A"/>
            </a:solid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E8694A"/>
                </a:solidFill>
                <a:latin typeface="Aptos"/>
                <a:ea typeface="Aptos"/>
                <a:cs typeface="Aptos"/>
              </a:defRPr>
            </a:pPr>
            <a:r>
              <a:rPr sz="2325" b="1">
                <a:solidFill>
                  <a:srgbClr val="E8694A"/>
                </a:solidFill>
                <a:latin typeface="Aptos"/>
                <a:ea typeface="Aptos"/>
                <a:cs typeface="Aptos"/>
              </a:rPr>
              <a:t>I</a:t>
            </a:r>
          </a:p>
        </p:txBody>
      </p:sp>
      <p:sp>
        <p:nvSpPr>
          <p:cNvPr id="17" name="">
            <a:extLst xmlns:a="http://schemas.openxmlformats.org/drawingml/2006/main">
              <a:ext uri="{FF2B5EF4-FFF2-40B4-BE49-F238E27FC236}">
                <a16:creationId xmlns:a16="http://schemas.microsoft.com/office/drawing/2014/main" id="{2D6D2449-433D-481D-A3D4-D08536D2B096}"/>
              </a:ext>
            </a:extLst>
          </p:cNvPr>
          <p:cNvSpPr>
            <a:spLocks xmlns:a="http://schemas.openxmlformats.org/drawingml/2006/main" noGrp="1"/>
          </p:cNvSpPr>
          <p:nvPr/>
        </p:nvSpPr>
        <p:spPr>
          <a:xfrm xmlns:a="http://schemas.openxmlformats.org/drawingml/2006/main">
            <a:off x="5372100" y="2886075"/>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Inform + consent</a:t>
            </a:r>
          </a:p>
        </p:txBody>
      </p:sp>
      <p:sp>
        <p:nvSpPr>
          <p:cNvPr id="18" name="">
            <a:extLst xmlns:a="http://schemas.openxmlformats.org/drawingml/2006/main">
              <a:ext uri="{FF2B5EF4-FFF2-40B4-BE49-F238E27FC236}">
                <a16:creationId xmlns:a16="http://schemas.microsoft.com/office/drawing/2014/main" id="{203C2E7F-F8E0-432A-9BA3-0B8D04BC8377}"/>
              </a:ext>
            </a:extLst>
          </p:cNvPr>
          <p:cNvSpPr>
            <a:spLocks xmlns:a="http://schemas.openxmlformats.org/drawingml/2006/main" noGrp="1"/>
          </p:cNvSpPr>
          <p:nvPr/>
        </p:nvSpPr>
        <p:spPr>
          <a:xfrm xmlns:a="http://schemas.openxmlformats.org/drawingml/2006/main">
            <a:off x="7448550" y="1933575"/>
            <a:ext cx="742950" cy="742950"/>
          </a:xfrm>
          <a:prstGeom xmlns:a="http://schemas.openxmlformats.org/drawingml/2006/main" prst="ellipse">
            <a:avLst/>
          </a:prstGeom>
          <a:solidFill xmlns:a="http://schemas.openxmlformats.org/drawingml/2006/main">
            <a:srgbClr val="E8694A"/>
          </a:solidFill>
          <a:ln xmlns:a="http://schemas.openxmlformats.org/drawingml/2006/main" w="19050">
            <a:solidFill>
              <a:srgbClr val="E8694A"/>
            </a:solid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FFFFFF"/>
                </a:solidFill>
                <a:latin typeface="Aptos"/>
                <a:ea typeface="Aptos"/>
                <a:cs typeface="Aptos"/>
              </a:defRPr>
            </a:pPr>
            <a:r>
              <a:rPr sz="2325" b="1">
                <a:solidFill>
                  <a:srgbClr val="FFFFFF"/>
                </a:solidFill>
                <a:latin typeface="Aptos"/>
                <a:ea typeface="Aptos"/>
                <a:cs typeface="Aptos"/>
              </a:rPr>
              <a:t>E</a:t>
            </a:r>
          </a:p>
        </p:txBody>
      </p:sp>
      <p:sp>
        <p:nvSpPr>
          <p:cNvPr id="19" name="">
            <a:extLst xmlns:a="http://schemas.openxmlformats.org/drawingml/2006/main">
              <a:ext uri="{FF2B5EF4-FFF2-40B4-BE49-F238E27FC236}">
                <a16:creationId xmlns:a16="http://schemas.microsoft.com/office/drawing/2014/main" id="{513E3901-4A2B-4BE8-9A93-E39DD2908ADA}"/>
              </a:ext>
            </a:extLst>
          </p:cNvPr>
          <p:cNvSpPr>
            <a:spLocks xmlns:a="http://schemas.openxmlformats.org/drawingml/2006/main" noGrp="1"/>
          </p:cNvSpPr>
          <p:nvPr/>
        </p:nvSpPr>
        <p:spPr>
          <a:xfrm xmlns:a="http://schemas.openxmlformats.org/drawingml/2006/main">
            <a:off x="7010400" y="2886075"/>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Examine equity</a:t>
            </a:r>
          </a:p>
        </p:txBody>
      </p:sp>
      <p:sp>
        <p:nvSpPr>
          <p:cNvPr id="20" name="">
            <a:extLst xmlns:a="http://schemas.openxmlformats.org/drawingml/2006/main">
              <a:ext uri="{FF2B5EF4-FFF2-40B4-BE49-F238E27FC236}">
                <a16:creationId xmlns:a16="http://schemas.microsoft.com/office/drawing/2014/main" id="{7BE30EA7-5C11-48BF-9BAE-B8B92FE1763A}"/>
              </a:ext>
            </a:extLst>
          </p:cNvPr>
          <p:cNvSpPr>
            <a:spLocks xmlns:a="http://schemas.openxmlformats.org/drawingml/2006/main" noGrp="1"/>
          </p:cNvSpPr>
          <p:nvPr/>
        </p:nvSpPr>
        <p:spPr>
          <a:xfrm xmlns:a="http://schemas.openxmlformats.org/drawingml/2006/main">
            <a:off x="9086850" y="1933575"/>
            <a:ext cx="742950" cy="742950"/>
          </a:xfrm>
          <a:prstGeom xmlns:a="http://schemas.openxmlformats.org/drawingml/2006/main" prst="ellipse">
            <a:avLst/>
          </a:prstGeom>
          <a:solidFill xmlns:a="http://schemas.openxmlformats.org/drawingml/2006/main">
            <a:srgbClr val="FBE7DF"/>
          </a:solidFill>
          <a:ln xmlns:a="http://schemas.openxmlformats.org/drawingml/2006/main" w="19050">
            <a:solidFill>
              <a:srgbClr val="E8694A"/>
            </a:solid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E8694A"/>
                </a:solidFill>
                <a:latin typeface="Aptos"/>
                <a:ea typeface="Aptos"/>
                <a:cs typeface="Aptos"/>
              </a:defRPr>
            </a:pPr>
            <a:r>
              <a:rPr sz="2325" b="1">
                <a:solidFill>
                  <a:srgbClr val="E8694A"/>
                </a:solidFill>
                <a:latin typeface="Aptos"/>
                <a:ea typeface="Aptos"/>
                <a:cs typeface="Aptos"/>
              </a:rPr>
              <a:t>N</a:t>
            </a:r>
          </a:p>
        </p:txBody>
      </p:sp>
      <p:sp>
        <p:nvSpPr>
          <p:cNvPr id="21" name="">
            <a:extLst xmlns:a="http://schemas.openxmlformats.org/drawingml/2006/main">
              <a:ext uri="{FF2B5EF4-FFF2-40B4-BE49-F238E27FC236}">
                <a16:creationId xmlns:a16="http://schemas.microsoft.com/office/drawing/2014/main" id="{1331A507-E3C3-41E0-B642-37BCB8125F05}"/>
              </a:ext>
            </a:extLst>
          </p:cNvPr>
          <p:cNvSpPr>
            <a:spLocks xmlns:a="http://schemas.openxmlformats.org/drawingml/2006/main" noGrp="1"/>
          </p:cNvSpPr>
          <p:nvPr/>
        </p:nvSpPr>
        <p:spPr>
          <a:xfrm xmlns:a="http://schemas.openxmlformats.org/drawingml/2006/main">
            <a:off x="8648700" y="2886075"/>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Never replace judgement</a:t>
            </a:r>
          </a:p>
        </p:txBody>
      </p:sp>
      <p:sp>
        <p:nvSpPr>
          <p:cNvPr id="22" name="">
            <a:extLst xmlns:a="http://schemas.openxmlformats.org/drawingml/2006/main">
              <a:ext uri="{FF2B5EF4-FFF2-40B4-BE49-F238E27FC236}">
                <a16:creationId xmlns:a16="http://schemas.microsoft.com/office/drawing/2014/main" id="{DD9E2E55-0EF3-49FF-9C5F-1BAF3A187A43}"/>
              </a:ext>
            </a:extLst>
          </p:cNvPr>
          <p:cNvSpPr>
            <a:spLocks xmlns:a="http://schemas.openxmlformats.org/drawingml/2006/main" noGrp="1"/>
          </p:cNvSpPr>
          <p:nvPr/>
        </p:nvSpPr>
        <p:spPr>
          <a:xfrm xmlns:a="http://schemas.openxmlformats.org/drawingml/2006/main">
            <a:off x="10725150" y="1933575"/>
            <a:ext cx="742950" cy="742950"/>
          </a:xfrm>
          <a:prstGeom xmlns:a="http://schemas.openxmlformats.org/drawingml/2006/main" prst="ellipse">
            <a:avLst/>
          </a:prstGeom>
          <a:solidFill xmlns:a="http://schemas.openxmlformats.org/drawingml/2006/main">
            <a:srgbClr val="E8694A"/>
          </a:solidFill>
          <a:ln xmlns:a="http://schemas.openxmlformats.org/drawingml/2006/main" w="19050">
            <a:solidFill>
              <a:srgbClr val="E8694A"/>
            </a:solid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FFFFFF"/>
                </a:solidFill>
                <a:latin typeface="Aptos"/>
                <a:ea typeface="Aptos"/>
                <a:cs typeface="Aptos"/>
              </a:defRPr>
            </a:pPr>
            <a:r>
              <a:rPr sz="2325" b="1">
                <a:solidFill>
                  <a:srgbClr val="FFFFFF"/>
                </a:solidFill>
                <a:latin typeface="Aptos"/>
                <a:ea typeface="Aptos"/>
                <a:cs typeface="Aptos"/>
              </a:rPr>
              <a:t>T</a:t>
            </a:r>
          </a:p>
        </p:txBody>
      </p:sp>
      <p:sp>
        <p:nvSpPr>
          <p:cNvPr id="23" name="">
            <a:extLst xmlns:a="http://schemas.openxmlformats.org/drawingml/2006/main">
              <a:ext uri="{FF2B5EF4-FFF2-40B4-BE49-F238E27FC236}">
                <a16:creationId xmlns:a16="http://schemas.microsoft.com/office/drawing/2014/main" id="{8BD09D48-1909-4D9F-A7BA-63780A59592F}"/>
              </a:ext>
            </a:extLst>
          </p:cNvPr>
          <p:cNvSpPr>
            <a:spLocks xmlns:a="http://schemas.openxmlformats.org/drawingml/2006/main" noGrp="1"/>
          </p:cNvSpPr>
          <p:nvPr/>
        </p:nvSpPr>
        <p:spPr>
          <a:xfrm xmlns:a="http://schemas.openxmlformats.org/drawingml/2006/main">
            <a:off x="10287000" y="2886075"/>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Take responsibility</a:t>
            </a:r>
          </a:p>
        </p:txBody>
      </p:sp>
      <p:sp>
        <p:nvSpPr>
          <p:cNvPr id="24" name="">
            <a:extLst xmlns:a="http://schemas.openxmlformats.org/drawingml/2006/main">
              <a:ext uri="{FF2B5EF4-FFF2-40B4-BE49-F238E27FC236}">
                <a16:creationId xmlns:a16="http://schemas.microsoft.com/office/drawing/2014/main" id="{DF4FF1C4-5A9F-497A-B16C-DAA6F3B1E2CC}"/>
              </a:ext>
            </a:extLst>
          </p:cNvPr>
          <p:cNvSpPr>
            <a:spLocks xmlns:a="http://schemas.openxmlformats.org/drawingml/2006/main" noGrp="1"/>
          </p:cNvSpPr>
          <p:nvPr/>
        </p:nvSpPr>
        <p:spPr>
          <a:xfrm xmlns:a="http://schemas.openxmlformats.org/drawingml/2006/main">
            <a:off x="933450" y="4095750"/>
            <a:ext cx="10287000" cy="1381125"/>
          </a:xfrm>
          <a:prstGeom xmlns:a="http://schemas.openxmlformats.org/drawingml/2006/main" prst="roundRect">
            <a:avLst>
              <a:gd name="adj" fmla="val 13793"/>
            </a:avLst>
          </a:prstGeom>
          <a:solidFill xmlns:a="http://schemas.openxmlformats.org/drawingml/2006/main">
            <a:srgbClr val="FFFDFC"/>
          </a:solidFill>
          <a:ln xmlns:a="http://schemas.openxmlformats.org/drawingml/2006/main" w="9525">
            <a:solidFill>
              <a:srgbClr val="E8694A"/>
            </a:solidFill>
            <a:prstDash val="solid"/>
          </a:ln>
        </p:spPr>
      </p:sp>
      <p:sp>
        <p:nvSpPr>
          <p:cNvPr id="25" name="">
            <a:extLst xmlns:a="http://schemas.openxmlformats.org/drawingml/2006/main">
              <a:ext uri="{FF2B5EF4-FFF2-40B4-BE49-F238E27FC236}">
                <a16:creationId xmlns:a16="http://schemas.microsoft.com/office/drawing/2014/main" id="{36387472-A085-4301-8776-5D3C72DB87A8}"/>
              </a:ext>
            </a:extLst>
          </p:cNvPr>
          <p:cNvSpPr>
            <a:spLocks xmlns:a="http://schemas.openxmlformats.org/drawingml/2006/main" noGrp="1"/>
          </p:cNvSpPr>
          <p:nvPr/>
        </p:nvSpPr>
        <p:spPr>
          <a:xfrm xmlns:a="http://schemas.openxmlformats.org/drawingml/2006/main">
            <a:off x="1200150" y="43148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E8694A"/>
                </a:solidFill>
                <a:latin typeface="Aptos"/>
                <a:ea typeface="Aptos"/>
                <a:cs typeface="Aptos"/>
              </a:defRPr>
            </a:pPr>
            <a:r>
              <a:rPr sz="1050" b="1">
                <a:solidFill>
                  <a:srgbClr val="E8694A"/>
                </a:solidFill>
                <a:latin typeface="Aptos"/>
                <a:ea typeface="Aptos"/>
                <a:cs typeface="Aptos"/>
              </a:rPr>
              <a:t>THE 20-SECOND PAUSE</a:t>
            </a:r>
          </a:p>
        </p:txBody>
      </p:sp>
      <p:sp>
        <p:nvSpPr>
          <p:cNvPr id="26" name="">
            <a:extLst xmlns:a="http://schemas.openxmlformats.org/drawingml/2006/main">
              <a:ext uri="{FF2B5EF4-FFF2-40B4-BE49-F238E27FC236}">
                <a16:creationId xmlns:a16="http://schemas.microsoft.com/office/drawing/2014/main" id="{1ED8965E-CBCB-4215-9A4F-A40247BF6A88}"/>
              </a:ext>
            </a:extLst>
          </p:cNvPr>
          <p:cNvSpPr>
            <a:spLocks xmlns:a="http://schemas.openxmlformats.org/drawingml/2006/main" noGrp="1"/>
          </p:cNvSpPr>
          <p:nvPr/>
        </p:nvSpPr>
        <p:spPr>
          <a:xfrm xmlns:a="http://schemas.openxmlformats.org/drawingml/2006/main">
            <a:off x="1200150" y="4743450"/>
            <a:ext cx="973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438"/>
          </a:bodyPr>
          <a:lstStyle xmlns:a="http://schemas.openxmlformats.org/drawingml/2006/main"/>
          <a:p xmlns:a="http://schemas.openxmlformats.org/drawingml/2006/main">
            <a:pPr algn="ctr">
              <a:lnSpc>
                <a:spcPct val="103000"/>
              </a:lnSpc>
              <a:buNone/>
              <a:defRPr sz="1875" b="1">
                <a:solidFill>
                  <a:srgbClr val="082638"/>
                </a:solidFill>
                <a:latin typeface="Aptos"/>
                <a:ea typeface="Aptos"/>
                <a:cs typeface="Aptos"/>
              </a:defRPr>
            </a:pPr>
            <a:r>
              <a:rPr sz="1875" b="1">
                <a:solidFill>
                  <a:srgbClr val="082638"/>
                </a:solidFill>
                <a:latin typeface="Aptos"/>
                <a:ea typeface="Aptos"/>
                <a:cs typeface="Aptos"/>
              </a:rPr>
              <a:t>Could I explain the input, source, uncertainty and final decision to this patient—or to a regulator?</a:t>
            </a:r>
          </a:p>
        </p:txBody>
      </p:sp>
    </p:spTree>
    <p:extLst>
      <p:ext uri="{BB962C8B-B14F-4D97-AF65-F5344CB8AC3E}">
        <p14:creationId xmlns:p14="http://schemas.microsoft.com/office/powerpoint/2010/main" val="2006363755"/>
      </p:ext>
    </p:extLst>
  </p:cSld>
</p:sld>
</file>

<file path=ppt/slides/slide5.xml><?xml version="1.0" encoding="utf-8"?>
<p:sld xmlns:p="http://schemas.openxmlformats.org/presentationml/2006/main">
  <p:cSld>
    <p:bg>
      <p:bgPr>
        <a:solidFill xmlns:a="http://schemas.openxmlformats.org/drawingml/2006/main">
          <a:srgbClr val="E8694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5FB35B-5B70-4F34-8CC4-34A4852074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8694A"/>
          </a:solidFill>
          <a:ln xmlns:a="http://schemas.openxmlformats.org/drawingml/2006/main" w="0">
            <a:solidFill>
              <a:srgbClr val="E8694A"/>
            </a:solidFill>
            <a:prstDash val="solid"/>
          </a:ln>
        </p:spPr>
      </p:sp>
      <p:sp>
        <p:nvSpPr>
          <p:cNvPr id="2" name="">
            <a:extLst xmlns:a="http://schemas.openxmlformats.org/drawingml/2006/main">
              <a:ext uri="{FF2B5EF4-FFF2-40B4-BE49-F238E27FC236}">
                <a16:creationId xmlns:a16="http://schemas.microsoft.com/office/drawing/2014/main" id="{C109B534-5095-4919-88BE-2286B2ED08C9}"/>
              </a:ext>
            </a:extLst>
          </p:cNvPr>
          <p:cNvSpPr>
            <a:spLocks xmlns:a="http://schemas.openxmlformats.org/drawingml/2006/main" noGrp="1"/>
          </p:cNvSpPr>
          <p:nvPr/>
        </p:nvSpPr>
        <p:spPr>
          <a:xfrm xmlns:a="http://schemas.openxmlformats.org/drawingml/2006/main">
            <a:off x="666750" y="590550"/>
            <a:ext cx="18097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E8694A"/>
                </a:solidFill>
                <a:latin typeface="Aptos"/>
                <a:ea typeface="Aptos"/>
                <a:cs typeface="Aptos"/>
              </a:defRPr>
            </a:pPr>
            <a:r>
              <a:rPr sz="863" b="1">
                <a:solidFill>
                  <a:srgbClr val="E8694A"/>
                </a:solidFill>
                <a:latin typeface="Aptos"/>
                <a:ea typeface="Aptos"/>
                <a:cs typeface="Aptos"/>
              </a:rPr>
              <a:t>CASE BLOCK</a:t>
            </a:r>
          </a:p>
        </p:txBody>
      </p:sp>
      <p:sp>
        <p:nvSpPr>
          <p:cNvPr id="3" name="">
            <a:extLst xmlns:a="http://schemas.openxmlformats.org/drawingml/2006/main">
              <a:ext uri="{FF2B5EF4-FFF2-40B4-BE49-F238E27FC236}">
                <a16:creationId xmlns:a16="http://schemas.microsoft.com/office/drawing/2014/main" id="{A859E00B-A5ED-4102-9834-B499C841CEDF}"/>
              </a:ext>
            </a:extLst>
          </p:cNvPr>
          <p:cNvSpPr>
            <a:spLocks xmlns:a="http://schemas.openxmlformats.org/drawingml/2006/main" noGrp="1"/>
          </p:cNvSpPr>
          <p:nvPr/>
        </p:nvSpPr>
        <p:spPr>
          <a:xfrm xmlns:a="http://schemas.openxmlformats.org/drawingml/2006/main">
            <a:off x="666750" y="1476375"/>
            <a:ext cx="10572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4050" b="1">
                <a:solidFill>
                  <a:srgbClr val="FFFFFF"/>
                </a:solidFill>
                <a:latin typeface="Aptos"/>
                <a:ea typeface="Aptos"/>
                <a:cs typeface="Aptos"/>
              </a:defRPr>
            </a:pPr>
            <a:r>
              <a:rPr sz="4050" b="1">
                <a:solidFill>
                  <a:srgbClr val="FFFFFF"/>
                </a:solidFill>
                <a:latin typeface="Aptos"/>
                <a:ea typeface="Aptos"/>
                <a:cs typeface="Aptos"/>
              </a:rPr>
              <a:t>Seven cases. One operating question.</a:t>
            </a:r>
          </a:p>
        </p:txBody>
      </p:sp>
      <p:sp>
        <p:nvSpPr>
          <p:cNvPr id="4" name="">
            <a:extLst xmlns:a="http://schemas.openxmlformats.org/drawingml/2006/main">
              <a:ext uri="{FF2B5EF4-FFF2-40B4-BE49-F238E27FC236}">
                <a16:creationId xmlns:a16="http://schemas.microsoft.com/office/drawing/2014/main" id="{55C4314E-1E00-46B0-B19E-4EA563879E47}"/>
              </a:ext>
            </a:extLst>
          </p:cNvPr>
          <p:cNvSpPr>
            <a:spLocks xmlns:a="http://schemas.openxmlformats.org/drawingml/2006/main" noGrp="1"/>
          </p:cNvSpPr>
          <p:nvPr/>
        </p:nvSpPr>
        <p:spPr>
          <a:xfrm xmlns:a="http://schemas.openxmlformats.org/drawingml/2006/main">
            <a:off x="704850" y="321945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0">
                <a:solidFill>
                  <a:srgbClr val="FFFFFF"/>
                </a:solidFill>
                <a:latin typeface="Aptos"/>
                <a:ea typeface="Aptos"/>
                <a:cs typeface="Aptos"/>
              </a:defRPr>
            </a:pPr>
            <a:r>
              <a:rPr sz="1950" b="0">
                <a:solidFill>
                  <a:srgbClr val="FFFFFF"/>
                </a:solidFill>
                <a:latin typeface="Aptos"/>
                <a:ea typeface="Aptos"/>
                <a:cs typeface="Aptos"/>
              </a:rPr>
              <a:t>Where does AI return attention or insight—and where must human ownership become stronger?</a:t>
            </a:r>
          </a:p>
        </p:txBody>
      </p:sp>
      <p:sp>
        <p:nvSpPr>
          <p:cNvPr id="5" name="">
            <a:extLst xmlns:a="http://schemas.openxmlformats.org/drawingml/2006/main">
              <a:ext uri="{FF2B5EF4-FFF2-40B4-BE49-F238E27FC236}">
                <a16:creationId xmlns:a16="http://schemas.microsoft.com/office/drawing/2014/main" id="{11A4AB60-176F-41A2-A4FD-2023624D9743}"/>
              </a:ext>
            </a:extLst>
          </p:cNvPr>
          <p:cNvSpPr>
            <a:spLocks xmlns:a="http://schemas.openxmlformats.org/drawingml/2006/main" noGrp="1"/>
          </p:cNvSpPr>
          <p:nvPr/>
        </p:nvSpPr>
        <p:spPr>
          <a:xfrm xmlns:a="http://schemas.openxmlformats.org/drawingml/2006/main">
            <a:off x="704850" y="4495800"/>
            <a:ext cx="66675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9BBF60DD-D413-401A-8BC4-E1DEFF4B6EC5}"/>
              </a:ext>
            </a:extLst>
          </p:cNvPr>
          <p:cNvSpPr>
            <a:spLocks xmlns:a="http://schemas.openxmlformats.org/drawingml/2006/main" noGrp="1"/>
          </p:cNvSpPr>
          <p:nvPr/>
        </p:nvSpPr>
        <p:spPr>
          <a:xfrm xmlns:a="http://schemas.openxmlformats.org/drawingml/2006/main">
            <a:off x="704850" y="4762500"/>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FFFFFF"/>
                </a:solidFill>
                <a:latin typeface="Aptos"/>
                <a:ea typeface="Aptos"/>
                <a:cs typeface="Aptos"/>
              </a:defRPr>
            </a:pPr>
            <a:r>
              <a:rPr sz="1500" b="1">
                <a:solidFill>
                  <a:srgbClr val="FFFFFF"/>
                </a:solidFill>
                <a:latin typeface="Aptos"/>
                <a:ea typeface="Aptos"/>
                <a:cs typeface="Aptos"/>
              </a:rPr>
              <a:t>AI assists  •  Professionals decide  •  Patients remain the purpose</a:t>
            </a:r>
          </a:p>
        </p:txBody>
      </p:sp>
      <p:sp>
        <p:nvSpPr>
          <p:cNvPr id="7" name="">
            <a:extLst xmlns:a="http://schemas.openxmlformats.org/drawingml/2006/main">
              <a:ext uri="{FF2B5EF4-FFF2-40B4-BE49-F238E27FC236}">
                <a16:creationId xmlns:a16="http://schemas.microsoft.com/office/drawing/2014/main" id="{25A62886-E26C-4222-AE54-8C882E011D63}"/>
              </a:ext>
            </a:extLst>
          </p:cNvPr>
          <p:cNvSpPr>
            <a:spLocks xmlns:a="http://schemas.openxmlformats.org/drawingml/2006/main" noGrp="1"/>
          </p:cNvSpPr>
          <p:nvPr/>
        </p:nvSpPr>
        <p:spPr>
          <a:xfrm xmlns:a="http://schemas.openxmlformats.org/drawingml/2006/main">
            <a:off x="11049000" y="62103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75" b="1">
                <a:solidFill>
                  <a:srgbClr val="FFFFFF"/>
                </a:solidFill>
                <a:latin typeface="Aptos"/>
                <a:ea typeface="Aptos"/>
                <a:cs typeface="Aptos"/>
              </a:defRPr>
            </a:pPr>
            <a:r>
              <a:rPr sz="975" b="1">
                <a:solidFill>
                  <a:srgbClr val="FFFFFF"/>
                </a:solidFill>
                <a:latin typeface="Aptos"/>
                <a:ea typeface="Aptos"/>
                <a:cs typeface="Aptos"/>
              </a:rPr>
              <a:t>05</a:t>
            </a:r>
          </a:p>
        </p:txBody>
      </p:sp>
    </p:spTree>
    <p:extLst>
      <p:ext uri="{BB962C8B-B14F-4D97-AF65-F5344CB8AC3E}">
        <p14:creationId xmlns:p14="http://schemas.microsoft.com/office/powerpoint/2010/main" val="2130052367"/>
      </p:ext>
    </p:extLst>
  </p:cSld>
</p:sld>
</file>

<file path=ppt/slides/slide6.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8F28C1-437A-428C-AA0A-093C11D7AAB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8694A"/>
          </a:solidFill>
          <a:ln xmlns:a="http://schemas.openxmlformats.org/drawingml/2006/main" w="0">
            <a:solidFill>
              <a:srgbClr val="E8694A"/>
            </a:solidFill>
            <a:prstDash val="solid"/>
          </a:ln>
        </p:spPr>
      </p:sp>
      <p:sp>
        <p:nvSpPr>
          <p:cNvPr id="2" name="">
            <a:extLst xmlns:a="http://schemas.openxmlformats.org/drawingml/2006/main">
              <a:ext uri="{FF2B5EF4-FFF2-40B4-BE49-F238E27FC236}">
                <a16:creationId xmlns:a16="http://schemas.microsoft.com/office/drawing/2014/main" id="{B19FA5B8-E33A-4234-A80A-227276FBC2BD}"/>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1</a:t>
            </a:r>
          </a:p>
        </p:txBody>
      </p:sp>
      <p:sp>
        <p:nvSpPr>
          <p:cNvPr id="3" name="">
            <a:extLst xmlns:a="http://schemas.openxmlformats.org/drawingml/2006/main">
              <a:ext uri="{FF2B5EF4-FFF2-40B4-BE49-F238E27FC236}">
                <a16:creationId xmlns:a16="http://schemas.microsoft.com/office/drawing/2014/main" id="{E805966B-A97E-48B5-97CF-EB8754DF44EB}"/>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Serbia EHR: EHR-embedded X-ray triage and no-show prediction</a:t>
            </a:r>
          </a:p>
        </p:txBody>
      </p:sp>
      <p:sp>
        <p:nvSpPr>
          <p:cNvPr id="4" name="">
            <a:extLst xmlns:a="http://schemas.openxmlformats.org/drawingml/2006/main">
              <a:ext uri="{FF2B5EF4-FFF2-40B4-BE49-F238E27FC236}">
                <a16:creationId xmlns:a16="http://schemas.microsoft.com/office/drawing/2014/main" id="{AA86487A-451E-401F-8CDE-343AA27F8369}"/>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87FE07E4-3911-43CB-9A5D-5CEDC4A26D96}"/>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544DD920-1AFA-4CAF-A5C4-618EC67EC6C3}"/>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917E306B-5083-45B5-8C49-1FF558861127}"/>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Source: https://www.mdpi.com/2073-431X/14/8/320</a:t>
            </a:r>
          </a:p>
        </p:txBody>
      </p:sp>
      <p:sp>
        <p:nvSpPr>
          <p:cNvPr id="8" name="">
            <a:extLst xmlns:a="http://schemas.openxmlformats.org/drawingml/2006/main">
              <a:ext uri="{FF2B5EF4-FFF2-40B4-BE49-F238E27FC236}">
                <a16:creationId xmlns:a16="http://schemas.microsoft.com/office/drawing/2014/main" id="{49DBFEB9-7BE8-49E0-B67C-F511F9EE3E7E}"/>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12A99C3D-502F-4132-ADD0-7CF8FC453DD5}"/>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06</a:t>
            </a:r>
          </a:p>
        </p:txBody>
      </p:sp>
      <p:sp>
        <p:nvSpPr>
          <p:cNvPr id="10" name="">
            <a:extLst xmlns:a="http://schemas.openxmlformats.org/drawingml/2006/main">
              <a:ext uri="{FF2B5EF4-FFF2-40B4-BE49-F238E27FC236}">
                <a16:creationId xmlns:a16="http://schemas.microsoft.com/office/drawing/2014/main" id="{B403646A-D86B-47B6-9073-8133092223D6}"/>
              </a:ext>
            </a:extLst>
          </p:cNvPr>
          <p:cNvSpPr>
            <a:spLocks xmlns:a="http://schemas.openxmlformats.org/drawingml/2006/main" noGrp="1"/>
          </p:cNvSpPr>
          <p:nvPr/>
        </p:nvSpPr>
        <p:spPr>
          <a:xfrm xmlns:a="http://schemas.openxmlformats.org/drawingml/2006/main">
            <a:off x="609600" y="1714500"/>
            <a:ext cx="4953000" cy="4095750"/>
          </a:xfrm>
          <a:prstGeom xmlns:a="http://schemas.openxmlformats.org/drawingml/2006/main" prst="roundRect">
            <a:avLst>
              <a:gd name="adj" fmla="val 4651"/>
            </a:avLst>
          </a:prstGeom>
          <a:solidFill xmlns:a="http://schemas.openxmlformats.org/drawingml/2006/main">
            <a:srgbClr val="FFFDFC"/>
          </a:solidFill>
          <a:ln xmlns:a="http://schemas.openxmlformats.org/drawingml/2006/main" w="9525">
            <a:solidFill>
              <a:srgbClr val="E869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596AB7D6-10AA-4D45-8DBA-E57DFC0A26D1}"/>
              </a:ext>
            </a:extLst>
          </p:cNvPr>
          <p:cNvSpPr>
            <a:spLocks xmlns:a="http://schemas.openxmlformats.org/drawingml/2006/main" noGrp="1"/>
          </p:cNvSpPr>
          <p:nvPr/>
        </p:nvSpPr>
        <p:spPr>
          <a:xfrm xmlns:a="http://schemas.openxmlformats.org/drawingml/2006/main">
            <a:off x="838200" y="1924050"/>
            <a:ext cx="40957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2025 OPERATIONAL CASE STUDY AND LOCAL MODEL VALIDATION</a:t>
            </a:r>
          </a:p>
        </p:txBody>
      </p:sp>
      <p:sp>
        <p:nvSpPr>
          <p:cNvPr id="12" name="">
            <a:extLst xmlns:a="http://schemas.openxmlformats.org/drawingml/2006/main">
              <a:ext uri="{FF2B5EF4-FFF2-40B4-BE49-F238E27FC236}">
                <a16:creationId xmlns:a16="http://schemas.microsoft.com/office/drawing/2014/main" id="{87A38417-6455-4BEA-BC97-5A59F58E1FED}"/>
              </a:ext>
            </a:extLst>
          </p:cNvPr>
          <p:cNvSpPr>
            <a:spLocks xmlns:a="http://schemas.openxmlformats.org/drawingml/2006/main" noGrp="1"/>
          </p:cNvSpPr>
          <p:nvPr/>
        </p:nvSpPr>
        <p:spPr>
          <a:xfrm xmlns:a="http://schemas.openxmlformats.org/drawingml/2006/main">
            <a:off x="838200" y="23622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Health Center Nis; MEDIS.NET across 25 facilities</a:t>
            </a:r>
          </a:p>
        </p:txBody>
      </p:sp>
      <p:sp>
        <p:nvSpPr>
          <p:cNvPr id="13" name="">
            <a:extLst xmlns:a="http://schemas.openxmlformats.org/drawingml/2006/main">
              <a:ext uri="{FF2B5EF4-FFF2-40B4-BE49-F238E27FC236}">
                <a16:creationId xmlns:a16="http://schemas.microsoft.com/office/drawing/2014/main" id="{0855D364-7628-4493-8881-263994C5D06B}"/>
              </a:ext>
            </a:extLst>
          </p:cNvPr>
          <p:cNvSpPr>
            <a:spLocks xmlns:a="http://schemas.openxmlformats.org/drawingml/2006/main" noGrp="1"/>
          </p:cNvSpPr>
          <p:nvPr/>
        </p:nvSpPr>
        <p:spPr>
          <a:xfrm xmlns:a="http://schemas.openxmlformats.org/drawingml/2006/main">
            <a:off x="838200" y="30099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E8694A"/>
                </a:solidFill>
                <a:latin typeface="Aptos"/>
                <a:ea typeface="Aptos"/>
                <a:cs typeface="Aptos"/>
              </a:defRPr>
            </a:pPr>
            <a:r>
              <a:rPr sz="1050" b="1">
                <a:solidFill>
                  <a:srgbClr val="E8694A"/>
                </a:solidFill>
                <a:latin typeface="Aptos"/>
                <a:ea typeface="Aptos"/>
                <a:cs typeface="Aptos"/>
              </a:rPr>
              <a:t>AI + workflow</a:t>
            </a:r>
          </a:p>
        </p:txBody>
      </p:sp>
      <p:sp>
        <p:nvSpPr>
          <p:cNvPr id="14" name="">
            <a:extLst xmlns:a="http://schemas.openxmlformats.org/drawingml/2006/main">
              <a:ext uri="{FF2B5EF4-FFF2-40B4-BE49-F238E27FC236}">
                <a16:creationId xmlns:a16="http://schemas.microsoft.com/office/drawing/2014/main" id="{C7578093-4024-4058-8707-5C7B1ACD5D17}"/>
              </a:ext>
            </a:extLst>
          </p:cNvPr>
          <p:cNvSpPr>
            <a:spLocks xmlns:a="http://schemas.openxmlformats.org/drawingml/2006/main" noGrp="1"/>
          </p:cNvSpPr>
          <p:nvPr/>
        </p:nvSpPr>
        <p:spPr>
          <a:xfrm xmlns:a="http://schemas.openxmlformats.org/drawingml/2006/main">
            <a:off x="838200" y="3295650"/>
            <a:ext cx="4286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0">
                <a:solidFill>
                  <a:srgbClr val="183340"/>
                </a:solidFill>
                <a:latin typeface="Aptos"/>
                <a:ea typeface="Aptos"/>
                <a:cs typeface="Aptos"/>
              </a:defRPr>
            </a:pPr>
            <a:r>
              <a:rPr sz="1275" b="0">
                <a:solidFill>
                  <a:srgbClr val="183340"/>
                </a:solidFill>
                <a:latin typeface="Aptos"/>
                <a:ea typeface="Aptos"/>
                <a:cs typeface="Aptos"/>
              </a:rPr>
              <a:t>VGG19-based chest X-ray classification plus appointment-attendance prediction embedded in the EHR</a:t>
            </a:r>
          </a:p>
        </p:txBody>
      </p:sp>
      <p:sp>
        <p:nvSpPr>
          <p:cNvPr id="15" name="">
            <a:extLst xmlns:a="http://schemas.openxmlformats.org/drawingml/2006/main">
              <a:ext uri="{FF2B5EF4-FFF2-40B4-BE49-F238E27FC236}">
                <a16:creationId xmlns:a16="http://schemas.microsoft.com/office/drawing/2014/main" id="{B37CCFFC-4808-44E7-A4F1-1ACE1C3F81D8}"/>
              </a:ext>
            </a:extLst>
          </p:cNvPr>
          <p:cNvSpPr>
            <a:spLocks xmlns:a="http://schemas.openxmlformats.org/drawingml/2006/main" noGrp="1"/>
          </p:cNvSpPr>
          <p:nvPr/>
        </p:nvSpPr>
        <p:spPr>
          <a:xfrm xmlns:a="http://schemas.openxmlformats.org/drawingml/2006/main">
            <a:off x="838200" y="42957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E8694A"/>
                </a:solidFill>
                <a:latin typeface="Aptos"/>
                <a:ea typeface="Aptos"/>
                <a:cs typeface="Aptos"/>
              </a:defRPr>
            </a:pPr>
            <a:r>
              <a:rPr sz="1050" b="1">
                <a:solidFill>
                  <a:srgbClr val="E8694A"/>
                </a:solidFill>
                <a:latin typeface="Aptos"/>
                <a:ea typeface="Aptos"/>
                <a:cs typeface="Aptos"/>
              </a:rPr>
              <a:t>Reported result</a:t>
            </a:r>
          </a:p>
        </p:txBody>
      </p:sp>
      <p:sp>
        <p:nvSpPr>
          <p:cNvPr id="16" name="">
            <a:extLst xmlns:a="http://schemas.openxmlformats.org/drawingml/2006/main">
              <a:ext uri="{FF2B5EF4-FFF2-40B4-BE49-F238E27FC236}">
                <a16:creationId xmlns:a16="http://schemas.microsoft.com/office/drawing/2014/main" id="{585561A0-253D-4492-AB63-54F88A029080}"/>
              </a:ext>
            </a:extLst>
          </p:cNvPr>
          <p:cNvSpPr>
            <a:spLocks xmlns:a="http://schemas.openxmlformats.org/drawingml/2006/main" noGrp="1"/>
          </p:cNvSpPr>
          <p:nvPr/>
        </p:nvSpPr>
        <p:spPr>
          <a:xfrm xmlns:a="http://schemas.openxmlformats.org/drawingml/2006/main">
            <a:off x="838200" y="4581525"/>
            <a:ext cx="4286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The article reports about 92% X-ray classification accuracy and a substantial reduction in no-shows when models and staff action were combined.</a:t>
            </a:r>
          </a:p>
        </p:txBody>
      </p:sp>
      <p:sp>
        <p:nvSpPr>
          <p:cNvPr id="17" name="">
            <a:extLst xmlns:a="http://schemas.openxmlformats.org/drawingml/2006/main">
              <a:ext uri="{FF2B5EF4-FFF2-40B4-BE49-F238E27FC236}">
                <a16:creationId xmlns:a16="http://schemas.microsoft.com/office/drawing/2014/main" id="{3CFC47FF-27AE-405A-A5F6-1DCCF33B0050}"/>
              </a:ext>
            </a:extLst>
          </p:cNvPr>
          <p:cNvSpPr>
            <a:spLocks xmlns:a="http://schemas.openxmlformats.org/drawingml/2006/main" noGrp="1"/>
          </p:cNvSpPr>
          <p:nvPr/>
        </p:nvSpPr>
        <p:spPr>
          <a:xfrm xmlns:a="http://schemas.openxmlformats.org/drawingml/2006/main">
            <a:off x="5905500" y="1714500"/>
            <a:ext cx="5391150" cy="1752600"/>
          </a:xfrm>
          <a:prstGeom xmlns:a="http://schemas.openxmlformats.org/drawingml/2006/main" prst="roundRect">
            <a:avLst>
              <a:gd name="adj" fmla="val 10870"/>
            </a:avLst>
          </a:prstGeom>
          <a:solidFill xmlns:a="http://schemas.openxmlformats.org/drawingml/2006/main">
            <a:srgbClr val="FBE7DF"/>
          </a:solidFill>
          <a:ln xmlns:a="http://schemas.openxmlformats.org/drawingml/2006/main" w="9525">
            <a:solidFill>
              <a:srgbClr val="E8694A"/>
            </a:solidFill>
            <a:prstDash val="solid"/>
          </a:ln>
        </p:spPr>
      </p:sp>
      <p:sp>
        <p:nvSpPr>
          <p:cNvPr id="18" name="">
            <a:extLst xmlns:a="http://schemas.openxmlformats.org/drawingml/2006/main">
              <a:ext uri="{FF2B5EF4-FFF2-40B4-BE49-F238E27FC236}">
                <a16:creationId xmlns:a16="http://schemas.microsoft.com/office/drawing/2014/main" id="{C4BC0384-B12C-48B9-9F54-6BF8EFA90A4E}"/>
              </a:ext>
            </a:extLst>
          </p:cNvPr>
          <p:cNvSpPr>
            <a:spLocks xmlns:a="http://schemas.openxmlformats.org/drawingml/2006/main" noGrp="1"/>
          </p:cNvSpPr>
          <p:nvPr/>
        </p:nvSpPr>
        <p:spPr>
          <a:xfrm xmlns:a="http://schemas.openxmlformats.org/drawingml/2006/main">
            <a:off x="6153150" y="19240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B7433D"/>
                </a:solidFill>
                <a:latin typeface="Aptos"/>
                <a:ea typeface="Aptos"/>
                <a:cs typeface="Aptos"/>
              </a:defRPr>
            </a:pPr>
            <a:r>
              <a:rPr sz="1050" b="1">
                <a:solidFill>
                  <a:srgbClr val="B7433D"/>
                </a:solidFill>
                <a:latin typeface="Aptos"/>
                <a:ea typeface="Aptos"/>
                <a:cs typeface="Aptos"/>
              </a:rPr>
              <a:t>EVIDENCE LIMIT</a:t>
            </a:r>
          </a:p>
        </p:txBody>
      </p:sp>
      <p:sp>
        <p:nvSpPr>
          <p:cNvPr id="19" name="">
            <a:extLst xmlns:a="http://schemas.openxmlformats.org/drawingml/2006/main">
              <a:ext uri="{FF2B5EF4-FFF2-40B4-BE49-F238E27FC236}">
                <a16:creationId xmlns:a16="http://schemas.microsoft.com/office/drawing/2014/main" id="{03F5509C-C888-4DC2-B057-DBCA972688BC}"/>
              </a:ext>
            </a:extLst>
          </p:cNvPr>
          <p:cNvSpPr>
            <a:spLocks xmlns:a="http://schemas.openxmlformats.org/drawingml/2006/main" noGrp="1"/>
          </p:cNvSpPr>
          <p:nvPr/>
        </p:nvSpPr>
        <p:spPr>
          <a:xfrm xmlns:a="http://schemas.openxmlformats.org/drawingml/2006/main">
            <a:off x="6153150" y="2276475"/>
            <a:ext cx="48958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Single health-system context; model performance and workflow results require external and local validation.</a:t>
            </a:r>
          </a:p>
        </p:txBody>
      </p:sp>
      <p:sp>
        <p:nvSpPr>
          <p:cNvPr id="20" name="">
            <a:extLst xmlns:a="http://schemas.openxmlformats.org/drawingml/2006/main">
              <a:ext uri="{FF2B5EF4-FFF2-40B4-BE49-F238E27FC236}">
                <a16:creationId xmlns:a16="http://schemas.microsoft.com/office/drawing/2014/main" id="{14052943-8663-4F47-BABC-BFD5C73DB580}"/>
              </a:ext>
            </a:extLst>
          </p:cNvPr>
          <p:cNvSpPr>
            <a:spLocks xmlns:a="http://schemas.openxmlformats.org/drawingml/2006/main" noGrp="1"/>
          </p:cNvSpPr>
          <p:nvPr/>
        </p:nvSpPr>
        <p:spPr>
          <a:xfrm xmlns:a="http://schemas.openxmlformats.org/drawingml/2006/main">
            <a:off x="5905500" y="3667125"/>
            <a:ext cx="5391150" cy="962025"/>
          </a:xfrm>
          <a:prstGeom xmlns:a="http://schemas.openxmlformats.org/drawingml/2006/main" prst="roundRect">
            <a:avLst>
              <a:gd name="adj" fmla="val 17822"/>
            </a:avLst>
          </a:prstGeom>
          <a:solidFill xmlns:a="http://schemas.openxmlformats.org/drawingml/2006/main">
            <a:srgbClr val="DDF2EE"/>
          </a:solidFill>
          <a:ln xmlns:a="http://schemas.openxmlformats.org/drawingml/2006/main" w="9525">
            <a:solidFill>
              <a:srgbClr val="087E78"/>
            </a:solidFill>
            <a:prstDash val="solid"/>
          </a:ln>
        </p:spPr>
      </p:sp>
      <p:sp>
        <p:nvSpPr>
          <p:cNvPr id="21" name="">
            <a:extLst xmlns:a="http://schemas.openxmlformats.org/drawingml/2006/main">
              <a:ext uri="{FF2B5EF4-FFF2-40B4-BE49-F238E27FC236}">
                <a16:creationId xmlns:a16="http://schemas.microsoft.com/office/drawing/2014/main" id="{7A26EE65-363D-451E-93BD-278570C30A84}"/>
              </a:ext>
            </a:extLst>
          </p:cNvPr>
          <p:cNvSpPr>
            <a:spLocks xmlns:a="http://schemas.openxmlformats.org/drawingml/2006/main" noGrp="1"/>
          </p:cNvSpPr>
          <p:nvPr/>
        </p:nvSpPr>
        <p:spPr>
          <a:xfrm xmlns:a="http://schemas.openxmlformats.org/drawingml/2006/main">
            <a:off x="6153150" y="38576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HUMAN CHECKPOINT</a:t>
            </a:r>
          </a:p>
        </p:txBody>
      </p:sp>
      <p:sp>
        <p:nvSpPr>
          <p:cNvPr id="22" name="">
            <a:extLst xmlns:a="http://schemas.openxmlformats.org/drawingml/2006/main">
              <a:ext uri="{FF2B5EF4-FFF2-40B4-BE49-F238E27FC236}">
                <a16:creationId xmlns:a16="http://schemas.microsoft.com/office/drawing/2014/main" id="{70FD90E2-081C-4F7A-9461-2159669B5ABE}"/>
              </a:ext>
            </a:extLst>
          </p:cNvPr>
          <p:cNvSpPr>
            <a:spLocks xmlns:a="http://schemas.openxmlformats.org/drawingml/2006/main" noGrp="1"/>
          </p:cNvSpPr>
          <p:nvPr/>
        </p:nvSpPr>
        <p:spPr>
          <a:xfrm xmlns:a="http://schemas.openxmlformats.org/drawingml/2006/main">
            <a:off x="6153150" y="4171950"/>
            <a:ext cx="4895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875"/>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Radiologist signs the report; staff decide outreach or scheduling action.</a:t>
            </a:r>
          </a:p>
        </p:txBody>
      </p:sp>
      <p:sp>
        <p:nvSpPr>
          <p:cNvPr id="23" name="">
            <a:extLst xmlns:a="http://schemas.openxmlformats.org/drawingml/2006/main">
              <a:ext uri="{FF2B5EF4-FFF2-40B4-BE49-F238E27FC236}">
                <a16:creationId xmlns:a16="http://schemas.microsoft.com/office/drawing/2014/main" id="{A876A279-D3BB-422E-ADE9-E2EC52744A6B}"/>
              </a:ext>
            </a:extLst>
          </p:cNvPr>
          <p:cNvSpPr>
            <a:spLocks xmlns:a="http://schemas.openxmlformats.org/drawingml/2006/main" noGrp="1"/>
          </p:cNvSpPr>
          <p:nvPr/>
        </p:nvSpPr>
        <p:spPr>
          <a:xfrm xmlns:a="http://schemas.openxmlformats.org/drawingml/2006/main">
            <a:off x="5905500" y="4829175"/>
            <a:ext cx="5391150" cy="981075"/>
          </a:xfrm>
          <a:prstGeom xmlns:a="http://schemas.openxmlformats.org/drawingml/2006/main" prst="roundRect">
            <a:avLst>
              <a:gd name="adj" fmla="val 17476"/>
            </a:avLst>
          </a:prstGeom>
          <a:solidFill xmlns:a="http://schemas.openxmlformats.org/drawingml/2006/main">
            <a:srgbClr val="082638"/>
          </a:solidFill>
          <a:ln xmlns:a="http://schemas.openxmlformats.org/drawingml/2006/main" w="9525">
            <a:solidFill>
              <a:srgbClr val="082638"/>
            </a:solidFill>
            <a:prstDash val="solid"/>
          </a:ln>
        </p:spPr>
      </p:sp>
      <p:sp>
        <p:nvSpPr>
          <p:cNvPr id="24" name="">
            <a:extLst xmlns:a="http://schemas.openxmlformats.org/drawingml/2006/main">
              <a:ext uri="{FF2B5EF4-FFF2-40B4-BE49-F238E27FC236}">
                <a16:creationId xmlns:a16="http://schemas.microsoft.com/office/drawing/2014/main" id="{FC0DD102-3695-4E52-B498-F758E366252F}"/>
              </a:ext>
            </a:extLst>
          </p:cNvPr>
          <p:cNvSpPr>
            <a:spLocks xmlns:a="http://schemas.openxmlformats.org/drawingml/2006/main" noGrp="1"/>
          </p:cNvSpPr>
          <p:nvPr/>
        </p:nvSpPr>
        <p:spPr>
          <a:xfrm xmlns:a="http://schemas.openxmlformats.org/drawingml/2006/main">
            <a:off x="6153150" y="5019675"/>
            <a:ext cx="48958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129"/>
          </a:bodyPr>
          <a:lstStyle xmlns:a="http://schemas.openxmlformats.org/drawingml/2006/main"/>
          <a:p xmlns:a="http://schemas.openxmlformats.org/drawingml/2006/main">
            <a:pPr algn="l">
              <a:lnSpc>
                <a:spcPct val="103000"/>
              </a:lnSpc>
              <a:buNone/>
              <a:defRPr sz="1425" b="1">
                <a:solidFill>
                  <a:srgbClr val="FFFFFF"/>
                </a:solidFill>
                <a:latin typeface="Aptos"/>
                <a:ea typeface="Aptos"/>
                <a:cs typeface="Aptos"/>
              </a:defRPr>
            </a:pPr>
            <a:r>
              <a:rPr sz="1425" b="1">
                <a:solidFill>
                  <a:srgbClr val="FFFFFF"/>
                </a:solidFill>
                <a:latin typeface="Aptos"/>
                <a:ea typeface="Aptos"/>
                <a:cs typeface="Aptos"/>
              </a:rPr>
              <a:t>Embed probability in the workflow; do not hide decision ownership.</a:t>
            </a:r>
          </a:p>
        </p:txBody>
      </p:sp>
      <p:sp>
        <p:nvSpPr>
          <p:cNvPr id="25" name="">
            <a:extLst xmlns:a="http://schemas.openxmlformats.org/drawingml/2006/main">
              <a:ext uri="{FF2B5EF4-FFF2-40B4-BE49-F238E27FC236}">
                <a16:creationId xmlns:a16="http://schemas.microsoft.com/office/drawing/2014/main" id="{18427DEB-0944-4420-820D-6E167E67509D}"/>
              </a:ext>
            </a:extLst>
          </p:cNvPr>
          <p:cNvSpPr>
            <a:spLocks xmlns:a="http://schemas.openxmlformats.org/drawingml/2006/main" noGrp="1"/>
          </p:cNvSpPr>
          <p:nvPr/>
        </p:nvSpPr>
        <p:spPr>
          <a:xfrm xmlns:a="http://schemas.openxmlformats.org/drawingml/2006/main">
            <a:off x="6153150" y="5391150"/>
            <a:ext cx="4895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324"/>
          </a:bodyPr>
          <a:lstStyle xmlns:a="http://schemas.openxmlformats.org/drawingml/2006/main"/>
          <a:p xmlns:a="http://schemas.openxmlformats.org/drawingml/2006/main">
            <a:pPr algn="l">
              <a:lnSpc>
                <a:spcPct val="103000"/>
              </a:lnSpc>
              <a:buNone/>
              <a:defRPr sz="1163" b="0">
                <a:solidFill>
                  <a:srgbClr val="FFFFFF"/>
                </a:solidFill>
                <a:latin typeface="Aptos"/>
                <a:ea typeface="Aptos"/>
                <a:cs typeface="Aptos"/>
              </a:defRPr>
            </a:pPr>
            <a:r>
              <a:rPr sz="1163" b="0">
                <a:solidFill>
                  <a:srgbClr val="FFFFFF"/>
                </a:solidFill>
                <a:latin typeface="Aptos"/>
                <a:ea typeface="Aptos"/>
                <a:cs typeface="Aptos"/>
              </a:rPr>
              <a:t>Which decision should remain visibly human even if the prediction is accurate?</a:t>
            </a:r>
          </a:p>
        </p:txBody>
      </p:sp>
    </p:spTree>
    <p:extLst>
      <p:ext uri="{BB962C8B-B14F-4D97-AF65-F5344CB8AC3E}">
        <p14:creationId xmlns:p14="http://schemas.microsoft.com/office/powerpoint/2010/main" val="1823515082"/>
      </p:ext>
    </p:extLst>
  </p:cSld>
</p:sld>
</file>

<file path=ppt/slides/slide7.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7970B95-8C95-4D67-8E27-D78DD42F666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8694A"/>
          </a:solidFill>
          <a:ln xmlns:a="http://schemas.openxmlformats.org/drawingml/2006/main" w="0">
            <a:solidFill>
              <a:srgbClr val="E8694A"/>
            </a:solidFill>
            <a:prstDash val="solid"/>
          </a:ln>
        </p:spPr>
      </p:sp>
      <p:sp>
        <p:nvSpPr>
          <p:cNvPr id="2" name="">
            <a:extLst xmlns:a="http://schemas.openxmlformats.org/drawingml/2006/main">
              <a:ext uri="{FF2B5EF4-FFF2-40B4-BE49-F238E27FC236}">
                <a16:creationId xmlns:a16="http://schemas.microsoft.com/office/drawing/2014/main" id="{63ED3931-7277-48ED-8EDE-989018F90002}"/>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1 DEBRIEF</a:t>
            </a:r>
          </a:p>
        </p:txBody>
      </p:sp>
      <p:sp>
        <p:nvSpPr>
          <p:cNvPr id="3" name="">
            <a:extLst xmlns:a="http://schemas.openxmlformats.org/drawingml/2006/main">
              <a:ext uri="{FF2B5EF4-FFF2-40B4-BE49-F238E27FC236}">
                <a16:creationId xmlns:a16="http://schemas.microsoft.com/office/drawing/2014/main" id="{C1C43C14-C808-47FD-9ACC-385FA433DA62}"/>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09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Serbia lesson: prediction works only when the workflow owns the next step</a:t>
            </a:r>
          </a:p>
        </p:txBody>
      </p:sp>
      <p:sp>
        <p:nvSpPr>
          <p:cNvPr id="4" name="">
            <a:extLst xmlns:a="http://schemas.openxmlformats.org/drawingml/2006/main">
              <a:ext uri="{FF2B5EF4-FFF2-40B4-BE49-F238E27FC236}">
                <a16:creationId xmlns:a16="http://schemas.microsoft.com/office/drawing/2014/main" id="{5AC331D6-BD77-4C6F-B1FE-D2E25AAA8313}"/>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9F1E77CC-6448-47D4-9658-376C6AA8323F}"/>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2987DE81-40DF-4156-9F53-D04D825F5E69}"/>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364C6CED-EC6B-4E5E-8125-3AED4708FEEE}"/>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https://www.mdpi.com/2073-431X/14/8/320</a:t>
            </a:r>
          </a:p>
        </p:txBody>
      </p:sp>
      <p:sp>
        <p:nvSpPr>
          <p:cNvPr id="8" name="">
            <a:extLst xmlns:a="http://schemas.openxmlformats.org/drawingml/2006/main">
              <a:ext uri="{FF2B5EF4-FFF2-40B4-BE49-F238E27FC236}">
                <a16:creationId xmlns:a16="http://schemas.microsoft.com/office/drawing/2014/main" id="{CCDDB024-AC6D-4822-9A42-795C1792CEDC}"/>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3F878900-B403-42D7-A9A9-D81CEC2F3D9B}"/>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07</a:t>
            </a:r>
          </a:p>
        </p:txBody>
      </p:sp>
      <p:sp>
        <p:nvSpPr>
          <p:cNvPr id="10" name="">
            <a:extLst xmlns:a="http://schemas.openxmlformats.org/drawingml/2006/main">
              <a:ext uri="{FF2B5EF4-FFF2-40B4-BE49-F238E27FC236}">
                <a16:creationId xmlns:a16="http://schemas.microsoft.com/office/drawing/2014/main" id="{49FD4523-5891-4203-8539-417A3FB48D80}"/>
              </a:ext>
            </a:extLst>
          </p:cNvPr>
          <p:cNvSpPr>
            <a:spLocks xmlns:a="http://schemas.openxmlformats.org/drawingml/2006/main" noGrp="1"/>
          </p:cNvSpPr>
          <p:nvPr/>
        </p:nvSpPr>
        <p:spPr>
          <a:xfrm xmlns:a="http://schemas.openxmlformats.org/drawingml/2006/main">
            <a:off x="6096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E869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1E03AB67-86FA-4350-AA74-8731B7381DB5}"/>
              </a:ext>
            </a:extLst>
          </p:cNvPr>
          <p:cNvSpPr>
            <a:spLocks xmlns:a="http://schemas.openxmlformats.org/drawingml/2006/main" noGrp="1"/>
          </p:cNvSpPr>
          <p:nvPr/>
        </p:nvSpPr>
        <p:spPr>
          <a:xfrm xmlns:a="http://schemas.openxmlformats.org/drawingml/2006/main">
            <a:off x="762000" y="1905000"/>
            <a:ext cx="8191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MODEL</a:t>
            </a:r>
          </a:p>
        </p:txBody>
      </p:sp>
      <p:sp>
        <p:nvSpPr>
          <p:cNvPr id="12" name="">
            <a:extLst xmlns:a="http://schemas.openxmlformats.org/drawingml/2006/main">
              <a:ext uri="{FF2B5EF4-FFF2-40B4-BE49-F238E27FC236}">
                <a16:creationId xmlns:a16="http://schemas.microsoft.com/office/drawing/2014/main" id="{DBBC9654-BD98-489F-9E01-6981E3E3AB43}"/>
              </a:ext>
            </a:extLst>
          </p:cNvPr>
          <p:cNvSpPr>
            <a:spLocks xmlns:a="http://schemas.openxmlformats.org/drawingml/2006/main" noGrp="1"/>
          </p:cNvSpPr>
          <p:nvPr/>
        </p:nvSpPr>
        <p:spPr>
          <a:xfrm xmlns:a="http://schemas.openxmlformats.org/drawingml/2006/main">
            <a:off x="7810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Probability</a:t>
            </a:r>
          </a:p>
        </p:txBody>
      </p:sp>
      <p:sp>
        <p:nvSpPr>
          <p:cNvPr id="13" name="">
            <a:extLst xmlns:a="http://schemas.openxmlformats.org/drawingml/2006/main">
              <a:ext uri="{FF2B5EF4-FFF2-40B4-BE49-F238E27FC236}">
                <a16:creationId xmlns:a16="http://schemas.microsoft.com/office/drawing/2014/main" id="{1E0CBBD6-1FF6-422C-A66D-AD1480ECECCD}"/>
              </a:ext>
            </a:extLst>
          </p:cNvPr>
          <p:cNvSpPr>
            <a:spLocks xmlns:a="http://schemas.openxmlformats.org/drawingml/2006/main" noGrp="1"/>
          </p:cNvSpPr>
          <p:nvPr/>
        </p:nvSpPr>
        <p:spPr>
          <a:xfrm xmlns:a="http://schemas.openxmlformats.org/drawingml/2006/main">
            <a:off x="7810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Accuracy belongs to a defined task and validation population.</a:t>
            </a:r>
          </a:p>
        </p:txBody>
      </p:sp>
      <p:sp>
        <p:nvSpPr>
          <p:cNvPr id="14" name="">
            <a:extLst xmlns:a="http://schemas.openxmlformats.org/drawingml/2006/main">
              <a:ext uri="{FF2B5EF4-FFF2-40B4-BE49-F238E27FC236}">
                <a16:creationId xmlns:a16="http://schemas.microsoft.com/office/drawing/2014/main" id="{69FF9147-F5F6-4F60-AA05-D2A4D692A7AD}"/>
              </a:ext>
            </a:extLst>
          </p:cNvPr>
          <p:cNvSpPr>
            <a:spLocks xmlns:a="http://schemas.openxmlformats.org/drawingml/2006/main" noGrp="1"/>
          </p:cNvSpPr>
          <p:nvPr/>
        </p:nvSpPr>
        <p:spPr>
          <a:xfrm xmlns:a="http://schemas.openxmlformats.org/drawingml/2006/main">
            <a:off x="433705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087E7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B6B2E25A-50A7-4629-8BB4-6C79E60CA656}"/>
              </a:ext>
            </a:extLst>
          </p:cNvPr>
          <p:cNvSpPr>
            <a:spLocks xmlns:a="http://schemas.openxmlformats.org/drawingml/2006/main" noGrp="1"/>
          </p:cNvSpPr>
          <p:nvPr/>
        </p:nvSpPr>
        <p:spPr>
          <a:xfrm xmlns:a="http://schemas.openxmlformats.org/drawingml/2006/main">
            <a:off x="4489450" y="1905000"/>
            <a:ext cx="8191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96548"/>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WORKFLOW</a:t>
            </a:r>
          </a:p>
        </p:txBody>
      </p:sp>
      <p:sp>
        <p:nvSpPr>
          <p:cNvPr id="16" name="">
            <a:extLst xmlns:a="http://schemas.openxmlformats.org/drawingml/2006/main">
              <a:ext uri="{FF2B5EF4-FFF2-40B4-BE49-F238E27FC236}">
                <a16:creationId xmlns:a16="http://schemas.microsoft.com/office/drawing/2014/main" id="{DC6F0621-77A1-4CF6-B7DF-77032C21E503}"/>
              </a:ext>
            </a:extLst>
          </p:cNvPr>
          <p:cNvSpPr>
            <a:spLocks xmlns:a="http://schemas.openxmlformats.org/drawingml/2006/main" noGrp="1"/>
          </p:cNvSpPr>
          <p:nvPr/>
        </p:nvSpPr>
        <p:spPr>
          <a:xfrm xmlns:a="http://schemas.openxmlformats.org/drawingml/2006/main">
            <a:off x="450850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Action</a:t>
            </a:r>
          </a:p>
        </p:txBody>
      </p:sp>
      <p:sp>
        <p:nvSpPr>
          <p:cNvPr id="17" name="">
            <a:extLst xmlns:a="http://schemas.openxmlformats.org/drawingml/2006/main">
              <a:ext uri="{FF2B5EF4-FFF2-40B4-BE49-F238E27FC236}">
                <a16:creationId xmlns:a16="http://schemas.microsoft.com/office/drawing/2014/main" id="{7227490C-7053-4206-B206-15123B9353F0}"/>
              </a:ext>
            </a:extLst>
          </p:cNvPr>
          <p:cNvSpPr>
            <a:spLocks xmlns:a="http://schemas.openxmlformats.org/drawingml/2006/main" noGrp="1"/>
          </p:cNvSpPr>
          <p:nvPr/>
        </p:nvSpPr>
        <p:spPr>
          <a:xfrm xmlns:a="http://schemas.openxmlformats.org/drawingml/2006/main">
            <a:off x="450850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Staff decide outreach; radiologists retain reporting responsibility.</a:t>
            </a:r>
          </a:p>
        </p:txBody>
      </p:sp>
      <p:sp>
        <p:nvSpPr>
          <p:cNvPr id="18" name="">
            <a:extLst xmlns:a="http://schemas.openxmlformats.org/drawingml/2006/main">
              <a:ext uri="{FF2B5EF4-FFF2-40B4-BE49-F238E27FC236}">
                <a16:creationId xmlns:a16="http://schemas.microsoft.com/office/drawing/2014/main" id="{57DBDCF6-232D-4C0B-912A-CF00CD1A027E}"/>
              </a:ext>
            </a:extLst>
          </p:cNvPr>
          <p:cNvSpPr>
            <a:spLocks xmlns:a="http://schemas.openxmlformats.org/drawingml/2006/main" noGrp="1"/>
          </p:cNvSpPr>
          <p:nvPr/>
        </p:nvSpPr>
        <p:spPr>
          <a:xfrm xmlns:a="http://schemas.openxmlformats.org/drawingml/2006/main">
            <a:off x="80645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2F6F9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7F002CC5-4BE8-4AEF-B3CE-32FE1C6E2A5E}"/>
              </a:ext>
            </a:extLst>
          </p:cNvPr>
          <p:cNvSpPr>
            <a:spLocks xmlns:a="http://schemas.openxmlformats.org/drawingml/2006/main" noGrp="1"/>
          </p:cNvSpPr>
          <p:nvPr/>
        </p:nvSpPr>
        <p:spPr>
          <a:xfrm xmlns:a="http://schemas.openxmlformats.org/drawingml/2006/main">
            <a:off x="8216900" y="1905000"/>
            <a:ext cx="8191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MEASURE</a:t>
            </a:r>
          </a:p>
        </p:txBody>
      </p:sp>
      <p:sp>
        <p:nvSpPr>
          <p:cNvPr id="20" name="">
            <a:extLst xmlns:a="http://schemas.openxmlformats.org/drawingml/2006/main">
              <a:ext uri="{FF2B5EF4-FFF2-40B4-BE49-F238E27FC236}">
                <a16:creationId xmlns:a16="http://schemas.microsoft.com/office/drawing/2014/main" id="{4E67384E-B55D-4F9E-85E0-4CCC7EC8D8F5}"/>
              </a:ext>
            </a:extLst>
          </p:cNvPr>
          <p:cNvSpPr>
            <a:spLocks xmlns:a="http://schemas.openxmlformats.org/drawingml/2006/main" noGrp="1"/>
          </p:cNvSpPr>
          <p:nvPr/>
        </p:nvSpPr>
        <p:spPr>
          <a:xfrm xmlns:a="http://schemas.openxmlformats.org/drawingml/2006/main">
            <a:off x="82359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Patient effect</a:t>
            </a:r>
          </a:p>
        </p:txBody>
      </p:sp>
      <p:sp>
        <p:nvSpPr>
          <p:cNvPr id="21" name="">
            <a:extLst xmlns:a="http://schemas.openxmlformats.org/drawingml/2006/main">
              <a:ext uri="{FF2B5EF4-FFF2-40B4-BE49-F238E27FC236}">
                <a16:creationId xmlns:a16="http://schemas.microsoft.com/office/drawing/2014/main" id="{DBEC4284-E60C-4339-956E-975862F58126}"/>
              </a:ext>
            </a:extLst>
          </p:cNvPr>
          <p:cNvSpPr>
            <a:spLocks xmlns:a="http://schemas.openxmlformats.org/drawingml/2006/main" noGrp="1"/>
          </p:cNvSpPr>
          <p:nvPr/>
        </p:nvSpPr>
        <p:spPr>
          <a:xfrm xmlns:a="http://schemas.openxmlformats.org/drawingml/2006/main">
            <a:off x="82359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Track access, false alerts, missed cases, equity and burden—not only AUC.</a:t>
            </a:r>
          </a:p>
        </p:txBody>
      </p:sp>
    </p:spTree>
    <p:extLst>
      <p:ext uri="{BB962C8B-B14F-4D97-AF65-F5344CB8AC3E}">
        <p14:creationId xmlns:p14="http://schemas.microsoft.com/office/powerpoint/2010/main" val="1373091206"/>
      </p:ext>
    </p:extLst>
  </p:cSld>
</p:sld>
</file>

<file path=ppt/slides/slide8.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5BAA5A-646E-466C-82DA-8D64DE9FEE8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A78D7B41-24C1-4920-BA79-839F72A107C4}"/>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5</a:t>
            </a:r>
          </a:p>
        </p:txBody>
      </p:sp>
      <p:sp>
        <p:nvSpPr>
          <p:cNvPr id="3" name="">
            <a:extLst xmlns:a="http://schemas.openxmlformats.org/drawingml/2006/main">
              <a:ext uri="{FF2B5EF4-FFF2-40B4-BE49-F238E27FC236}">
                <a16:creationId xmlns:a16="http://schemas.microsoft.com/office/drawing/2014/main" id="{B68BBCCB-B1BA-4E69-93B9-D6B6A88359BE}"/>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09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SepsisLab: Why clinicians ignore alerts—and how design can restore trust</a:t>
            </a:r>
          </a:p>
        </p:txBody>
      </p:sp>
      <p:sp>
        <p:nvSpPr>
          <p:cNvPr id="4" name="">
            <a:extLst xmlns:a="http://schemas.openxmlformats.org/drawingml/2006/main">
              <a:ext uri="{FF2B5EF4-FFF2-40B4-BE49-F238E27FC236}">
                <a16:creationId xmlns:a16="http://schemas.microsoft.com/office/drawing/2014/main" id="{7E9E9316-7514-4B6D-B13A-3F102179E70C}"/>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E8F6383D-1783-4786-9581-06DAB5F09DBD}"/>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15F07982-2474-489B-8E97-5466A51AADC7}"/>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BC536328-8C94-4A28-8803-4B1D518277D0}"/>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Source: https://pmc.ncbi.nlm.nih.gov/articles/PMC11149368/</a:t>
            </a:r>
          </a:p>
        </p:txBody>
      </p:sp>
      <p:sp>
        <p:nvSpPr>
          <p:cNvPr id="8" name="">
            <a:extLst xmlns:a="http://schemas.openxmlformats.org/drawingml/2006/main">
              <a:ext uri="{FF2B5EF4-FFF2-40B4-BE49-F238E27FC236}">
                <a16:creationId xmlns:a16="http://schemas.microsoft.com/office/drawing/2014/main" id="{53158E88-7892-4D5A-B0B0-83CC3A971CCB}"/>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2CEC3F72-A3F0-44E2-AABA-CB779CAF04C9}"/>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08</a:t>
            </a:r>
          </a:p>
        </p:txBody>
      </p:sp>
      <p:sp>
        <p:nvSpPr>
          <p:cNvPr id="10" name="">
            <a:extLst xmlns:a="http://schemas.openxmlformats.org/drawingml/2006/main">
              <a:ext uri="{FF2B5EF4-FFF2-40B4-BE49-F238E27FC236}">
                <a16:creationId xmlns:a16="http://schemas.microsoft.com/office/drawing/2014/main" id="{B7507B31-CB18-43A3-AE1B-EEA08F386F15}"/>
              </a:ext>
            </a:extLst>
          </p:cNvPr>
          <p:cNvSpPr>
            <a:spLocks xmlns:a="http://schemas.openxmlformats.org/drawingml/2006/main" noGrp="1"/>
          </p:cNvSpPr>
          <p:nvPr/>
        </p:nvSpPr>
        <p:spPr>
          <a:xfrm xmlns:a="http://schemas.openxmlformats.org/drawingml/2006/main">
            <a:off x="609600" y="1714500"/>
            <a:ext cx="4953000" cy="4095750"/>
          </a:xfrm>
          <a:prstGeom xmlns:a="http://schemas.openxmlformats.org/drawingml/2006/main" prst="roundRect">
            <a:avLst>
              <a:gd name="adj" fmla="val 4651"/>
            </a:avLst>
          </a:prstGeom>
          <a:solidFill xmlns:a="http://schemas.openxmlformats.org/drawingml/2006/main">
            <a:srgbClr val="FFFDFC"/>
          </a:solidFill>
          <a:ln xmlns:a="http://schemas.openxmlformats.org/drawingml/2006/main" w="9525">
            <a:solidFill>
              <a:srgbClr val="087E7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C9AC412F-7EC0-4C95-8470-48FEDFDBE597}"/>
              </a:ext>
            </a:extLst>
          </p:cNvPr>
          <p:cNvSpPr>
            <a:spLocks xmlns:a="http://schemas.openxmlformats.org/drawingml/2006/main" noGrp="1"/>
          </p:cNvSpPr>
          <p:nvPr/>
        </p:nvSpPr>
        <p:spPr>
          <a:xfrm xmlns:a="http://schemas.openxmlformats.org/drawingml/2006/main">
            <a:off x="838200" y="1924050"/>
            <a:ext cx="40957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2024 QUALITATIVE STUDY AND HUMAN-AI PROTOTYPE EVALUATION</a:t>
            </a:r>
          </a:p>
        </p:txBody>
      </p:sp>
      <p:sp>
        <p:nvSpPr>
          <p:cNvPr id="12" name="">
            <a:extLst xmlns:a="http://schemas.openxmlformats.org/drawingml/2006/main">
              <a:ext uri="{FF2B5EF4-FFF2-40B4-BE49-F238E27FC236}">
                <a16:creationId xmlns:a16="http://schemas.microsoft.com/office/drawing/2014/main" id="{3203C772-6EEA-46EF-8D06-F162FE7F912A}"/>
              </a:ext>
            </a:extLst>
          </p:cNvPr>
          <p:cNvSpPr>
            <a:spLocks xmlns:a="http://schemas.openxmlformats.org/drawingml/2006/main" noGrp="1"/>
          </p:cNvSpPr>
          <p:nvPr/>
        </p:nvSpPr>
        <p:spPr>
          <a:xfrm xmlns:a="http://schemas.openxmlformats.org/drawingml/2006/main">
            <a:off x="838200" y="23622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Six experienced US clinicians discussing the Epic Sepsis Model and a prototype</a:t>
            </a:r>
          </a:p>
        </p:txBody>
      </p:sp>
      <p:sp>
        <p:nvSpPr>
          <p:cNvPr id="13" name="">
            <a:extLst xmlns:a="http://schemas.openxmlformats.org/drawingml/2006/main">
              <a:ext uri="{FF2B5EF4-FFF2-40B4-BE49-F238E27FC236}">
                <a16:creationId xmlns:a16="http://schemas.microsoft.com/office/drawing/2014/main" id="{164FE9AD-9A3D-4AE9-9C49-B348FA57B96E}"/>
              </a:ext>
            </a:extLst>
          </p:cNvPr>
          <p:cNvSpPr>
            <a:spLocks xmlns:a="http://schemas.openxmlformats.org/drawingml/2006/main" noGrp="1"/>
          </p:cNvSpPr>
          <p:nvPr/>
        </p:nvSpPr>
        <p:spPr>
          <a:xfrm xmlns:a="http://schemas.openxmlformats.org/drawingml/2006/main">
            <a:off x="838200" y="30099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AI + workflow</a:t>
            </a:r>
          </a:p>
        </p:txBody>
      </p:sp>
      <p:sp>
        <p:nvSpPr>
          <p:cNvPr id="14" name="">
            <a:extLst xmlns:a="http://schemas.openxmlformats.org/drawingml/2006/main">
              <a:ext uri="{FF2B5EF4-FFF2-40B4-BE49-F238E27FC236}">
                <a16:creationId xmlns:a16="http://schemas.microsoft.com/office/drawing/2014/main" id="{FB97804C-3761-47D9-898D-83B18C087E51}"/>
              </a:ext>
            </a:extLst>
          </p:cNvPr>
          <p:cNvSpPr>
            <a:spLocks xmlns:a="http://schemas.openxmlformats.org/drawingml/2006/main" noGrp="1"/>
          </p:cNvSpPr>
          <p:nvPr/>
        </p:nvSpPr>
        <p:spPr>
          <a:xfrm xmlns:a="http://schemas.openxmlformats.org/drawingml/2006/main">
            <a:off x="838200" y="3295650"/>
            <a:ext cx="4286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0">
                <a:solidFill>
                  <a:srgbClr val="183340"/>
                </a:solidFill>
                <a:latin typeface="Aptos"/>
                <a:ea typeface="Aptos"/>
                <a:cs typeface="Aptos"/>
              </a:defRPr>
            </a:pPr>
            <a:r>
              <a:rPr sz="1275" b="0">
                <a:solidFill>
                  <a:srgbClr val="183340"/>
                </a:solidFill>
                <a:latin typeface="Aptos"/>
                <a:ea typeface="Aptos"/>
                <a:cs typeface="Aptos"/>
              </a:rPr>
              <a:t>Trend and uncertainty visualisation, ranked information needs and what-if simulation</a:t>
            </a:r>
          </a:p>
        </p:txBody>
      </p:sp>
      <p:sp>
        <p:nvSpPr>
          <p:cNvPr id="15" name="">
            <a:extLst xmlns:a="http://schemas.openxmlformats.org/drawingml/2006/main">
              <a:ext uri="{FF2B5EF4-FFF2-40B4-BE49-F238E27FC236}">
                <a16:creationId xmlns:a16="http://schemas.microsoft.com/office/drawing/2014/main" id="{63679762-33EB-4C42-8102-28F95A23010D}"/>
              </a:ext>
            </a:extLst>
          </p:cNvPr>
          <p:cNvSpPr>
            <a:spLocks xmlns:a="http://schemas.openxmlformats.org/drawingml/2006/main" noGrp="1"/>
          </p:cNvSpPr>
          <p:nvPr/>
        </p:nvSpPr>
        <p:spPr>
          <a:xfrm xmlns:a="http://schemas.openxmlformats.org/drawingml/2006/main">
            <a:off x="838200" y="42957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Reported result</a:t>
            </a:r>
          </a:p>
        </p:txBody>
      </p:sp>
      <p:sp>
        <p:nvSpPr>
          <p:cNvPr id="16" name="">
            <a:extLst xmlns:a="http://schemas.openxmlformats.org/drawingml/2006/main">
              <a:ext uri="{FF2B5EF4-FFF2-40B4-BE49-F238E27FC236}">
                <a16:creationId xmlns:a16="http://schemas.microsoft.com/office/drawing/2014/main" id="{29DBCE8A-432B-4ACD-92F8-75C699DC29FC}"/>
              </a:ext>
            </a:extLst>
          </p:cNvPr>
          <p:cNvSpPr>
            <a:spLocks xmlns:a="http://schemas.openxmlformats.org/drawingml/2006/main" noGrp="1"/>
          </p:cNvSpPr>
          <p:nvPr/>
        </p:nvSpPr>
        <p:spPr>
          <a:xfrm xmlns:a="http://schemas.openxmlformats.org/drawingml/2006/main">
            <a:off x="838200" y="4581525"/>
            <a:ext cx="4286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Clinicians described the redesigned system more as a collaborator than a static score.</a:t>
            </a:r>
          </a:p>
        </p:txBody>
      </p:sp>
      <p:sp>
        <p:nvSpPr>
          <p:cNvPr id="17" name="">
            <a:extLst xmlns:a="http://schemas.openxmlformats.org/drawingml/2006/main">
              <a:ext uri="{FF2B5EF4-FFF2-40B4-BE49-F238E27FC236}">
                <a16:creationId xmlns:a16="http://schemas.microsoft.com/office/drawing/2014/main" id="{975AFA93-F42F-4C77-A793-5A3ACCC013A6}"/>
              </a:ext>
            </a:extLst>
          </p:cNvPr>
          <p:cNvSpPr>
            <a:spLocks xmlns:a="http://schemas.openxmlformats.org/drawingml/2006/main" noGrp="1"/>
          </p:cNvSpPr>
          <p:nvPr/>
        </p:nvSpPr>
        <p:spPr>
          <a:xfrm xmlns:a="http://schemas.openxmlformats.org/drawingml/2006/main">
            <a:off x="5905500" y="1714500"/>
            <a:ext cx="5391150" cy="1752600"/>
          </a:xfrm>
          <a:prstGeom xmlns:a="http://schemas.openxmlformats.org/drawingml/2006/main" prst="roundRect">
            <a:avLst>
              <a:gd name="adj" fmla="val 10870"/>
            </a:avLst>
          </a:prstGeom>
          <a:solidFill xmlns:a="http://schemas.openxmlformats.org/drawingml/2006/main">
            <a:srgbClr val="FBE7DF"/>
          </a:solidFill>
          <a:ln xmlns:a="http://schemas.openxmlformats.org/drawingml/2006/main" w="9525">
            <a:solidFill>
              <a:srgbClr val="E8694A"/>
            </a:solidFill>
            <a:prstDash val="solid"/>
          </a:ln>
        </p:spPr>
      </p:sp>
      <p:sp>
        <p:nvSpPr>
          <p:cNvPr id="18" name="">
            <a:extLst xmlns:a="http://schemas.openxmlformats.org/drawingml/2006/main">
              <a:ext uri="{FF2B5EF4-FFF2-40B4-BE49-F238E27FC236}">
                <a16:creationId xmlns:a16="http://schemas.microsoft.com/office/drawing/2014/main" id="{BD10814B-76B9-4954-A70B-914765E71BAC}"/>
              </a:ext>
            </a:extLst>
          </p:cNvPr>
          <p:cNvSpPr>
            <a:spLocks xmlns:a="http://schemas.openxmlformats.org/drawingml/2006/main" noGrp="1"/>
          </p:cNvSpPr>
          <p:nvPr/>
        </p:nvSpPr>
        <p:spPr>
          <a:xfrm xmlns:a="http://schemas.openxmlformats.org/drawingml/2006/main">
            <a:off x="6153150" y="19240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B7433D"/>
                </a:solidFill>
                <a:latin typeface="Aptos"/>
                <a:ea typeface="Aptos"/>
                <a:cs typeface="Aptos"/>
              </a:defRPr>
            </a:pPr>
            <a:r>
              <a:rPr sz="1050" b="1">
                <a:solidFill>
                  <a:srgbClr val="B7433D"/>
                </a:solidFill>
                <a:latin typeface="Aptos"/>
                <a:ea typeface="Aptos"/>
                <a:cs typeface="Aptos"/>
              </a:rPr>
              <a:t>EVIDENCE LIMIT</a:t>
            </a:r>
          </a:p>
        </p:txBody>
      </p:sp>
      <p:sp>
        <p:nvSpPr>
          <p:cNvPr id="19" name="">
            <a:extLst xmlns:a="http://schemas.openxmlformats.org/drawingml/2006/main">
              <a:ext uri="{FF2B5EF4-FFF2-40B4-BE49-F238E27FC236}">
                <a16:creationId xmlns:a16="http://schemas.microsoft.com/office/drawing/2014/main" id="{AE70262F-681D-4E23-846D-32D559EF91B3}"/>
              </a:ext>
            </a:extLst>
          </p:cNvPr>
          <p:cNvSpPr>
            <a:spLocks xmlns:a="http://schemas.openxmlformats.org/drawingml/2006/main" noGrp="1"/>
          </p:cNvSpPr>
          <p:nvPr/>
        </p:nvSpPr>
        <p:spPr>
          <a:xfrm xmlns:a="http://schemas.openxmlformats.org/drawingml/2006/main">
            <a:off x="6153150" y="2276475"/>
            <a:ext cx="48958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Very small qualitative sample and prototype setting; not an outcome or safety trial.</a:t>
            </a:r>
          </a:p>
        </p:txBody>
      </p:sp>
      <p:sp>
        <p:nvSpPr>
          <p:cNvPr id="20" name="">
            <a:extLst xmlns:a="http://schemas.openxmlformats.org/drawingml/2006/main">
              <a:ext uri="{FF2B5EF4-FFF2-40B4-BE49-F238E27FC236}">
                <a16:creationId xmlns:a16="http://schemas.microsoft.com/office/drawing/2014/main" id="{35446DDA-23BC-45F2-BA2D-25D4D1061F0A}"/>
              </a:ext>
            </a:extLst>
          </p:cNvPr>
          <p:cNvSpPr>
            <a:spLocks xmlns:a="http://schemas.openxmlformats.org/drawingml/2006/main" noGrp="1"/>
          </p:cNvSpPr>
          <p:nvPr/>
        </p:nvSpPr>
        <p:spPr>
          <a:xfrm xmlns:a="http://schemas.openxmlformats.org/drawingml/2006/main">
            <a:off x="5905500" y="3667125"/>
            <a:ext cx="5391150" cy="962025"/>
          </a:xfrm>
          <a:prstGeom xmlns:a="http://schemas.openxmlformats.org/drawingml/2006/main" prst="roundRect">
            <a:avLst>
              <a:gd name="adj" fmla="val 17822"/>
            </a:avLst>
          </a:prstGeom>
          <a:solidFill xmlns:a="http://schemas.openxmlformats.org/drawingml/2006/main">
            <a:srgbClr val="DDF2EE"/>
          </a:solidFill>
          <a:ln xmlns:a="http://schemas.openxmlformats.org/drawingml/2006/main" w="9525">
            <a:solidFill>
              <a:srgbClr val="087E78"/>
            </a:solidFill>
            <a:prstDash val="solid"/>
          </a:ln>
        </p:spPr>
      </p:sp>
      <p:sp>
        <p:nvSpPr>
          <p:cNvPr id="21" name="">
            <a:extLst xmlns:a="http://schemas.openxmlformats.org/drawingml/2006/main">
              <a:ext uri="{FF2B5EF4-FFF2-40B4-BE49-F238E27FC236}">
                <a16:creationId xmlns:a16="http://schemas.microsoft.com/office/drawing/2014/main" id="{D0CCEC46-58BD-4EC8-AAC3-687FF945E796}"/>
              </a:ext>
            </a:extLst>
          </p:cNvPr>
          <p:cNvSpPr>
            <a:spLocks xmlns:a="http://schemas.openxmlformats.org/drawingml/2006/main" noGrp="1"/>
          </p:cNvSpPr>
          <p:nvPr/>
        </p:nvSpPr>
        <p:spPr>
          <a:xfrm xmlns:a="http://schemas.openxmlformats.org/drawingml/2006/main">
            <a:off x="6153150" y="38576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HUMAN CHECKPOINT</a:t>
            </a:r>
          </a:p>
        </p:txBody>
      </p:sp>
      <p:sp>
        <p:nvSpPr>
          <p:cNvPr id="22" name="">
            <a:extLst xmlns:a="http://schemas.openxmlformats.org/drawingml/2006/main">
              <a:ext uri="{FF2B5EF4-FFF2-40B4-BE49-F238E27FC236}">
                <a16:creationId xmlns:a16="http://schemas.microsoft.com/office/drawing/2014/main" id="{155ACFDB-C6AA-46B5-8AB2-554B9A85C687}"/>
              </a:ext>
            </a:extLst>
          </p:cNvPr>
          <p:cNvSpPr>
            <a:spLocks xmlns:a="http://schemas.openxmlformats.org/drawingml/2006/main" noGrp="1"/>
          </p:cNvSpPr>
          <p:nvPr/>
        </p:nvSpPr>
        <p:spPr>
          <a:xfrm xmlns:a="http://schemas.openxmlformats.org/drawingml/2006/main">
            <a:off x="6153150" y="4171950"/>
            <a:ext cx="4895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Clinician interprets risk, orders information and decides action.</a:t>
            </a:r>
          </a:p>
        </p:txBody>
      </p:sp>
      <p:sp>
        <p:nvSpPr>
          <p:cNvPr id="23" name="">
            <a:extLst xmlns:a="http://schemas.openxmlformats.org/drawingml/2006/main">
              <a:ext uri="{FF2B5EF4-FFF2-40B4-BE49-F238E27FC236}">
                <a16:creationId xmlns:a16="http://schemas.microsoft.com/office/drawing/2014/main" id="{1D9C47E3-B40B-4BE4-85E6-D4BDD94B3D9D}"/>
              </a:ext>
            </a:extLst>
          </p:cNvPr>
          <p:cNvSpPr>
            <a:spLocks xmlns:a="http://schemas.openxmlformats.org/drawingml/2006/main" noGrp="1"/>
          </p:cNvSpPr>
          <p:nvPr/>
        </p:nvSpPr>
        <p:spPr>
          <a:xfrm xmlns:a="http://schemas.openxmlformats.org/drawingml/2006/main">
            <a:off x="5905500" y="4829175"/>
            <a:ext cx="5391150" cy="981075"/>
          </a:xfrm>
          <a:prstGeom xmlns:a="http://schemas.openxmlformats.org/drawingml/2006/main" prst="roundRect">
            <a:avLst>
              <a:gd name="adj" fmla="val 17476"/>
            </a:avLst>
          </a:prstGeom>
          <a:solidFill xmlns:a="http://schemas.openxmlformats.org/drawingml/2006/main">
            <a:srgbClr val="082638"/>
          </a:solidFill>
          <a:ln xmlns:a="http://schemas.openxmlformats.org/drawingml/2006/main" w="9525">
            <a:solidFill>
              <a:srgbClr val="082638"/>
            </a:solidFill>
            <a:prstDash val="solid"/>
          </a:ln>
        </p:spPr>
      </p:sp>
      <p:sp>
        <p:nvSpPr>
          <p:cNvPr id="24" name="">
            <a:extLst xmlns:a="http://schemas.openxmlformats.org/drawingml/2006/main">
              <a:ext uri="{FF2B5EF4-FFF2-40B4-BE49-F238E27FC236}">
                <a16:creationId xmlns:a16="http://schemas.microsoft.com/office/drawing/2014/main" id="{ADEE4070-A141-4C9B-916A-2F5D301357B4}"/>
              </a:ext>
            </a:extLst>
          </p:cNvPr>
          <p:cNvSpPr>
            <a:spLocks xmlns:a="http://schemas.openxmlformats.org/drawingml/2006/main" noGrp="1"/>
          </p:cNvSpPr>
          <p:nvPr/>
        </p:nvSpPr>
        <p:spPr>
          <a:xfrm xmlns:a="http://schemas.openxmlformats.org/drawingml/2006/main">
            <a:off x="6153150" y="5019675"/>
            <a:ext cx="48958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2776"/>
          </a:bodyPr>
          <a:lstStyle xmlns:a="http://schemas.openxmlformats.org/drawingml/2006/main"/>
          <a:p xmlns:a="http://schemas.openxmlformats.org/drawingml/2006/main">
            <a:pPr algn="l">
              <a:lnSpc>
                <a:spcPct val="103000"/>
              </a:lnSpc>
              <a:buNone/>
              <a:defRPr sz="1425" b="1">
                <a:solidFill>
                  <a:srgbClr val="FFFFFF"/>
                </a:solidFill>
                <a:latin typeface="Aptos"/>
                <a:ea typeface="Aptos"/>
                <a:cs typeface="Aptos"/>
              </a:defRPr>
            </a:pPr>
            <a:r>
              <a:rPr sz="1425" b="1">
                <a:solidFill>
                  <a:srgbClr val="FFFFFF"/>
                </a:solidFill>
                <a:latin typeface="Aptos"/>
                <a:ea typeface="Aptos"/>
                <a:cs typeface="Aptos"/>
              </a:rPr>
              <a:t>Timely, explainable and actionable support can beat another interruptive alert.</a:t>
            </a:r>
          </a:p>
        </p:txBody>
      </p:sp>
      <p:sp>
        <p:nvSpPr>
          <p:cNvPr id="25" name="">
            <a:extLst xmlns:a="http://schemas.openxmlformats.org/drawingml/2006/main">
              <a:ext uri="{FF2B5EF4-FFF2-40B4-BE49-F238E27FC236}">
                <a16:creationId xmlns:a16="http://schemas.microsoft.com/office/drawing/2014/main" id="{3C91AFBE-4DFB-4EDB-B8D2-BEF195DFF9EB}"/>
              </a:ext>
            </a:extLst>
          </p:cNvPr>
          <p:cNvSpPr>
            <a:spLocks xmlns:a="http://schemas.openxmlformats.org/drawingml/2006/main" noGrp="1"/>
          </p:cNvSpPr>
          <p:nvPr/>
        </p:nvSpPr>
        <p:spPr>
          <a:xfrm xmlns:a="http://schemas.openxmlformats.org/drawingml/2006/main">
            <a:off x="6153150" y="5391150"/>
            <a:ext cx="4895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268"/>
          </a:bodyPr>
          <a:lstStyle xmlns:a="http://schemas.openxmlformats.org/drawingml/2006/main"/>
          <a:p xmlns:a="http://schemas.openxmlformats.org/drawingml/2006/main">
            <a:pPr algn="l">
              <a:lnSpc>
                <a:spcPct val="103000"/>
              </a:lnSpc>
              <a:buNone/>
              <a:defRPr sz="1163" b="0">
                <a:solidFill>
                  <a:srgbClr val="FFFFFF"/>
                </a:solidFill>
                <a:latin typeface="Aptos"/>
                <a:ea typeface="Aptos"/>
                <a:cs typeface="Aptos"/>
              </a:defRPr>
            </a:pPr>
            <a:r>
              <a:rPr sz="1163" b="0">
                <a:solidFill>
                  <a:srgbClr val="FFFFFF"/>
                </a:solidFill>
                <a:latin typeface="Aptos"/>
                <a:ea typeface="Aptos"/>
                <a:cs typeface="Aptos"/>
              </a:rPr>
              <a:t>Does this alert arrive before the decision—and tell us what could reduce uncertainty?</a:t>
            </a:r>
          </a:p>
        </p:txBody>
      </p:sp>
    </p:spTree>
    <p:extLst>
      <p:ext uri="{BB962C8B-B14F-4D97-AF65-F5344CB8AC3E}">
        <p14:creationId xmlns:p14="http://schemas.microsoft.com/office/powerpoint/2010/main" val="1090302202"/>
      </p:ext>
    </p:extLst>
  </p:cSld>
</p:sld>
</file>

<file path=ppt/slides/slide9.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DC3C279-EF35-4284-AE5C-D11A304373F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0C27B89C-FAB0-438D-9932-A14D1C21A1FB}"/>
              </a:ext>
            </a:extLst>
          </p:cNvPr>
          <p:cNvSpPr>
            <a:spLocks xmlns:a="http://schemas.openxmlformats.org/drawingml/2006/main" noGrp="1"/>
          </p:cNvSpPr>
          <p:nvPr/>
        </p:nvSpPr>
        <p:spPr>
          <a:xfrm xmlns:a="http://schemas.openxmlformats.org/drawingml/2006/main">
            <a:off x="590550" y="285750"/>
            <a:ext cx="144018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90847"/>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SEPSISLAB APPLICATION</a:t>
            </a:r>
          </a:p>
        </p:txBody>
      </p:sp>
      <p:sp>
        <p:nvSpPr>
          <p:cNvPr id="3" name="">
            <a:extLst xmlns:a="http://schemas.openxmlformats.org/drawingml/2006/main">
              <a:ext uri="{FF2B5EF4-FFF2-40B4-BE49-F238E27FC236}">
                <a16:creationId xmlns:a16="http://schemas.microsoft.com/office/drawing/2014/main" id="{8110FA75-BE1F-4374-80ED-931F292BE83D}"/>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Redesign the alert as a conversation with uncertainty</a:t>
            </a:r>
          </a:p>
        </p:txBody>
      </p:sp>
      <p:sp>
        <p:nvSpPr>
          <p:cNvPr id="4" name="">
            <a:extLst xmlns:a="http://schemas.openxmlformats.org/drawingml/2006/main">
              <a:ext uri="{FF2B5EF4-FFF2-40B4-BE49-F238E27FC236}">
                <a16:creationId xmlns:a16="http://schemas.microsoft.com/office/drawing/2014/main" id="{2640B00F-6D18-4196-8A37-E08297214754}"/>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4B1EFB27-956A-4FC6-B08E-BA1868F67D1C}"/>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395A2CEB-B035-4DFB-80FF-96A81909687C}"/>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2A459489-2506-44E9-B9A3-5557339F4B36}"/>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https://pmc.ncbi.nlm.nih.gov/articles/PMC11149368/</a:t>
            </a:r>
          </a:p>
        </p:txBody>
      </p:sp>
      <p:sp>
        <p:nvSpPr>
          <p:cNvPr id="8" name="">
            <a:extLst xmlns:a="http://schemas.openxmlformats.org/drawingml/2006/main">
              <a:ext uri="{FF2B5EF4-FFF2-40B4-BE49-F238E27FC236}">
                <a16:creationId xmlns:a16="http://schemas.microsoft.com/office/drawing/2014/main" id="{BB1664BF-4C7C-4B77-BAF7-D7BF82488166}"/>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42C4D395-662B-415D-A049-E892357AB9D6}"/>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09</a:t>
            </a:r>
          </a:p>
        </p:txBody>
      </p:sp>
      <p:sp>
        <p:nvSpPr>
          <p:cNvPr id="10" name="">
            <a:extLst xmlns:a="http://schemas.openxmlformats.org/drawingml/2006/main">
              <a:ext uri="{FF2B5EF4-FFF2-40B4-BE49-F238E27FC236}">
                <a16:creationId xmlns:a16="http://schemas.microsoft.com/office/drawing/2014/main" id="{A8A81661-2357-4616-87EE-6F55E0350276}"/>
              </a:ext>
            </a:extLst>
          </p:cNvPr>
          <p:cNvSpPr>
            <a:spLocks xmlns:a="http://schemas.openxmlformats.org/drawingml/2006/main" noGrp="1"/>
          </p:cNvSpPr>
          <p:nvPr/>
        </p:nvSpPr>
        <p:spPr>
          <a:xfrm xmlns:a="http://schemas.openxmlformats.org/drawingml/2006/main">
            <a:off x="619125" y="1809750"/>
            <a:ext cx="4953000" cy="3381375"/>
          </a:xfrm>
          <a:prstGeom xmlns:a="http://schemas.openxmlformats.org/drawingml/2006/main" prst="roundRect">
            <a:avLst>
              <a:gd name="adj" fmla="val 6197"/>
            </a:avLst>
          </a:prstGeom>
          <a:solidFill xmlns:a="http://schemas.openxmlformats.org/drawingml/2006/main">
            <a:srgbClr val="FFFDFC"/>
          </a:solidFill>
          <a:ln xmlns:a="http://schemas.openxmlformats.org/drawingml/2006/main" w="9525">
            <a:solidFill>
              <a:srgbClr val="B7433D"/>
            </a:solidFill>
            <a:prstDash val="solid"/>
          </a:ln>
        </p:spPr>
      </p:sp>
      <p:sp>
        <p:nvSpPr>
          <p:cNvPr id="11" name="">
            <a:extLst xmlns:a="http://schemas.openxmlformats.org/drawingml/2006/main">
              <a:ext uri="{FF2B5EF4-FFF2-40B4-BE49-F238E27FC236}">
                <a16:creationId xmlns:a16="http://schemas.microsoft.com/office/drawing/2014/main" id="{DA1F49FB-6BCE-4CCE-8A00-B075DDE97AEB}"/>
              </a:ext>
            </a:extLst>
          </p:cNvPr>
          <p:cNvSpPr>
            <a:spLocks xmlns:a="http://schemas.openxmlformats.org/drawingml/2006/main" noGrp="1"/>
          </p:cNvSpPr>
          <p:nvPr/>
        </p:nvSpPr>
        <p:spPr>
          <a:xfrm xmlns:a="http://schemas.openxmlformats.org/drawingml/2006/main">
            <a:off x="828675" y="2038350"/>
            <a:ext cx="2286000" cy="266700"/>
          </a:xfrm>
          <a:prstGeom xmlns:a="http://schemas.openxmlformats.org/drawingml/2006/main" prst="roundRect">
            <a:avLst>
              <a:gd name="adj" fmla="val 50000"/>
            </a:avLst>
          </a:prstGeom>
          <a:solidFill xmlns:a="http://schemas.openxmlformats.org/drawingml/2006/main">
            <a:srgbClr val="B7433D"/>
          </a:solidFill>
          <a:ln xmlns:a="http://schemas.openxmlformats.org/drawingml/2006/main" w="9525">
            <a:solidFill>
              <a:srgbClr val="B7433D"/>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STATIC SCORE</a:t>
            </a:r>
          </a:p>
        </p:txBody>
      </p:sp>
      <p:sp>
        <p:nvSpPr>
          <p:cNvPr id="12" name="">
            <a:extLst xmlns:a="http://schemas.openxmlformats.org/drawingml/2006/main">
              <a:ext uri="{FF2B5EF4-FFF2-40B4-BE49-F238E27FC236}">
                <a16:creationId xmlns:a16="http://schemas.microsoft.com/office/drawing/2014/main" id="{86EF69E1-4909-4A54-8D09-FF70A6ADEF80}"/>
              </a:ext>
            </a:extLst>
          </p:cNvPr>
          <p:cNvSpPr>
            <a:spLocks xmlns:a="http://schemas.openxmlformats.org/drawingml/2006/main" noGrp="1"/>
          </p:cNvSpPr>
          <p:nvPr/>
        </p:nvSpPr>
        <p:spPr>
          <a:xfrm xmlns:a="http://schemas.openxmlformats.org/drawingml/2006/main">
            <a:off x="885825" y="2686050"/>
            <a:ext cx="4286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 indent="-10" algn="l">
              <a:lnSpc>
                <a:spcPct val="110000"/>
              </a:lnSpc>
              <a:buNone/>
              <a:defRPr sz="1500" b="0">
                <a:solidFill>
                  <a:srgbClr val="183340"/>
                </a:solidFill>
                <a:latin typeface="Aptos"/>
                <a:ea typeface="Aptos"/>
                <a:cs typeface="Aptos"/>
              </a:defRPr>
            </a:pPr>
            <a:r>
              <a:rPr sz="1500" b="0">
                <a:solidFill>
                  <a:srgbClr val="183340"/>
                </a:solidFill>
                <a:latin typeface="Aptos"/>
                <a:ea typeface="Aptos"/>
                <a:cs typeface="Aptos"/>
              </a:rPr>
              <a:t>Interrupts late</a:t>
            </a:r>
          </a:p>
          <a:p xmlns:a="http://schemas.openxmlformats.org/drawingml/2006/main">
            <a:pPr marL="22" indent="-10" algn="l">
              <a:lnSpc>
                <a:spcPct val="110000"/>
              </a:lnSpc>
              <a:buNone/>
              <a:defRPr sz="1500" b="0">
                <a:solidFill>
                  <a:srgbClr val="183340"/>
                </a:solidFill>
                <a:latin typeface="Aptos"/>
                <a:ea typeface="Aptos"/>
                <a:cs typeface="Aptos"/>
              </a:defRPr>
            </a:pPr>
            <a:r>
              <a:rPr sz="1500" b="0">
                <a:solidFill>
                  <a:srgbClr val="183340"/>
                </a:solidFill>
                <a:latin typeface="Aptos"/>
                <a:ea typeface="Aptos"/>
                <a:cs typeface="Aptos"/>
              </a:rPr>
              <a:t>No trend or uncertainty</a:t>
            </a:r>
          </a:p>
          <a:p xmlns:a="http://schemas.openxmlformats.org/drawingml/2006/main">
            <a:pPr marL="22" indent="-10" algn="l">
              <a:lnSpc>
                <a:spcPct val="110000"/>
              </a:lnSpc>
              <a:buNone/>
              <a:defRPr sz="1500" b="0">
                <a:solidFill>
                  <a:srgbClr val="183340"/>
                </a:solidFill>
                <a:latin typeface="Aptos"/>
                <a:ea typeface="Aptos"/>
                <a:cs typeface="Aptos"/>
              </a:defRPr>
            </a:pPr>
            <a:r>
              <a:rPr sz="1500" b="0">
                <a:solidFill>
                  <a:srgbClr val="183340"/>
                </a:solidFill>
                <a:latin typeface="Aptos"/>
                <a:ea typeface="Aptos"/>
                <a:cs typeface="Aptos"/>
              </a:rPr>
              <a:t>Weak next-information guidance</a:t>
            </a:r>
          </a:p>
          <a:p xmlns:a="http://schemas.openxmlformats.org/drawingml/2006/main">
            <a:pPr marL="22" indent="-10" algn="l">
              <a:lnSpc>
                <a:spcPct val="110000"/>
              </a:lnSpc>
              <a:buNone/>
              <a:defRPr sz="1500" b="0">
                <a:solidFill>
                  <a:srgbClr val="183340"/>
                </a:solidFill>
                <a:latin typeface="Aptos"/>
                <a:ea typeface="Aptos"/>
                <a:cs typeface="Aptos"/>
              </a:defRPr>
            </a:pPr>
            <a:r>
              <a:rPr sz="1500" b="0">
                <a:solidFill>
                  <a:srgbClr val="183340"/>
                </a:solidFill>
                <a:latin typeface="Aptos"/>
                <a:ea typeface="Aptos"/>
                <a:cs typeface="Aptos"/>
              </a:rPr>
              <a:t>Override becomes reflex</a:t>
            </a:r>
          </a:p>
        </p:txBody>
      </p:sp>
      <p:sp>
        <p:nvSpPr>
          <p:cNvPr id="13" name="">
            <a:extLst xmlns:a="http://schemas.openxmlformats.org/drawingml/2006/main">
              <a:ext uri="{FF2B5EF4-FFF2-40B4-BE49-F238E27FC236}">
                <a16:creationId xmlns:a16="http://schemas.microsoft.com/office/drawing/2014/main" id="{646328B9-F3C4-4ACF-AD21-FDCFD72982EF}"/>
              </a:ext>
            </a:extLst>
          </p:cNvPr>
          <p:cNvSpPr>
            <a:spLocks xmlns:a="http://schemas.openxmlformats.org/drawingml/2006/main" noGrp="1"/>
          </p:cNvSpPr>
          <p:nvPr/>
        </p:nvSpPr>
        <p:spPr>
          <a:xfrm xmlns:a="http://schemas.openxmlformats.org/drawingml/2006/main">
            <a:off x="6191250" y="1809750"/>
            <a:ext cx="4953000" cy="3381375"/>
          </a:xfrm>
          <a:prstGeom xmlns:a="http://schemas.openxmlformats.org/drawingml/2006/main" prst="roundRect">
            <a:avLst>
              <a:gd name="adj" fmla="val 6197"/>
            </a:avLst>
          </a:prstGeom>
          <a:solidFill xmlns:a="http://schemas.openxmlformats.org/drawingml/2006/main">
            <a:srgbClr val="FFFDFC"/>
          </a:solidFill>
          <a:ln xmlns:a="http://schemas.openxmlformats.org/drawingml/2006/main" w="9525">
            <a:solidFill>
              <a:srgbClr val="087E78"/>
            </a:solidFill>
            <a:prstDash val="solid"/>
          </a:ln>
        </p:spPr>
      </p:sp>
      <p:sp>
        <p:nvSpPr>
          <p:cNvPr id="14" name="">
            <a:extLst xmlns:a="http://schemas.openxmlformats.org/drawingml/2006/main">
              <a:ext uri="{FF2B5EF4-FFF2-40B4-BE49-F238E27FC236}">
                <a16:creationId xmlns:a16="http://schemas.microsoft.com/office/drawing/2014/main" id="{9CBF6949-8D2F-48F2-BBA8-4A5C72970600}"/>
              </a:ext>
            </a:extLst>
          </p:cNvPr>
          <p:cNvSpPr>
            <a:spLocks xmlns:a="http://schemas.openxmlformats.org/drawingml/2006/main" noGrp="1"/>
          </p:cNvSpPr>
          <p:nvPr/>
        </p:nvSpPr>
        <p:spPr>
          <a:xfrm xmlns:a="http://schemas.openxmlformats.org/drawingml/2006/main">
            <a:off x="6400800" y="2038350"/>
            <a:ext cx="22860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COLLABORATIVE SUPPORT</a:t>
            </a:r>
          </a:p>
        </p:txBody>
      </p:sp>
      <p:sp>
        <p:nvSpPr>
          <p:cNvPr id="15" name="">
            <a:extLst xmlns:a="http://schemas.openxmlformats.org/drawingml/2006/main">
              <a:ext uri="{FF2B5EF4-FFF2-40B4-BE49-F238E27FC236}">
                <a16:creationId xmlns:a16="http://schemas.microsoft.com/office/drawing/2014/main" id="{C5DAB543-0C45-421F-9435-E9EEC1B88681}"/>
              </a:ext>
            </a:extLst>
          </p:cNvPr>
          <p:cNvSpPr>
            <a:spLocks xmlns:a="http://schemas.openxmlformats.org/drawingml/2006/main" noGrp="1"/>
          </p:cNvSpPr>
          <p:nvPr/>
        </p:nvSpPr>
        <p:spPr>
          <a:xfrm xmlns:a="http://schemas.openxmlformats.org/drawingml/2006/main">
            <a:off x="6457950" y="2686050"/>
            <a:ext cx="4286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 indent="-10" algn="l">
              <a:lnSpc>
                <a:spcPct val="110000"/>
              </a:lnSpc>
              <a:buNone/>
              <a:defRPr sz="1500" b="0">
                <a:solidFill>
                  <a:srgbClr val="183340"/>
                </a:solidFill>
                <a:latin typeface="Aptos"/>
                <a:ea typeface="Aptos"/>
                <a:cs typeface="Aptos"/>
              </a:defRPr>
            </a:pPr>
            <a:r>
              <a:rPr sz="1500" b="0">
                <a:solidFill>
                  <a:srgbClr val="183340"/>
                </a:solidFill>
                <a:latin typeface="Aptos"/>
                <a:ea typeface="Aptos"/>
                <a:cs typeface="Aptos"/>
              </a:rPr>
              <a:t>Shows what changed</a:t>
            </a:r>
          </a:p>
          <a:p xmlns:a="http://schemas.openxmlformats.org/drawingml/2006/main">
            <a:pPr marL="22" indent="-10" algn="l">
              <a:lnSpc>
                <a:spcPct val="110000"/>
              </a:lnSpc>
              <a:buNone/>
              <a:defRPr sz="1500" b="0">
                <a:solidFill>
                  <a:srgbClr val="183340"/>
                </a:solidFill>
                <a:latin typeface="Aptos"/>
                <a:ea typeface="Aptos"/>
                <a:cs typeface="Aptos"/>
              </a:defRPr>
            </a:pPr>
            <a:r>
              <a:rPr sz="1500" b="0">
                <a:solidFill>
                  <a:srgbClr val="183340"/>
                </a:solidFill>
                <a:latin typeface="Aptos"/>
                <a:ea typeface="Aptos"/>
                <a:cs typeface="Aptos"/>
              </a:rPr>
              <a:t>Surfaces uncertainty</a:t>
            </a:r>
          </a:p>
          <a:p xmlns:a="http://schemas.openxmlformats.org/drawingml/2006/main">
            <a:pPr marL="22" indent="-10" algn="l">
              <a:lnSpc>
                <a:spcPct val="110000"/>
              </a:lnSpc>
              <a:buNone/>
              <a:defRPr sz="1500" b="0">
                <a:solidFill>
                  <a:srgbClr val="183340"/>
                </a:solidFill>
                <a:latin typeface="Aptos"/>
                <a:ea typeface="Aptos"/>
                <a:cs typeface="Aptos"/>
              </a:defRPr>
            </a:pPr>
            <a:r>
              <a:rPr sz="1500" b="0">
                <a:solidFill>
                  <a:srgbClr val="183340"/>
                </a:solidFill>
                <a:latin typeface="Aptos"/>
                <a:ea typeface="Aptos"/>
                <a:cs typeface="Aptos"/>
              </a:rPr>
              <a:t>Suggests information to reduce it</a:t>
            </a:r>
          </a:p>
          <a:p xmlns:a="http://schemas.openxmlformats.org/drawingml/2006/main">
            <a:pPr marL="22" indent="-10" algn="l">
              <a:lnSpc>
                <a:spcPct val="110000"/>
              </a:lnSpc>
              <a:buNone/>
              <a:defRPr sz="1500" b="0">
                <a:solidFill>
                  <a:srgbClr val="183340"/>
                </a:solidFill>
                <a:latin typeface="Aptos"/>
                <a:ea typeface="Aptos"/>
                <a:cs typeface="Aptos"/>
              </a:defRPr>
            </a:pPr>
            <a:r>
              <a:rPr sz="1500" b="0">
                <a:solidFill>
                  <a:srgbClr val="183340"/>
                </a:solidFill>
                <a:latin typeface="Aptos"/>
                <a:ea typeface="Aptos"/>
                <a:cs typeface="Aptos"/>
              </a:rPr>
              <a:t>Records review and override</a:t>
            </a:r>
          </a:p>
        </p:txBody>
      </p:sp>
      <p:sp>
        <p:nvSpPr>
          <p:cNvPr id="16" name="">
            <a:extLst xmlns:a="http://schemas.openxmlformats.org/drawingml/2006/main">
              <a:ext uri="{FF2B5EF4-FFF2-40B4-BE49-F238E27FC236}">
                <a16:creationId xmlns:a16="http://schemas.microsoft.com/office/drawing/2014/main" id="{0A9C815C-40FC-4329-9B56-EC4AB5113E4F}"/>
              </a:ext>
            </a:extLst>
          </p:cNvPr>
          <p:cNvSpPr>
            <a:spLocks xmlns:a="http://schemas.openxmlformats.org/drawingml/2006/main" noGrp="1"/>
          </p:cNvSpPr>
          <p:nvPr/>
        </p:nvSpPr>
        <p:spPr>
          <a:xfrm xmlns:a="http://schemas.openxmlformats.org/drawingml/2006/main">
            <a:off x="1571625" y="5467350"/>
            <a:ext cx="9048750" cy="428625"/>
          </a:xfrm>
          <a:prstGeom xmlns:a="http://schemas.openxmlformats.org/drawingml/2006/main" prst="roundRect">
            <a:avLst>
              <a:gd name="adj" fmla="val 31111"/>
            </a:avLst>
          </a:prstGeom>
          <a:solidFill xmlns:a="http://schemas.openxmlformats.org/drawingml/2006/main">
            <a:srgbClr val="082638"/>
          </a:solidFill>
          <a:ln xmlns:a="http://schemas.openxmlformats.org/drawingml/2006/main" w="9525">
            <a:solidFill>
              <a:srgbClr val="082638"/>
            </a:solidFill>
            <a:prstDash val="solid"/>
          </a:ln>
        </p:spPr>
      </p:sp>
      <p:sp>
        <p:nvSpPr>
          <p:cNvPr id="17" name="">
            <a:extLst xmlns:a="http://schemas.openxmlformats.org/drawingml/2006/main">
              <a:ext uri="{FF2B5EF4-FFF2-40B4-BE49-F238E27FC236}">
                <a16:creationId xmlns:a16="http://schemas.microsoft.com/office/drawing/2014/main" id="{DA281949-A06E-459E-9B49-48C21F9F0114}"/>
              </a:ext>
            </a:extLst>
          </p:cNvPr>
          <p:cNvSpPr>
            <a:spLocks xmlns:a="http://schemas.openxmlformats.org/drawingml/2006/main" noGrp="1"/>
          </p:cNvSpPr>
          <p:nvPr/>
        </p:nvSpPr>
        <p:spPr>
          <a:xfrm xmlns:a="http://schemas.openxmlformats.org/drawingml/2006/main">
            <a:off x="1809750" y="5572125"/>
            <a:ext cx="8572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39"/>
          </a:bodyPr>
          <a:lstStyle xmlns:a="http://schemas.openxmlformats.org/drawingml/2006/main"/>
          <a:p xmlns:a="http://schemas.openxmlformats.org/drawingml/2006/main">
            <a:pPr algn="ctr">
              <a:lnSpc>
                <a:spcPct val="103000"/>
              </a:lnSpc>
              <a:buNone/>
              <a:defRPr sz="1425" b="1">
                <a:solidFill>
                  <a:srgbClr val="FFFFFF"/>
                </a:solidFill>
                <a:latin typeface="Aptos"/>
                <a:ea typeface="Aptos"/>
                <a:cs typeface="Aptos"/>
              </a:defRPr>
            </a:pPr>
            <a:r>
              <a:rPr sz="1425" b="1">
                <a:solidFill>
                  <a:srgbClr val="FFFFFF"/>
                </a:solidFill>
                <a:latin typeface="Aptos"/>
                <a:ea typeface="Aptos"/>
                <a:cs typeface="Aptos"/>
              </a:rPr>
              <a:t>Design for the decision before it happens—not an explanation after it.</a:t>
            </a:r>
          </a:p>
        </p:txBody>
      </p:sp>
    </p:spTree>
    <p:extLst>
      <p:ext uri="{BB962C8B-B14F-4D97-AF65-F5344CB8AC3E}">
        <p14:creationId xmlns:p14="http://schemas.microsoft.com/office/powerpoint/2010/main" val="1838925816"/>
      </p:ext>
    </p:extLst>
  </p:cSld>
</p:sld>
</file>

<file path=ppt/slides/slide10.xml><?xml version="1.0" encoding="utf-8"?>
<p:sld xmlns:p="http://schemas.openxmlformats.org/presentationml/2006/main">
  <p:cSld>
    <p:bg>
      <p:bgPr>
        <a:solidFill xmlns:a="http://schemas.openxmlformats.org/drawingml/2006/main">
          <a:srgbClr val="2F6F9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40C9A2-486E-4BF2-92C7-B2782CF656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F6F9F"/>
          </a:solidFill>
          <a:ln xmlns:a="http://schemas.openxmlformats.org/drawingml/2006/main" w="0">
            <a:solidFill>
              <a:srgbClr val="2F6F9F"/>
            </a:solidFill>
            <a:prstDash val="solid"/>
          </a:ln>
        </p:spPr>
      </p:sp>
      <p:sp>
        <p:nvSpPr>
          <p:cNvPr id="2" name="">
            <a:extLst xmlns:a="http://schemas.openxmlformats.org/drawingml/2006/main">
              <a:ext uri="{FF2B5EF4-FFF2-40B4-BE49-F238E27FC236}">
                <a16:creationId xmlns:a16="http://schemas.microsoft.com/office/drawing/2014/main" id="{10A4A0C6-1664-4057-95B8-2E5D4BE3E0B7}"/>
              </a:ext>
            </a:extLst>
          </p:cNvPr>
          <p:cNvSpPr>
            <a:spLocks xmlns:a="http://schemas.openxmlformats.org/drawingml/2006/main" noGrp="1"/>
          </p:cNvSpPr>
          <p:nvPr/>
        </p:nvSpPr>
        <p:spPr>
          <a:xfrm xmlns:a="http://schemas.openxmlformats.org/drawingml/2006/main">
            <a:off x="666750" y="590550"/>
            <a:ext cx="18097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2F6F9F"/>
                </a:solidFill>
                <a:latin typeface="Aptos"/>
                <a:ea typeface="Aptos"/>
                <a:cs typeface="Aptos"/>
              </a:defRPr>
            </a:pPr>
            <a:r>
              <a:rPr sz="863" b="1">
                <a:solidFill>
                  <a:srgbClr val="2F6F9F"/>
                </a:solidFill>
                <a:latin typeface="Aptos"/>
                <a:ea typeface="Aptos"/>
                <a:cs typeface="Aptos"/>
              </a:rPr>
              <a:t>CASE BLOCK</a:t>
            </a:r>
          </a:p>
        </p:txBody>
      </p:sp>
      <p:sp>
        <p:nvSpPr>
          <p:cNvPr id="3" name="">
            <a:extLst xmlns:a="http://schemas.openxmlformats.org/drawingml/2006/main">
              <a:ext uri="{FF2B5EF4-FFF2-40B4-BE49-F238E27FC236}">
                <a16:creationId xmlns:a16="http://schemas.microsoft.com/office/drawing/2014/main" id="{31C9C978-BE7C-460A-BE0E-1A8534778C8F}"/>
              </a:ext>
            </a:extLst>
          </p:cNvPr>
          <p:cNvSpPr>
            <a:spLocks xmlns:a="http://schemas.openxmlformats.org/drawingml/2006/main" noGrp="1"/>
          </p:cNvSpPr>
          <p:nvPr/>
        </p:nvSpPr>
        <p:spPr>
          <a:xfrm xmlns:a="http://schemas.openxmlformats.org/drawingml/2006/main">
            <a:off x="666750" y="1476375"/>
            <a:ext cx="10572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4050" b="1">
                <a:solidFill>
                  <a:srgbClr val="FFFFFF"/>
                </a:solidFill>
                <a:latin typeface="Aptos"/>
                <a:ea typeface="Aptos"/>
                <a:cs typeface="Aptos"/>
              </a:defRPr>
            </a:pPr>
            <a:r>
              <a:rPr sz="4050" b="1">
                <a:solidFill>
                  <a:srgbClr val="FFFFFF"/>
                </a:solidFill>
                <a:latin typeface="Aptos"/>
                <a:ea typeface="Aptos"/>
                <a:cs typeface="Aptos"/>
              </a:rPr>
              <a:t>Trust and adoption</a:t>
            </a:r>
          </a:p>
        </p:txBody>
      </p:sp>
      <p:sp>
        <p:nvSpPr>
          <p:cNvPr id="4" name="">
            <a:extLst xmlns:a="http://schemas.openxmlformats.org/drawingml/2006/main">
              <a:ext uri="{FF2B5EF4-FFF2-40B4-BE49-F238E27FC236}">
                <a16:creationId xmlns:a16="http://schemas.microsoft.com/office/drawing/2014/main" id="{E5A8F72A-4067-4541-9F66-DF61CA615D9B}"/>
              </a:ext>
            </a:extLst>
          </p:cNvPr>
          <p:cNvSpPr>
            <a:spLocks xmlns:a="http://schemas.openxmlformats.org/drawingml/2006/main" noGrp="1"/>
          </p:cNvSpPr>
          <p:nvPr/>
        </p:nvSpPr>
        <p:spPr>
          <a:xfrm xmlns:a="http://schemas.openxmlformats.org/drawingml/2006/main">
            <a:off x="704850" y="321945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0">
                <a:solidFill>
                  <a:srgbClr val="FFFFFF"/>
                </a:solidFill>
                <a:latin typeface="Aptos"/>
                <a:ea typeface="Aptos"/>
                <a:cs typeface="Aptos"/>
              </a:defRPr>
            </a:pPr>
            <a:r>
              <a:rPr sz="1950" b="0">
                <a:solidFill>
                  <a:srgbClr val="FFFFFF"/>
                </a:solidFill>
                <a:latin typeface="Aptos"/>
                <a:ea typeface="Aptos"/>
                <a:cs typeface="Aptos"/>
              </a:rPr>
              <a:t>A model enters a social system: consent, accountability, review workload and patient experience determine use.</a:t>
            </a:r>
          </a:p>
        </p:txBody>
      </p:sp>
      <p:sp>
        <p:nvSpPr>
          <p:cNvPr id="5" name="">
            <a:extLst xmlns:a="http://schemas.openxmlformats.org/drawingml/2006/main">
              <a:ext uri="{FF2B5EF4-FFF2-40B4-BE49-F238E27FC236}">
                <a16:creationId xmlns:a16="http://schemas.microsoft.com/office/drawing/2014/main" id="{E1486D84-0CA5-4029-9CFC-92136CA324E4}"/>
              </a:ext>
            </a:extLst>
          </p:cNvPr>
          <p:cNvSpPr>
            <a:spLocks xmlns:a="http://schemas.openxmlformats.org/drawingml/2006/main" noGrp="1"/>
          </p:cNvSpPr>
          <p:nvPr/>
        </p:nvSpPr>
        <p:spPr>
          <a:xfrm xmlns:a="http://schemas.openxmlformats.org/drawingml/2006/main">
            <a:off x="704850" y="4495800"/>
            <a:ext cx="66675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7E11D59C-2914-470E-B08C-A38A6109840D}"/>
              </a:ext>
            </a:extLst>
          </p:cNvPr>
          <p:cNvSpPr>
            <a:spLocks xmlns:a="http://schemas.openxmlformats.org/drawingml/2006/main" noGrp="1"/>
          </p:cNvSpPr>
          <p:nvPr/>
        </p:nvSpPr>
        <p:spPr>
          <a:xfrm xmlns:a="http://schemas.openxmlformats.org/drawingml/2006/main">
            <a:off x="704850" y="4762500"/>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FFFFFF"/>
                </a:solidFill>
                <a:latin typeface="Aptos"/>
                <a:ea typeface="Aptos"/>
                <a:cs typeface="Aptos"/>
              </a:defRPr>
            </a:pPr>
            <a:r>
              <a:rPr sz="1500" b="1">
                <a:solidFill>
                  <a:srgbClr val="FFFFFF"/>
                </a:solidFill>
                <a:latin typeface="Aptos"/>
                <a:ea typeface="Aptos"/>
                <a:cs typeface="Aptos"/>
              </a:rPr>
              <a:t>AI assists  •  Professionals decide  •  Patients remain the purpose</a:t>
            </a:r>
          </a:p>
        </p:txBody>
      </p:sp>
      <p:sp>
        <p:nvSpPr>
          <p:cNvPr id="7" name="">
            <a:extLst xmlns:a="http://schemas.openxmlformats.org/drawingml/2006/main">
              <a:ext uri="{FF2B5EF4-FFF2-40B4-BE49-F238E27FC236}">
                <a16:creationId xmlns:a16="http://schemas.microsoft.com/office/drawing/2014/main" id="{3DAA10B0-E1B6-4D83-954F-8C17A9EEBA7F}"/>
              </a:ext>
            </a:extLst>
          </p:cNvPr>
          <p:cNvSpPr>
            <a:spLocks xmlns:a="http://schemas.openxmlformats.org/drawingml/2006/main" noGrp="1"/>
          </p:cNvSpPr>
          <p:nvPr/>
        </p:nvSpPr>
        <p:spPr>
          <a:xfrm xmlns:a="http://schemas.openxmlformats.org/drawingml/2006/main">
            <a:off x="11049000" y="62103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75" b="1">
                <a:solidFill>
                  <a:srgbClr val="FFFFFF"/>
                </a:solidFill>
                <a:latin typeface="Aptos"/>
                <a:ea typeface="Aptos"/>
                <a:cs typeface="Aptos"/>
              </a:defRPr>
            </a:pPr>
            <a:r>
              <a:rPr sz="975" b="1">
                <a:solidFill>
                  <a:srgbClr val="FFFFFF"/>
                </a:solidFill>
                <a:latin typeface="Aptos"/>
                <a:ea typeface="Aptos"/>
                <a:cs typeface="Aptos"/>
              </a:rPr>
              <a:t>10</a:t>
            </a:r>
          </a:p>
        </p:txBody>
      </p:sp>
    </p:spTree>
    <p:extLst>
      <p:ext uri="{BB962C8B-B14F-4D97-AF65-F5344CB8AC3E}">
        <p14:creationId xmlns:p14="http://schemas.microsoft.com/office/powerpoint/2010/main" val="1609425892"/>
      </p:ext>
    </p:extLst>
  </p:cSld>
</p:sld>
</file>

<file path=ppt/slides/slide1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841A9D-40F0-47BC-B3CD-8489C6D92D7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F6F9F"/>
          </a:solidFill>
          <a:ln xmlns:a="http://schemas.openxmlformats.org/drawingml/2006/main" w="0">
            <a:solidFill>
              <a:srgbClr val="2F6F9F"/>
            </a:solidFill>
            <a:prstDash val="solid"/>
          </a:ln>
        </p:spPr>
      </p:sp>
      <p:sp>
        <p:nvSpPr>
          <p:cNvPr id="2" name="">
            <a:extLst xmlns:a="http://schemas.openxmlformats.org/drawingml/2006/main">
              <a:ext uri="{FF2B5EF4-FFF2-40B4-BE49-F238E27FC236}">
                <a16:creationId xmlns:a16="http://schemas.microsoft.com/office/drawing/2014/main" id="{09DC2D56-21F8-4ECE-B024-A79343F4D755}"/>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2</a:t>
            </a:r>
          </a:p>
        </p:txBody>
      </p:sp>
      <p:sp>
        <p:nvSpPr>
          <p:cNvPr id="3" name="">
            <a:extLst xmlns:a="http://schemas.openxmlformats.org/drawingml/2006/main">
              <a:ext uri="{FF2B5EF4-FFF2-40B4-BE49-F238E27FC236}">
                <a16:creationId xmlns:a16="http://schemas.microsoft.com/office/drawing/2014/main" id="{6B9CB4D4-2CAA-424D-8967-2D29AEA274E3}"/>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Qatar perceptions: What family physicians expect and fear</a:t>
            </a:r>
          </a:p>
        </p:txBody>
      </p:sp>
      <p:sp>
        <p:nvSpPr>
          <p:cNvPr id="4" name="">
            <a:extLst xmlns:a="http://schemas.openxmlformats.org/drawingml/2006/main">
              <a:ext uri="{FF2B5EF4-FFF2-40B4-BE49-F238E27FC236}">
                <a16:creationId xmlns:a16="http://schemas.microsoft.com/office/drawing/2014/main" id="{222F5CAD-AB1E-447F-8AF0-88BE9479ED49}"/>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33FABEE0-60E6-47CC-8A88-37FFD8FBA10F}"/>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CF750060-315B-47A7-891F-06E7B0EA0A1E}"/>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17DD3F2F-2111-4598-BA63-C12B0F7BF8CA}"/>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Source: https://ai.jmir.org/2024/1/e40781</a:t>
            </a:r>
          </a:p>
        </p:txBody>
      </p:sp>
      <p:sp>
        <p:nvSpPr>
          <p:cNvPr id="8" name="">
            <a:extLst xmlns:a="http://schemas.openxmlformats.org/drawingml/2006/main">
              <a:ext uri="{FF2B5EF4-FFF2-40B4-BE49-F238E27FC236}">
                <a16:creationId xmlns:a16="http://schemas.microsoft.com/office/drawing/2014/main" id="{A1DB0B7E-BCCC-4099-9AF2-BA369B72E602}"/>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10C3ECC7-D154-4904-B591-9B950C6994A1}"/>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11</a:t>
            </a:r>
          </a:p>
        </p:txBody>
      </p:sp>
      <p:sp>
        <p:nvSpPr>
          <p:cNvPr id="10" name="">
            <a:extLst xmlns:a="http://schemas.openxmlformats.org/drawingml/2006/main">
              <a:ext uri="{FF2B5EF4-FFF2-40B4-BE49-F238E27FC236}">
                <a16:creationId xmlns:a16="http://schemas.microsoft.com/office/drawing/2014/main" id="{C4094C9E-9830-4952-8B92-665CBB4619F2}"/>
              </a:ext>
            </a:extLst>
          </p:cNvPr>
          <p:cNvSpPr>
            <a:spLocks xmlns:a="http://schemas.openxmlformats.org/drawingml/2006/main" noGrp="1"/>
          </p:cNvSpPr>
          <p:nvPr/>
        </p:nvSpPr>
        <p:spPr>
          <a:xfrm xmlns:a="http://schemas.openxmlformats.org/drawingml/2006/main">
            <a:off x="609600" y="1714500"/>
            <a:ext cx="4953000" cy="4095750"/>
          </a:xfrm>
          <a:prstGeom xmlns:a="http://schemas.openxmlformats.org/drawingml/2006/main" prst="roundRect">
            <a:avLst>
              <a:gd name="adj" fmla="val 4651"/>
            </a:avLst>
          </a:prstGeom>
          <a:solidFill xmlns:a="http://schemas.openxmlformats.org/drawingml/2006/main">
            <a:srgbClr val="FFFDFC"/>
          </a:solidFill>
          <a:ln xmlns:a="http://schemas.openxmlformats.org/drawingml/2006/main" w="9525">
            <a:solidFill>
              <a:srgbClr val="2F6F9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6963EC8-8258-40CE-A46D-35F1EF9D9CB4}"/>
              </a:ext>
            </a:extLst>
          </p:cNvPr>
          <p:cNvSpPr>
            <a:spLocks xmlns:a="http://schemas.openxmlformats.org/drawingml/2006/main" noGrp="1"/>
          </p:cNvSpPr>
          <p:nvPr/>
        </p:nvSpPr>
        <p:spPr>
          <a:xfrm xmlns:a="http://schemas.openxmlformats.org/drawingml/2006/main">
            <a:off x="838200" y="1924050"/>
            <a:ext cx="40957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2024 CROSS-SECTIONAL PERCEPTION SURVEY</a:t>
            </a:r>
          </a:p>
        </p:txBody>
      </p:sp>
      <p:sp>
        <p:nvSpPr>
          <p:cNvPr id="12" name="">
            <a:extLst xmlns:a="http://schemas.openxmlformats.org/drawingml/2006/main">
              <a:ext uri="{FF2B5EF4-FFF2-40B4-BE49-F238E27FC236}">
                <a16:creationId xmlns:a16="http://schemas.microsoft.com/office/drawing/2014/main" id="{72D94429-DE06-450D-B4E2-8346BF12693F}"/>
              </a:ext>
            </a:extLst>
          </p:cNvPr>
          <p:cNvSpPr>
            <a:spLocks xmlns:a="http://schemas.openxmlformats.org/drawingml/2006/main" noGrp="1"/>
          </p:cNvSpPr>
          <p:nvPr/>
        </p:nvSpPr>
        <p:spPr>
          <a:xfrm xmlns:a="http://schemas.openxmlformats.org/drawingml/2006/main">
            <a:off x="838200" y="23622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Qatar Primary Health Care Corporation; 102 eligible family-physician responses</a:t>
            </a:r>
          </a:p>
        </p:txBody>
      </p:sp>
      <p:sp>
        <p:nvSpPr>
          <p:cNvPr id="13" name="">
            <a:extLst xmlns:a="http://schemas.openxmlformats.org/drawingml/2006/main">
              <a:ext uri="{FF2B5EF4-FFF2-40B4-BE49-F238E27FC236}">
                <a16:creationId xmlns:a16="http://schemas.microsoft.com/office/drawing/2014/main" id="{EB1BFC93-210C-428F-8FB5-B3F7BB238D42}"/>
              </a:ext>
            </a:extLst>
          </p:cNvPr>
          <p:cNvSpPr>
            <a:spLocks xmlns:a="http://schemas.openxmlformats.org/drawingml/2006/main" noGrp="1"/>
          </p:cNvSpPr>
          <p:nvPr/>
        </p:nvSpPr>
        <p:spPr>
          <a:xfrm xmlns:a="http://schemas.openxmlformats.org/drawingml/2006/main">
            <a:off x="838200" y="30099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2F6F9F"/>
                </a:solidFill>
                <a:latin typeface="Aptos"/>
                <a:ea typeface="Aptos"/>
                <a:cs typeface="Aptos"/>
              </a:defRPr>
            </a:pPr>
            <a:r>
              <a:rPr sz="1050" b="1">
                <a:solidFill>
                  <a:srgbClr val="2F6F9F"/>
                </a:solidFill>
                <a:latin typeface="Aptos"/>
                <a:ea typeface="Aptos"/>
                <a:cs typeface="Aptos"/>
              </a:rPr>
              <a:t>AI + workflow</a:t>
            </a:r>
          </a:p>
        </p:txBody>
      </p:sp>
      <p:sp>
        <p:nvSpPr>
          <p:cNvPr id="14" name="">
            <a:extLst xmlns:a="http://schemas.openxmlformats.org/drawingml/2006/main">
              <a:ext uri="{FF2B5EF4-FFF2-40B4-BE49-F238E27FC236}">
                <a16:creationId xmlns:a16="http://schemas.microsoft.com/office/drawing/2014/main" id="{CD01035B-16A0-4AAC-AFA5-49A1B332FC99}"/>
              </a:ext>
            </a:extLst>
          </p:cNvPr>
          <p:cNvSpPr>
            <a:spLocks xmlns:a="http://schemas.openxmlformats.org/drawingml/2006/main" noGrp="1"/>
          </p:cNvSpPr>
          <p:nvPr/>
        </p:nvSpPr>
        <p:spPr>
          <a:xfrm xmlns:a="http://schemas.openxmlformats.org/drawingml/2006/main">
            <a:off x="838200" y="3295650"/>
            <a:ext cx="4286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0">
                <a:solidFill>
                  <a:srgbClr val="183340"/>
                </a:solidFill>
                <a:latin typeface="Aptos"/>
                <a:ea typeface="Aptos"/>
                <a:cs typeface="Aptos"/>
              </a:defRPr>
            </a:pPr>
            <a:r>
              <a:rPr sz="1275" b="0">
                <a:solidFill>
                  <a:srgbClr val="183340"/>
                </a:solidFill>
                <a:latin typeface="Aptos"/>
                <a:ea typeface="Aptos"/>
                <a:cs typeface="Aptos"/>
              </a:rPr>
              <a:t>Survey of perceived clinical, administrative and public-health applications</a:t>
            </a:r>
          </a:p>
        </p:txBody>
      </p:sp>
      <p:sp>
        <p:nvSpPr>
          <p:cNvPr id="15" name="">
            <a:extLst xmlns:a="http://schemas.openxmlformats.org/drawingml/2006/main">
              <a:ext uri="{FF2B5EF4-FFF2-40B4-BE49-F238E27FC236}">
                <a16:creationId xmlns:a16="http://schemas.microsoft.com/office/drawing/2014/main" id="{8A503DFE-D012-483F-87B4-55CD170372D2}"/>
              </a:ext>
            </a:extLst>
          </p:cNvPr>
          <p:cNvSpPr>
            <a:spLocks xmlns:a="http://schemas.openxmlformats.org/drawingml/2006/main" noGrp="1"/>
          </p:cNvSpPr>
          <p:nvPr/>
        </p:nvSpPr>
        <p:spPr>
          <a:xfrm xmlns:a="http://schemas.openxmlformats.org/drawingml/2006/main">
            <a:off x="838200" y="42957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2F6F9F"/>
                </a:solidFill>
                <a:latin typeface="Aptos"/>
                <a:ea typeface="Aptos"/>
                <a:cs typeface="Aptos"/>
              </a:defRPr>
            </a:pPr>
            <a:r>
              <a:rPr sz="1050" b="1">
                <a:solidFill>
                  <a:srgbClr val="2F6F9F"/>
                </a:solidFill>
                <a:latin typeface="Aptos"/>
                <a:ea typeface="Aptos"/>
                <a:cs typeface="Aptos"/>
              </a:rPr>
              <a:t>Reported result</a:t>
            </a:r>
          </a:p>
        </p:txBody>
      </p:sp>
      <p:sp>
        <p:nvSpPr>
          <p:cNvPr id="16" name="">
            <a:extLst xmlns:a="http://schemas.openxmlformats.org/drawingml/2006/main">
              <a:ext uri="{FF2B5EF4-FFF2-40B4-BE49-F238E27FC236}">
                <a16:creationId xmlns:a16="http://schemas.microsoft.com/office/drawing/2014/main" id="{091170AC-62A2-4249-8AD4-1A05482DAC29}"/>
              </a:ext>
            </a:extLst>
          </p:cNvPr>
          <p:cNvSpPr>
            <a:spLocks xmlns:a="http://schemas.openxmlformats.org/drawingml/2006/main" noGrp="1"/>
          </p:cNvSpPr>
          <p:nvPr/>
        </p:nvSpPr>
        <p:spPr>
          <a:xfrm xmlns:a="http://schemas.openxmlformats.org/drawingml/2006/main">
            <a:off x="838200" y="4581525"/>
            <a:ext cx="4286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78.4% reported AI awareness; respondents perceived value in task management but raised confidentiality, accountability and patient-satisfaction concerns.</a:t>
            </a:r>
          </a:p>
        </p:txBody>
      </p:sp>
      <p:sp>
        <p:nvSpPr>
          <p:cNvPr id="17" name="">
            <a:extLst xmlns:a="http://schemas.openxmlformats.org/drawingml/2006/main">
              <a:ext uri="{FF2B5EF4-FFF2-40B4-BE49-F238E27FC236}">
                <a16:creationId xmlns:a16="http://schemas.microsoft.com/office/drawing/2014/main" id="{E797B723-73A1-4503-8689-57ED8E21CC6B}"/>
              </a:ext>
            </a:extLst>
          </p:cNvPr>
          <p:cNvSpPr>
            <a:spLocks xmlns:a="http://schemas.openxmlformats.org/drawingml/2006/main" noGrp="1"/>
          </p:cNvSpPr>
          <p:nvPr/>
        </p:nvSpPr>
        <p:spPr>
          <a:xfrm xmlns:a="http://schemas.openxmlformats.org/drawingml/2006/main">
            <a:off x="5905500" y="1714500"/>
            <a:ext cx="5391150" cy="1752600"/>
          </a:xfrm>
          <a:prstGeom xmlns:a="http://schemas.openxmlformats.org/drawingml/2006/main" prst="roundRect">
            <a:avLst>
              <a:gd name="adj" fmla="val 10870"/>
            </a:avLst>
          </a:prstGeom>
          <a:solidFill xmlns:a="http://schemas.openxmlformats.org/drawingml/2006/main">
            <a:srgbClr val="FBE7DF"/>
          </a:solidFill>
          <a:ln xmlns:a="http://schemas.openxmlformats.org/drawingml/2006/main" w="9525">
            <a:solidFill>
              <a:srgbClr val="E8694A"/>
            </a:solidFill>
            <a:prstDash val="solid"/>
          </a:ln>
        </p:spPr>
      </p:sp>
      <p:sp>
        <p:nvSpPr>
          <p:cNvPr id="18" name="">
            <a:extLst xmlns:a="http://schemas.openxmlformats.org/drawingml/2006/main">
              <a:ext uri="{FF2B5EF4-FFF2-40B4-BE49-F238E27FC236}">
                <a16:creationId xmlns:a16="http://schemas.microsoft.com/office/drawing/2014/main" id="{F743AA41-EC90-4405-ACF7-1FF4542B1C66}"/>
              </a:ext>
            </a:extLst>
          </p:cNvPr>
          <p:cNvSpPr>
            <a:spLocks xmlns:a="http://schemas.openxmlformats.org/drawingml/2006/main" noGrp="1"/>
          </p:cNvSpPr>
          <p:nvPr/>
        </p:nvSpPr>
        <p:spPr>
          <a:xfrm xmlns:a="http://schemas.openxmlformats.org/drawingml/2006/main">
            <a:off x="6153150" y="19240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B7433D"/>
                </a:solidFill>
                <a:latin typeface="Aptos"/>
                <a:ea typeface="Aptos"/>
                <a:cs typeface="Aptos"/>
              </a:defRPr>
            </a:pPr>
            <a:r>
              <a:rPr sz="1050" b="1">
                <a:solidFill>
                  <a:srgbClr val="B7433D"/>
                </a:solidFill>
                <a:latin typeface="Aptos"/>
                <a:ea typeface="Aptos"/>
                <a:cs typeface="Aptos"/>
              </a:rPr>
              <a:t>EVIDENCE LIMIT</a:t>
            </a:r>
          </a:p>
        </p:txBody>
      </p:sp>
      <p:sp>
        <p:nvSpPr>
          <p:cNvPr id="19" name="">
            <a:extLst xmlns:a="http://schemas.openxmlformats.org/drawingml/2006/main">
              <a:ext uri="{FF2B5EF4-FFF2-40B4-BE49-F238E27FC236}">
                <a16:creationId xmlns:a16="http://schemas.microsoft.com/office/drawing/2014/main" id="{92780C1A-B250-4E43-B1E3-BDFB14C2316D}"/>
              </a:ext>
            </a:extLst>
          </p:cNvPr>
          <p:cNvSpPr>
            <a:spLocks xmlns:a="http://schemas.openxmlformats.org/drawingml/2006/main" noGrp="1"/>
          </p:cNvSpPr>
          <p:nvPr/>
        </p:nvSpPr>
        <p:spPr>
          <a:xfrm xmlns:a="http://schemas.openxmlformats.org/drawingml/2006/main">
            <a:off x="6153150" y="2276475"/>
            <a:ext cx="48958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Self-reported perceptions from 102 of 724 invited physicians; not a clinical-effectiveness study.</a:t>
            </a:r>
          </a:p>
        </p:txBody>
      </p:sp>
      <p:sp>
        <p:nvSpPr>
          <p:cNvPr id="20" name="">
            <a:extLst xmlns:a="http://schemas.openxmlformats.org/drawingml/2006/main">
              <a:ext uri="{FF2B5EF4-FFF2-40B4-BE49-F238E27FC236}">
                <a16:creationId xmlns:a16="http://schemas.microsoft.com/office/drawing/2014/main" id="{93C34B17-EB40-49E5-8E67-BE4A3FDFED7E}"/>
              </a:ext>
            </a:extLst>
          </p:cNvPr>
          <p:cNvSpPr>
            <a:spLocks xmlns:a="http://schemas.openxmlformats.org/drawingml/2006/main" noGrp="1"/>
          </p:cNvSpPr>
          <p:nvPr/>
        </p:nvSpPr>
        <p:spPr>
          <a:xfrm xmlns:a="http://schemas.openxmlformats.org/drawingml/2006/main">
            <a:off x="5905500" y="3667125"/>
            <a:ext cx="5391150" cy="962025"/>
          </a:xfrm>
          <a:prstGeom xmlns:a="http://schemas.openxmlformats.org/drawingml/2006/main" prst="roundRect">
            <a:avLst>
              <a:gd name="adj" fmla="val 17822"/>
            </a:avLst>
          </a:prstGeom>
          <a:solidFill xmlns:a="http://schemas.openxmlformats.org/drawingml/2006/main">
            <a:srgbClr val="DDF2EE"/>
          </a:solidFill>
          <a:ln xmlns:a="http://schemas.openxmlformats.org/drawingml/2006/main" w="9525">
            <a:solidFill>
              <a:srgbClr val="087E78"/>
            </a:solidFill>
            <a:prstDash val="solid"/>
          </a:ln>
        </p:spPr>
      </p:sp>
      <p:sp>
        <p:nvSpPr>
          <p:cNvPr id="21" name="">
            <a:extLst xmlns:a="http://schemas.openxmlformats.org/drawingml/2006/main">
              <a:ext uri="{FF2B5EF4-FFF2-40B4-BE49-F238E27FC236}">
                <a16:creationId xmlns:a16="http://schemas.microsoft.com/office/drawing/2014/main" id="{EEBC1333-9F69-433B-83ED-20526745CD9F}"/>
              </a:ext>
            </a:extLst>
          </p:cNvPr>
          <p:cNvSpPr>
            <a:spLocks xmlns:a="http://schemas.openxmlformats.org/drawingml/2006/main" noGrp="1"/>
          </p:cNvSpPr>
          <p:nvPr/>
        </p:nvSpPr>
        <p:spPr>
          <a:xfrm xmlns:a="http://schemas.openxmlformats.org/drawingml/2006/main">
            <a:off x="6153150" y="38576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HUMAN CHECKPOINT</a:t>
            </a:r>
          </a:p>
        </p:txBody>
      </p:sp>
      <p:sp>
        <p:nvSpPr>
          <p:cNvPr id="22" name="">
            <a:extLst xmlns:a="http://schemas.openxmlformats.org/drawingml/2006/main">
              <a:ext uri="{FF2B5EF4-FFF2-40B4-BE49-F238E27FC236}">
                <a16:creationId xmlns:a16="http://schemas.microsoft.com/office/drawing/2014/main" id="{A0FAE1AE-2C97-4746-92F9-E638D37A2B38}"/>
              </a:ext>
            </a:extLst>
          </p:cNvPr>
          <p:cNvSpPr>
            <a:spLocks xmlns:a="http://schemas.openxmlformats.org/drawingml/2006/main" noGrp="1"/>
          </p:cNvSpPr>
          <p:nvPr/>
        </p:nvSpPr>
        <p:spPr>
          <a:xfrm xmlns:a="http://schemas.openxmlformats.org/drawingml/2006/main">
            <a:off x="6153150" y="4171950"/>
            <a:ext cx="4895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309"/>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Physicians asked for training, governance and clear accountability.</a:t>
            </a:r>
          </a:p>
        </p:txBody>
      </p:sp>
      <p:sp>
        <p:nvSpPr>
          <p:cNvPr id="23" name="">
            <a:extLst xmlns:a="http://schemas.openxmlformats.org/drawingml/2006/main">
              <a:ext uri="{FF2B5EF4-FFF2-40B4-BE49-F238E27FC236}">
                <a16:creationId xmlns:a16="http://schemas.microsoft.com/office/drawing/2014/main" id="{455094E9-4807-44F6-BB19-2DED259CB0B7}"/>
              </a:ext>
            </a:extLst>
          </p:cNvPr>
          <p:cNvSpPr>
            <a:spLocks xmlns:a="http://schemas.openxmlformats.org/drawingml/2006/main" noGrp="1"/>
          </p:cNvSpPr>
          <p:nvPr/>
        </p:nvSpPr>
        <p:spPr>
          <a:xfrm xmlns:a="http://schemas.openxmlformats.org/drawingml/2006/main">
            <a:off x="5905500" y="4829175"/>
            <a:ext cx="5391150" cy="981075"/>
          </a:xfrm>
          <a:prstGeom xmlns:a="http://schemas.openxmlformats.org/drawingml/2006/main" prst="roundRect">
            <a:avLst>
              <a:gd name="adj" fmla="val 17476"/>
            </a:avLst>
          </a:prstGeom>
          <a:solidFill xmlns:a="http://schemas.openxmlformats.org/drawingml/2006/main">
            <a:srgbClr val="082638"/>
          </a:solidFill>
          <a:ln xmlns:a="http://schemas.openxmlformats.org/drawingml/2006/main" w="9525">
            <a:solidFill>
              <a:srgbClr val="082638"/>
            </a:solidFill>
            <a:prstDash val="solid"/>
          </a:ln>
        </p:spPr>
      </p:sp>
      <p:sp>
        <p:nvSpPr>
          <p:cNvPr id="24" name="">
            <a:extLst xmlns:a="http://schemas.openxmlformats.org/drawingml/2006/main">
              <a:ext uri="{FF2B5EF4-FFF2-40B4-BE49-F238E27FC236}">
                <a16:creationId xmlns:a16="http://schemas.microsoft.com/office/drawing/2014/main" id="{BBF1D347-E7DF-48FD-9A83-D05C9B586911}"/>
              </a:ext>
            </a:extLst>
          </p:cNvPr>
          <p:cNvSpPr>
            <a:spLocks xmlns:a="http://schemas.openxmlformats.org/drawingml/2006/main" noGrp="1"/>
          </p:cNvSpPr>
          <p:nvPr/>
        </p:nvSpPr>
        <p:spPr>
          <a:xfrm xmlns:a="http://schemas.openxmlformats.org/drawingml/2006/main">
            <a:off x="6153150" y="5019675"/>
            <a:ext cx="48958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750"/>
          </a:bodyPr>
          <a:lstStyle xmlns:a="http://schemas.openxmlformats.org/drawingml/2006/main"/>
          <a:p xmlns:a="http://schemas.openxmlformats.org/drawingml/2006/main">
            <a:pPr algn="l">
              <a:lnSpc>
                <a:spcPct val="103000"/>
              </a:lnSpc>
              <a:buNone/>
              <a:defRPr sz="1425" b="1">
                <a:solidFill>
                  <a:srgbClr val="FFFFFF"/>
                </a:solidFill>
                <a:latin typeface="Aptos"/>
                <a:ea typeface="Aptos"/>
                <a:cs typeface="Aptos"/>
              </a:defRPr>
            </a:pPr>
            <a:r>
              <a:rPr sz="1425" b="1">
                <a:solidFill>
                  <a:srgbClr val="FFFFFF"/>
                </a:solidFill>
                <a:latin typeface="Aptos"/>
                <a:ea typeface="Aptos"/>
                <a:cs typeface="Aptos"/>
              </a:rPr>
              <a:t>Adoption is a trust and operating-model problem, not only a model problem.</a:t>
            </a:r>
          </a:p>
        </p:txBody>
      </p:sp>
      <p:sp>
        <p:nvSpPr>
          <p:cNvPr id="25" name="">
            <a:extLst xmlns:a="http://schemas.openxmlformats.org/drawingml/2006/main">
              <a:ext uri="{FF2B5EF4-FFF2-40B4-BE49-F238E27FC236}">
                <a16:creationId xmlns:a16="http://schemas.microsoft.com/office/drawing/2014/main" id="{B947D843-F08E-40D9-B4DE-75B2371A6433}"/>
              </a:ext>
            </a:extLst>
          </p:cNvPr>
          <p:cNvSpPr>
            <a:spLocks xmlns:a="http://schemas.openxmlformats.org/drawingml/2006/main" noGrp="1"/>
          </p:cNvSpPr>
          <p:nvPr/>
        </p:nvSpPr>
        <p:spPr>
          <a:xfrm xmlns:a="http://schemas.openxmlformats.org/drawingml/2006/main">
            <a:off x="6153150" y="5391150"/>
            <a:ext cx="4895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63" b="0">
                <a:solidFill>
                  <a:srgbClr val="FFFFFF"/>
                </a:solidFill>
                <a:latin typeface="Aptos"/>
                <a:ea typeface="Aptos"/>
                <a:cs typeface="Aptos"/>
              </a:defRPr>
            </a:pPr>
            <a:r>
              <a:rPr sz="1163" b="0">
                <a:solidFill>
                  <a:srgbClr val="FFFFFF"/>
                </a:solidFill>
                <a:latin typeface="Aptos"/>
                <a:ea typeface="Aptos"/>
                <a:cs typeface="Aptos"/>
              </a:rPr>
              <a:t>What assurance would your colleagues need before using a new AI tool?</a:t>
            </a:r>
          </a:p>
        </p:txBody>
      </p:sp>
    </p:spTree>
    <p:extLst>
      <p:ext uri="{BB962C8B-B14F-4D97-AF65-F5344CB8AC3E}">
        <p14:creationId xmlns:p14="http://schemas.microsoft.com/office/powerpoint/2010/main" val="569222438"/>
      </p:ext>
    </p:extLst>
  </p:cSld>
</p:sld>
</file>

<file path=ppt/slides/slide1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94D36C-3B2D-474E-8421-3DCA7104BD9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F6F9F"/>
          </a:solidFill>
          <a:ln xmlns:a="http://schemas.openxmlformats.org/drawingml/2006/main" w="0">
            <a:solidFill>
              <a:srgbClr val="2F6F9F"/>
            </a:solidFill>
            <a:prstDash val="solid"/>
          </a:ln>
        </p:spPr>
      </p:sp>
      <p:sp>
        <p:nvSpPr>
          <p:cNvPr id="2" name="">
            <a:extLst xmlns:a="http://schemas.openxmlformats.org/drawingml/2006/main">
              <a:ext uri="{FF2B5EF4-FFF2-40B4-BE49-F238E27FC236}">
                <a16:creationId xmlns:a16="http://schemas.microsoft.com/office/drawing/2014/main" id="{02EB80F5-B24F-44BC-AE36-6B2C54DD7D85}"/>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6</a:t>
            </a:r>
          </a:p>
        </p:txBody>
      </p:sp>
      <p:sp>
        <p:nvSpPr>
          <p:cNvPr id="3" name="">
            <a:extLst xmlns:a="http://schemas.openxmlformats.org/drawingml/2006/main">
              <a:ext uri="{FF2B5EF4-FFF2-40B4-BE49-F238E27FC236}">
                <a16:creationId xmlns:a16="http://schemas.microsoft.com/office/drawing/2014/main" id="{5F38AF79-40E9-4486-9E3C-B389D5C77A80}"/>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09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Ambient scribes: The real workflow cost and payoff of ambient documentation</a:t>
            </a:r>
          </a:p>
        </p:txBody>
      </p:sp>
      <p:sp>
        <p:nvSpPr>
          <p:cNvPr id="4" name="">
            <a:extLst xmlns:a="http://schemas.openxmlformats.org/drawingml/2006/main">
              <a:ext uri="{FF2B5EF4-FFF2-40B4-BE49-F238E27FC236}">
                <a16:creationId xmlns:a16="http://schemas.microsoft.com/office/drawing/2014/main" id="{8774E45C-EAB1-458A-8005-1F750CDFB712}"/>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9491449A-8706-4560-AC03-8B627B42BF45}"/>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1449D100-B97F-4BC8-B602-EE78DB86CD68}"/>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944EB9A9-7DC8-48EC-96D3-1117856D0660}"/>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Source: https://www.proquest.com/openview/574eebe7a1f1dcd2ca5d88f6a9a22a7b/1?pq-origsite=gscholar&amp;cbl=18750&amp;diss=y</a:t>
            </a:r>
          </a:p>
        </p:txBody>
      </p:sp>
      <p:sp>
        <p:nvSpPr>
          <p:cNvPr id="8" name="">
            <a:extLst xmlns:a="http://schemas.openxmlformats.org/drawingml/2006/main">
              <a:ext uri="{FF2B5EF4-FFF2-40B4-BE49-F238E27FC236}">
                <a16:creationId xmlns:a16="http://schemas.microsoft.com/office/drawing/2014/main" id="{42206D8D-268F-4189-866F-45AA28A91F92}"/>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AD330B9B-CE37-4EF5-BE46-E08212A380C4}"/>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12</a:t>
            </a:r>
          </a:p>
        </p:txBody>
      </p:sp>
      <p:sp>
        <p:nvSpPr>
          <p:cNvPr id="10" name="">
            <a:extLst xmlns:a="http://schemas.openxmlformats.org/drawingml/2006/main">
              <a:ext uri="{FF2B5EF4-FFF2-40B4-BE49-F238E27FC236}">
                <a16:creationId xmlns:a16="http://schemas.microsoft.com/office/drawing/2014/main" id="{1D2138C3-C5DC-4F87-AFF7-CB69E1DB8882}"/>
              </a:ext>
            </a:extLst>
          </p:cNvPr>
          <p:cNvSpPr>
            <a:spLocks xmlns:a="http://schemas.openxmlformats.org/drawingml/2006/main" noGrp="1"/>
          </p:cNvSpPr>
          <p:nvPr/>
        </p:nvSpPr>
        <p:spPr>
          <a:xfrm xmlns:a="http://schemas.openxmlformats.org/drawingml/2006/main">
            <a:off x="609600" y="1714500"/>
            <a:ext cx="4953000" cy="4095750"/>
          </a:xfrm>
          <a:prstGeom xmlns:a="http://schemas.openxmlformats.org/drawingml/2006/main" prst="roundRect">
            <a:avLst>
              <a:gd name="adj" fmla="val 4651"/>
            </a:avLst>
          </a:prstGeom>
          <a:solidFill xmlns:a="http://schemas.openxmlformats.org/drawingml/2006/main">
            <a:srgbClr val="FFFDFC"/>
          </a:solidFill>
          <a:ln xmlns:a="http://schemas.openxmlformats.org/drawingml/2006/main" w="9525">
            <a:solidFill>
              <a:srgbClr val="2F6F9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720B605D-C345-4711-8AD8-C6D755F575AE}"/>
              </a:ext>
            </a:extLst>
          </p:cNvPr>
          <p:cNvSpPr>
            <a:spLocks xmlns:a="http://schemas.openxmlformats.org/drawingml/2006/main" noGrp="1"/>
          </p:cNvSpPr>
          <p:nvPr/>
        </p:nvSpPr>
        <p:spPr>
          <a:xfrm xmlns:a="http://schemas.openxmlformats.org/drawingml/2006/main">
            <a:off x="838200" y="1924050"/>
            <a:ext cx="40957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74552"/>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IMPLEMENTATION DISSERTATION PLUS GROWING HEALTH-SYSTEM OBSERVATIONAL EVIDENCE</a:t>
            </a:r>
          </a:p>
        </p:txBody>
      </p:sp>
      <p:sp>
        <p:nvSpPr>
          <p:cNvPr id="12" name="">
            <a:extLst xmlns:a="http://schemas.openxmlformats.org/drawingml/2006/main">
              <a:ext uri="{FF2B5EF4-FFF2-40B4-BE49-F238E27FC236}">
                <a16:creationId xmlns:a16="http://schemas.microsoft.com/office/drawing/2014/main" id="{1DFD1DC5-4328-4234-A773-C52C5F6460F8}"/>
              </a:ext>
            </a:extLst>
          </p:cNvPr>
          <p:cNvSpPr>
            <a:spLocks xmlns:a="http://schemas.openxmlformats.org/drawingml/2006/main" noGrp="1"/>
          </p:cNvSpPr>
          <p:nvPr/>
        </p:nvSpPr>
        <p:spPr>
          <a:xfrm xmlns:a="http://schemas.openxmlformats.org/drawingml/2006/main">
            <a:off x="838200" y="23622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164"/>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Five-practice deployment described in a DBA dissertation, triangulated with multi-site peer-reviewed ambient-scribe evidence</a:t>
            </a:r>
          </a:p>
        </p:txBody>
      </p:sp>
      <p:sp>
        <p:nvSpPr>
          <p:cNvPr id="13" name="">
            <a:extLst xmlns:a="http://schemas.openxmlformats.org/drawingml/2006/main">
              <a:ext uri="{FF2B5EF4-FFF2-40B4-BE49-F238E27FC236}">
                <a16:creationId xmlns:a16="http://schemas.microsoft.com/office/drawing/2014/main" id="{0B669688-1581-43D9-89D1-2D93D2E69A2C}"/>
              </a:ext>
            </a:extLst>
          </p:cNvPr>
          <p:cNvSpPr>
            <a:spLocks xmlns:a="http://schemas.openxmlformats.org/drawingml/2006/main" noGrp="1"/>
          </p:cNvSpPr>
          <p:nvPr/>
        </p:nvSpPr>
        <p:spPr>
          <a:xfrm xmlns:a="http://schemas.openxmlformats.org/drawingml/2006/main">
            <a:off x="838200" y="30099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2F6F9F"/>
                </a:solidFill>
                <a:latin typeface="Aptos"/>
                <a:ea typeface="Aptos"/>
                <a:cs typeface="Aptos"/>
              </a:defRPr>
            </a:pPr>
            <a:r>
              <a:rPr sz="1050" b="1">
                <a:solidFill>
                  <a:srgbClr val="2F6F9F"/>
                </a:solidFill>
                <a:latin typeface="Aptos"/>
                <a:ea typeface="Aptos"/>
                <a:cs typeface="Aptos"/>
              </a:rPr>
              <a:t>AI + workflow</a:t>
            </a:r>
          </a:p>
        </p:txBody>
      </p:sp>
      <p:sp>
        <p:nvSpPr>
          <p:cNvPr id="14" name="">
            <a:extLst xmlns:a="http://schemas.openxmlformats.org/drawingml/2006/main">
              <a:ext uri="{FF2B5EF4-FFF2-40B4-BE49-F238E27FC236}">
                <a16:creationId xmlns:a16="http://schemas.microsoft.com/office/drawing/2014/main" id="{48B68B31-CDE2-4C32-BD7B-B043AB823764}"/>
              </a:ext>
            </a:extLst>
          </p:cNvPr>
          <p:cNvSpPr>
            <a:spLocks xmlns:a="http://schemas.openxmlformats.org/drawingml/2006/main" noGrp="1"/>
          </p:cNvSpPr>
          <p:nvPr/>
        </p:nvSpPr>
        <p:spPr>
          <a:xfrm xmlns:a="http://schemas.openxmlformats.org/drawingml/2006/main">
            <a:off x="838200" y="3295650"/>
            <a:ext cx="4286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0">
                <a:solidFill>
                  <a:srgbClr val="183340"/>
                </a:solidFill>
                <a:latin typeface="Aptos"/>
                <a:ea typeface="Aptos"/>
                <a:cs typeface="Aptos"/>
              </a:defRPr>
            </a:pPr>
            <a:r>
              <a:rPr sz="1275" b="0">
                <a:solidFill>
                  <a:srgbClr val="183340"/>
                </a:solidFill>
                <a:latin typeface="Aptos"/>
                <a:ea typeface="Aptos"/>
                <a:cs typeface="Aptos"/>
              </a:rPr>
              <a:t>Conversation capture with consent and a draft note for clinician review</a:t>
            </a:r>
          </a:p>
        </p:txBody>
      </p:sp>
      <p:sp>
        <p:nvSpPr>
          <p:cNvPr id="15" name="">
            <a:extLst xmlns:a="http://schemas.openxmlformats.org/drawingml/2006/main">
              <a:ext uri="{FF2B5EF4-FFF2-40B4-BE49-F238E27FC236}">
                <a16:creationId xmlns:a16="http://schemas.microsoft.com/office/drawing/2014/main" id="{FDCC1736-4A64-4687-B3E6-BA0945533E14}"/>
              </a:ext>
            </a:extLst>
          </p:cNvPr>
          <p:cNvSpPr>
            <a:spLocks xmlns:a="http://schemas.openxmlformats.org/drawingml/2006/main" noGrp="1"/>
          </p:cNvSpPr>
          <p:nvPr/>
        </p:nvSpPr>
        <p:spPr>
          <a:xfrm xmlns:a="http://schemas.openxmlformats.org/drawingml/2006/main">
            <a:off x="838200" y="42957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2F6F9F"/>
                </a:solidFill>
                <a:latin typeface="Aptos"/>
                <a:ea typeface="Aptos"/>
                <a:cs typeface="Aptos"/>
              </a:defRPr>
            </a:pPr>
            <a:r>
              <a:rPr sz="1050" b="1">
                <a:solidFill>
                  <a:srgbClr val="2F6F9F"/>
                </a:solidFill>
                <a:latin typeface="Aptos"/>
                <a:ea typeface="Aptos"/>
                <a:cs typeface="Aptos"/>
              </a:rPr>
              <a:t>Reported result</a:t>
            </a:r>
          </a:p>
        </p:txBody>
      </p:sp>
      <p:sp>
        <p:nvSpPr>
          <p:cNvPr id="16" name="">
            <a:extLst xmlns:a="http://schemas.openxmlformats.org/drawingml/2006/main">
              <a:ext uri="{FF2B5EF4-FFF2-40B4-BE49-F238E27FC236}">
                <a16:creationId xmlns:a16="http://schemas.microsoft.com/office/drawing/2014/main" id="{688BC827-8210-4256-B78B-748853E093D9}"/>
              </a:ext>
            </a:extLst>
          </p:cNvPr>
          <p:cNvSpPr>
            <a:spLocks xmlns:a="http://schemas.openxmlformats.org/drawingml/2006/main" noGrp="1"/>
          </p:cNvSpPr>
          <p:nvPr/>
        </p:nvSpPr>
        <p:spPr>
          <a:xfrm xmlns:a="http://schemas.openxmlformats.org/drawingml/2006/main">
            <a:off x="838200" y="4581525"/>
            <a:ext cx="4286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Reports describe initial resistance, new review work and potential reductions in after-hours EHR time and burden after adoption.</a:t>
            </a:r>
          </a:p>
        </p:txBody>
      </p:sp>
      <p:sp>
        <p:nvSpPr>
          <p:cNvPr id="17" name="">
            <a:extLst xmlns:a="http://schemas.openxmlformats.org/drawingml/2006/main">
              <a:ext uri="{FF2B5EF4-FFF2-40B4-BE49-F238E27FC236}">
                <a16:creationId xmlns:a16="http://schemas.microsoft.com/office/drawing/2014/main" id="{BF66D435-4AF8-43B8-B50B-E07107B34179}"/>
              </a:ext>
            </a:extLst>
          </p:cNvPr>
          <p:cNvSpPr>
            <a:spLocks xmlns:a="http://schemas.openxmlformats.org/drawingml/2006/main" noGrp="1"/>
          </p:cNvSpPr>
          <p:nvPr/>
        </p:nvSpPr>
        <p:spPr>
          <a:xfrm xmlns:a="http://schemas.openxmlformats.org/drawingml/2006/main">
            <a:off x="5905500" y="1714500"/>
            <a:ext cx="5391150" cy="1752600"/>
          </a:xfrm>
          <a:prstGeom xmlns:a="http://schemas.openxmlformats.org/drawingml/2006/main" prst="roundRect">
            <a:avLst>
              <a:gd name="adj" fmla="val 10870"/>
            </a:avLst>
          </a:prstGeom>
          <a:solidFill xmlns:a="http://schemas.openxmlformats.org/drawingml/2006/main">
            <a:srgbClr val="FBE7DF"/>
          </a:solidFill>
          <a:ln xmlns:a="http://schemas.openxmlformats.org/drawingml/2006/main" w="9525">
            <a:solidFill>
              <a:srgbClr val="E8694A"/>
            </a:solidFill>
            <a:prstDash val="solid"/>
          </a:ln>
        </p:spPr>
      </p:sp>
      <p:sp>
        <p:nvSpPr>
          <p:cNvPr id="18" name="">
            <a:extLst xmlns:a="http://schemas.openxmlformats.org/drawingml/2006/main">
              <a:ext uri="{FF2B5EF4-FFF2-40B4-BE49-F238E27FC236}">
                <a16:creationId xmlns:a16="http://schemas.microsoft.com/office/drawing/2014/main" id="{4D2A5656-BCB8-472E-B437-4C38FFAD506F}"/>
              </a:ext>
            </a:extLst>
          </p:cNvPr>
          <p:cNvSpPr>
            <a:spLocks xmlns:a="http://schemas.openxmlformats.org/drawingml/2006/main" noGrp="1"/>
          </p:cNvSpPr>
          <p:nvPr/>
        </p:nvSpPr>
        <p:spPr>
          <a:xfrm xmlns:a="http://schemas.openxmlformats.org/drawingml/2006/main">
            <a:off x="6153150" y="19240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B7433D"/>
                </a:solidFill>
                <a:latin typeface="Aptos"/>
                <a:ea typeface="Aptos"/>
                <a:cs typeface="Aptos"/>
              </a:defRPr>
            </a:pPr>
            <a:r>
              <a:rPr sz="1050" b="1">
                <a:solidFill>
                  <a:srgbClr val="B7433D"/>
                </a:solidFill>
                <a:latin typeface="Aptos"/>
                <a:ea typeface="Aptos"/>
                <a:cs typeface="Aptos"/>
              </a:rPr>
              <a:t>EVIDENCE LIMIT</a:t>
            </a:r>
          </a:p>
        </p:txBody>
      </p:sp>
      <p:sp>
        <p:nvSpPr>
          <p:cNvPr id="19" name="">
            <a:extLst xmlns:a="http://schemas.openxmlformats.org/drawingml/2006/main">
              <a:ext uri="{FF2B5EF4-FFF2-40B4-BE49-F238E27FC236}">
                <a16:creationId xmlns:a16="http://schemas.microsoft.com/office/drawing/2014/main" id="{5D198819-508B-40D3-AA65-74069396F358}"/>
              </a:ext>
            </a:extLst>
          </p:cNvPr>
          <p:cNvSpPr>
            <a:spLocks xmlns:a="http://schemas.openxmlformats.org/drawingml/2006/main" noGrp="1"/>
          </p:cNvSpPr>
          <p:nvPr/>
        </p:nvSpPr>
        <p:spPr>
          <a:xfrm xmlns:a="http://schemas.openxmlformats.org/drawingml/2006/main">
            <a:off x="6153150" y="2276475"/>
            <a:ext cx="48958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Product, setting, adoption maturity and outcome measures vary; product-specific safety and local effect require validation.</a:t>
            </a:r>
          </a:p>
        </p:txBody>
      </p:sp>
      <p:sp>
        <p:nvSpPr>
          <p:cNvPr id="20" name="">
            <a:extLst xmlns:a="http://schemas.openxmlformats.org/drawingml/2006/main">
              <a:ext uri="{FF2B5EF4-FFF2-40B4-BE49-F238E27FC236}">
                <a16:creationId xmlns:a16="http://schemas.microsoft.com/office/drawing/2014/main" id="{C1FD7DE9-12D5-4800-A3DB-647977D76CF7}"/>
              </a:ext>
            </a:extLst>
          </p:cNvPr>
          <p:cNvSpPr>
            <a:spLocks xmlns:a="http://schemas.openxmlformats.org/drawingml/2006/main" noGrp="1"/>
          </p:cNvSpPr>
          <p:nvPr/>
        </p:nvSpPr>
        <p:spPr>
          <a:xfrm xmlns:a="http://schemas.openxmlformats.org/drawingml/2006/main">
            <a:off x="5905500" y="3667125"/>
            <a:ext cx="5391150" cy="962025"/>
          </a:xfrm>
          <a:prstGeom xmlns:a="http://schemas.openxmlformats.org/drawingml/2006/main" prst="roundRect">
            <a:avLst>
              <a:gd name="adj" fmla="val 17822"/>
            </a:avLst>
          </a:prstGeom>
          <a:solidFill xmlns:a="http://schemas.openxmlformats.org/drawingml/2006/main">
            <a:srgbClr val="DDF2EE"/>
          </a:solidFill>
          <a:ln xmlns:a="http://schemas.openxmlformats.org/drawingml/2006/main" w="9525">
            <a:solidFill>
              <a:srgbClr val="087E78"/>
            </a:solidFill>
            <a:prstDash val="solid"/>
          </a:ln>
        </p:spPr>
      </p:sp>
      <p:sp>
        <p:nvSpPr>
          <p:cNvPr id="21" name="">
            <a:extLst xmlns:a="http://schemas.openxmlformats.org/drawingml/2006/main">
              <a:ext uri="{FF2B5EF4-FFF2-40B4-BE49-F238E27FC236}">
                <a16:creationId xmlns:a16="http://schemas.microsoft.com/office/drawing/2014/main" id="{363B4238-3460-4CEA-A346-AB32CCCC3088}"/>
              </a:ext>
            </a:extLst>
          </p:cNvPr>
          <p:cNvSpPr>
            <a:spLocks xmlns:a="http://schemas.openxmlformats.org/drawingml/2006/main" noGrp="1"/>
          </p:cNvSpPr>
          <p:nvPr/>
        </p:nvSpPr>
        <p:spPr>
          <a:xfrm xmlns:a="http://schemas.openxmlformats.org/drawingml/2006/main">
            <a:off x="6153150" y="38576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HUMAN CHECKPOINT</a:t>
            </a:r>
          </a:p>
        </p:txBody>
      </p:sp>
      <p:sp>
        <p:nvSpPr>
          <p:cNvPr id="22" name="">
            <a:extLst xmlns:a="http://schemas.openxmlformats.org/drawingml/2006/main">
              <a:ext uri="{FF2B5EF4-FFF2-40B4-BE49-F238E27FC236}">
                <a16:creationId xmlns:a16="http://schemas.microsoft.com/office/drawing/2014/main" id="{A57A1545-FF94-48E8-BACB-E4C0A98BC031}"/>
              </a:ext>
            </a:extLst>
          </p:cNvPr>
          <p:cNvSpPr>
            <a:spLocks xmlns:a="http://schemas.openxmlformats.org/drawingml/2006/main" noGrp="1"/>
          </p:cNvSpPr>
          <p:nvPr/>
        </p:nvSpPr>
        <p:spPr>
          <a:xfrm xmlns:a="http://schemas.openxmlformats.org/drawingml/2006/main">
            <a:off x="6153150" y="4171950"/>
            <a:ext cx="4895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775"/>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Clinician or designated reviewer edits and signs; organisation owns consent, retention and audit.</a:t>
            </a:r>
          </a:p>
        </p:txBody>
      </p:sp>
      <p:sp>
        <p:nvSpPr>
          <p:cNvPr id="23" name="">
            <a:extLst xmlns:a="http://schemas.openxmlformats.org/drawingml/2006/main">
              <a:ext uri="{FF2B5EF4-FFF2-40B4-BE49-F238E27FC236}">
                <a16:creationId xmlns:a16="http://schemas.microsoft.com/office/drawing/2014/main" id="{C176693C-8B5C-46AD-B48A-AEF474ADB73B}"/>
              </a:ext>
            </a:extLst>
          </p:cNvPr>
          <p:cNvSpPr>
            <a:spLocks xmlns:a="http://schemas.openxmlformats.org/drawingml/2006/main" noGrp="1"/>
          </p:cNvSpPr>
          <p:nvPr/>
        </p:nvSpPr>
        <p:spPr>
          <a:xfrm xmlns:a="http://schemas.openxmlformats.org/drawingml/2006/main">
            <a:off x="5905500" y="4829175"/>
            <a:ext cx="5391150" cy="981075"/>
          </a:xfrm>
          <a:prstGeom xmlns:a="http://schemas.openxmlformats.org/drawingml/2006/main" prst="roundRect">
            <a:avLst>
              <a:gd name="adj" fmla="val 17476"/>
            </a:avLst>
          </a:prstGeom>
          <a:solidFill xmlns:a="http://schemas.openxmlformats.org/drawingml/2006/main">
            <a:srgbClr val="082638"/>
          </a:solidFill>
          <a:ln xmlns:a="http://schemas.openxmlformats.org/drawingml/2006/main" w="9525">
            <a:solidFill>
              <a:srgbClr val="082638"/>
            </a:solidFill>
            <a:prstDash val="solid"/>
          </a:ln>
        </p:spPr>
      </p:sp>
      <p:sp>
        <p:nvSpPr>
          <p:cNvPr id="24" name="">
            <a:extLst xmlns:a="http://schemas.openxmlformats.org/drawingml/2006/main">
              <a:ext uri="{FF2B5EF4-FFF2-40B4-BE49-F238E27FC236}">
                <a16:creationId xmlns:a16="http://schemas.microsoft.com/office/drawing/2014/main" id="{E5DEBFEB-FCD4-4818-AE9B-8E0A8733E21B}"/>
              </a:ext>
            </a:extLst>
          </p:cNvPr>
          <p:cNvSpPr>
            <a:spLocks xmlns:a="http://schemas.openxmlformats.org/drawingml/2006/main" noGrp="1"/>
          </p:cNvSpPr>
          <p:nvPr/>
        </p:nvSpPr>
        <p:spPr>
          <a:xfrm xmlns:a="http://schemas.openxmlformats.org/drawingml/2006/main">
            <a:off x="6153150" y="5019675"/>
            <a:ext cx="48958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508"/>
          </a:bodyPr>
          <a:lstStyle xmlns:a="http://schemas.openxmlformats.org/drawingml/2006/main"/>
          <a:p xmlns:a="http://schemas.openxmlformats.org/drawingml/2006/main">
            <a:pPr algn="l">
              <a:lnSpc>
                <a:spcPct val="103000"/>
              </a:lnSpc>
              <a:buNone/>
              <a:defRPr sz="1425" b="1">
                <a:solidFill>
                  <a:srgbClr val="FFFFFF"/>
                </a:solidFill>
                <a:latin typeface="Aptos"/>
                <a:ea typeface="Aptos"/>
                <a:cs typeface="Aptos"/>
              </a:defRPr>
            </a:pPr>
            <a:r>
              <a:rPr sz="1425" b="1">
                <a:solidFill>
                  <a:srgbClr val="FFFFFF"/>
                </a:solidFill>
                <a:latin typeface="Aptos"/>
                <a:ea typeface="Aptos"/>
                <a:cs typeface="Aptos"/>
              </a:rPr>
              <a:t>Time saved at the keyboard creates a new quality-assurance workflow.</a:t>
            </a:r>
          </a:p>
        </p:txBody>
      </p:sp>
      <p:sp>
        <p:nvSpPr>
          <p:cNvPr id="25" name="">
            <a:extLst xmlns:a="http://schemas.openxmlformats.org/drawingml/2006/main">
              <a:ext uri="{FF2B5EF4-FFF2-40B4-BE49-F238E27FC236}">
                <a16:creationId xmlns:a16="http://schemas.microsoft.com/office/drawing/2014/main" id="{BD6DDA76-1D93-41C1-8382-41D460F14944}"/>
              </a:ext>
            </a:extLst>
          </p:cNvPr>
          <p:cNvSpPr>
            <a:spLocks xmlns:a="http://schemas.openxmlformats.org/drawingml/2006/main" noGrp="1"/>
          </p:cNvSpPr>
          <p:nvPr/>
        </p:nvSpPr>
        <p:spPr>
          <a:xfrm xmlns:a="http://schemas.openxmlformats.org/drawingml/2006/main">
            <a:off x="6153150" y="5391150"/>
            <a:ext cx="4895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63" b="0">
                <a:solidFill>
                  <a:srgbClr val="FFFFFF"/>
                </a:solidFill>
                <a:latin typeface="Aptos"/>
                <a:ea typeface="Aptos"/>
                <a:cs typeface="Aptos"/>
              </a:defRPr>
            </a:pPr>
            <a:r>
              <a:rPr sz="1163" b="0">
                <a:solidFill>
                  <a:srgbClr val="FFFFFF"/>
                </a:solidFill>
                <a:latin typeface="Aptos"/>
                <a:ea typeface="Aptos"/>
                <a:cs typeface="Aptos"/>
              </a:rPr>
              <a:t>Who reviews the reviewer—and what error would stop the pilot?</a:t>
            </a:r>
          </a:p>
        </p:txBody>
      </p:sp>
    </p:spTree>
    <p:extLst>
      <p:ext uri="{BB962C8B-B14F-4D97-AF65-F5344CB8AC3E}">
        <p14:creationId xmlns:p14="http://schemas.microsoft.com/office/powerpoint/2010/main" val="703530415"/>
      </p:ext>
    </p:extLst>
  </p:cSld>
</p:sld>
</file>

<file path=ppt/slides/slide1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0B315F-B941-462A-956F-866133FA18E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F6F9F"/>
          </a:solidFill>
          <a:ln xmlns:a="http://schemas.openxmlformats.org/drawingml/2006/main" w="0">
            <a:solidFill>
              <a:srgbClr val="2F6F9F"/>
            </a:solidFill>
            <a:prstDash val="solid"/>
          </a:ln>
        </p:spPr>
      </p:sp>
      <p:sp>
        <p:nvSpPr>
          <p:cNvPr id="2" name="">
            <a:extLst xmlns:a="http://schemas.openxmlformats.org/drawingml/2006/main">
              <a:ext uri="{FF2B5EF4-FFF2-40B4-BE49-F238E27FC236}">
                <a16:creationId xmlns:a16="http://schemas.microsoft.com/office/drawing/2014/main" id="{4F7AFC49-27DF-4D62-95C1-77BCC9A08558}"/>
              </a:ext>
            </a:extLst>
          </p:cNvPr>
          <p:cNvSpPr>
            <a:spLocks xmlns:a="http://schemas.openxmlformats.org/drawingml/2006/main" noGrp="1"/>
          </p:cNvSpPr>
          <p:nvPr/>
        </p:nvSpPr>
        <p:spPr>
          <a:xfrm xmlns:a="http://schemas.openxmlformats.org/drawingml/2006/main">
            <a:off x="590550" y="285750"/>
            <a:ext cx="137160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867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CROSS-CASE SYNTHESIS</a:t>
            </a:r>
          </a:p>
        </p:txBody>
      </p:sp>
      <p:sp>
        <p:nvSpPr>
          <p:cNvPr id="3" name="">
            <a:extLst xmlns:a="http://schemas.openxmlformats.org/drawingml/2006/main">
              <a:ext uri="{FF2B5EF4-FFF2-40B4-BE49-F238E27FC236}">
                <a16:creationId xmlns:a16="http://schemas.microsoft.com/office/drawing/2014/main" id="{163151D7-715A-4DB3-B37B-A6B0BA58F98D}"/>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Adoption is an operating-model decision</a:t>
            </a:r>
          </a:p>
        </p:txBody>
      </p:sp>
      <p:sp>
        <p:nvSpPr>
          <p:cNvPr id="4" name="">
            <a:extLst xmlns:a="http://schemas.openxmlformats.org/drawingml/2006/main">
              <a:ext uri="{FF2B5EF4-FFF2-40B4-BE49-F238E27FC236}">
                <a16:creationId xmlns:a16="http://schemas.microsoft.com/office/drawing/2014/main" id="{6ACA384E-710A-4F9B-8BE7-7B327E66AC3C}"/>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55717BA7-2924-48ED-BE9D-ECB9E2941AFC}"/>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152E4344-94F2-4375-B863-AEF86213BC5C}"/>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602180A2-1044-4DBF-B6C3-96983C91DCB9}"/>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Qatar survey + ambient-scribe evidence</a:t>
            </a:r>
          </a:p>
        </p:txBody>
      </p:sp>
      <p:sp>
        <p:nvSpPr>
          <p:cNvPr id="8" name="">
            <a:extLst xmlns:a="http://schemas.openxmlformats.org/drawingml/2006/main">
              <a:ext uri="{FF2B5EF4-FFF2-40B4-BE49-F238E27FC236}">
                <a16:creationId xmlns:a16="http://schemas.microsoft.com/office/drawing/2014/main" id="{0B842560-008B-4B41-9B56-44680A1C248A}"/>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940BC52C-6C71-4CB0-9AE8-0288D06BEA8B}"/>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13</a:t>
            </a:r>
          </a:p>
        </p:txBody>
      </p:sp>
      <p:sp>
        <p:nvSpPr>
          <p:cNvPr id="10" name="">
            <a:extLst xmlns:a="http://schemas.openxmlformats.org/drawingml/2006/main">
              <a:ext uri="{FF2B5EF4-FFF2-40B4-BE49-F238E27FC236}">
                <a16:creationId xmlns:a16="http://schemas.microsoft.com/office/drawing/2014/main" id="{F21AB0C5-96CD-4348-815E-CD427C7D8CDD}"/>
              </a:ext>
            </a:extLst>
          </p:cNvPr>
          <p:cNvSpPr>
            <a:spLocks xmlns:a="http://schemas.openxmlformats.org/drawingml/2006/main" noGrp="1"/>
          </p:cNvSpPr>
          <p:nvPr/>
        </p:nvSpPr>
        <p:spPr>
          <a:xfrm xmlns:a="http://schemas.openxmlformats.org/drawingml/2006/main">
            <a:off x="714375" y="1762125"/>
            <a:ext cx="14287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NOTICE</a:t>
            </a:r>
          </a:p>
        </p:txBody>
      </p:sp>
      <p:sp>
        <p:nvSpPr>
          <p:cNvPr id="11" name="">
            <a:extLst xmlns:a="http://schemas.openxmlformats.org/drawingml/2006/main">
              <a:ext uri="{FF2B5EF4-FFF2-40B4-BE49-F238E27FC236}">
                <a16:creationId xmlns:a16="http://schemas.microsoft.com/office/drawing/2014/main" id="{6C5D6DD3-5062-4665-9F65-428D095E855B}"/>
              </a:ext>
            </a:extLst>
          </p:cNvPr>
          <p:cNvSpPr>
            <a:spLocks xmlns:a="http://schemas.openxmlformats.org/drawingml/2006/main" noGrp="1"/>
          </p:cNvSpPr>
          <p:nvPr/>
        </p:nvSpPr>
        <p:spPr>
          <a:xfrm xmlns:a="http://schemas.openxmlformats.org/drawingml/2006/main">
            <a:off x="2381250" y="17716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75" b="1">
                <a:solidFill>
                  <a:srgbClr val="082638"/>
                </a:solidFill>
                <a:latin typeface="Aptos"/>
                <a:ea typeface="Aptos"/>
                <a:cs typeface="Aptos"/>
              </a:defRPr>
            </a:pPr>
            <a:r>
              <a:rPr sz="1575" b="1">
                <a:solidFill>
                  <a:srgbClr val="082638"/>
                </a:solidFill>
                <a:latin typeface="Aptos"/>
                <a:ea typeface="Aptos"/>
                <a:cs typeface="Aptos"/>
              </a:rPr>
              <a:t>What does the patient know and choose?</a:t>
            </a:r>
          </a:p>
        </p:txBody>
      </p:sp>
      <p:sp>
        <p:nvSpPr>
          <p:cNvPr id="12" name="">
            <a:extLst xmlns:a="http://schemas.openxmlformats.org/drawingml/2006/main">
              <a:ext uri="{FF2B5EF4-FFF2-40B4-BE49-F238E27FC236}">
                <a16:creationId xmlns:a16="http://schemas.microsoft.com/office/drawing/2014/main" id="{08A253A4-DEB4-45E9-ADC1-60940F1A1075}"/>
              </a:ext>
            </a:extLst>
          </p:cNvPr>
          <p:cNvSpPr>
            <a:spLocks xmlns:a="http://schemas.openxmlformats.org/drawingml/2006/main" noGrp="1"/>
          </p:cNvSpPr>
          <p:nvPr/>
        </p:nvSpPr>
        <p:spPr>
          <a:xfrm xmlns:a="http://schemas.openxmlformats.org/drawingml/2006/main">
            <a:off x="714375" y="2286000"/>
            <a:ext cx="10144125"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13" name="">
            <a:extLst xmlns:a="http://schemas.openxmlformats.org/drawingml/2006/main">
              <a:ext uri="{FF2B5EF4-FFF2-40B4-BE49-F238E27FC236}">
                <a16:creationId xmlns:a16="http://schemas.microsoft.com/office/drawing/2014/main" id="{1FCCF42D-09DB-45DC-A4F7-83EC0F39D9F0}"/>
              </a:ext>
            </a:extLst>
          </p:cNvPr>
          <p:cNvSpPr>
            <a:spLocks xmlns:a="http://schemas.openxmlformats.org/drawingml/2006/main" noGrp="1"/>
          </p:cNvSpPr>
          <p:nvPr/>
        </p:nvSpPr>
        <p:spPr>
          <a:xfrm xmlns:a="http://schemas.openxmlformats.org/drawingml/2006/main">
            <a:off x="714375" y="2543175"/>
            <a:ext cx="14287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OWNERSHIP</a:t>
            </a:r>
          </a:p>
        </p:txBody>
      </p:sp>
      <p:sp>
        <p:nvSpPr>
          <p:cNvPr id="14" name="">
            <a:extLst xmlns:a="http://schemas.openxmlformats.org/drawingml/2006/main">
              <a:ext uri="{FF2B5EF4-FFF2-40B4-BE49-F238E27FC236}">
                <a16:creationId xmlns:a16="http://schemas.microsoft.com/office/drawing/2014/main" id="{803AB795-4E9F-4E08-8EF9-00699C1C0CAB}"/>
              </a:ext>
            </a:extLst>
          </p:cNvPr>
          <p:cNvSpPr>
            <a:spLocks xmlns:a="http://schemas.openxmlformats.org/drawingml/2006/main" noGrp="1"/>
          </p:cNvSpPr>
          <p:nvPr/>
        </p:nvSpPr>
        <p:spPr>
          <a:xfrm xmlns:a="http://schemas.openxmlformats.org/drawingml/2006/main">
            <a:off x="2381250" y="255270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75" b="1">
                <a:solidFill>
                  <a:srgbClr val="082638"/>
                </a:solidFill>
                <a:latin typeface="Aptos"/>
                <a:ea typeface="Aptos"/>
                <a:cs typeface="Aptos"/>
              </a:defRPr>
            </a:pPr>
            <a:r>
              <a:rPr sz="1575" b="1">
                <a:solidFill>
                  <a:srgbClr val="082638"/>
                </a:solidFill>
                <a:latin typeface="Aptos"/>
                <a:ea typeface="Aptos"/>
                <a:cs typeface="Aptos"/>
              </a:rPr>
              <a:t>Who edits, signs, escalates and audits?</a:t>
            </a:r>
          </a:p>
        </p:txBody>
      </p:sp>
      <p:sp>
        <p:nvSpPr>
          <p:cNvPr id="15" name="">
            <a:extLst xmlns:a="http://schemas.openxmlformats.org/drawingml/2006/main">
              <a:ext uri="{FF2B5EF4-FFF2-40B4-BE49-F238E27FC236}">
                <a16:creationId xmlns:a16="http://schemas.microsoft.com/office/drawing/2014/main" id="{F7750E81-9B01-44A7-B3C7-E8171B247399}"/>
              </a:ext>
            </a:extLst>
          </p:cNvPr>
          <p:cNvSpPr>
            <a:spLocks xmlns:a="http://schemas.openxmlformats.org/drawingml/2006/main" noGrp="1"/>
          </p:cNvSpPr>
          <p:nvPr/>
        </p:nvSpPr>
        <p:spPr>
          <a:xfrm xmlns:a="http://schemas.openxmlformats.org/drawingml/2006/main">
            <a:off x="714375" y="3067050"/>
            <a:ext cx="10144125"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16" name="">
            <a:extLst xmlns:a="http://schemas.openxmlformats.org/drawingml/2006/main">
              <a:ext uri="{FF2B5EF4-FFF2-40B4-BE49-F238E27FC236}">
                <a16:creationId xmlns:a16="http://schemas.microsoft.com/office/drawing/2014/main" id="{9CC9A541-5EB9-4E76-95D8-0EB1831EAD15}"/>
              </a:ext>
            </a:extLst>
          </p:cNvPr>
          <p:cNvSpPr>
            <a:spLocks xmlns:a="http://schemas.openxmlformats.org/drawingml/2006/main" noGrp="1"/>
          </p:cNvSpPr>
          <p:nvPr/>
        </p:nvSpPr>
        <p:spPr>
          <a:xfrm xmlns:a="http://schemas.openxmlformats.org/drawingml/2006/main">
            <a:off x="714375" y="3324225"/>
            <a:ext cx="14287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WORKLOAD</a:t>
            </a:r>
          </a:p>
        </p:txBody>
      </p:sp>
      <p:sp>
        <p:nvSpPr>
          <p:cNvPr id="17" name="">
            <a:extLst xmlns:a="http://schemas.openxmlformats.org/drawingml/2006/main">
              <a:ext uri="{FF2B5EF4-FFF2-40B4-BE49-F238E27FC236}">
                <a16:creationId xmlns:a16="http://schemas.microsoft.com/office/drawing/2014/main" id="{C7EF1140-7FC2-44E5-9973-788A37D6BF33}"/>
              </a:ext>
            </a:extLst>
          </p:cNvPr>
          <p:cNvSpPr>
            <a:spLocks xmlns:a="http://schemas.openxmlformats.org/drawingml/2006/main" noGrp="1"/>
          </p:cNvSpPr>
          <p:nvPr/>
        </p:nvSpPr>
        <p:spPr>
          <a:xfrm xmlns:a="http://schemas.openxmlformats.org/drawingml/2006/main">
            <a:off x="2381250" y="33337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75" b="1">
                <a:solidFill>
                  <a:srgbClr val="082638"/>
                </a:solidFill>
                <a:latin typeface="Aptos"/>
                <a:ea typeface="Aptos"/>
                <a:cs typeface="Aptos"/>
              </a:defRPr>
            </a:pPr>
            <a:r>
              <a:rPr sz="1575" b="1">
                <a:solidFill>
                  <a:srgbClr val="082638"/>
                </a:solidFill>
                <a:latin typeface="Aptos"/>
                <a:ea typeface="Aptos"/>
                <a:cs typeface="Aptos"/>
              </a:rPr>
              <a:t>What new review work appears?</a:t>
            </a:r>
          </a:p>
        </p:txBody>
      </p:sp>
      <p:sp>
        <p:nvSpPr>
          <p:cNvPr id="18" name="">
            <a:extLst xmlns:a="http://schemas.openxmlformats.org/drawingml/2006/main">
              <a:ext uri="{FF2B5EF4-FFF2-40B4-BE49-F238E27FC236}">
                <a16:creationId xmlns:a16="http://schemas.microsoft.com/office/drawing/2014/main" id="{3DE9DC31-887C-4564-A5DD-F7CE33B72A2A}"/>
              </a:ext>
            </a:extLst>
          </p:cNvPr>
          <p:cNvSpPr>
            <a:spLocks xmlns:a="http://schemas.openxmlformats.org/drawingml/2006/main" noGrp="1"/>
          </p:cNvSpPr>
          <p:nvPr/>
        </p:nvSpPr>
        <p:spPr>
          <a:xfrm xmlns:a="http://schemas.openxmlformats.org/drawingml/2006/main">
            <a:off x="714375" y="3848100"/>
            <a:ext cx="10144125"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19" name="">
            <a:extLst xmlns:a="http://schemas.openxmlformats.org/drawingml/2006/main">
              <a:ext uri="{FF2B5EF4-FFF2-40B4-BE49-F238E27FC236}">
                <a16:creationId xmlns:a16="http://schemas.microsoft.com/office/drawing/2014/main" id="{E5A47224-4C0D-4B27-BA3C-9B60F1326990}"/>
              </a:ext>
            </a:extLst>
          </p:cNvPr>
          <p:cNvSpPr>
            <a:spLocks xmlns:a="http://schemas.openxmlformats.org/drawingml/2006/main" noGrp="1"/>
          </p:cNvSpPr>
          <p:nvPr/>
        </p:nvSpPr>
        <p:spPr>
          <a:xfrm xmlns:a="http://schemas.openxmlformats.org/drawingml/2006/main">
            <a:off x="714375" y="4105275"/>
            <a:ext cx="14287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MEASURES</a:t>
            </a:r>
          </a:p>
        </p:txBody>
      </p:sp>
      <p:sp>
        <p:nvSpPr>
          <p:cNvPr id="20" name="">
            <a:extLst xmlns:a="http://schemas.openxmlformats.org/drawingml/2006/main">
              <a:ext uri="{FF2B5EF4-FFF2-40B4-BE49-F238E27FC236}">
                <a16:creationId xmlns:a16="http://schemas.microsoft.com/office/drawing/2014/main" id="{59D6BB3E-DEF7-49AF-A524-849610B146A3}"/>
              </a:ext>
            </a:extLst>
          </p:cNvPr>
          <p:cNvSpPr>
            <a:spLocks xmlns:a="http://schemas.openxmlformats.org/drawingml/2006/main" noGrp="1"/>
          </p:cNvSpPr>
          <p:nvPr/>
        </p:nvSpPr>
        <p:spPr>
          <a:xfrm xmlns:a="http://schemas.openxmlformats.org/drawingml/2006/main">
            <a:off x="2381250" y="411480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75" b="1">
                <a:solidFill>
                  <a:srgbClr val="082638"/>
                </a:solidFill>
                <a:latin typeface="Aptos"/>
                <a:ea typeface="Aptos"/>
                <a:cs typeface="Aptos"/>
              </a:defRPr>
            </a:pPr>
            <a:r>
              <a:rPr sz="1575" b="1">
                <a:solidFill>
                  <a:srgbClr val="082638"/>
                </a:solidFill>
                <a:latin typeface="Aptos"/>
                <a:ea typeface="Aptos"/>
                <a:cs typeface="Aptos"/>
              </a:rPr>
              <a:t>Attention, accuracy, burden, equity and experience</a:t>
            </a:r>
          </a:p>
        </p:txBody>
      </p:sp>
      <p:sp>
        <p:nvSpPr>
          <p:cNvPr id="21" name="">
            <a:extLst xmlns:a="http://schemas.openxmlformats.org/drawingml/2006/main">
              <a:ext uri="{FF2B5EF4-FFF2-40B4-BE49-F238E27FC236}">
                <a16:creationId xmlns:a16="http://schemas.microsoft.com/office/drawing/2014/main" id="{F08DDDD0-008F-43B7-8175-1006FA0EB1CC}"/>
              </a:ext>
            </a:extLst>
          </p:cNvPr>
          <p:cNvSpPr>
            <a:spLocks xmlns:a="http://schemas.openxmlformats.org/drawingml/2006/main" noGrp="1"/>
          </p:cNvSpPr>
          <p:nvPr/>
        </p:nvSpPr>
        <p:spPr>
          <a:xfrm xmlns:a="http://schemas.openxmlformats.org/drawingml/2006/main">
            <a:off x="714375" y="4629150"/>
            <a:ext cx="10144125"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22" name="">
            <a:extLst xmlns:a="http://schemas.openxmlformats.org/drawingml/2006/main">
              <a:ext uri="{FF2B5EF4-FFF2-40B4-BE49-F238E27FC236}">
                <a16:creationId xmlns:a16="http://schemas.microsoft.com/office/drawing/2014/main" id="{05C02C2C-9E83-42A9-A970-5C3E1D4C515F}"/>
              </a:ext>
            </a:extLst>
          </p:cNvPr>
          <p:cNvSpPr>
            <a:spLocks xmlns:a="http://schemas.openxmlformats.org/drawingml/2006/main" noGrp="1"/>
          </p:cNvSpPr>
          <p:nvPr/>
        </p:nvSpPr>
        <p:spPr>
          <a:xfrm xmlns:a="http://schemas.openxmlformats.org/drawingml/2006/main">
            <a:off x="714375" y="4886325"/>
            <a:ext cx="14287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STOP RULE</a:t>
            </a:r>
          </a:p>
        </p:txBody>
      </p:sp>
      <p:sp>
        <p:nvSpPr>
          <p:cNvPr id="23" name="">
            <a:extLst xmlns:a="http://schemas.openxmlformats.org/drawingml/2006/main">
              <a:ext uri="{FF2B5EF4-FFF2-40B4-BE49-F238E27FC236}">
                <a16:creationId xmlns:a16="http://schemas.microsoft.com/office/drawing/2014/main" id="{8F556EF3-F0E0-4BB1-8937-8B1A8A7A2FB8}"/>
              </a:ext>
            </a:extLst>
          </p:cNvPr>
          <p:cNvSpPr>
            <a:spLocks xmlns:a="http://schemas.openxmlformats.org/drawingml/2006/main" noGrp="1"/>
          </p:cNvSpPr>
          <p:nvPr/>
        </p:nvSpPr>
        <p:spPr>
          <a:xfrm xmlns:a="http://schemas.openxmlformats.org/drawingml/2006/main">
            <a:off x="2381250" y="48958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75" b="1">
                <a:solidFill>
                  <a:srgbClr val="082638"/>
                </a:solidFill>
                <a:latin typeface="Aptos"/>
                <a:ea typeface="Aptos"/>
                <a:cs typeface="Aptos"/>
              </a:defRPr>
            </a:pPr>
            <a:r>
              <a:rPr sz="1575" b="1">
                <a:solidFill>
                  <a:srgbClr val="082638"/>
                </a:solidFill>
                <a:latin typeface="Aptos"/>
                <a:ea typeface="Aptos"/>
                <a:cs typeface="Aptos"/>
              </a:rPr>
              <a:t>What error or harm pauses the pilot?</a:t>
            </a:r>
          </a:p>
        </p:txBody>
      </p:sp>
      <p:sp>
        <p:nvSpPr>
          <p:cNvPr id="24" name="">
            <a:extLst xmlns:a="http://schemas.openxmlformats.org/drawingml/2006/main">
              <a:ext uri="{FF2B5EF4-FFF2-40B4-BE49-F238E27FC236}">
                <a16:creationId xmlns:a16="http://schemas.microsoft.com/office/drawing/2014/main" id="{846E5CC6-D8C4-4214-B99A-597B0BC967D9}"/>
              </a:ext>
            </a:extLst>
          </p:cNvPr>
          <p:cNvSpPr>
            <a:spLocks xmlns:a="http://schemas.openxmlformats.org/drawingml/2006/main" noGrp="1"/>
          </p:cNvSpPr>
          <p:nvPr/>
        </p:nvSpPr>
        <p:spPr>
          <a:xfrm xmlns:a="http://schemas.openxmlformats.org/drawingml/2006/main">
            <a:off x="714375" y="5410200"/>
            <a:ext cx="10144125"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Tree>
    <p:extLst>
      <p:ext uri="{BB962C8B-B14F-4D97-AF65-F5344CB8AC3E}">
        <p14:creationId xmlns:p14="http://schemas.microsoft.com/office/powerpoint/2010/main" val="1377362099"/>
      </p:ext>
    </p:extLst>
  </p:cSld>
</p:sld>
</file>

<file path=ppt/slides/slide14.xml><?xml version="1.0" encoding="utf-8"?>
<p:sld xmlns:p="http://schemas.openxmlformats.org/presentationml/2006/main">
  <p:cSld>
    <p:bg>
      <p:bgPr>
        <a:solidFill xmlns:a="http://schemas.openxmlformats.org/drawingml/2006/main">
          <a:srgbClr val="C5902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B17CBBC-E640-4D8B-83B5-1CAE53F72D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C59028"/>
          </a:solidFill>
          <a:ln xmlns:a="http://schemas.openxmlformats.org/drawingml/2006/main" w="0">
            <a:solidFill>
              <a:srgbClr val="C59028"/>
            </a:solidFill>
            <a:prstDash val="solid"/>
          </a:ln>
        </p:spPr>
      </p:sp>
      <p:sp>
        <p:nvSpPr>
          <p:cNvPr id="2" name="">
            <a:extLst xmlns:a="http://schemas.openxmlformats.org/drawingml/2006/main">
              <a:ext uri="{FF2B5EF4-FFF2-40B4-BE49-F238E27FC236}">
                <a16:creationId xmlns:a16="http://schemas.microsoft.com/office/drawing/2014/main" id="{352D01D3-32E4-49F9-85E6-D5E55C7AF421}"/>
              </a:ext>
            </a:extLst>
          </p:cNvPr>
          <p:cNvSpPr>
            <a:spLocks xmlns:a="http://schemas.openxmlformats.org/drawingml/2006/main" noGrp="1"/>
          </p:cNvSpPr>
          <p:nvPr/>
        </p:nvSpPr>
        <p:spPr>
          <a:xfrm xmlns:a="http://schemas.openxmlformats.org/drawingml/2006/main">
            <a:off x="666750" y="590550"/>
            <a:ext cx="18097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C59028"/>
                </a:solidFill>
                <a:latin typeface="Aptos"/>
                <a:ea typeface="Aptos"/>
                <a:cs typeface="Aptos"/>
              </a:defRPr>
            </a:pPr>
            <a:r>
              <a:rPr sz="863" b="1">
                <a:solidFill>
                  <a:srgbClr val="C59028"/>
                </a:solidFill>
                <a:latin typeface="Aptos"/>
                <a:ea typeface="Aptos"/>
                <a:cs typeface="Aptos"/>
              </a:rPr>
              <a:t>CASE BLOCK</a:t>
            </a:r>
          </a:p>
        </p:txBody>
      </p:sp>
      <p:sp>
        <p:nvSpPr>
          <p:cNvPr id="3" name="">
            <a:extLst xmlns:a="http://schemas.openxmlformats.org/drawingml/2006/main">
              <a:ext uri="{FF2B5EF4-FFF2-40B4-BE49-F238E27FC236}">
                <a16:creationId xmlns:a16="http://schemas.microsoft.com/office/drawing/2014/main" id="{41205568-B845-42D9-BDEC-3C665EF6C459}"/>
              </a:ext>
            </a:extLst>
          </p:cNvPr>
          <p:cNvSpPr>
            <a:spLocks xmlns:a="http://schemas.openxmlformats.org/drawingml/2006/main" noGrp="1"/>
          </p:cNvSpPr>
          <p:nvPr/>
        </p:nvSpPr>
        <p:spPr>
          <a:xfrm xmlns:a="http://schemas.openxmlformats.org/drawingml/2006/main">
            <a:off x="666750" y="1476375"/>
            <a:ext cx="10572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4050" b="1">
                <a:solidFill>
                  <a:srgbClr val="FFFFFF"/>
                </a:solidFill>
                <a:latin typeface="Aptos"/>
                <a:ea typeface="Aptos"/>
                <a:cs typeface="Aptos"/>
              </a:defRPr>
            </a:pPr>
            <a:r>
              <a:rPr sz="4050" b="1">
                <a:solidFill>
                  <a:srgbClr val="FFFFFF"/>
                </a:solidFill>
                <a:latin typeface="Aptos"/>
                <a:ea typeface="Aptos"/>
                <a:cs typeface="Aptos"/>
              </a:rPr>
              <a:t>Learning and future readiness</a:t>
            </a:r>
          </a:p>
        </p:txBody>
      </p:sp>
      <p:sp>
        <p:nvSpPr>
          <p:cNvPr id="4" name="">
            <a:extLst xmlns:a="http://schemas.openxmlformats.org/drawingml/2006/main">
              <a:ext uri="{FF2B5EF4-FFF2-40B4-BE49-F238E27FC236}">
                <a16:creationId xmlns:a16="http://schemas.microsoft.com/office/drawing/2014/main" id="{9DCB4E8F-42D1-40EB-87D1-B447110E84A3}"/>
              </a:ext>
            </a:extLst>
          </p:cNvPr>
          <p:cNvSpPr>
            <a:spLocks xmlns:a="http://schemas.openxmlformats.org/drawingml/2006/main" noGrp="1"/>
          </p:cNvSpPr>
          <p:nvPr/>
        </p:nvSpPr>
        <p:spPr>
          <a:xfrm xmlns:a="http://schemas.openxmlformats.org/drawingml/2006/main">
            <a:off x="704850" y="321945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0">
                <a:solidFill>
                  <a:srgbClr val="FFFFFF"/>
                </a:solidFill>
                <a:latin typeface="Aptos"/>
                <a:ea typeface="Aptos"/>
                <a:cs typeface="Aptos"/>
              </a:defRPr>
            </a:pPr>
            <a:r>
              <a:rPr sz="1950" b="0">
                <a:solidFill>
                  <a:srgbClr val="FFFFFF"/>
                </a:solidFill>
                <a:latin typeface="Aptos"/>
                <a:ea typeface="Aptos"/>
                <a:cs typeface="Aptos"/>
              </a:rPr>
              <a:t>AI can accelerate preparation and make futures vivid; faculty and professionals must protect reasoning, originality and values.</a:t>
            </a:r>
          </a:p>
        </p:txBody>
      </p:sp>
      <p:sp>
        <p:nvSpPr>
          <p:cNvPr id="5" name="">
            <a:extLst xmlns:a="http://schemas.openxmlformats.org/drawingml/2006/main">
              <a:ext uri="{FF2B5EF4-FFF2-40B4-BE49-F238E27FC236}">
                <a16:creationId xmlns:a16="http://schemas.microsoft.com/office/drawing/2014/main" id="{BD2E3B85-C62A-4FCF-A4BA-FE3CAC4C4506}"/>
              </a:ext>
            </a:extLst>
          </p:cNvPr>
          <p:cNvSpPr>
            <a:spLocks xmlns:a="http://schemas.openxmlformats.org/drawingml/2006/main" noGrp="1"/>
          </p:cNvSpPr>
          <p:nvPr/>
        </p:nvSpPr>
        <p:spPr>
          <a:xfrm xmlns:a="http://schemas.openxmlformats.org/drawingml/2006/main">
            <a:off x="704850" y="4495800"/>
            <a:ext cx="66675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AF4C4CFB-5097-463C-A68C-980B3757DD64}"/>
              </a:ext>
            </a:extLst>
          </p:cNvPr>
          <p:cNvSpPr>
            <a:spLocks xmlns:a="http://schemas.openxmlformats.org/drawingml/2006/main" noGrp="1"/>
          </p:cNvSpPr>
          <p:nvPr/>
        </p:nvSpPr>
        <p:spPr>
          <a:xfrm xmlns:a="http://schemas.openxmlformats.org/drawingml/2006/main">
            <a:off x="704850" y="4762500"/>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FFFFFF"/>
                </a:solidFill>
                <a:latin typeface="Aptos"/>
                <a:ea typeface="Aptos"/>
                <a:cs typeface="Aptos"/>
              </a:defRPr>
            </a:pPr>
            <a:r>
              <a:rPr sz="1500" b="1">
                <a:solidFill>
                  <a:srgbClr val="FFFFFF"/>
                </a:solidFill>
                <a:latin typeface="Aptos"/>
                <a:ea typeface="Aptos"/>
                <a:cs typeface="Aptos"/>
              </a:rPr>
              <a:t>AI assists  •  Professionals decide  •  Patients remain the purpose</a:t>
            </a:r>
          </a:p>
        </p:txBody>
      </p:sp>
      <p:sp>
        <p:nvSpPr>
          <p:cNvPr id="7" name="">
            <a:extLst xmlns:a="http://schemas.openxmlformats.org/drawingml/2006/main">
              <a:ext uri="{FF2B5EF4-FFF2-40B4-BE49-F238E27FC236}">
                <a16:creationId xmlns:a16="http://schemas.microsoft.com/office/drawing/2014/main" id="{AE826E89-7A92-411C-A23F-932BF41721A2}"/>
              </a:ext>
            </a:extLst>
          </p:cNvPr>
          <p:cNvSpPr>
            <a:spLocks xmlns:a="http://schemas.openxmlformats.org/drawingml/2006/main" noGrp="1"/>
          </p:cNvSpPr>
          <p:nvPr/>
        </p:nvSpPr>
        <p:spPr>
          <a:xfrm xmlns:a="http://schemas.openxmlformats.org/drawingml/2006/main">
            <a:off x="11049000" y="62103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75" b="1">
                <a:solidFill>
                  <a:srgbClr val="FFFFFF"/>
                </a:solidFill>
                <a:latin typeface="Aptos"/>
                <a:ea typeface="Aptos"/>
                <a:cs typeface="Aptos"/>
              </a:defRPr>
            </a:pPr>
            <a:r>
              <a:rPr sz="975" b="1">
                <a:solidFill>
                  <a:srgbClr val="FFFFFF"/>
                </a:solidFill>
                <a:latin typeface="Aptos"/>
                <a:ea typeface="Aptos"/>
                <a:cs typeface="Aptos"/>
              </a:rPr>
              <a:t>14</a:t>
            </a:r>
          </a:p>
        </p:txBody>
      </p:sp>
    </p:spTree>
    <p:extLst>
      <p:ext uri="{BB962C8B-B14F-4D97-AF65-F5344CB8AC3E}">
        <p14:creationId xmlns:p14="http://schemas.microsoft.com/office/powerpoint/2010/main" val="869597583"/>
      </p:ext>
    </p:extLst>
  </p:cSld>
</p:sld>
</file>

<file path=ppt/slides/slide15.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48CD84-3D53-457E-83D6-5DDF7B0879C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C59028"/>
          </a:solidFill>
          <a:ln xmlns:a="http://schemas.openxmlformats.org/drawingml/2006/main" w="0">
            <a:solidFill>
              <a:srgbClr val="C59028"/>
            </a:solidFill>
            <a:prstDash val="solid"/>
          </a:ln>
        </p:spPr>
      </p:sp>
      <p:sp>
        <p:nvSpPr>
          <p:cNvPr id="2" name="">
            <a:extLst xmlns:a="http://schemas.openxmlformats.org/drawingml/2006/main">
              <a:ext uri="{FF2B5EF4-FFF2-40B4-BE49-F238E27FC236}">
                <a16:creationId xmlns:a16="http://schemas.microsoft.com/office/drawing/2014/main" id="{656802F9-A720-4BA7-928C-6AC55A6A4245}"/>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3</a:t>
            </a:r>
          </a:p>
        </p:txBody>
      </p:sp>
      <p:sp>
        <p:nvSpPr>
          <p:cNvPr id="3" name="">
            <a:extLst xmlns:a="http://schemas.openxmlformats.org/drawingml/2006/main">
              <a:ext uri="{FF2B5EF4-FFF2-40B4-BE49-F238E27FC236}">
                <a16:creationId xmlns:a16="http://schemas.microsoft.com/office/drawing/2014/main" id="{E62ADD46-3C8A-413D-9632-C32FE5425198}"/>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China teaching: Generative AI in case-based medical learning</a:t>
            </a:r>
          </a:p>
        </p:txBody>
      </p:sp>
      <p:sp>
        <p:nvSpPr>
          <p:cNvPr id="4" name="">
            <a:extLst xmlns:a="http://schemas.openxmlformats.org/drawingml/2006/main">
              <a:ext uri="{FF2B5EF4-FFF2-40B4-BE49-F238E27FC236}">
                <a16:creationId xmlns:a16="http://schemas.microsoft.com/office/drawing/2014/main" id="{BE14CE19-37D5-439B-B902-2395604AC1E8}"/>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89A910A1-1B32-44DB-8B11-122F6DC335C9}"/>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AAE7918A-3E93-45CD-B0A7-13603E8A1286}"/>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C2A9B926-E6BD-4B20-85B2-6CB3FAF93AA6}"/>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Source: https://link.springer.com/article/10.1186/s12909-025-07567-z</a:t>
            </a:r>
          </a:p>
        </p:txBody>
      </p:sp>
      <p:sp>
        <p:nvSpPr>
          <p:cNvPr id="8" name="">
            <a:extLst xmlns:a="http://schemas.openxmlformats.org/drawingml/2006/main">
              <a:ext uri="{FF2B5EF4-FFF2-40B4-BE49-F238E27FC236}">
                <a16:creationId xmlns:a16="http://schemas.microsoft.com/office/drawing/2014/main" id="{A6902560-7EFA-4FF4-8C5F-A8365DBA31A5}"/>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4560394B-EA3A-4C52-AF59-B71686B29FB7}"/>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15</a:t>
            </a:r>
          </a:p>
        </p:txBody>
      </p:sp>
      <p:sp>
        <p:nvSpPr>
          <p:cNvPr id="10" name="">
            <a:extLst xmlns:a="http://schemas.openxmlformats.org/drawingml/2006/main">
              <a:ext uri="{FF2B5EF4-FFF2-40B4-BE49-F238E27FC236}">
                <a16:creationId xmlns:a16="http://schemas.microsoft.com/office/drawing/2014/main" id="{305BE6C8-6519-4878-AB01-98A2EEA9E1A9}"/>
              </a:ext>
            </a:extLst>
          </p:cNvPr>
          <p:cNvSpPr>
            <a:spLocks xmlns:a="http://schemas.openxmlformats.org/drawingml/2006/main" noGrp="1"/>
          </p:cNvSpPr>
          <p:nvPr/>
        </p:nvSpPr>
        <p:spPr>
          <a:xfrm xmlns:a="http://schemas.openxmlformats.org/drawingml/2006/main">
            <a:off x="609600" y="1714500"/>
            <a:ext cx="4953000" cy="4095750"/>
          </a:xfrm>
          <a:prstGeom xmlns:a="http://schemas.openxmlformats.org/drawingml/2006/main" prst="roundRect">
            <a:avLst>
              <a:gd name="adj" fmla="val 4651"/>
            </a:avLst>
          </a:prstGeom>
          <a:solidFill xmlns:a="http://schemas.openxmlformats.org/drawingml/2006/main">
            <a:srgbClr val="FFFDFC"/>
          </a:solidFill>
          <a:ln xmlns:a="http://schemas.openxmlformats.org/drawingml/2006/main" w="9525">
            <a:solidFill>
              <a:srgbClr val="C5902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57818CA8-B490-4012-8473-A6CAAA450AD3}"/>
              </a:ext>
            </a:extLst>
          </p:cNvPr>
          <p:cNvSpPr>
            <a:spLocks xmlns:a="http://schemas.openxmlformats.org/drawingml/2006/main" noGrp="1"/>
          </p:cNvSpPr>
          <p:nvPr/>
        </p:nvSpPr>
        <p:spPr>
          <a:xfrm xmlns:a="http://schemas.openxmlformats.org/drawingml/2006/main">
            <a:off x="838200" y="1924050"/>
            <a:ext cx="40957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2025 COMPARATIVE EDUCATIONAL STUDY</a:t>
            </a:r>
          </a:p>
        </p:txBody>
      </p:sp>
      <p:sp>
        <p:nvSpPr>
          <p:cNvPr id="12" name="">
            <a:extLst xmlns:a="http://schemas.openxmlformats.org/drawingml/2006/main">
              <a:ext uri="{FF2B5EF4-FFF2-40B4-BE49-F238E27FC236}">
                <a16:creationId xmlns:a16="http://schemas.microsoft.com/office/drawing/2014/main" id="{36D2D496-8047-4658-9A99-52413BAC6E30}"/>
              </a:ext>
            </a:extLst>
          </p:cNvPr>
          <p:cNvSpPr>
            <a:spLocks xmlns:a="http://schemas.openxmlformats.org/drawingml/2006/main" noGrp="1"/>
          </p:cNvSpPr>
          <p:nvPr/>
        </p:nvSpPr>
        <p:spPr>
          <a:xfrm xmlns:a="http://schemas.openxmlformats.org/drawingml/2006/main">
            <a:off x="838200" y="23622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Chengdu Medical College; 79 students, control n=40 and AI group n=39</a:t>
            </a:r>
          </a:p>
        </p:txBody>
      </p:sp>
      <p:sp>
        <p:nvSpPr>
          <p:cNvPr id="13" name="">
            <a:extLst xmlns:a="http://schemas.openxmlformats.org/drawingml/2006/main">
              <a:ext uri="{FF2B5EF4-FFF2-40B4-BE49-F238E27FC236}">
                <a16:creationId xmlns:a16="http://schemas.microsoft.com/office/drawing/2014/main" id="{CCF45DB8-C8F9-4D1C-A27E-8A57F9FDF76A}"/>
              </a:ext>
            </a:extLst>
          </p:cNvPr>
          <p:cNvSpPr>
            <a:spLocks xmlns:a="http://schemas.openxmlformats.org/drawingml/2006/main" noGrp="1"/>
          </p:cNvSpPr>
          <p:nvPr/>
        </p:nvSpPr>
        <p:spPr>
          <a:xfrm xmlns:a="http://schemas.openxmlformats.org/drawingml/2006/main">
            <a:off x="838200" y="30099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C59028"/>
                </a:solidFill>
                <a:latin typeface="Aptos"/>
                <a:ea typeface="Aptos"/>
                <a:cs typeface="Aptos"/>
              </a:defRPr>
            </a:pPr>
            <a:r>
              <a:rPr sz="1050" b="1">
                <a:solidFill>
                  <a:srgbClr val="C59028"/>
                </a:solidFill>
                <a:latin typeface="Aptos"/>
                <a:ea typeface="Aptos"/>
                <a:cs typeface="Aptos"/>
              </a:rPr>
              <a:t>AI + workflow</a:t>
            </a:r>
          </a:p>
        </p:txBody>
      </p:sp>
      <p:sp>
        <p:nvSpPr>
          <p:cNvPr id="14" name="">
            <a:extLst xmlns:a="http://schemas.openxmlformats.org/drawingml/2006/main">
              <a:ext uri="{FF2B5EF4-FFF2-40B4-BE49-F238E27FC236}">
                <a16:creationId xmlns:a16="http://schemas.microsoft.com/office/drawing/2014/main" id="{8A028A18-21A3-4479-B29E-FBB5E35BF925}"/>
              </a:ext>
            </a:extLst>
          </p:cNvPr>
          <p:cNvSpPr>
            <a:spLocks xmlns:a="http://schemas.openxmlformats.org/drawingml/2006/main" noGrp="1"/>
          </p:cNvSpPr>
          <p:nvPr/>
        </p:nvSpPr>
        <p:spPr>
          <a:xfrm xmlns:a="http://schemas.openxmlformats.org/drawingml/2006/main">
            <a:off x="838200" y="3295650"/>
            <a:ext cx="4286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0">
                <a:solidFill>
                  <a:srgbClr val="183340"/>
                </a:solidFill>
                <a:latin typeface="Aptos"/>
                <a:ea typeface="Aptos"/>
                <a:cs typeface="Aptos"/>
              </a:defRPr>
            </a:pPr>
            <a:r>
              <a:rPr sz="1275" b="0">
                <a:solidFill>
                  <a:srgbClr val="183340"/>
                </a:solidFill>
                <a:latin typeface="Aptos"/>
                <a:ea typeface="Aptos"/>
                <a:cs typeface="Aptos"/>
              </a:rPr>
              <a:t>Kimi Chat 2.0 used to research and present a liver-cancer case</a:t>
            </a:r>
          </a:p>
        </p:txBody>
      </p:sp>
      <p:sp>
        <p:nvSpPr>
          <p:cNvPr id="15" name="">
            <a:extLst xmlns:a="http://schemas.openxmlformats.org/drawingml/2006/main">
              <a:ext uri="{FF2B5EF4-FFF2-40B4-BE49-F238E27FC236}">
                <a16:creationId xmlns:a16="http://schemas.microsoft.com/office/drawing/2014/main" id="{4EC9EDEF-CBC5-4409-AA4E-F8DB0EEE3583}"/>
              </a:ext>
            </a:extLst>
          </p:cNvPr>
          <p:cNvSpPr>
            <a:spLocks xmlns:a="http://schemas.openxmlformats.org/drawingml/2006/main" noGrp="1"/>
          </p:cNvSpPr>
          <p:nvPr/>
        </p:nvSpPr>
        <p:spPr>
          <a:xfrm xmlns:a="http://schemas.openxmlformats.org/drawingml/2006/main">
            <a:off x="838200" y="42957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C59028"/>
                </a:solidFill>
                <a:latin typeface="Aptos"/>
                <a:ea typeface="Aptos"/>
                <a:cs typeface="Aptos"/>
              </a:defRPr>
            </a:pPr>
            <a:r>
              <a:rPr sz="1050" b="1">
                <a:solidFill>
                  <a:srgbClr val="C59028"/>
                </a:solidFill>
                <a:latin typeface="Aptos"/>
                <a:ea typeface="Aptos"/>
                <a:cs typeface="Aptos"/>
              </a:rPr>
              <a:t>Reported result</a:t>
            </a:r>
          </a:p>
        </p:txBody>
      </p:sp>
      <p:sp>
        <p:nvSpPr>
          <p:cNvPr id="16" name="">
            <a:extLst xmlns:a="http://schemas.openxmlformats.org/drawingml/2006/main">
              <a:ext uri="{FF2B5EF4-FFF2-40B4-BE49-F238E27FC236}">
                <a16:creationId xmlns:a16="http://schemas.microsoft.com/office/drawing/2014/main" id="{3E8A3785-5DDE-4681-A571-E80C44BB3158}"/>
              </a:ext>
            </a:extLst>
          </p:cNvPr>
          <p:cNvSpPr>
            <a:spLocks xmlns:a="http://schemas.openxmlformats.org/drawingml/2006/main" noGrp="1"/>
          </p:cNvSpPr>
          <p:nvPr/>
        </p:nvSpPr>
        <p:spPr>
          <a:xfrm xmlns:a="http://schemas.openxmlformats.org/drawingml/2006/main">
            <a:off x="838200" y="4581525"/>
            <a:ext cx="4286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Assignment time was 2.6 vs 5.5 hours; final scores 77.3±4.3 vs 66.5±5.4; teacher questions fell from 35 to 10.</a:t>
            </a:r>
          </a:p>
        </p:txBody>
      </p:sp>
      <p:sp>
        <p:nvSpPr>
          <p:cNvPr id="17" name="">
            <a:extLst xmlns:a="http://schemas.openxmlformats.org/drawingml/2006/main">
              <a:ext uri="{FF2B5EF4-FFF2-40B4-BE49-F238E27FC236}">
                <a16:creationId xmlns:a16="http://schemas.microsoft.com/office/drawing/2014/main" id="{F8A6C17F-D31F-4427-A1B6-811E54DCCE9D}"/>
              </a:ext>
            </a:extLst>
          </p:cNvPr>
          <p:cNvSpPr>
            <a:spLocks xmlns:a="http://schemas.openxmlformats.org/drawingml/2006/main" noGrp="1"/>
          </p:cNvSpPr>
          <p:nvPr/>
        </p:nvSpPr>
        <p:spPr>
          <a:xfrm xmlns:a="http://schemas.openxmlformats.org/drawingml/2006/main">
            <a:off x="5905500" y="1714500"/>
            <a:ext cx="5391150" cy="1752600"/>
          </a:xfrm>
          <a:prstGeom xmlns:a="http://schemas.openxmlformats.org/drawingml/2006/main" prst="roundRect">
            <a:avLst>
              <a:gd name="adj" fmla="val 10870"/>
            </a:avLst>
          </a:prstGeom>
          <a:solidFill xmlns:a="http://schemas.openxmlformats.org/drawingml/2006/main">
            <a:srgbClr val="FBE7DF"/>
          </a:solidFill>
          <a:ln xmlns:a="http://schemas.openxmlformats.org/drawingml/2006/main" w="9525">
            <a:solidFill>
              <a:srgbClr val="E8694A"/>
            </a:solidFill>
            <a:prstDash val="solid"/>
          </a:ln>
        </p:spPr>
      </p:sp>
      <p:sp>
        <p:nvSpPr>
          <p:cNvPr id="18" name="">
            <a:extLst xmlns:a="http://schemas.openxmlformats.org/drawingml/2006/main">
              <a:ext uri="{FF2B5EF4-FFF2-40B4-BE49-F238E27FC236}">
                <a16:creationId xmlns:a16="http://schemas.microsoft.com/office/drawing/2014/main" id="{0245C828-66D2-4228-A873-E9D4676E04E4}"/>
              </a:ext>
            </a:extLst>
          </p:cNvPr>
          <p:cNvSpPr>
            <a:spLocks xmlns:a="http://schemas.openxmlformats.org/drawingml/2006/main" noGrp="1"/>
          </p:cNvSpPr>
          <p:nvPr/>
        </p:nvSpPr>
        <p:spPr>
          <a:xfrm xmlns:a="http://schemas.openxmlformats.org/drawingml/2006/main">
            <a:off x="6153150" y="19240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B7433D"/>
                </a:solidFill>
                <a:latin typeface="Aptos"/>
                <a:ea typeface="Aptos"/>
                <a:cs typeface="Aptos"/>
              </a:defRPr>
            </a:pPr>
            <a:r>
              <a:rPr sz="1050" b="1">
                <a:solidFill>
                  <a:srgbClr val="B7433D"/>
                </a:solidFill>
                <a:latin typeface="Aptos"/>
                <a:ea typeface="Aptos"/>
                <a:cs typeface="Aptos"/>
              </a:rPr>
              <a:t>EVIDENCE LIMIT</a:t>
            </a:r>
          </a:p>
        </p:txBody>
      </p:sp>
      <p:sp>
        <p:nvSpPr>
          <p:cNvPr id="19" name="">
            <a:extLst xmlns:a="http://schemas.openxmlformats.org/drawingml/2006/main">
              <a:ext uri="{FF2B5EF4-FFF2-40B4-BE49-F238E27FC236}">
                <a16:creationId xmlns:a16="http://schemas.microsoft.com/office/drawing/2014/main" id="{9CD97C19-0F03-4A49-B60C-609FBC3700CC}"/>
              </a:ext>
            </a:extLst>
          </p:cNvPr>
          <p:cNvSpPr>
            <a:spLocks xmlns:a="http://schemas.openxmlformats.org/drawingml/2006/main" noGrp="1"/>
          </p:cNvSpPr>
          <p:nvPr/>
        </p:nvSpPr>
        <p:spPr>
          <a:xfrm xmlns:a="http://schemas.openxmlformats.org/drawingml/2006/main">
            <a:off x="6153150" y="2276475"/>
            <a:ext cx="48958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Two intact classes in one course; not randomised across institutions; learning and grading findings should not be treated as clinical outcomes.</a:t>
            </a:r>
          </a:p>
        </p:txBody>
      </p:sp>
      <p:sp>
        <p:nvSpPr>
          <p:cNvPr id="20" name="">
            <a:extLst xmlns:a="http://schemas.openxmlformats.org/drawingml/2006/main">
              <a:ext uri="{FF2B5EF4-FFF2-40B4-BE49-F238E27FC236}">
                <a16:creationId xmlns:a16="http://schemas.microsoft.com/office/drawing/2014/main" id="{7BE1AFC7-C304-42C8-9E5F-FDFB40DD9760}"/>
              </a:ext>
            </a:extLst>
          </p:cNvPr>
          <p:cNvSpPr>
            <a:spLocks xmlns:a="http://schemas.openxmlformats.org/drawingml/2006/main" noGrp="1"/>
          </p:cNvSpPr>
          <p:nvPr/>
        </p:nvSpPr>
        <p:spPr>
          <a:xfrm xmlns:a="http://schemas.openxmlformats.org/drawingml/2006/main">
            <a:off x="5905500" y="3667125"/>
            <a:ext cx="5391150" cy="962025"/>
          </a:xfrm>
          <a:prstGeom xmlns:a="http://schemas.openxmlformats.org/drawingml/2006/main" prst="roundRect">
            <a:avLst>
              <a:gd name="adj" fmla="val 17822"/>
            </a:avLst>
          </a:prstGeom>
          <a:solidFill xmlns:a="http://schemas.openxmlformats.org/drawingml/2006/main">
            <a:srgbClr val="DDF2EE"/>
          </a:solidFill>
          <a:ln xmlns:a="http://schemas.openxmlformats.org/drawingml/2006/main" w="9525">
            <a:solidFill>
              <a:srgbClr val="087E78"/>
            </a:solidFill>
            <a:prstDash val="solid"/>
          </a:ln>
        </p:spPr>
      </p:sp>
      <p:sp>
        <p:nvSpPr>
          <p:cNvPr id="21" name="">
            <a:extLst xmlns:a="http://schemas.openxmlformats.org/drawingml/2006/main">
              <a:ext uri="{FF2B5EF4-FFF2-40B4-BE49-F238E27FC236}">
                <a16:creationId xmlns:a16="http://schemas.microsoft.com/office/drawing/2014/main" id="{9617A390-6797-44BE-B829-D7041D1F4C3E}"/>
              </a:ext>
            </a:extLst>
          </p:cNvPr>
          <p:cNvSpPr>
            <a:spLocks xmlns:a="http://schemas.openxmlformats.org/drawingml/2006/main" noGrp="1"/>
          </p:cNvSpPr>
          <p:nvPr/>
        </p:nvSpPr>
        <p:spPr>
          <a:xfrm xmlns:a="http://schemas.openxmlformats.org/drawingml/2006/main">
            <a:off x="6153150" y="38576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HUMAN CHECKPOINT</a:t>
            </a:r>
          </a:p>
        </p:txBody>
      </p:sp>
      <p:sp>
        <p:nvSpPr>
          <p:cNvPr id="22" name="">
            <a:extLst xmlns:a="http://schemas.openxmlformats.org/drawingml/2006/main">
              <a:ext uri="{FF2B5EF4-FFF2-40B4-BE49-F238E27FC236}">
                <a16:creationId xmlns:a16="http://schemas.microsoft.com/office/drawing/2014/main" id="{96669DDD-4299-454C-B14C-ABA2D25F80BB}"/>
              </a:ext>
            </a:extLst>
          </p:cNvPr>
          <p:cNvSpPr>
            <a:spLocks xmlns:a="http://schemas.openxmlformats.org/drawingml/2006/main" noGrp="1"/>
          </p:cNvSpPr>
          <p:nvPr/>
        </p:nvSpPr>
        <p:spPr>
          <a:xfrm xmlns:a="http://schemas.openxmlformats.org/drawingml/2006/main">
            <a:off x="6153150" y="4171950"/>
            <a:ext cx="4895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775"/>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Faculty discussion remains essential for reasoning, originality and challenge.</a:t>
            </a:r>
          </a:p>
        </p:txBody>
      </p:sp>
      <p:sp>
        <p:nvSpPr>
          <p:cNvPr id="23" name="">
            <a:extLst xmlns:a="http://schemas.openxmlformats.org/drawingml/2006/main">
              <a:ext uri="{FF2B5EF4-FFF2-40B4-BE49-F238E27FC236}">
                <a16:creationId xmlns:a16="http://schemas.microsoft.com/office/drawing/2014/main" id="{A9D3FD4E-24C7-4DAE-816B-42C1AADE2108}"/>
              </a:ext>
            </a:extLst>
          </p:cNvPr>
          <p:cNvSpPr>
            <a:spLocks xmlns:a="http://schemas.openxmlformats.org/drawingml/2006/main" noGrp="1"/>
          </p:cNvSpPr>
          <p:nvPr/>
        </p:nvSpPr>
        <p:spPr>
          <a:xfrm xmlns:a="http://schemas.openxmlformats.org/drawingml/2006/main">
            <a:off x="5905500" y="4829175"/>
            <a:ext cx="5391150" cy="981075"/>
          </a:xfrm>
          <a:prstGeom xmlns:a="http://schemas.openxmlformats.org/drawingml/2006/main" prst="roundRect">
            <a:avLst>
              <a:gd name="adj" fmla="val 17476"/>
            </a:avLst>
          </a:prstGeom>
          <a:solidFill xmlns:a="http://schemas.openxmlformats.org/drawingml/2006/main">
            <a:srgbClr val="082638"/>
          </a:solidFill>
          <a:ln xmlns:a="http://schemas.openxmlformats.org/drawingml/2006/main" w="9525">
            <a:solidFill>
              <a:srgbClr val="082638"/>
            </a:solidFill>
            <a:prstDash val="solid"/>
          </a:ln>
        </p:spPr>
      </p:sp>
      <p:sp>
        <p:nvSpPr>
          <p:cNvPr id="24" name="">
            <a:extLst xmlns:a="http://schemas.openxmlformats.org/drawingml/2006/main">
              <a:ext uri="{FF2B5EF4-FFF2-40B4-BE49-F238E27FC236}">
                <a16:creationId xmlns:a16="http://schemas.microsoft.com/office/drawing/2014/main" id="{47379614-94A1-466A-BD40-9BB4BFE0D0A8}"/>
              </a:ext>
            </a:extLst>
          </p:cNvPr>
          <p:cNvSpPr>
            <a:spLocks xmlns:a="http://schemas.openxmlformats.org/drawingml/2006/main" noGrp="1"/>
          </p:cNvSpPr>
          <p:nvPr/>
        </p:nvSpPr>
        <p:spPr>
          <a:xfrm xmlns:a="http://schemas.openxmlformats.org/drawingml/2006/main">
            <a:off x="6153150" y="5019675"/>
            <a:ext cx="48958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0150"/>
          </a:bodyPr>
          <a:lstStyle xmlns:a="http://schemas.openxmlformats.org/drawingml/2006/main"/>
          <a:p xmlns:a="http://schemas.openxmlformats.org/drawingml/2006/main">
            <a:pPr algn="l">
              <a:lnSpc>
                <a:spcPct val="103000"/>
              </a:lnSpc>
              <a:buNone/>
              <a:defRPr sz="1425" b="1">
                <a:solidFill>
                  <a:srgbClr val="FFFFFF"/>
                </a:solidFill>
                <a:latin typeface="Aptos"/>
                <a:ea typeface="Aptos"/>
                <a:cs typeface="Aptos"/>
              </a:defRPr>
            </a:pPr>
            <a:r>
              <a:rPr sz="1425" b="1">
                <a:solidFill>
                  <a:srgbClr val="FFFFFF"/>
                </a:solidFill>
                <a:latin typeface="Aptos"/>
                <a:ea typeface="Aptos"/>
                <a:cs typeface="Aptos"/>
              </a:rPr>
              <a:t>AI raises the floor and compresses search time; it can also homogenise thinking.</a:t>
            </a:r>
          </a:p>
        </p:txBody>
      </p:sp>
      <p:sp>
        <p:nvSpPr>
          <p:cNvPr id="25" name="">
            <a:extLst xmlns:a="http://schemas.openxmlformats.org/drawingml/2006/main">
              <a:ext uri="{FF2B5EF4-FFF2-40B4-BE49-F238E27FC236}">
                <a16:creationId xmlns:a16="http://schemas.microsoft.com/office/drawing/2014/main" id="{37AAEC32-D17E-4D50-91F2-7DF1279588B3}"/>
              </a:ext>
            </a:extLst>
          </p:cNvPr>
          <p:cNvSpPr>
            <a:spLocks xmlns:a="http://schemas.openxmlformats.org/drawingml/2006/main" noGrp="1"/>
          </p:cNvSpPr>
          <p:nvPr/>
        </p:nvSpPr>
        <p:spPr>
          <a:xfrm xmlns:a="http://schemas.openxmlformats.org/drawingml/2006/main">
            <a:off x="6153150" y="5391150"/>
            <a:ext cx="4895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63" b="0">
                <a:solidFill>
                  <a:srgbClr val="FFFFFF"/>
                </a:solidFill>
                <a:latin typeface="Aptos"/>
                <a:ea typeface="Aptos"/>
                <a:cs typeface="Aptos"/>
              </a:defRPr>
            </a:pPr>
            <a:r>
              <a:rPr sz="1163" b="0">
                <a:solidFill>
                  <a:srgbClr val="FFFFFF"/>
                </a:solidFill>
                <a:latin typeface="Aptos"/>
                <a:ea typeface="Aptos"/>
                <a:cs typeface="Aptos"/>
              </a:rPr>
              <a:t>How do we save time without reducing productive struggle?</a:t>
            </a:r>
          </a:p>
        </p:txBody>
      </p:sp>
    </p:spTree>
    <p:extLst>
      <p:ext uri="{BB962C8B-B14F-4D97-AF65-F5344CB8AC3E}">
        <p14:creationId xmlns:p14="http://schemas.microsoft.com/office/powerpoint/2010/main" val="2079645491"/>
      </p:ext>
    </p:extLst>
  </p:cSld>
</p:sld>
</file>

<file path=ppt/slides/slide16.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5BEB48-7C3A-42E4-A8F7-938669B7474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C59028"/>
          </a:solidFill>
          <a:ln xmlns:a="http://schemas.openxmlformats.org/drawingml/2006/main" w="0">
            <a:solidFill>
              <a:srgbClr val="C59028"/>
            </a:solidFill>
            <a:prstDash val="solid"/>
          </a:ln>
        </p:spPr>
      </p:sp>
      <p:sp>
        <p:nvSpPr>
          <p:cNvPr id="2" name="">
            <a:extLst xmlns:a="http://schemas.openxmlformats.org/drawingml/2006/main">
              <a:ext uri="{FF2B5EF4-FFF2-40B4-BE49-F238E27FC236}">
                <a16:creationId xmlns:a16="http://schemas.microsoft.com/office/drawing/2014/main" id="{C5E3DF18-7440-4DB0-BBC9-E62F1A594B22}"/>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3 DEBRIEF</a:t>
            </a:r>
          </a:p>
        </p:txBody>
      </p:sp>
      <p:sp>
        <p:nvSpPr>
          <p:cNvPr id="3" name="">
            <a:extLst xmlns:a="http://schemas.openxmlformats.org/drawingml/2006/main">
              <a:ext uri="{FF2B5EF4-FFF2-40B4-BE49-F238E27FC236}">
                <a16:creationId xmlns:a16="http://schemas.microsoft.com/office/drawing/2014/main" id="{6AA9CCEF-7D49-49C1-886D-25E7BE56BA43}"/>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Save time without deleting productive struggle</a:t>
            </a:r>
          </a:p>
        </p:txBody>
      </p:sp>
      <p:sp>
        <p:nvSpPr>
          <p:cNvPr id="4" name="">
            <a:extLst xmlns:a="http://schemas.openxmlformats.org/drawingml/2006/main">
              <a:ext uri="{FF2B5EF4-FFF2-40B4-BE49-F238E27FC236}">
                <a16:creationId xmlns:a16="http://schemas.microsoft.com/office/drawing/2014/main" id="{AD9175D5-4AC6-4F20-8193-720DC60853DB}"/>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CE76606D-68E4-491E-A5D0-F15D7EBC3370}"/>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B32B198B-B65B-47B8-93E8-DBD7AA92AA7B}"/>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A1868730-D2B4-434A-AC2E-45161E3A3784}"/>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https://link.springer.com/article/10.1186/s12909-025-07567-z</a:t>
            </a:r>
          </a:p>
        </p:txBody>
      </p:sp>
      <p:sp>
        <p:nvSpPr>
          <p:cNvPr id="8" name="">
            <a:extLst xmlns:a="http://schemas.openxmlformats.org/drawingml/2006/main">
              <a:ext uri="{FF2B5EF4-FFF2-40B4-BE49-F238E27FC236}">
                <a16:creationId xmlns:a16="http://schemas.microsoft.com/office/drawing/2014/main" id="{295872B5-13F5-40CC-9B29-3B764EB90ADC}"/>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0E280CA0-01EF-4CAD-B66A-C57977B7C8AD}"/>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16</a:t>
            </a:r>
          </a:p>
        </p:txBody>
      </p:sp>
      <p:sp>
        <p:nvSpPr>
          <p:cNvPr id="10" name="">
            <a:extLst xmlns:a="http://schemas.openxmlformats.org/drawingml/2006/main">
              <a:ext uri="{FF2B5EF4-FFF2-40B4-BE49-F238E27FC236}">
                <a16:creationId xmlns:a16="http://schemas.microsoft.com/office/drawing/2014/main" id="{868B1488-5CEB-4465-8CA6-A1CACAC23268}"/>
              </a:ext>
            </a:extLst>
          </p:cNvPr>
          <p:cNvSpPr>
            <a:spLocks xmlns:a="http://schemas.openxmlformats.org/drawingml/2006/main" noGrp="1"/>
          </p:cNvSpPr>
          <p:nvPr/>
        </p:nvSpPr>
        <p:spPr>
          <a:xfrm xmlns:a="http://schemas.openxmlformats.org/drawingml/2006/main">
            <a:off x="6096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C5902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67B32AA7-B501-46E0-8960-2C9649CD1446}"/>
              </a:ext>
            </a:extLst>
          </p:cNvPr>
          <p:cNvSpPr>
            <a:spLocks xmlns:a="http://schemas.openxmlformats.org/drawingml/2006/main" noGrp="1"/>
          </p:cNvSpPr>
          <p:nvPr/>
        </p:nvSpPr>
        <p:spPr>
          <a:xfrm xmlns:a="http://schemas.openxmlformats.org/drawingml/2006/main">
            <a:off x="762000" y="1905000"/>
            <a:ext cx="8191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BEFORE</a:t>
            </a:r>
          </a:p>
        </p:txBody>
      </p:sp>
      <p:sp>
        <p:nvSpPr>
          <p:cNvPr id="12" name="">
            <a:extLst xmlns:a="http://schemas.openxmlformats.org/drawingml/2006/main">
              <a:ext uri="{FF2B5EF4-FFF2-40B4-BE49-F238E27FC236}">
                <a16:creationId xmlns:a16="http://schemas.microsoft.com/office/drawing/2014/main" id="{54B6FCA4-EE13-4ECF-B627-81AAB959E651}"/>
              </a:ext>
            </a:extLst>
          </p:cNvPr>
          <p:cNvSpPr>
            <a:spLocks xmlns:a="http://schemas.openxmlformats.org/drawingml/2006/main" noGrp="1"/>
          </p:cNvSpPr>
          <p:nvPr/>
        </p:nvSpPr>
        <p:spPr>
          <a:xfrm xmlns:a="http://schemas.openxmlformats.org/drawingml/2006/main">
            <a:off x="7810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Commit first</a:t>
            </a:r>
          </a:p>
        </p:txBody>
      </p:sp>
      <p:sp>
        <p:nvSpPr>
          <p:cNvPr id="13" name="">
            <a:extLst xmlns:a="http://schemas.openxmlformats.org/drawingml/2006/main">
              <a:ext uri="{FF2B5EF4-FFF2-40B4-BE49-F238E27FC236}">
                <a16:creationId xmlns:a16="http://schemas.microsoft.com/office/drawing/2014/main" id="{B0B4C677-5F00-4A38-9B71-B0B5F13A5066}"/>
              </a:ext>
            </a:extLst>
          </p:cNvPr>
          <p:cNvSpPr>
            <a:spLocks xmlns:a="http://schemas.openxmlformats.org/drawingml/2006/main" noGrp="1"/>
          </p:cNvSpPr>
          <p:nvPr/>
        </p:nvSpPr>
        <p:spPr>
          <a:xfrm xmlns:a="http://schemas.openxmlformats.org/drawingml/2006/main">
            <a:off x="7810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Learner writes a problem representation and uncertainty before asking AI.</a:t>
            </a:r>
          </a:p>
        </p:txBody>
      </p:sp>
      <p:sp>
        <p:nvSpPr>
          <p:cNvPr id="14" name="">
            <a:extLst xmlns:a="http://schemas.openxmlformats.org/drawingml/2006/main">
              <a:ext uri="{FF2B5EF4-FFF2-40B4-BE49-F238E27FC236}">
                <a16:creationId xmlns:a16="http://schemas.microsoft.com/office/drawing/2014/main" id="{0EBDE014-E2EB-401A-8EB6-A57406FC5433}"/>
              </a:ext>
            </a:extLst>
          </p:cNvPr>
          <p:cNvSpPr>
            <a:spLocks xmlns:a="http://schemas.openxmlformats.org/drawingml/2006/main" noGrp="1"/>
          </p:cNvSpPr>
          <p:nvPr/>
        </p:nvSpPr>
        <p:spPr>
          <a:xfrm xmlns:a="http://schemas.openxmlformats.org/drawingml/2006/main">
            <a:off x="433705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087E7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A7969D3C-C500-447D-B6D8-AEFF0ED3D0FF}"/>
              </a:ext>
            </a:extLst>
          </p:cNvPr>
          <p:cNvSpPr>
            <a:spLocks xmlns:a="http://schemas.openxmlformats.org/drawingml/2006/main" noGrp="1"/>
          </p:cNvSpPr>
          <p:nvPr/>
        </p:nvSpPr>
        <p:spPr>
          <a:xfrm xmlns:a="http://schemas.openxmlformats.org/drawingml/2006/main">
            <a:off x="4489450" y="1905000"/>
            <a:ext cx="8191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DURING</a:t>
            </a:r>
          </a:p>
        </p:txBody>
      </p:sp>
      <p:sp>
        <p:nvSpPr>
          <p:cNvPr id="16" name="">
            <a:extLst xmlns:a="http://schemas.openxmlformats.org/drawingml/2006/main">
              <a:ext uri="{FF2B5EF4-FFF2-40B4-BE49-F238E27FC236}">
                <a16:creationId xmlns:a16="http://schemas.microsoft.com/office/drawing/2014/main" id="{C9F6551C-BA25-41F1-B223-096C2D05EBD6}"/>
              </a:ext>
            </a:extLst>
          </p:cNvPr>
          <p:cNvSpPr>
            <a:spLocks xmlns:a="http://schemas.openxmlformats.org/drawingml/2006/main" noGrp="1"/>
          </p:cNvSpPr>
          <p:nvPr/>
        </p:nvSpPr>
        <p:spPr>
          <a:xfrm xmlns:a="http://schemas.openxmlformats.org/drawingml/2006/main">
            <a:off x="450850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Challenge</a:t>
            </a:r>
          </a:p>
        </p:txBody>
      </p:sp>
      <p:sp>
        <p:nvSpPr>
          <p:cNvPr id="17" name="">
            <a:extLst xmlns:a="http://schemas.openxmlformats.org/drawingml/2006/main">
              <a:ext uri="{FF2B5EF4-FFF2-40B4-BE49-F238E27FC236}">
                <a16:creationId xmlns:a16="http://schemas.microsoft.com/office/drawing/2014/main" id="{DD8307A3-599D-4E1E-9709-D3EAD2051725}"/>
              </a:ext>
            </a:extLst>
          </p:cNvPr>
          <p:cNvSpPr>
            <a:spLocks xmlns:a="http://schemas.openxmlformats.org/drawingml/2006/main" noGrp="1"/>
          </p:cNvSpPr>
          <p:nvPr/>
        </p:nvSpPr>
        <p:spPr>
          <a:xfrm xmlns:a="http://schemas.openxmlformats.org/drawingml/2006/main">
            <a:off x="450850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AI asks for evidence, contradictions, red flags and revision—not instant answers.</a:t>
            </a:r>
          </a:p>
        </p:txBody>
      </p:sp>
      <p:sp>
        <p:nvSpPr>
          <p:cNvPr id="18" name="">
            <a:extLst xmlns:a="http://schemas.openxmlformats.org/drawingml/2006/main">
              <a:ext uri="{FF2B5EF4-FFF2-40B4-BE49-F238E27FC236}">
                <a16:creationId xmlns:a16="http://schemas.microsoft.com/office/drawing/2014/main" id="{BAFB9868-40D5-4649-B75A-789A136B474A}"/>
              </a:ext>
            </a:extLst>
          </p:cNvPr>
          <p:cNvSpPr>
            <a:spLocks xmlns:a="http://schemas.openxmlformats.org/drawingml/2006/main" noGrp="1"/>
          </p:cNvSpPr>
          <p:nvPr/>
        </p:nvSpPr>
        <p:spPr>
          <a:xfrm xmlns:a="http://schemas.openxmlformats.org/drawingml/2006/main">
            <a:off x="80645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2F6F9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1304B71A-2578-471B-88EF-8E080E28EC0C}"/>
              </a:ext>
            </a:extLst>
          </p:cNvPr>
          <p:cNvSpPr>
            <a:spLocks xmlns:a="http://schemas.openxmlformats.org/drawingml/2006/main" noGrp="1"/>
          </p:cNvSpPr>
          <p:nvPr/>
        </p:nvSpPr>
        <p:spPr>
          <a:xfrm xmlns:a="http://schemas.openxmlformats.org/drawingml/2006/main">
            <a:off x="8216900" y="1905000"/>
            <a:ext cx="8191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AFTER</a:t>
            </a:r>
          </a:p>
        </p:txBody>
      </p:sp>
      <p:sp>
        <p:nvSpPr>
          <p:cNvPr id="20" name="">
            <a:extLst xmlns:a="http://schemas.openxmlformats.org/drawingml/2006/main">
              <a:ext uri="{FF2B5EF4-FFF2-40B4-BE49-F238E27FC236}">
                <a16:creationId xmlns:a16="http://schemas.microsoft.com/office/drawing/2014/main" id="{895E3E8A-22C5-4245-BEDC-7F095C72BD83}"/>
              </a:ext>
            </a:extLst>
          </p:cNvPr>
          <p:cNvSpPr>
            <a:spLocks xmlns:a="http://schemas.openxmlformats.org/drawingml/2006/main" noGrp="1"/>
          </p:cNvSpPr>
          <p:nvPr/>
        </p:nvSpPr>
        <p:spPr>
          <a:xfrm xmlns:a="http://schemas.openxmlformats.org/drawingml/2006/main">
            <a:off x="82359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Audit</a:t>
            </a:r>
          </a:p>
        </p:txBody>
      </p:sp>
      <p:sp>
        <p:nvSpPr>
          <p:cNvPr id="21" name="">
            <a:extLst xmlns:a="http://schemas.openxmlformats.org/drawingml/2006/main">
              <a:ext uri="{FF2B5EF4-FFF2-40B4-BE49-F238E27FC236}">
                <a16:creationId xmlns:a16="http://schemas.microsoft.com/office/drawing/2014/main" id="{7EDF55C9-EC01-4AEC-A9AF-AE637C2C9938}"/>
              </a:ext>
            </a:extLst>
          </p:cNvPr>
          <p:cNvSpPr>
            <a:spLocks xmlns:a="http://schemas.openxmlformats.org/drawingml/2006/main" noGrp="1"/>
          </p:cNvSpPr>
          <p:nvPr/>
        </p:nvSpPr>
        <p:spPr>
          <a:xfrm xmlns:a="http://schemas.openxmlformats.org/drawingml/2006/main">
            <a:off x="82359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Faculty checks source use, reasoning change, originality and unsupported claims.</a:t>
            </a:r>
          </a:p>
        </p:txBody>
      </p:sp>
    </p:spTree>
    <p:extLst>
      <p:ext uri="{BB962C8B-B14F-4D97-AF65-F5344CB8AC3E}">
        <p14:creationId xmlns:p14="http://schemas.microsoft.com/office/powerpoint/2010/main" val="1000101571"/>
      </p:ext>
    </p:extLst>
  </p:cSld>
</p:sld>
</file>

<file path=ppt/slides/slide17.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E8404B9-26AE-481E-AE66-1F8F1C2CE9F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C59028"/>
          </a:solidFill>
          <a:ln xmlns:a="http://schemas.openxmlformats.org/drawingml/2006/main" w="0">
            <a:solidFill>
              <a:srgbClr val="C59028"/>
            </a:solidFill>
            <a:prstDash val="solid"/>
          </a:ln>
        </p:spPr>
      </p:sp>
      <p:sp>
        <p:nvSpPr>
          <p:cNvPr id="2" name="">
            <a:extLst xmlns:a="http://schemas.openxmlformats.org/drawingml/2006/main">
              <a:ext uri="{FF2B5EF4-FFF2-40B4-BE49-F238E27FC236}">
                <a16:creationId xmlns:a16="http://schemas.microsoft.com/office/drawing/2014/main" id="{2AAFAB9E-F315-4022-9551-D1D994BF6F00}"/>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4</a:t>
            </a:r>
          </a:p>
        </p:txBody>
      </p:sp>
      <p:sp>
        <p:nvSpPr>
          <p:cNvPr id="3" name="">
            <a:extLst xmlns:a="http://schemas.openxmlformats.org/drawingml/2006/main">
              <a:ext uri="{FF2B5EF4-FFF2-40B4-BE49-F238E27FC236}">
                <a16:creationId xmlns:a16="http://schemas.microsoft.com/office/drawing/2014/main" id="{ED11CC25-1C26-47C4-8C52-EAE31435C6A5}"/>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499"/>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Trinity foresight: AI-supported scenario planning for medical curricula</a:t>
            </a:r>
          </a:p>
        </p:txBody>
      </p:sp>
      <p:sp>
        <p:nvSpPr>
          <p:cNvPr id="4" name="">
            <a:extLst xmlns:a="http://schemas.openxmlformats.org/drawingml/2006/main">
              <a:ext uri="{FF2B5EF4-FFF2-40B4-BE49-F238E27FC236}">
                <a16:creationId xmlns:a16="http://schemas.microsoft.com/office/drawing/2014/main" id="{3A1D2F2E-7DC8-4B26-B37B-DA4A4FF4A10B}"/>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6CD5EA61-2914-479B-9C74-CBC2BB11C669}"/>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39535E11-7116-443C-8123-0A0BED57261D}"/>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F35BC96B-AFBB-4934-8E4B-05D3B5A142DF}"/>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Source: https://www.jmir.org/2025/1/e73173</a:t>
            </a:r>
          </a:p>
        </p:txBody>
      </p:sp>
      <p:sp>
        <p:nvSpPr>
          <p:cNvPr id="8" name="">
            <a:extLst xmlns:a="http://schemas.openxmlformats.org/drawingml/2006/main">
              <a:ext uri="{FF2B5EF4-FFF2-40B4-BE49-F238E27FC236}">
                <a16:creationId xmlns:a16="http://schemas.microsoft.com/office/drawing/2014/main" id="{34BC32B2-FE03-421E-B9EF-FD30B61F64C8}"/>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D1653DE2-48D1-47FE-B934-4572F9E0BB6F}"/>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17</a:t>
            </a:r>
          </a:p>
        </p:txBody>
      </p:sp>
      <p:sp>
        <p:nvSpPr>
          <p:cNvPr id="10" name="">
            <a:extLst xmlns:a="http://schemas.openxmlformats.org/drawingml/2006/main">
              <a:ext uri="{FF2B5EF4-FFF2-40B4-BE49-F238E27FC236}">
                <a16:creationId xmlns:a16="http://schemas.microsoft.com/office/drawing/2014/main" id="{19B59347-FC79-4A62-BDF4-0C3737EDC065}"/>
              </a:ext>
            </a:extLst>
          </p:cNvPr>
          <p:cNvSpPr>
            <a:spLocks xmlns:a="http://schemas.openxmlformats.org/drawingml/2006/main" noGrp="1"/>
          </p:cNvSpPr>
          <p:nvPr/>
        </p:nvSpPr>
        <p:spPr>
          <a:xfrm xmlns:a="http://schemas.openxmlformats.org/drawingml/2006/main">
            <a:off x="609600" y="1714500"/>
            <a:ext cx="4953000" cy="4095750"/>
          </a:xfrm>
          <a:prstGeom xmlns:a="http://schemas.openxmlformats.org/drawingml/2006/main" prst="roundRect">
            <a:avLst>
              <a:gd name="adj" fmla="val 4651"/>
            </a:avLst>
          </a:prstGeom>
          <a:solidFill xmlns:a="http://schemas.openxmlformats.org/drawingml/2006/main">
            <a:srgbClr val="FFFDFC"/>
          </a:solidFill>
          <a:ln xmlns:a="http://schemas.openxmlformats.org/drawingml/2006/main" w="9525">
            <a:solidFill>
              <a:srgbClr val="C5902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27CF67E9-FE39-40DE-A377-AA1B135753E3}"/>
              </a:ext>
            </a:extLst>
          </p:cNvPr>
          <p:cNvSpPr>
            <a:spLocks xmlns:a="http://schemas.openxmlformats.org/drawingml/2006/main" noGrp="1"/>
          </p:cNvSpPr>
          <p:nvPr/>
        </p:nvSpPr>
        <p:spPr>
          <a:xfrm xmlns:a="http://schemas.openxmlformats.org/drawingml/2006/main">
            <a:off x="838200" y="1924050"/>
            <a:ext cx="40957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2025 SINGLE-INSTITUTION QUALITATIVE PARTICIPATORY-DESIGN CASE</a:t>
            </a:r>
          </a:p>
        </p:txBody>
      </p:sp>
      <p:sp>
        <p:nvSpPr>
          <p:cNvPr id="12" name="">
            <a:extLst xmlns:a="http://schemas.openxmlformats.org/drawingml/2006/main">
              <a:ext uri="{FF2B5EF4-FFF2-40B4-BE49-F238E27FC236}">
                <a16:creationId xmlns:a16="http://schemas.microsoft.com/office/drawing/2014/main" id="{DF45BB76-73B8-4B5A-A47B-A6E33F31DA3B}"/>
              </a:ext>
            </a:extLst>
          </p:cNvPr>
          <p:cNvSpPr>
            <a:spLocks xmlns:a="http://schemas.openxmlformats.org/drawingml/2006/main" noGrp="1"/>
          </p:cNvSpPr>
          <p:nvPr/>
        </p:nvSpPr>
        <p:spPr>
          <a:xfrm xmlns:a="http://schemas.openxmlformats.org/drawingml/2006/main">
            <a:off x="838200" y="23622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Trinity College Dublin; one workshop with 28 participants</a:t>
            </a:r>
          </a:p>
        </p:txBody>
      </p:sp>
      <p:sp>
        <p:nvSpPr>
          <p:cNvPr id="13" name="">
            <a:extLst xmlns:a="http://schemas.openxmlformats.org/drawingml/2006/main">
              <a:ext uri="{FF2B5EF4-FFF2-40B4-BE49-F238E27FC236}">
                <a16:creationId xmlns:a16="http://schemas.microsoft.com/office/drawing/2014/main" id="{C153C23F-6F96-4726-B6A5-8EFBB067B4A6}"/>
              </a:ext>
            </a:extLst>
          </p:cNvPr>
          <p:cNvSpPr>
            <a:spLocks xmlns:a="http://schemas.openxmlformats.org/drawingml/2006/main" noGrp="1"/>
          </p:cNvSpPr>
          <p:nvPr/>
        </p:nvSpPr>
        <p:spPr>
          <a:xfrm xmlns:a="http://schemas.openxmlformats.org/drawingml/2006/main">
            <a:off x="838200" y="30099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C59028"/>
                </a:solidFill>
                <a:latin typeface="Aptos"/>
                <a:ea typeface="Aptos"/>
                <a:cs typeface="Aptos"/>
              </a:defRPr>
            </a:pPr>
            <a:r>
              <a:rPr sz="1050" b="1">
                <a:solidFill>
                  <a:srgbClr val="C59028"/>
                </a:solidFill>
                <a:latin typeface="Aptos"/>
                <a:ea typeface="Aptos"/>
                <a:cs typeface="Aptos"/>
              </a:rPr>
              <a:t>AI + workflow</a:t>
            </a:r>
          </a:p>
        </p:txBody>
      </p:sp>
      <p:sp>
        <p:nvSpPr>
          <p:cNvPr id="14" name="">
            <a:extLst xmlns:a="http://schemas.openxmlformats.org/drawingml/2006/main">
              <a:ext uri="{FF2B5EF4-FFF2-40B4-BE49-F238E27FC236}">
                <a16:creationId xmlns:a16="http://schemas.microsoft.com/office/drawing/2014/main" id="{3864F7FC-30FA-4A23-BC97-F0899BF87110}"/>
              </a:ext>
            </a:extLst>
          </p:cNvPr>
          <p:cNvSpPr>
            <a:spLocks xmlns:a="http://schemas.openxmlformats.org/drawingml/2006/main" noGrp="1"/>
          </p:cNvSpPr>
          <p:nvPr/>
        </p:nvSpPr>
        <p:spPr>
          <a:xfrm xmlns:a="http://schemas.openxmlformats.org/drawingml/2006/main">
            <a:off x="838200" y="3295650"/>
            <a:ext cx="4286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0">
                <a:solidFill>
                  <a:srgbClr val="183340"/>
                </a:solidFill>
                <a:latin typeface="Aptos"/>
                <a:ea typeface="Aptos"/>
                <a:cs typeface="Aptos"/>
              </a:defRPr>
            </a:pPr>
            <a:r>
              <a:rPr sz="1275" b="0">
                <a:solidFill>
                  <a:srgbClr val="183340"/>
                </a:solidFill>
                <a:latin typeface="Aptos"/>
                <a:ea typeface="Aptos"/>
                <a:cs typeface="Aptos"/>
              </a:rPr>
              <a:t>ChatGPT narratives, MidJourney visuals and Murf.AI narration for four 2035 scenarios</a:t>
            </a:r>
          </a:p>
        </p:txBody>
      </p:sp>
      <p:sp>
        <p:nvSpPr>
          <p:cNvPr id="15" name="">
            <a:extLst xmlns:a="http://schemas.openxmlformats.org/drawingml/2006/main">
              <a:ext uri="{FF2B5EF4-FFF2-40B4-BE49-F238E27FC236}">
                <a16:creationId xmlns:a16="http://schemas.microsoft.com/office/drawing/2014/main" id="{2009D568-83BD-4442-867F-764B6A06D822}"/>
              </a:ext>
            </a:extLst>
          </p:cNvPr>
          <p:cNvSpPr>
            <a:spLocks xmlns:a="http://schemas.openxmlformats.org/drawingml/2006/main" noGrp="1"/>
          </p:cNvSpPr>
          <p:nvPr/>
        </p:nvSpPr>
        <p:spPr>
          <a:xfrm xmlns:a="http://schemas.openxmlformats.org/drawingml/2006/main">
            <a:off x="838200" y="42957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C59028"/>
                </a:solidFill>
                <a:latin typeface="Aptos"/>
                <a:ea typeface="Aptos"/>
                <a:cs typeface="Aptos"/>
              </a:defRPr>
            </a:pPr>
            <a:r>
              <a:rPr sz="1050" b="1">
                <a:solidFill>
                  <a:srgbClr val="C59028"/>
                </a:solidFill>
                <a:latin typeface="Aptos"/>
                <a:ea typeface="Aptos"/>
                <a:cs typeface="Aptos"/>
              </a:rPr>
              <a:t>Reported result</a:t>
            </a:r>
          </a:p>
        </p:txBody>
      </p:sp>
      <p:sp>
        <p:nvSpPr>
          <p:cNvPr id="16" name="">
            <a:extLst xmlns:a="http://schemas.openxmlformats.org/drawingml/2006/main">
              <a:ext uri="{FF2B5EF4-FFF2-40B4-BE49-F238E27FC236}">
                <a16:creationId xmlns:a16="http://schemas.microsoft.com/office/drawing/2014/main" id="{51DB131F-8A5A-4B2A-B42B-46C850C36340}"/>
              </a:ext>
            </a:extLst>
          </p:cNvPr>
          <p:cNvSpPr>
            <a:spLocks xmlns:a="http://schemas.openxmlformats.org/drawingml/2006/main" noGrp="1"/>
          </p:cNvSpPr>
          <p:nvPr/>
        </p:nvSpPr>
        <p:spPr>
          <a:xfrm xmlns:a="http://schemas.openxmlformats.org/drawingml/2006/main">
            <a:off x="838200" y="4581525"/>
            <a:ext cx="4286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Participants converged on systems thinking, patient-centredness, continuous learning, participatory health, sustainability and technological adaptability.</a:t>
            </a:r>
          </a:p>
        </p:txBody>
      </p:sp>
      <p:sp>
        <p:nvSpPr>
          <p:cNvPr id="17" name="">
            <a:extLst xmlns:a="http://schemas.openxmlformats.org/drawingml/2006/main">
              <a:ext uri="{FF2B5EF4-FFF2-40B4-BE49-F238E27FC236}">
                <a16:creationId xmlns:a16="http://schemas.microsoft.com/office/drawing/2014/main" id="{56C1F561-D58E-4A09-8C51-B547D404AC14}"/>
              </a:ext>
            </a:extLst>
          </p:cNvPr>
          <p:cNvSpPr>
            <a:spLocks xmlns:a="http://schemas.openxmlformats.org/drawingml/2006/main" noGrp="1"/>
          </p:cNvSpPr>
          <p:nvPr/>
        </p:nvSpPr>
        <p:spPr>
          <a:xfrm xmlns:a="http://schemas.openxmlformats.org/drawingml/2006/main">
            <a:off x="5905500" y="1714500"/>
            <a:ext cx="5391150" cy="1752600"/>
          </a:xfrm>
          <a:prstGeom xmlns:a="http://schemas.openxmlformats.org/drawingml/2006/main" prst="roundRect">
            <a:avLst>
              <a:gd name="adj" fmla="val 10870"/>
            </a:avLst>
          </a:prstGeom>
          <a:solidFill xmlns:a="http://schemas.openxmlformats.org/drawingml/2006/main">
            <a:srgbClr val="FBE7DF"/>
          </a:solidFill>
          <a:ln xmlns:a="http://schemas.openxmlformats.org/drawingml/2006/main" w="9525">
            <a:solidFill>
              <a:srgbClr val="E8694A"/>
            </a:solidFill>
            <a:prstDash val="solid"/>
          </a:ln>
        </p:spPr>
      </p:sp>
      <p:sp>
        <p:nvSpPr>
          <p:cNvPr id="18" name="">
            <a:extLst xmlns:a="http://schemas.openxmlformats.org/drawingml/2006/main">
              <a:ext uri="{FF2B5EF4-FFF2-40B4-BE49-F238E27FC236}">
                <a16:creationId xmlns:a16="http://schemas.microsoft.com/office/drawing/2014/main" id="{D6F31DDD-7627-4DF1-B1B2-DE6D7C6268A6}"/>
              </a:ext>
            </a:extLst>
          </p:cNvPr>
          <p:cNvSpPr>
            <a:spLocks xmlns:a="http://schemas.openxmlformats.org/drawingml/2006/main" noGrp="1"/>
          </p:cNvSpPr>
          <p:nvPr/>
        </p:nvSpPr>
        <p:spPr>
          <a:xfrm xmlns:a="http://schemas.openxmlformats.org/drawingml/2006/main">
            <a:off x="6153150" y="19240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B7433D"/>
                </a:solidFill>
                <a:latin typeface="Aptos"/>
                <a:ea typeface="Aptos"/>
                <a:cs typeface="Aptos"/>
              </a:defRPr>
            </a:pPr>
            <a:r>
              <a:rPr sz="1050" b="1">
                <a:solidFill>
                  <a:srgbClr val="B7433D"/>
                </a:solidFill>
                <a:latin typeface="Aptos"/>
                <a:ea typeface="Aptos"/>
                <a:cs typeface="Aptos"/>
              </a:rPr>
              <a:t>EVIDENCE LIMIT</a:t>
            </a:r>
          </a:p>
        </p:txBody>
      </p:sp>
      <p:sp>
        <p:nvSpPr>
          <p:cNvPr id="19" name="">
            <a:extLst xmlns:a="http://schemas.openxmlformats.org/drawingml/2006/main">
              <a:ext uri="{FF2B5EF4-FFF2-40B4-BE49-F238E27FC236}">
                <a16:creationId xmlns:a16="http://schemas.microsoft.com/office/drawing/2014/main" id="{F5EB6D06-11C4-415F-83AA-96DA307285D6}"/>
              </a:ext>
            </a:extLst>
          </p:cNvPr>
          <p:cNvSpPr>
            <a:spLocks xmlns:a="http://schemas.openxmlformats.org/drawingml/2006/main" noGrp="1"/>
          </p:cNvSpPr>
          <p:nvPr/>
        </p:nvSpPr>
        <p:spPr>
          <a:xfrm xmlns:a="http://schemas.openxmlformats.org/drawingml/2006/main">
            <a:off x="6153150" y="2276475"/>
            <a:ext cx="48958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One workshop, no patient representatives, possible groupthink and framing effects; not universally generalisable.</a:t>
            </a:r>
          </a:p>
        </p:txBody>
      </p:sp>
      <p:sp>
        <p:nvSpPr>
          <p:cNvPr id="20" name="">
            <a:extLst xmlns:a="http://schemas.openxmlformats.org/drawingml/2006/main">
              <a:ext uri="{FF2B5EF4-FFF2-40B4-BE49-F238E27FC236}">
                <a16:creationId xmlns:a16="http://schemas.microsoft.com/office/drawing/2014/main" id="{9D0340A0-3F70-448E-81BD-5E8749A3D5DB}"/>
              </a:ext>
            </a:extLst>
          </p:cNvPr>
          <p:cNvSpPr>
            <a:spLocks xmlns:a="http://schemas.openxmlformats.org/drawingml/2006/main" noGrp="1"/>
          </p:cNvSpPr>
          <p:nvPr/>
        </p:nvSpPr>
        <p:spPr>
          <a:xfrm xmlns:a="http://schemas.openxmlformats.org/drawingml/2006/main">
            <a:off x="5905500" y="3667125"/>
            <a:ext cx="5391150" cy="962025"/>
          </a:xfrm>
          <a:prstGeom xmlns:a="http://schemas.openxmlformats.org/drawingml/2006/main" prst="roundRect">
            <a:avLst>
              <a:gd name="adj" fmla="val 17822"/>
            </a:avLst>
          </a:prstGeom>
          <a:solidFill xmlns:a="http://schemas.openxmlformats.org/drawingml/2006/main">
            <a:srgbClr val="DDF2EE"/>
          </a:solidFill>
          <a:ln xmlns:a="http://schemas.openxmlformats.org/drawingml/2006/main" w="9525">
            <a:solidFill>
              <a:srgbClr val="087E78"/>
            </a:solidFill>
            <a:prstDash val="solid"/>
          </a:ln>
        </p:spPr>
      </p:sp>
      <p:sp>
        <p:nvSpPr>
          <p:cNvPr id="21" name="">
            <a:extLst xmlns:a="http://schemas.openxmlformats.org/drawingml/2006/main">
              <a:ext uri="{FF2B5EF4-FFF2-40B4-BE49-F238E27FC236}">
                <a16:creationId xmlns:a16="http://schemas.microsoft.com/office/drawing/2014/main" id="{F75FB8C2-B4CC-41D9-B7F7-7C20CEA02221}"/>
              </a:ext>
            </a:extLst>
          </p:cNvPr>
          <p:cNvSpPr>
            <a:spLocks xmlns:a="http://schemas.openxmlformats.org/drawingml/2006/main" noGrp="1"/>
          </p:cNvSpPr>
          <p:nvPr/>
        </p:nvSpPr>
        <p:spPr>
          <a:xfrm xmlns:a="http://schemas.openxmlformats.org/drawingml/2006/main">
            <a:off x="6153150" y="38576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HUMAN CHECKPOINT</a:t>
            </a:r>
          </a:p>
        </p:txBody>
      </p:sp>
      <p:sp>
        <p:nvSpPr>
          <p:cNvPr id="22" name="">
            <a:extLst xmlns:a="http://schemas.openxmlformats.org/drawingml/2006/main">
              <a:ext uri="{FF2B5EF4-FFF2-40B4-BE49-F238E27FC236}">
                <a16:creationId xmlns:a16="http://schemas.microsoft.com/office/drawing/2014/main" id="{1C1AA5D3-FF81-4704-91EE-895A31E07CCA}"/>
              </a:ext>
            </a:extLst>
          </p:cNvPr>
          <p:cNvSpPr>
            <a:spLocks xmlns:a="http://schemas.openxmlformats.org/drawingml/2006/main" noGrp="1"/>
          </p:cNvSpPr>
          <p:nvPr/>
        </p:nvSpPr>
        <p:spPr>
          <a:xfrm xmlns:a="http://schemas.openxmlformats.org/drawingml/2006/main">
            <a:off x="6153150" y="4171950"/>
            <a:ext cx="4895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775"/>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Facilitators reviewed and refined all AI outputs; participants chose competencies and actions.</a:t>
            </a:r>
          </a:p>
        </p:txBody>
      </p:sp>
      <p:sp>
        <p:nvSpPr>
          <p:cNvPr id="23" name="">
            <a:extLst xmlns:a="http://schemas.openxmlformats.org/drawingml/2006/main">
              <a:ext uri="{FF2B5EF4-FFF2-40B4-BE49-F238E27FC236}">
                <a16:creationId xmlns:a16="http://schemas.microsoft.com/office/drawing/2014/main" id="{87C76825-EFA8-4B69-8013-90F0872C724F}"/>
              </a:ext>
            </a:extLst>
          </p:cNvPr>
          <p:cNvSpPr>
            <a:spLocks xmlns:a="http://schemas.openxmlformats.org/drawingml/2006/main" noGrp="1"/>
          </p:cNvSpPr>
          <p:nvPr/>
        </p:nvSpPr>
        <p:spPr>
          <a:xfrm xmlns:a="http://schemas.openxmlformats.org/drawingml/2006/main">
            <a:off x="5905500" y="4829175"/>
            <a:ext cx="5391150" cy="981075"/>
          </a:xfrm>
          <a:prstGeom xmlns:a="http://schemas.openxmlformats.org/drawingml/2006/main" prst="roundRect">
            <a:avLst>
              <a:gd name="adj" fmla="val 17476"/>
            </a:avLst>
          </a:prstGeom>
          <a:solidFill xmlns:a="http://schemas.openxmlformats.org/drawingml/2006/main">
            <a:srgbClr val="082638"/>
          </a:solidFill>
          <a:ln xmlns:a="http://schemas.openxmlformats.org/drawingml/2006/main" w="9525">
            <a:solidFill>
              <a:srgbClr val="082638"/>
            </a:solidFill>
            <a:prstDash val="solid"/>
          </a:ln>
        </p:spPr>
      </p:sp>
      <p:sp>
        <p:nvSpPr>
          <p:cNvPr id="24" name="">
            <a:extLst xmlns:a="http://schemas.openxmlformats.org/drawingml/2006/main">
              <a:ext uri="{FF2B5EF4-FFF2-40B4-BE49-F238E27FC236}">
                <a16:creationId xmlns:a16="http://schemas.microsoft.com/office/drawing/2014/main" id="{3757923B-158F-4952-ADE9-B8A635DB84DC}"/>
              </a:ext>
            </a:extLst>
          </p:cNvPr>
          <p:cNvSpPr>
            <a:spLocks xmlns:a="http://schemas.openxmlformats.org/drawingml/2006/main" noGrp="1"/>
          </p:cNvSpPr>
          <p:nvPr/>
        </p:nvSpPr>
        <p:spPr>
          <a:xfrm xmlns:a="http://schemas.openxmlformats.org/drawingml/2006/main">
            <a:off x="6153150" y="5019675"/>
            <a:ext cx="48958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192"/>
          </a:bodyPr>
          <a:lstStyle xmlns:a="http://schemas.openxmlformats.org/drawingml/2006/main"/>
          <a:p xmlns:a="http://schemas.openxmlformats.org/drawingml/2006/main">
            <a:pPr algn="l">
              <a:lnSpc>
                <a:spcPct val="103000"/>
              </a:lnSpc>
              <a:buNone/>
              <a:defRPr sz="1425" b="1">
                <a:solidFill>
                  <a:srgbClr val="FFFFFF"/>
                </a:solidFill>
                <a:latin typeface="Aptos"/>
                <a:ea typeface="Aptos"/>
                <a:cs typeface="Aptos"/>
              </a:defRPr>
            </a:pPr>
            <a:r>
              <a:rPr sz="1425" b="1">
                <a:solidFill>
                  <a:srgbClr val="FFFFFF"/>
                </a:solidFill>
                <a:latin typeface="Aptos"/>
                <a:ea typeface="Aptos"/>
                <a:cs typeface="Aptos"/>
              </a:rPr>
              <a:t>AI can make futures tangible; people must choose values and priorities.</a:t>
            </a:r>
          </a:p>
        </p:txBody>
      </p:sp>
      <p:sp>
        <p:nvSpPr>
          <p:cNvPr id="25" name="">
            <a:extLst xmlns:a="http://schemas.openxmlformats.org/drawingml/2006/main">
              <a:ext uri="{FF2B5EF4-FFF2-40B4-BE49-F238E27FC236}">
                <a16:creationId xmlns:a16="http://schemas.microsoft.com/office/drawing/2014/main" id="{26F5CFD6-7EBC-4ADF-AAE1-91D1EE913E8F}"/>
              </a:ext>
            </a:extLst>
          </p:cNvPr>
          <p:cNvSpPr>
            <a:spLocks xmlns:a="http://schemas.openxmlformats.org/drawingml/2006/main" noGrp="1"/>
          </p:cNvSpPr>
          <p:nvPr/>
        </p:nvSpPr>
        <p:spPr>
          <a:xfrm xmlns:a="http://schemas.openxmlformats.org/drawingml/2006/main">
            <a:off x="6153150" y="5391150"/>
            <a:ext cx="4895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63" b="0">
                <a:solidFill>
                  <a:srgbClr val="FFFFFF"/>
                </a:solidFill>
                <a:latin typeface="Aptos"/>
                <a:ea typeface="Aptos"/>
                <a:cs typeface="Aptos"/>
              </a:defRPr>
            </a:pPr>
            <a:r>
              <a:rPr sz="1163" b="0">
                <a:solidFill>
                  <a:srgbClr val="FFFFFF"/>
                </a:solidFill>
                <a:latin typeface="Aptos"/>
                <a:ea typeface="Aptos"/>
                <a:cs typeface="Aptos"/>
              </a:rPr>
              <a:t>Which capability remains essential in every plausible future?</a:t>
            </a:r>
          </a:p>
        </p:txBody>
      </p:sp>
    </p:spTree>
    <p:extLst>
      <p:ext uri="{BB962C8B-B14F-4D97-AF65-F5344CB8AC3E}">
        <p14:creationId xmlns:p14="http://schemas.microsoft.com/office/powerpoint/2010/main" val="1886325567"/>
      </p:ext>
    </p:extLst>
  </p:cSld>
</p:sld>
</file>

<file path=ppt/slides/slide18.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20A84D-B0FD-4666-902A-78DF8B9DF78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C59028"/>
          </a:solidFill>
          <a:ln xmlns:a="http://schemas.openxmlformats.org/drawingml/2006/main" w="0">
            <a:solidFill>
              <a:srgbClr val="C59028"/>
            </a:solidFill>
            <a:prstDash val="solid"/>
          </a:ln>
        </p:spPr>
      </p:sp>
      <p:sp>
        <p:nvSpPr>
          <p:cNvPr id="2" name="">
            <a:extLst xmlns:a="http://schemas.openxmlformats.org/drawingml/2006/main">
              <a:ext uri="{FF2B5EF4-FFF2-40B4-BE49-F238E27FC236}">
                <a16:creationId xmlns:a16="http://schemas.microsoft.com/office/drawing/2014/main" id="{9B8A0CBB-FEBB-4D6B-9FE5-4CE0A0FC6AD4}"/>
              </a:ext>
            </a:extLst>
          </p:cNvPr>
          <p:cNvSpPr>
            <a:spLocks xmlns:a="http://schemas.openxmlformats.org/drawingml/2006/main" noGrp="1"/>
          </p:cNvSpPr>
          <p:nvPr/>
        </p:nvSpPr>
        <p:spPr>
          <a:xfrm xmlns:a="http://schemas.openxmlformats.org/drawingml/2006/main">
            <a:off x="590550" y="285750"/>
            <a:ext cx="130302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90978"/>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CASES 3–4 SYNTHESIS</a:t>
            </a:r>
          </a:p>
        </p:txBody>
      </p:sp>
      <p:sp>
        <p:nvSpPr>
          <p:cNvPr id="3" name="">
            <a:extLst xmlns:a="http://schemas.openxmlformats.org/drawingml/2006/main">
              <a:ext uri="{FF2B5EF4-FFF2-40B4-BE49-F238E27FC236}">
                <a16:creationId xmlns:a16="http://schemas.microsoft.com/office/drawing/2014/main" id="{09465246-D44C-46C8-87DA-6052D25829A6}"/>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Make futures tangible; keep values human</a:t>
            </a:r>
          </a:p>
        </p:txBody>
      </p:sp>
      <p:sp>
        <p:nvSpPr>
          <p:cNvPr id="4" name="">
            <a:extLst xmlns:a="http://schemas.openxmlformats.org/drawingml/2006/main">
              <a:ext uri="{FF2B5EF4-FFF2-40B4-BE49-F238E27FC236}">
                <a16:creationId xmlns:a16="http://schemas.microsoft.com/office/drawing/2014/main" id="{F7CBCF76-0875-4CA3-9F9C-B163C90C0856}"/>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8774FCEF-8874-4F72-BC6F-168358DB97D6}"/>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04E8EA3B-6E0F-4614-B1F7-D0DEF4C7D57C}"/>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39E77F72-F8FD-4B92-AB31-1A14B0CD5ECA}"/>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https://link.springer.com/article/10.1186/s12909-025-07567-z • https://www.jmir.org/2025/1/e73173</a:t>
            </a:r>
          </a:p>
        </p:txBody>
      </p:sp>
      <p:sp>
        <p:nvSpPr>
          <p:cNvPr id="8" name="">
            <a:extLst xmlns:a="http://schemas.openxmlformats.org/drawingml/2006/main">
              <a:ext uri="{FF2B5EF4-FFF2-40B4-BE49-F238E27FC236}">
                <a16:creationId xmlns:a16="http://schemas.microsoft.com/office/drawing/2014/main" id="{792814A0-2F64-4D81-B0D4-4CC31266AC1B}"/>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60F0D7FC-0407-4A50-8F7C-8D8E23ECCD3D}"/>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18</a:t>
            </a:r>
          </a:p>
        </p:txBody>
      </p:sp>
      <p:sp>
        <p:nvSpPr>
          <p:cNvPr id="10" name="">
            <a:extLst xmlns:a="http://schemas.openxmlformats.org/drawingml/2006/main">
              <a:ext uri="{FF2B5EF4-FFF2-40B4-BE49-F238E27FC236}">
                <a16:creationId xmlns:a16="http://schemas.microsoft.com/office/drawing/2014/main" id="{E489C737-5B6F-47FF-A8F8-330E093658F0}"/>
              </a:ext>
            </a:extLst>
          </p:cNvPr>
          <p:cNvSpPr>
            <a:spLocks xmlns:a="http://schemas.openxmlformats.org/drawingml/2006/main" noGrp="1"/>
          </p:cNvSpPr>
          <p:nvPr/>
        </p:nvSpPr>
        <p:spPr>
          <a:xfrm xmlns:a="http://schemas.openxmlformats.org/drawingml/2006/main">
            <a:off x="666750" y="1952625"/>
            <a:ext cx="3238500" cy="914400"/>
          </a:xfrm>
          <a:prstGeom xmlns:a="http://schemas.openxmlformats.org/drawingml/2006/main" prst="roundRect">
            <a:avLst>
              <a:gd name="adj" fmla="val 18750"/>
            </a:avLst>
          </a:prstGeom>
          <a:solidFill xmlns:a="http://schemas.openxmlformats.org/drawingml/2006/main">
            <a:srgbClr val="F5EACD"/>
          </a:solidFill>
          <a:ln xmlns:a="http://schemas.openxmlformats.org/drawingml/2006/main" w="9525">
            <a:solidFill>
              <a:srgbClr val="C59028"/>
            </a:solidFill>
            <a:prstDash val="solid"/>
          </a:ln>
        </p:spPr>
      </p:sp>
      <p:sp>
        <p:nvSpPr>
          <p:cNvPr id="11" name="">
            <a:extLst xmlns:a="http://schemas.openxmlformats.org/drawingml/2006/main">
              <a:ext uri="{FF2B5EF4-FFF2-40B4-BE49-F238E27FC236}">
                <a16:creationId xmlns:a16="http://schemas.microsoft.com/office/drawing/2014/main" id="{B17B2EA0-5C99-4E3A-8E44-0F433C254506}"/>
              </a:ext>
            </a:extLst>
          </p:cNvPr>
          <p:cNvSpPr>
            <a:spLocks xmlns:a="http://schemas.openxmlformats.org/drawingml/2006/main" noGrp="1"/>
          </p:cNvSpPr>
          <p:nvPr/>
        </p:nvSpPr>
        <p:spPr>
          <a:xfrm xmlns:a="http://schemas.openxmlformats.org/drawingml/2006/main">
            <a:off x="876300" y="2238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SYSTEMS THINKING</a:t>
            </a:r>
          </a:p>
        </p:txBody>
      </p:sp>
      <p:sp>
        <p:nvSpPr>
          <p:cNvPr id="12" name="">
            <a:extLst xmlns:a="http://schemas.openxmlformats.org/drawingml/2006/main">
              <a:ext uri="{FF2B5EF4-FFF2-40B4-BE49-F238E27FC236}">
                <a16:creationId xmlns:a16="http://schemas.microsoft.com/office/drawing/2014/main" id="{8CEC9932-98EA-4A24-A560-F02BE1354AE3}"/>
              </a:ext>
            </a:extLst>
          </p:cNvPr>
          <p:cNvSpPr>
            <a:spLocks xmlns:a="http://schemas.openxmlformats.org/drawingml/2006/main" noGrp="1"/>
          </p:cNvSpPr>
          <p:nvPr/>
        </p:nvSpPr>
        <p:spPr>
          <a:xfrm xmlns:a="http://schemas.openxmlformats.org/drawingml/2006/main">
            <a:off x="4286250" y="1952625"/>
            <a:ext cx="3238500" cy="914400"/>
          </a:xfrm>
          <a:prstGeom xmlns:a="http://schemas.openxmlformats.org/drawingml/2006/main" prst="roundRect">
            <a:avLst>
              <a:gd name="adj" fmla="val 18750"/>
            </a:avLst>
          </a:prstGeom>
          <a:solidFill xmlns:a="http://schemas.openxmlformats.org/drawingml/2006/main">
            <a:srgbClr val="FFFDFC"/>
          </a:solidFill>
          <a:ln xmlns:a="http://schemas.openxmlformats.org/drawingml/2006/main" w="9525">
            <a:solidFill>
              <a:srgbClr val="C59028"/>
            </a:solidFill>
            <a:prstDash val="solid"/>
          </a:ln>
        </p:spPr>
      </p:sp>
      <p:sp>
        <p:nvSpPr>
          <p:cNvPr id="13" name="">
            <a:extLst xmlns:a="http://schemas.openxmlformats.org/drawingml/2006/main">
              <a:ext uri="{FF2B5EF4-FFF2-40B4-BE49-F238E27FC236}">
                <a16:creationId xmlns:a16="http://schemas.microsoft.com/office/drawing/2014/main" id="{B93F7626-4B27-4774-9DCC-907D18550395}"/>
              </a:ext>
            </a:extLst>
          </p:cNvPr>
          <p:cNvSpPr>
            <a:spLocks xmlns:a="http://schemas.openxmlformats.org/drawingml/2006/main" noGrp="1"/>
          </p:cNvSpPr>
          <p:nvPr/>
        </p:nvSpPr>
        <p:spPr>
          <a:xfrm xmlns:a="http://schemas.openxmlformats.org/drawingml/2006/main">
            <a:off x="4495800" y="2238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PATIENT-CENTREDNESS</a:t>
            </a:r>
          </a:p>
        </p:txBody>
      </p:sp>
      <p:sp>
        <p:nvSpPr>
          <p:cNvPr id="14" name="">
            <a:extLst xmlns:a="http://schemas.openxmlformats.org/drawingml/2006/main">
              <a:ext uri="{FF2B5EF4-FFF2-40B4-BE49-F238E27FC236}">
                <a16:creationId xmlns:a16="http://schemas.microsoft.com/office/drawing/2014/main" id="{EE219C57-1DC3-420C-BEA5-32D4088976DD}"/>
              </a:ext>
            </a:extLst>
          </p:cNvPr>
          <p:cNvSpPr>
            <a:spLocks xmlns:a="http://schemas.openxmlformats.org/drawingml/2006/main" noGrp="1"/>
          </p:cNvSpPr>
          <p:nvPr/>
        </p:nvSpPr>
        <p:spPr>
          <a:xfrm xmlns:a="http://schemas.openxmlformats.org/drawingml/2006/main">
            <a:off x="7905750" y="1952625"/>
            <a:ext cx="3238500" cy="914400"/>
          </a:xfrm>
          <a:prstGeom xmlns:a="http://schemas.openxmlformats.org/drawingml/2006/main" prst="roundRect">
            <a:avLst>
              <a:gd name="adj" fmla="val 18750"/>
            </a:avLst>
          </a:prstGeom>
          <a:solidFill xmlns:a="http://schemas.openxmlformats.org/drawingml/2006/main">
            <a:srgbClr val="F5EACD"/>
          </a:solidFill>
          <a:ln xmlns:a="http://schemas.openxmlformats.org/drawingml/2006/main" w="9525">
            <a:solidFill>
              <a:srgbClr val="C59028"/>
            </a:solidFill>
            <a:prstDash val="solid"/>
          </a:ln>
        </p:spPr>
      </p:sp>
      <p:sp>
        <p:nvSpPr>
          <p:cNvPr id="15" name="">
            <a:extLst xmlns:a="http://schemas.openxmlformats.org/drawingml/2006/main">
              <a:ext uri="{FF2B5EF4-FFF2-40B4-BE49-F238E27FC236}">
                <a16:creationId xmlns:a16="http://schemas.microsoft.com/office/drawing/2014/main" id="{77DA008C-33CB-4455-B60A-FDE6AD73B9E9}"/>
              </a:ext>
            </a:extLst>
          </p:cNvPr>
          <p:cNvSpPr>
            <a:spLocks xmlns:a="http://schemas.openxmlformats.org/drawingml/2006/main" noGrp="1"/>
          </p:cNvSpPr>
          <p:nvPr/>
        </p:nvSpPr>
        <p:spPr>
          <a:xfrm xmlns:a="http://schemas.openxmlformats.org/drawingml/2006/main">
            <a:off x="8115300" y="2238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CONTINUOUS LEARNING</a:t>
            </a:r>
          </a:p>
        </p:txBody>
      </p:sp>
      <p:sp>
        <p:nvSpPr>
          <p:cNvPr id="16" name="">
            <a:extLst xmlns:a="http://schemas.openxmlformats.org/drawingml/2006/main">
              <a:ext uri="{FF2B5EF4-FFF2-40B4-BE49-F238E27FC236}">
                <a16:creationId xmlns:a16="http://schemas.microsoft.com/office/drawing/2014/main" id="{BCEFBC05-F842-44FF-ADA8-17B8366F8FFF}"/>
              </a:ext>
            </a:extLst>
          </p:cNvPr>
          <p:cNvSpPr>
            <a:spLocks xmlns:a="http://schemas.openxmlformats.org/drawingml/2006/main" noGrp="1"/>
          </p:cNvSpPr>
          <p:nvPr/>
        </p:nvSpPr>
        <p:spPr>
          <a:xfrm xmlns:a="http://schemas.openxmlformats.org/drawingml/2006/main">
            <a:off x="666750" y="3190875"/>
            <a:ext cx="3238500" cy="914400"/>
          </a:xfrm>
          <a:prstGeom xmlns:a="http://schemas.openxmlformats.org/drawingml/2006/main" prst="roundRect">
            <a:avLst>
              <a:gd name="adj" fmla="val 18750"/>
            </a:avLst>
          </a:prstGeom>
          <a:solidFill xmlns:a="http://schemas.openxmlformats.org/drawingml/2006/main">
            <a:srgbClr val="FFFDFC"/>
          </a:solidFill>
          <a:ln xmlns:a="http://schemas.openxmlformats.org/drawingml/2006/main" w="9525">
            <a:solidFill>
              <a:srgbClr val="C59028"/>
            </a:solidFill>
            <a:prstDash val="solid"/>
          </a:ln>
        </p:spPr>
      </p:sp>
      <p:sp>
        <p:nvSpPr>
          <p:cNvPr id="17" name="">
            <a:extLst xmlns:a="http://schemas.openxmlformats.org/drawingml/2006/main">
              <a:ext uri="{FF2B5EF4-FFF2-40B4-BE49-F238E27FC236}">
                <a16:creationId xmlns:a16="http://schemas.microsoft.com/office/drawing/2014/main" id="{3CA1CA78-25D1-4673-83A0-F871DC7653F9}"/>
              </a:ext>
            </a:extLst>
          </p:cNvPr>
          <p:cNvSpPr>
            <a:spLocks xmlns:a="http://schemas.openxmlformats.org/drawingml/2006/main" noGrp="1"/>
          </p:cNvSpPr>
          <p:nvPr/>
        </p:nvSpPr>
        <p:spPr>
          <a:xfrm xmlns:a="http://schemas.openxmlformats.org/drawingml/2006/main">
            <a:off x="876300" y="34766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PARTICIPATORY HEALTH</a:t>
            </a:r>
          </a:p>
        </p:txBody>
      </p:sp>
      <p:sp>
        <p:nvSpPr>
          <p:cNvPr id="18" name="">
            <a:extLst xmlns:a="http://schemas.openxmlformats.org/drawingml/2006/main">
              <a:ext uri="{FF2B5EF4-FFF2-40B4-BE49-F238E27FC236}">
                <a16:creationId xmlns:a16="http://schemas.microsoft.com/office/drawing/2014/main" id="{73DB8749-7E3B-4723-B731-26B2C1ABA4B5}"/>
              </a:ext>
            </a:extLst>
          </p:cNvPr>
          <p:cNvSpPr>
            <a:spLocks xmlns:a="http://schemas.openxmlformats.org/drawingml/2006/main" noGrp="1"/>
          </p:cNvSpPr>
          <p:nvPr/>
        </p:nvSpPr>
        <p:spPr>
          <a:xfrm xmlns:a="http://schemas.openxmlformats.org/drawingml/2006/main">
            <a:off x="4286250" y="3190875"/>
            <a:ext cx="3238500" cy="914400"/>
          </a:xfrm>
          <a:prstGeom xmlns:a="http://schemas.openxmlformats.org/drawingml/2006/main" prst="roundRect">
            <a:avLst>
              <a:gd name="adj" fmla="val 18750"/>
            </a:avLst>
          </a:prstGeom>
          <a:solidFill xmlns:a="http://schemas.openxmlformats.org/drawingml/2006/main">
            <a:srgbClr val="F5EACD"/>
          </a:solidFill>
          <a:ln xmlns:a="http://schemas.openxmlformats.org/drawingml/2006/main" w="9525">
            <a:solidFill>
              <a:srgbClr val="C59028"/>
            </a:solidFill>
            <a:prstDash val="solid"/>
          </a:ln>
        </p:spPr>
      </p:sp>
      <p:sp>
        <p:nvSpPr>
          <p:cNvPr id="19" name="">
            <a:extLst xmlns:a="http://schemas.openxmlformats.org/drawingml/2006/main">
              <a:ext uri="{FF2B5EF4-FFF2-40B4-BE49-F238E27FC236}">
                <a16:creationId xmlns:a16="http://schemas.microsoft.com/office/drawing/2014/main" id="{4CF13982-C8E4-42F6-BFDD-C53AB9E5B2A1}"/>
              </a:ext>
            </a:extLst>
          </p:cNvPr>
          <p:cNvSpPr>
            <a:spLocks xmlns:a="http://schemas.openxmlformats.org/drawingml/2006/main" noGrp="1"/>
          </p:cNvSpPr>
          <p:nvPr/>
        </p:nvSpPr>
        <p:spPr>
          <a:xfrm xmlns:a="http://schemas.openxmlformats.org/drawingml/2006/main">
            <a:off x="4495800" y="34766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SUSTAINABILITY</a:t>
            </a:r>
          </a:p>
        </p:txBody>
      </p:sp>
      <p:sp>
        <p:nvSpPr>
          <p:cNvPr id="20" name="">
            <a:extLst xmlns:a="http://schemas.openxmlformats.org/drawingml/2006/main">
              <a:ext uri="{FF2B5EF4-FFF2-40B4-BE49-F238E27FC236}">
                <a16:creationId xmlns:a16="http://schemas.microsoft.com/office/drawing/2014/main" id="{531736C6-4376-42EE-90D3-D5F0F95E8275}"/>
              </a:ext>
            </a:extLst>
          </p:cNvPr>
          <p:cNvSpPr>
            <a:spLocks xmlns:a="http://schemas.openxmlformats.org/drawingml/2006/main" noGrp="1"/>
          </p:cNvSpPr>
          <p:nvPr/>
        </p:nvSpPr>
        <p:spPr>
          <a:xfrm xmlns:a="http://schemas.openxmlformats.org/drawingml/2006/main">
            <a:off x="7905750" y="3190875"/>
            <a:ext cx="3238500" cy="914400"/>
          </a:xfrm>
          <a:prstGeom xmlns:a="http://schemas.openxmlformats.org/drawingml/2006/main" prst="roundRect">
            <a:avLst>
              <a:gd name="adj" fmla="val 18750"/>
            </a:avLst>
          </a:prstGeom>
          <a:solidFill xmlns:a="http://schemas.openxmlformats.org/drawingml/2006/main">
            <a:srgbClr val="FFFDFC"/>
          </a:solidFill>
          <a:ln xmlns:a="http://schemas.openxmlformats.org/drawingml/2006/main" w="9525">
            <a:solidFill>
              <a:srgbClr val="C59028"/>
            </a:solidFill>
            <a:prstDash val="solid"/>
          </a:ln>
        </p:spPr>
      </p:sp>
      <p:sp>
        <p:nvSpPr>
          <p:cNvPr id="21" name="">
            <a:extLst xmlns:a="http://schemas.openxmlformats.org/drawingml/2006/main">
              <a:ext uri="{FF2B5EF4-FFF2-40B4-BE49-F238E27FC236}">
                <a16:creationId xmlns:a16="http://schemas.microsoft.com/office/drawing/2014/main" id="{2759EC8E-AEAE-41F4-8237-B0C7C11AA7FE}"/>
              </a:ext>
            </a:extLst>
          </p:cNvPr>
          <p:cNvSpPr>
            <a:spLocks xmlns:a="http://schemas.openxmlformats.org/drawingml/2006/main" noGrp="1"/>
          </p:cNvSpPr>
          <p:nvPr/>
        </p:nvSpPr>
        <p:spPr>
          <a:xfrm xmlns:a="http://schemas.openxmlformats.org/drawingml/2006/main">
            <a:off x="8115300" y="34766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TECH ADAPTABILITY</a:t>
            </a:r>
          </a:p>
        </p:txBody>
      </p:sp>
      <p:sp>
        <p:nvSpPr>
          <p:cNvPr id="22" name="">
            <a:extLst xmlns:a="http://schemas.openxmlformats.org/drawingml/2006/main">
              <a:ext uri="{FF2B5EF4-FFF2-40B4-BE49-F238E27FC236}">
                <a16:creationId xmlns:a16="http://schemas.microsoft.com/office/drawing/2014/main" id="{7C4FB67D-FEC1-4662-90D8-82BB57290B74}"/>
              </a:ext>
            </a:extLst>
          </p:cNvPr>
          <p:cNvSpPr>
            <a:spLocks xmlns:a="http://schemas.openxmlformats.org/drawingml/2006/main" noGrp="1"/>
          </p:cNvSpPr>
          <p:nvPr/>
        </p:nvSpPr>
        <p:spPr>
          <a:xfrm xmlns:a="http://schemas.openxmlformats.org/drawingml/2006/main">
            <a:off x="1238250" y="5162550"/>
            <a:ext cx="971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725" b="1">
                <a:solidFill>
                  <a:srgbClr val="082638"/>
                </a:solidFill>
                <a:latin typeface="Aptos"/>
                <a:ea typeface="Aptos"/>
                <a:cs typeface="Aptos"/>
              </a:defRPr>
            </a:pPr>
            <a:r>
              <a:rPr sz="1725" b="1">
                <a:solidFill>
                  <a:srgbClr val="082638"/>
                </a:solidFill>
                <a:latin typeface="Aptos"/>
                <a:ea typeface="Aptos"/>
                <a:cs typeface="Aptos"/>
              </a:rPr>
              <a:t>AI can generate scenarios. People choose the capabilities and trade-offs worth preserving.</a:t>
            </a:r>
          </a:p>
        </p:txBody>
      </p:sp>
    </p:spTree>
    <p:extLst>
      <p:ext uri="{BB962C8B-B14F-4D97-AF65-F5344CB8AC3E}">
        <p14:creationId xmlns:p14="http://schemas.microsoft.com/office/powerpoint/2010/main" val="1833844044"/>
      </p:ext>
    </p:extLst>
  </p:cSld>
</p:sld>
</file>

<file path=ppt/slides/slide19.xml><?xml version="1.0" encoding="utf-8"?>
<p:sld xmlns:p="http://schemas.openxmlformats.org/presentationml/2006/main">
  <p:cSld>
    <p:bg>
      <p:bgPr>
        <a:solidFill xmlns:a="http://schemas.openxmlformats.org/drawingml/2006/main">
          <a:srgbClr val="087E7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4C779F-B7EF-4BB8-B66B-2B657BF375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448721CB-E6BB-45ED-ABC6-5B844D935993}"/>
              </a:ext>
            </a:extLst>
          </p:cNvPr>
          <p:cNvSpPr>
            <a:spLocks xmlns:a="http://schemas.openxmlformats.org/drawingml/2006/main" noGrp="1"/>
          </p:cNvSpPr>
          <p:nvPr/>
        </p:nvSpPr>
        <p:spPr>
          <a:xfrm xmlns:a="http://schemas.openxmlformats.org/drawingml/2006/main">
            <a:off x="666750" y="590550"/>
            <a:ext cx="18097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087E78"/>
                </a:solidFill>
                <a:latin typeface="Aptos"/>
                <a:ea typeface="Aptos"/>
                <a:cs typeface="Aptos"/>
              </a:defRPr>
            </a:pPr>
            <a:r>
              <a:rPr sz="863" b="1">
                <a:solidFill>
                  <a:srgbClr val="087E78"/>
                </a:solidFill>
                <a:latin typeface="Aptos"/>
                <a:ea typeface="Aptos"/>
                <a:cs typeface="Aptos"/>
              </a:rPr>
              <a:t>CASE BLOCK</a:t>
            </a:r>
          </a:p>
        </p:txBody>
      </p:sp>
      <p:sp>
        <p:nvSpPr>
          <p:cNvPr id="3" name="">
            <a:extLst xmlns:a="http://schemas.openxmlformats.org/drawingml/2006/main">
              <a:ext uri="{FF2B5EF4-FFF2-40B4-BE49-F238E27FC236}">
                <a16:creationId xmlns:a16="http://schemas.microsoft.com/office/drawing/2014/main" id="{FE78884D-ADE3-44E8-938D-5F9D276E9742}"/>
              </a:ext>
            </a:extLst>
          </p:cNvPr>
          <p:cNvSpPr>
            <a:spLocks xmlns:a="http://schemas.openxmlformats.org/drawingml/2006/main" noGrp="1"/>
          </p:cNvSpPr>
          <p:nvPr/>
        </p:nvSpPr>
        <p:spPr>
          <a:xfrm xmlns:a="http://schemas.openxmlformats.org/drawingml/2006/main">
            <a:off x="666750" y="1476375"/>
            <a:ext cx="10572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4050" b="1">
                <a:solidFill>
                  <a:srgbClr val="FFFFFF"/>
                </a:solidFill>
                <a:latin typeface="Aptos"/>
                <a:ea typeface="Aptos"/>
                <a:cs typeface="Aptos"/>
              </a:defRPr>
            </a:pPr>
            <a:r>
              <a:rPr sz="4050" b="1">
                <a:solidFill>
                  <a:srgbClr val="FFFFFF"/>
                </a:solidFill>
                <a:latin typeface="Aptos"/>
                <a:ea typeface="Aptos"/>
                <a:cs typeface="Aptos"/>
              </a:rPr>
              <a:t>Explainability and due diligence</a:t>
            </a:r>
          </a:p>
        </p:txBody>
      </p:sp>
      <p:sp>
        <p:nvSpPr>
          <p:cNvPr id="4" name="">
            <a:extLst xmlns:a="http://schemas.openxmlformats.org/drawingml/2006/main">
              <a:ext uri="{FF2B5EF4-FFF2-40B4-BE49-F238E27FC236}">
                <a16:creationId xmlns:a16="http://schemas.microsoft.com/office/drawing/2014/main" id="{742B4B4F-975C-49CE-8A40-E3E6FD89A3E4}"/>
              </a:ext>
            </a:extLst>
          </p:cNvPr>
          <p:cNvSpPr>
            <a:spLocks xmlns:a="http://schemas.openxmlformats.org/drawingml/2006/main" noGrp="1"/>
          </p:cNvSpPr>
          <p:nvPr/>
        </p:nvSpPr>
        <p:spPr>
          <a:xfrm xmlns:a="http://schemas.openxmlformats.org/drawingml/2006/main">
            <a:off x="704850" y="321945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0">
                <a:solidFill>
                  <a:srgbClr val="FFFFFF"/>
                </a:solidFill>
                <a:latin typeface="Aptos"/>
                <a:ea typeface="Aptos"/>
                <a:cs typeface="Aptos"/>
              </a:defRPr>
            </a:pPr>
            <a:r>
              <a:rPr sz="1950" b="0">
                <a:solidFill>
                  <a:srgbClr val="FFFFFF"/>
                </a:solidFill>
                <a:latin typeface="Aptos"/>
                <a:ea typeface="Aptos"/>
                <a:cs typeface="Aptos"/>
              </a:rPr>
              <a:t>A visible explanation can support scrutiny; it does not prove correctness, benefit or fairness.</a:t>
            </a:r>
          </a:p>
        </p:txBody>
      </p:sp>
      <p:sp>
        <p:nvSpPr>
          <p:cNvPr id="5" name="">
            <a:extLst xmlns:a="http://schemas.openxmlformats.org/drawingml/2006/main">
              <a:ext uri="{FF2B5EF4-FFF2-40B4-BE49-F238E27FC236}">
                <a16:creationId xmlns:a16="http://schemas.microsoft.com/office/drawing/2014/main" id="{43FE88FB-295B-4E72-8CD9-5FE66432F9E7}"/>
              </a:ext>
            </a:extLst>
          </p:cNvPr>
          <p:cNvSpPr>
            <a:spLocks xmlns:a="http://schemas.openxmlformats.org/drawingml/2006/main" noGrp="1"/>
          </p:cNvSpPr>
          <p:nvPr/>
        </p:nvSpPr>
        <p:spPr>
          <a:xfrm xmlns:a="http://schemas.openxmlformats.org/drawingml/2006/main">
            <a:off x="704850" y="4495800"/>
            <a:ext cx="66675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87D7AEC5-DE2A-4ACC-A6D3-6E15BA2FB99F}"/>
              </a:ext>
            </a:extLst>
          </p:cNvPr>
          <p:cNvSpPr>
            <a:spLocks xmlns:a="http://schemas.openxmlformats.org/drawingml/2006/main" noGrp="1"/>
          </p:cNvSpPr>
          <p:nvPr/>
        </p:nvSpPr>
        <p:spPr>
          <a:xfrm xmlns:a="http://schemas.openxmlformats.org/drawingml/2006/main">
            <a:off x="704850" y="4762500"/>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FFFFFF"/>
                </a:solidFill>
                <a:latin typeface="Aptos"/>
                <a:ea typeface="Aptos"/>
                <a:cs typeface="Aptos"/>
              </a:defRPr>
            </a:pPr>
            <a:r>
              <a:rPr sz="1500" b="1">
                <a:solidFill>
                  <a:srgbClr val="FFFFFF"/>
                </a:solidFill>
                <a:latin typeface="Aptos"/>
                <a:ea typeface="Aptos"/>
                <a:cs typeface="Aptos"/>
              </a:rPr>
              <a:t>AI assists  •  Professionals decide  •  Patients remain the purpose</a:t>
            </a:r>
          </a:p>
        </p:txBody>
      </p:sp>
      <p:sp>
        <p:nvSpPr>
          <p:cNvPr id="7" name="">
            <a:extLst xmlns:a="http://schemas.openxmlformats.org/drawingml/2006/main">
              <a:ext uri="{FF2B5EF4-FFF2-40B4-BE49-F238E27FC236}">
                <a16:creationId xmlns:a16="http://schemas.microsoft.com/office/drawing/2014/main" id="{18091753-92BB-4DC7-BAA9-DF4E9F988277}"/>
              </a:ext>
            </a:extLst>
          </p:cNvPr>
          <p:cNvSpPr>
            <a:spLocks xmlns:a="http://schemas.openxmlformats.org/drawingml/2006/main" noGrp="1"/>
          </p:cNvSpPr>
          <p:nvPr/>
        </p:nvSpPr>
        <p:spPr>
          <a:xfrm xmlns:a="http://schemas.openxmlformats.org/drawingml/2006/main">
            <a:off x="11049000" y="62103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75" b="1">
                <a:solidFill>
                  <a:srgbClr val="FFFFFF"/>
                </a:solidFill>
                <a:latin typeface="Aptos"/>
                <a:ea typeface="Aptos"/>
                <a:cs typeface="Aptos"/>
              </a:defRPr>
            </a:pPr>
            <a:r>
              <a:rPr sz="975" b="1">
                <a:solidFill>
                  <a:srgbClr val="FFFFFF"/>
                </a:solidFill>
                <a:latin typeface="Aptos"/>
                <a:ea typeface="Aptos"/>
                <a:cs typeface="Aptos"/>
              </a:rPr>
              <a:t>19</a:t>
            </a:r>
          </a:p>
        </p:txBody>
      </p:sp>
    </p:spTree>
    <p:extLst>
      <p:ext uri="{BB962C8B-B14F-4D97-AF65-F5344CB8AC3E}">
        <p14:creationId xmlns:p14="http://schemas.microsoft.com/office/powerpoint/2010/main" val="2023741642"/>
      </p:ext>
    </p:extLst>
  </p:cSld>
</p:sld>
</file>

<file path=ppt/slides/slide20.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63B13A8-FF24-459D-B4FF-669FD7583AD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55CE346A-A38E-4F12-9A97-31B6094B0668}"/>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7</a:t>
            </a:r>
          </a:p>
        </p:txBody>
      </p:sp>
      <p:sp>
        <p:nvSpPr>
          <p:cNvPr id="3" name="">
            <a:extLst xmlns:a="http://schemas.openxmlformats.org/drawingml/2006/main">
              <a:ext uri="{FF2B5EF4-FFF2-40B4-BE49-F238E27FC236}">
                <a16:creationId xmlns:a16="http://schemas.microsoft.com/office/drawing/2014/main" id="{F10628F4-EBBF-452D-BA9F-0A81D3CFDF31}"/>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09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Explainable AI: Why a visible explanation is necessary—but not sufficient</a:t>
            </a:r>
          </a:p>
        </p:txBody>
      </p:sp>
      <p:sp>
        <p:nvSpPr>
          <p:cNvPr id="4" name="">
            <a:extLst xmlns:a="http://schemas.openxmlformats.org/drawingml/2006/main">
              <a:ext uri="{FF2B5EF4-FFF2-40B4-BE49-F238E27FC236}">
                <a16:creationId xmlns:a16="http://schemas.microsoft.com/office/drawing/2014/main" id="{7E4D7EF9-5789-4E72-B86F-061BC5295A2F}"/>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BE7BF6FD-DCB4-493F-9C49-F5707EC50519}"/>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EC168C8F-1EFB-43DF-930B-ED902B4A303E}"/>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1DC0BB89-3D42-4BA5-8D8B-BC1C94C67C81}"/>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Source: https://www.sciencedirect.com/science/article/pii/B9780443239793000063</a:t>
            </a:r>
          </a:p>
        </p:txBody>
      </p:sp>
      <p:sp>
        <p:nvSpPr>
          <p:cNvPr id="8" name="">
            <a:extLst xmlns:a="http://schemas.openxmlformats.org/drawingml/2006/main">
              <a:ext uri="{FF2B5EF4-FFF2-40B4-BE49-F238E27FC236}">
                <a16:creationId xmlns:a16="http://schemas.microsoft.com/office/drawing/2014/main" id="{F317171B-D83A-4613-AF45-13712AAD5F89}"/>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5A5D70E9-809E-4875-A556-650F26FA1B17}"/>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20</a:t>
            </a:r>
          </a:p>
        </p:txBody>
      </p:sp>
      <p:sp>
        <p:nvSpPr>
          <p:cNvPr id="10" name="">
            <a:extLst xmlns:a="http://schemas.openxmlformats.org/drawingml/2006/main">
              <a:ext uri="{FF2B5EF4-FFF2-40B4-BE49-F238E27FC236}">
                <a16:creationId xmlns:a16="http://schemas.microsoft.com/office/drawing/2014/main" id="{B9FDAD66-AEBB-4604-A758-151239EB8E32}"/>
              </a:ext>
            </a:extLst>
          </p:cNvPr>
          <p:cNvSpPr>
            <a:spLocks xmlns:a="http://schemas.openxmlformats.org/drawingml/2006/main" noGrp="1"/>
          </p:cNvSpPr>
          <p:nvPr/>
        </p:nvSpPr>
        <p:spPr>
          <a:xfrm xmlns:a="http://schemas.openxmlformats.org/drawingml/2006/main">
            <a:off x="609600" y="1714500"/>
            <a:ext cx="4953000" cy="4095750"/>
          </a:xfrm>
          <a:prstGeom xmlns:a="http://schemas.openxmlformats.org/drawingml/2006/main" prst="roundRect">
            <a:avLst>
              <a:gd name="adj" fmla="val 4651"/>
            </a:avLst>
          </a:prstGeom>
          <a:solidFill xmlns:a="http://schemas.openxmlformats.org/drawingml/2006/main">
            <a:srgbClr val="FFFDFC"/>
          </a:solidFill>
          <a:ln xmlns:a="http://schemas.openxmlformats.org/drawingml/2006/main" w="9525">
            <a:solidFill>
              <a:srgbClr val="087E7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13B62324-8E03-40F9-B3E3-63965B86481A}"/>
              </a:ext>
            </a:extLst>
          </p:cNvPr>
          <p:cNvSpPr>
            <a:spLocks xmlns:a="http://schemas.openxmlformats.org/drawingml/2006/main" noGrp="1"/>
          </p:cNvSpPr>
          <p:nvPr/>
        </p:nvSpPr>
        <p:spPr>
          <a:xfrm xmlns:a="http://schemas.openxmlformats.org/drawingml/2006/main">
            <a:off x="838200" y="1924050"/>
            <a:ext cx="40957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9315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NARRATIVE REFERENCE CHAPTER WITH ILLUSTRATIVE CASE APPLICATIONS</a:t>
            </a:r>
          </a:p>
        </p:txBody>
      </p:sp>
      <p:sp>
        <p:nvSpPr>
          <p:cNvPr id="12" name="">
            <a:extLst xmlns:a="http://schemas.openxmlformats.org/drawingml/2006/main">
              <a:ext uri="{FF2B5EF4-FFF2-40B4-BE49-F238E27FC236}">
                <a16:creationId xmlns:a16="http://schemas.microsoft.com/office/drawing/2014/main" id="{5DB13DF7-49C5-48D3-9FAE-D60C1E43CAC2}"/>
              </a:ext>
            </a:extLst>
          </p:cNvPr>
          <p:cNvSpPr>
            <a:spLocks xmlns:a="http://schemas.openxmlformats.org/drawingml/2006/main" noGrp="1"/>
          </p:cNvSpPr>
          <p:nvPr/>
        </p:nvSpPr>
        <p:spPr>
          <a:xfrm xmlns:a="http://schemas.openxmlformats.org/drawingml/2006/main">
            <a:off x="838200" y="23622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2025 reference chapter covering imaging, drug discovery and personalised medicine</a:t>
            </a:r>
          </a:p>
        </p:txBody>
      </p:sp>
      <p:sp>
        <p:nvSpPr>
          <p:cNvPr id="13" name="">
            <a:extLst xmlns:a="http://schemas.openxmlformats.org/drawingml/2006/main">
              <a:ext uri="{FF2B5EF4-FFF2-40B4-BE49-F238E27FC236}">
                <a16:creationId xmlns:a16="http://schemas.microsoft.com/office/drawing/2014/main" id="{589E6E80-1490-485E-A571-C0C878A7B38C}"/>
              </a:ext>
            </a:extLst>
          </p:cNvPr>
          <p:cNvSpPr>
            <a:spLocks xmlns:a="http://schemas.openxmlformats.org/drawingml/2006/main" noGrp="1"/>
          </p:cNvSpPr>
          <p:nvPr/>
        </p:nvSpPr>
        <p:spPr>
          <a:xfrm xmlns:a="http://schemas.openxmlformats.org/drawingml/2006/main">
            <a:off x="838200" y="30099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AI + workflow</a:t>
            </a:r>
          </a:p>
        </p:txBody>
      </p:sp>
      <p:sp>
        <p:nvSpPr>
          <p:cNvPr id="14" name="">
            <a:extLst xmlns:a="http://schemas.openxmlformats.org/drawingml/2006/main">
              <a:ext uri="{FF2B5EF4-FFF2-40B4-BE49-F238E27FC236}">
                <a16:creationId xmlns:a16="http://schemas.microsoft.com/office/drawing/2014/main" id="{254D1CB4-63C7-4A79-80B4-C129DDD1B7D8}"/>
              </a:ext>
            </a:extLst>
          </p:cNvPr>
          <p:cNvSpPr>
            <a:spLocks xmlns:a="http://schemas.openxmlformats.org/drawingml/2006/main" noGrp="1"/>
          </p:cNvSpPr>
          <p:nvPr/>
        </p:nvSpPr>
        <p:spPr>
          <a:xfrm xmlns:a="http://schemas.openxmlformats.org/drawingml/2006/main">
            <a:off x="838200" y="3295650"/>
            <a:ext cx="4286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0">
                <a:solidFill>
                  <a:srgbClr val="183340"/>
                </a:solidFill>
                <a:latin typeface="Aptos"/>
                <a:ea typeface="Aptos"/>
                <a:cs typeface="Aptos"/>
              </a:defRPr>
            </a:pPr>
            <a:r>
              <a:rPr sz="1275" b="0">
                <a:solidFill>
                  <a:srgbClr val="183340"/>
                </a:solidFill>
                <a:latin typeface="Aptos"/>
                <a:ea typeface="Aptos"/>
                <a:cs typeface="Aptos"/>
              </a:rPr>
              <a:t>Heatmaps, attention maps and feature attribution to expose model influences</a:t>
            </a:r>
          </a:p>
        </p:txBody>
      </p:sp>
      <p:sp>
        <p:nvSpPr>
          <p:cNvPr id="15" name="">
            <a:extLst xmlns:a="http://schemas.openxmlformats.org/drawingml/2006/main">
              <a:ext uri="{FF2B5EF4-FFF2-40B4-BE49-F238E27FC236}">
                <a16:creationId xmlns:a16="http://schemas.microsoft.com/office/drawing/2014/main" id="{FC7373EF-D1F1-4619-98E3-12AC693E4D80}"/>
              </a:ext>
            </a:extLst>
          </p:cNvPr>
          <p:cNvSpPr>
            <a:spLocks xmlns:a="http://schemas.openxmlformats.org/drawingml/2006/main" noGrp="1"/>
          </p:cNvSpPr>
          <p:nvPr/>
        </p:nvSpPr>
        <p:spPr>
          <a:xfrm xmlns:a="http://schemas.openxmlformats.org/drawingml/2006/main">
            <a:off x="838200" y="42957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Reported result</a:t>
            </a:r>
          </a:p>
        </p:txBody>
      </p:sp>
      <p:sp>
        <p:nvSpPr>
          <p:cNvPr id="16" name="">
            <a:extLst xmlns:a="http://schemas.openxmlformats.org/drawingml/2006/main">
              <a:ext uri="{FF2B5EF4-FFF2-40B4-BE49-F238E27FC236}">
                <a16:creationId xmlns:a16="http://schemas.microsoft.com/office/drawing/2014/main" id="{04A38B2B-E3AA-46D1-8AD0-89268AD28B80}"/>
              </a:ext>
            </a:extLst>
          </p:cNvPr>
          <p:cNvSpPr>
            <a:spLocks xmlns:a="http://schemas.openxmlformats.org/drawingml/2006/main" noGrp="1"/>
          </p:cNvSpPr>
          <p:nvPr/>
        </p:nvSpPr>
        <p:spPr>
          <a:xfrm xmlns:a="http://schemas.openxmlformats.org/drawingml/2006/main">
            <a:off x="838200" y="4581525"/>
            <a:ext cx="4286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The chapter illustrates how explanation can support audit, teaching and clinician sense-checking.</a:t>
            </a:r>
          </a:p>
        </p:txBody>
      </p:sp>
      <p:sp>
        <p:nvSpPr>
          <p:cNvPr id="17" name="">
            <a:extLst xmlns:a="http://schemas.openxmlformats.org/drawingml/2006/main">
              <a:ext uri="{FF2B5EF4-FFF2-40B4-BE49-F238E27FC236}">
                <a16:creationId xmlns:a16="http://schemas.microsoft.com/office/drawing/2014/main" id="{0B56A4DD-80B3-4741-B9EC-675E1EA74DCE}"/>
              </a:ext>
            </a:extLst>
          </p:cNvPr>
          <p:cNvSpPr>
            <a:spLocks xmlns:a="http://schemas.openxmlformats.org/drawingml/2006/main" noGrp="1"/>
          </p:cNvSpPr>
          <p:nvPr/>
        </p:nvSpPr>
        <p:spPr>
          <a:xfrm xmlns:a="http://schemas.openxmlformats.org/drawingml/2006/main">
            <a:off x="5905500" y="1714500"/>
            <a:ext cx="5391150" cy="1752600"/>
          </a:xfrm>
          <a:prstGeom xmlns:a="http://schemas.openxmlformats.org/drawingml/2006/main" prst="roundRect">
            <a:avLst>
              <a:gd name="adj" fmla="val 10870"/>
            </a:avLst>
          </a:prstGeom>
          <a:solidFill xmlns:a="http://schemas.openxmlformats.org/drawingml/2006/main">
            <a:srgbClr val="FBE7DF"/>
          </a:solidFill>
          <a:ln xmlns:a="http://schemas.openxmlformats.org/drawingml/2006/main" w="9525">
            <a:solidFill>
              <a:srgbClr val="E8694A"/>
            </a:solidFill>
            <a:prstDash val="solid"/>
          </a:ln>
        </p:spPr>
      </p:sp>
      <p:sp>
        <p:nvSpPr>
          <p:cNvPr id="18" name="">
            <a:extLst xmlns:a="http://schemas.openxmlformats.org/drawingml/2006/main">
              <a:ext uri="{FF2B5EF4-FFF2-40B4-BE49-F238E27FC236}">
                <a16:creationId xmlns:a16="http://schemas.microsoft.com/office/drawing/2014/main" id="{7C069AE9-71CD-44E6-859B-83BEBD5B179D}"/>
              </a:ext>
            </a:extLst>
          </p:cNvPr>
          <p:cNvSpPr>
            <a:spLocks xmlns:a="http://schemas.openxmlformats.org/drawingml/2006/main" noGrp="1"/>
          </p:cNvSpPr>
          <p:nvPr/>
        </p:nvSpPr>
        <p:spPr>
          <a:xfrm xmlns:a="http://schemas.openxmlformats.org/drawingml/2006/main">
            <a:off x="6153150" y="19240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B7433D"/>
                </a:solidFill>
                <a:latin typeface="Aptos"/>
                <a:ea typeface="Aptos"/>
                <a:cs typeface="Aptos"/>
              </a:defRPr>
            </a:pPr>
            <a:r>
              <a:rPr sz="1050" b="1">
                <a:solidFill>
                  <a:srgbClr val="B7433D"/>
                </a:solidFill>
                <a:latin typeface="Aptos"/>
                <a:ea typeface="Aptos"/>
                <a:cs typeface="Aptos"/>
              </a:rPr>
              <a:t>EVIDENCE LIMIT</a:t>
            </a:r>
          </a:p>
        </p:txBody>
      </p:sp>
      <p:sp>
        <p:nvSpPr>
          <p:cNvPr id="19" name="">
            <a:extLst xmlns:a="http://schemas.openxmlformats.org/drawingml/2006/main">
              <a:ext uri="{FF2B5EF4-FFF2-40B4-BE49-F238E27FC236}">
                <a16:creationId xmlns:a16="http://schemas.microsoft.com/office/drawing/2014/main" id="{BB98AF11-9811-477A-9684-1437222A6671}"/>
              </a:ext>
            </a:extLst>
          </p:cNvPr>
          <p:cNvSpPr>
            <a:spLocks xmlns:a="http://schemas.openxmlformats.org/drawingml/2006/main" noGrp="1"/>
          </p:cNvSpPr>
          <p:nvPr/>
        </p:nvSpPr>
        <p:spPr>
          <a:xfrm xmlns:a="http://schemas.openxmlformats.org/drawingml/2006/main">
            <a:off x="6153150" y="2276475"/>
            <a:ext cx="48958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An explanation can be plausible yet unstable or misleading; explainability is not proof of accuracy or benefit.</a:t>
            </a:r>
          </a:p>
        </p:txBody>
      </p:sp>
      <p:sp>
        <p:nvSpPr>
          <p:cNvPr id="20" name="">
            <a:extLst xmlns:a="http://schemas.openxmlformats.org/drawingml/2006/main">
              <a:ext uri="{FF2B5EF4-FFF2-40B4-BE49-F238E27FC236}">
                <a16:creationId xmlns:a16="http://schemas.microsoft.com/office/drawing/2014/main" id="{3DEBD4FA-8AE5-4B65-A390-2086BAEC7CBC}"/>
              </a:ext>
            </a:extLst>
          </p:cNvPr>
          <p:cNvSpPr>
            <a:spLocks xmlns:a="http://schemas.openxmlformats.org/drawingml/2006/main" noGrp="1"/>
          </p:cNvSpPr>
          <p:nvPr/>
        </p:nvSpPr>
        <p:spPr>
          <a:xfrm xmlns:a="http://schemas.openxmlformats.org/drawingml/2006/main">
            <a:off x="5905500" y="3667125"/>
            <a:ext cx="5391150" cy="962025"/>
          </a:xfrm>
          <a:prstGeom xmlns:a="http://schemas.openxmlformats.org/drawingml/2006/main" prst="roundRect">
            <a:avLst>
              <a:gd name="adj" fmla="val 17822"/>
            </a:avLst>
          </a:prstGeom>
          <a:solidFill xmlns:a="http://schemas.openxmlformats.org/drawingml/2006/main">
            <a:srgbClr val="DDF2EE"/>
          </a:solidFill>
          <a:ln xmlns:a="http://schemas.openxmlformats.org/drawingml/2006/main" w="9525">
            <a:solidFill>
              <a:srgbClr val="087E78"/>
            </a:solidFill>
            <a:prstDash val="solid"/>
          </a:ln>
        </p:spPr>
      </p:sp>
      <p:sp>
        <p:nvSpPr>
          <p:cNvPr id="21" name="">
            <a:extLst xmlns:a="http://schemas.openxmlformats.org/drawingml/2006/main">
              <a:ext uri="{FF2B5EF4-FFF2-40B4-BE49-F238E27FC236}">
                <a16:creationId xmlns:a16="http://schemas.microsoft.com/office/drawing/2014/main" id="{7E086B9C-EF4F-4E04-8B6C-444605DE0F50}"/>
              </a:ext>
            </a:extLst>
          </p:cNvPr>
          <p:cNvSpPr>
            <a:spLocks xmlns:a="http://schemas.openxmlformats.org/drawingml/2006/main" noGrp="1"/>
          </p:cNvSpPr>
          <p:nvPr/>
        </p:nvSpPr>
        <p:spPr>
          <a:xfrm xmlns:a="http://schemas.openxmlformats.org/drawingml/2006/main">
            <a:off x="6153150" y="38576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HUMAN CHECKPOINT</a:t>
            </a:r>
          </a:p>
        </p:txBody>
      </p:sp>
      <p:sp>
        <p:nvSpPr>
          <p:cNvPr id="22" name="">
            <a:extLst xmlns:a="http://schemas.openxmlformats.org/drawingml/2006/main">
              <a:ext uri="{FF2B5EF4-FFF2-40B4-BE49-F238E27FC236}">
                <a16:creationId xmlns:a16="http://schemas.microsoft.com/office/drawing/2014/main" id="{95739271-3BBD-4168-964C-71FDD34D5CE9}"/>
              </a:ext>
            </a:extLst>
          </p:cNvPr>
          <p:cNvSpPr>
            <a:spLocks xmlns:a="http://schemas.openxmlformats.org/drawingml/2006/main" noGrp="1"/>
          </p:cNvSpPr>
          <p:nvPr/>
        </p:nvSpPr>
        <p:spPr>
          <a:xfrm xmlns:a="http://schemas.openxmlformats.org/drawingml/2006/main">
            <a:off x="6153150" y="4171950"/>
            <a:ext cx="4895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775"/>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Professional compares the explanation with intended use, validation and patient context.</a:t>
            </a:r>
          </a:p>
        </p:txBody>
      </p:sp>
      <p:sp>
        <p:nvSpPr>
          <p:cNvPr id="23" name="">
            <a:extLst xmlns:a="http://schemas.openxmlformats.org/drawingml/2006/main">
              <a:ext uri="{FF2B5EF4-FFF2-40B4-BE49-F238E27FC236}">
                <a16:creationId xmlns:a16="http://schemas.microsoft.com/office/drawing/2014/main" id="{33816BDD-C2E2-4E62-96AF-35F96E5CE804}"/>
              </a:ext>
            </a:extLst>
          </p:cNvPr>
          <p:cNvSpPr>
            <a:spLocks xmlns:a="http://schemas.openxmlformats.org/drawingml/2006/main" noGrp="1"/>
          </p:cNvSpPr>
          <p:nvPr/>
        </p:nvSpPr>
        <p:spPr>
          <a:xfrm xmlns:a="http://schemas.openxmlformats.org/drawingml/2006/main">
            <a:off x="5905500" y="4829175"/>
            <a:ext cx="5391150" cy="981075"/>
          </a:xfrm>
          <a:prstGeom xmlns:a="http://schemas.openxmlformats.org/drawingml/2006/main" prst="roundRect">
            <a:avLst>
              <a:gd name="adj" fmla="val 17476"/>
            </a:avLst>
          </a:prstGeom>
          <a:solidFill xmlns:a="http://schemas.openxmlformats.org/drawingml/2006/main">
            <a:srgbClr val="082638"/>
          </a:solidFill>
          <a:ln xmlns:a="http://schemas.openxmlformats.org/drawingml/2006/main" w="9525">
            <a:solidFill>
              <a:srgbClr val="082638"/>
            </a:solidFill>
            <a:prstDash val="solid"/>
          </a:ln>
        </p:spPr>
      </p:sp>
      <p:sp>
        <p:nvSpPr>
          <p:cNvPr id="24" name="">
            <a:extLst xmlns:a="http://schemas.openxmlformats.org/drawingml/2006/main">
              <a:ext uri="{FF2B5EF4-FFF2-40B4-BE49-F238E27FC236}">
                <a16:creationId xmlns:a16="http://schemas.microsoft.com/office/drawing/2014/main" id="{B8A791BD-A092-43AF-964F-06AC0C2D493E}"/>
              </a:ext>
            </a:extLst>
          </p:cNvPr>
          <p:cNvSpPr>
            <a:spLocks xmlns:a="http://schemas.openxmlformats.org/drawingml/2006/main" noGrp="1"/>
          </p:cNvSpPr>
          <p:nvPr/>
        </p:nvSpPr>
        <p:spPr>
          <a:xfrm xmlns:a="http://schemas.openxmlformats.org/drawingml/2006/main">
            <a:off x="6153150" y="5019675"/>
            <a:ext cx="48958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8997"/>
          </a:bodyPr>
          <a:lstStyle xmlns:a="http://schemas.openxmlformats.org/drawingml/2006/main"/>
          <a:p xmlns:a="http://schemas.openxmlformats.org/drawingml/2006/main">
            <a:pPr algn="l">
              <a:lnSpc>
                <a:spcPct val="103000"/>
              </a:lnSpc>
              <a:buNone/>
              <a:defRPr sz="1425" b="1">
                <a:solidFill>
                  <a:srgbClr val="FFFFFF"/>
                </a:solidFill>
                <a:latin typeface="Aptos"/>
                <a:ea typeface="Aptos"/>
                <a:cs typeface="Aptos"/>
              </a:defRPr>
            </a:pPr>
            <a:r>
              <a:rPr sz="1425" b="1">
                <a:solidFill>
                  <a:srgbClr val="FFFFFF"/>
                </a:solidFill>
                <a:latin typeface="Aptos"/>
                <a:ea typeface="Aptos"/>
                <a:cs typeface="Aptos"/>
              </a:rPr>
              <a:t>Ask why, for whom and under what validation—not only what the model predicted.</a:t>
            </a:r>
          </a:p>
        </p:txBody>
      </p:sp>
      <p:sp>
        <p:nvSpPr>
          <p:cNvPr id="25" name="">
            <a:extLst xmlns:a="http://schemas.openxmlformats.org/drawingml/2006/main">
              <a:ext uri="{FF2B5EF4-FFF2-40B4-BE49-F238E27FC236}">
                <a16:creationId xmlns:a16="http://schemas.microsoft.com/office/drawing/2014/main" id="{95EF5883-8C12-4A11-8F57-1534CCF8324B}"/>
              </a:ext>
            </a:extLst>
          </p:cNvPr>
          <p:cNvSpPr>
            <a:spLocks xmlns:a="http://schemas.openxmlformats.org/drawingml/2006/main" noGrp="1"/>
          </p:cNvSpPr>
          <p:nvPr/>
        </p:nvSpPr>
        <p:spPr>
          <a:xfrm xmlns:a="http://schemas.openxmlformats.org/drawingml/2006/main">
            <a:off x="6153150" y="5391150"/>
            <a:ext cx="4895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63" b="0">
                <a:solidFill>
                  <a:srgbClr val="FFFFFF"/>
                </a:solidFill>
                <a:latin typeface="Aptos"/>
                <a:ea typeface="Aptos"/>
                <a:cs typeface="Aptos"/>
              </a:defRPr>
            </a:pPr>
            <a:r>
              <a:rPr sz="1163" b="0">
                <a:solidFill>
                  <a:srgbClr val="FFFFFF"/>
                </a:solidFill>
                <a:latin typeface="Aptos"/>
                <a:ea typeface="Aptos"/>
                <a:cs typeface="Aptos"/>
              </a:rPr>
              <a:t>Is the explanation clinically meaningful or merely decorative?</a:t>
            </a:r>
          </a:p>
        </p:txBody>
      </p:sp>
    </p:spTree>
    <p:extLst>
      <p:ext uri="{BB962C8B-B14F-4D97-AF65-F5344CB8AC3E}">
        <p14:creationId xmlns:p14="http://schemas.microsoft.com/office/powerpoint/2010/main" val="189066557"/>
      </p:ext>
    </p:extLst>
  </p:cSld>
</p:sld>
</file>

<file path=ppt/slides/slide2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A6FB482-E61F-465E-9EC5-74A91AE2F5DA}"/>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B968444E-49B0-4C35-B2B0-9A74EB8115BE}"/>
              </a:ext>
            </a:extLst>
          </p:cNvPr>
          <p:cNvSpPr>
            <a:spLocks xmlns:a="http://schemas.openxmlformats.org/drawingml/2006/main" noGrp="1"/>
          </p:cNvSpPr>
          <p:nvPr/>
        </p:nvSpPr>
        <p:spPr>
          <a:xfrm xmlns:a="http://schemas.openxmlformats.org/drawingml/2006/main">
            <a:off x="590550" y="285750"/>
            <a:ext cx="130302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81748"/>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VENDOR CONVERSATION</a:t>
            </a:r>
          </a:p>
        </p:txBody>
      </p:sp>
      <p:sp>
        <p:nvSpPr>
          <p:cNvPr id="3" name="">
            <a:extLst xmlns:a="http://schemas.openxmlformats.org/drawingml/2006/main">
              <a:ext uri="{FF2B5EF4-FFF2-40B4-BE49-F238E27FC236}">
                <a16:creationId xmlns:a16="http://schemas.microsoft.com/office/drawing/2014/main" id="{FCEE63EF-BE6F-48F8-8BBA-A331FA275B5D}"/>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Eight questions turn a demo into due diligence</a:t>
            </a:r>
          </a:p>
        </p:txBody>
      </p:sp>
      <p:sp>
        <p:nvSpPr>
          <p:cNvPr id="4" name="">
            <a:extLst xmlns:a="http://schemas.openxmlformats.org/drawingml/2006/main">
              <a:ext uri="{FF2B5EF4-FFF2-40B4-BE49-F238E27FC236}">
                <a16:creationId xmlns:a16="http://schemas.microsoft.com/office/drawing/2014/main" id="{199CA13E-AEC8-452B-904C-108D5237280A}"/>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5A644B00-0F4D-4508-B7F3-C1AA5963621E}"/>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7D2F5F05-67D2-4C57-BED0-CAC760AB2F3B}"/>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882D1AA0-7718-4788-9B5B-C3C5E0292B82}"/>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https://www.sciencedirect.com/science/article/pii/B9780443239793000063</a:t>
            </a:r>
          </a:p>
        </p:txBody>
      </p:sp>
      <p:sp>
        <p:nvSpPr>
          <p:cNvPr id="8" name="">
            <a:extLst xmlns:a="http://schemas.openxmlformats.org/drawingml/2006/main">
              <a:ext uri="{FF2B5EF4-FFF2-40B4-BE49-F238E27FC236}">
                <a16:creationId xmlns:a16="http://schemas.microsoft.com/office/drawing/2014/main" id="{A7A9EFCB-0557-4D46-8931-92AE1D1F47BA}"/>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B1722F87-04F3-4B6D-AD28-76A4CFA53541}"/>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21</a:t>
            </a:r>
          </a:p>
        </p:txBody>
      </p:sp>
      <p:sp>
        <p:nvSpPr>
          <p:cNvPr id="10" name="">
            <a:extLst xmlns:a="http://schemas.openxmlformats.org/drawingml/2006/main">
              <a:ext uri="{FF2B5EF4-FFF2-40B4-BE49-F238E27FC236}">
                <a16:creationId xmlns:a16="http://schemas.microsoft.com/office/drawing/2014/main" id="{B82551DC-C1B7-4804-9E91-09FDA7112943}"/>
              </a:ext>
            </a:extLst>
          </p:cNvPr>
          <p:cNvSpPr>
            <a:spLocks xmlns:a="http://schemas.openxmlformats.org/drawingml/2006/main" noGrp="1"/>
          </p:cNvSpPr>
          <p:nvPr/>
        </p:nvSpPr>
        <p:spPr>
          <a:xfrm xmlns:a="http://schemas.openxmlformats.org/drawingml/2006/main">
            <a:off x="590550" y="1847850"/>
            <a:ext cx="2476500" cy="1314450"/>
          </a:xfrm>
          <a:prstGeom xmlns:a="http://schemas.openxmlformats.org/drawingml/2006/main" prst="roundRect">
            <a:avLst>
              <a:gd name="adj" fmla="val 13043"/>
            </a:avLst>
          </a:prstGeom>
          <a:solidFill xmlns:a="http://schemas.openxmlformats.org/drawingml/2006/main">
            <a:srgbClr val="FFFDFC"/>
          </a:solidFill>
          <a:ln xmlns:a="http://schemas.openxmlformats.org/drawingml/2006/main" w="9525">
            <a:solidFill>
              <a:srgbClr val="087E78"/>
            </a:solidFill>
            <a:prstDash val="solid"/>
          </a:ln>
        </p:spPr>
      </p:sp>
      <p:sp>
        <p:nvSpPr>
          <p:cNvPr id="11" name="">
            <a:extLst xmlns:a="http://schemas.openxmlformats.org/drawingml/2006/main">
              <a:ext uri="{FF2B5EF4-FFF2-40B4-BE49-F238E27FC236}">
                <a16:creationId xmlns:a16="http://schemas.microsoft.com/office/drawing/2014/main" id="{E3061CC0-9EFE-4A61-AAED-9471084F038A}"/>
              </a:ext>
            </a:extLst>
          </p:cNvPr>
          <p:cNvSpPr>
            <a:spLocks xmlns:a="http://schemas.openxmlformats.org/drawingml/2006/main" noGrp="1"/>
          </p:cNvSpPr>
          <p:nvPr/>
        </p:nvSpPr>
        <p:spPr>
          <a:xfrm xmlns:a="http://schemas.openxmlformats.org/drawingml/2006/main">
            <a:off x="781050" y="20193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7E78"/>
                </a:solidFill>
                <a:latin typeface="Aptos"/>
                <a:ea typeface="Aptos"/>
                <a:cs typeface="Aptos"/>
              </a:defRPr>
            </a:pPr>
            <a:r>
              <a:rPr sz="1350" b="1">
                <a:solidFill>
                  <a:srgbClr val="087E78"/>
                </a:solidFill>
                <a:latin typeface="Aptos"/>
                <a:ea typeface="Aptos"/>
                <a:cs typeface="Aptos"/>
              </a:rPr>
              <a:t>01</a:t>
            </a:r>
          </a:p>
        </p:txBody>
      </p:sp>
      <p:sp>
        <p:nvSpPr>
          <p:cNvPr id="12" name="">
            <a:extLst xmlns:a="http://schemas.openxmlformats.org/drawingml/2006/main">
              <a:ext uri="{FF2B5EF4-FFF2-40B4-BE49-F238E27FC236}">
                <a16:creationId xmlns:a16="http://schemas.microsoft.com/office/drawing/2014/main" id="{E04E1CE9-A994-4772-869A-C83B7F627BD6}"/>
              </a:ext>
            </a:extLst>
          </p:cNvPr>
          <p:cNvSpPr>
            <a:spLocks xmlns:a="http://schemas.openxmlformats.org/drawingml/2006/main" noGrp="1"/>
          </p:cNvSpPr>
          <p:nvPr/>
        </p:nvSpPr>
        <p:spPr>
          <a:xfrm xmlns:a="http://schemas.openxmlformats.org/drawingml/2006/main">
            <a:off x="781050" y="243840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Intended use + user?</a:t>
            </a:r>
          </a:p>
        </p:txBody>
      </p:sp>
      <p:sp>
        <p:nvSpPr>
          <p:cNvPr id="13" name="">
            <a:extLst xmlns:a="http://schemas.openxmlformats.org/drawingml/2006/main">
              <a:ext uri="{FF2B5EF4-FFF2-40B4-BE49-F238E27FC236}">
                <a16:creationId xmlns:a16="http://schemas.microsoft.com/office/drawing/2014/main" id="{FF887383-1127-4958-AE86-43C18938A727}"/>
              </a:ext>
            </a:extLst>
          </p:cNvPr>
          <p:cNvSpPr>
            <a:spLocks xmlns:a="http://schemas.openxmlformats.org/drawingml/2006/main" noGrp="1"/>
          </p:cNvSpPr>
          <p:nvPr/>
        </p:nvSpPr>
        <p:spPr>
          <a:xfrm xmlns:a="http://schemas.openxmlformats.org/drawingml/2006/main">
            <a:off x="3352800" y="1847850"/>
            <a:ext cx="2476500" cy="1314450"/>
          </a:xfrm>
          <a:prstGeom xmlns:a="http://schemas.openxmlformats.org/drawingml/2006/main" prst="roundRect">
            <a:avLst>
              <a:gd name="adj" fmla="val 13043"/>
            </a:avLst>
          </a:prstGeom>
          <a:solidFill xmlns:a="http://schemas.openxmlformats.org/drawingml/2006/main">
            <a:srgbClr val="FFFDFC"/>
          </a:solidFill>
          <a:ln xmlns:a="http://schemas.openxmlformats.org/drawingml/2006/main" w="9525">
            <a:solidFill>
              <a:srgbClr val="087E78"/>
            </a:solidFill>
            <a:prstDash val="solid"/>
          </a:ln>
        </p:spPr>
      </p:sp>
      <p:sp>
        <p:nvSpPr>
          <p:cNvPr id="14" name="">
            <a:extLst xmlns:a="http://schemas.openxmlformats.org/drawingml/2006/main">
              <a:ext uri="{FF2B5EF4-FFF2-40B4-BE49-F238E27FC236}">
                <a16:creationId xmlns:a16="http://schemas.microsoft.com/office/drawing/2014/main" id="{0C558DC1-A7A0-43DF-9186-7BBB609F66A2}"/>
              </a:ext>
            </a:extLst>
          </p:cNvPr>
          <p:cNvSpPr>
            <a:spLocks xmlns:a="http://schemas.openxmlformats.org/drawingml/2006/main" noGrp="1"/>
          </p:cNvSpPr>
          <p:nvPr/>
        </p:nvSpPr>
        <p:spPr>
          <a:xfrm xmlns:a="http://schemas.openxmlformats.org/drawingml/2006/main">
            <a:off x="3543300" y="20193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7E78"/>
                </a:solidFill>
                <a:latin typeface="Aptos"/>
                <a:ea typeface="Aptos"/>
                <a:cs typeface="Aptos"/>
              </a:defRPr>
            </a:pPr>
            <a:r>
              <a:rPr sz="1350" b="1">
                <a:solidFill>
                  <a:srgbClr val="087E78"/>
                </a:solidFill>
                <a:latin typeface="Aptos"/>
                <a:ea typeface="Aptos"/>
                <a:cs typeface="Aptos"/>
              </a:rPr>
              <a:t>02</a:t>
            </a:r>
          </a:p>
        </p:txBody>
      </p:sp>
      <p:sp>
        <p:nvSpPr>
          <p:cNvPr id="15" name="">
            <a:extLst xmlns:a="http://schemas.openxmlformats.org/drawingml/2006/main">
              <a:ext uri="{FF2B5EF4-FFF2-40B4-BE49-F238E27FC236}">
                <a16:creationId xmlns:a16="http://schemas.microsoft.com/office/drawing/2014/main" id="{9772BB33-C56B-4916-9B1C-0C00AA9F4DB4}"/>
              </a:ext>
            </a:extLst>
          </p:cNvPr>
          <p:cNvSpPr>
            <a:spLocks xmlns:a="http://schemas.openxmlformats.org/drawingml/2006/main" noGrp="1"/>
          </p:cNvSpPr>
          <p:nvPr/>
        </p:nvSpPr>
        <p:spPr>
          <a:xfrm xmlns:a="http://schemas.openxmlformats.org/drawingml/2006/main">
            <a:off x="3543300" y="243840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Target population + setting?</a:t>
            </a:r>
          </a:p>
        </p:txBody>
      </p:sp>
      <p:sp>
        <p:nvSpPr>
          <p:cNvPr id="16" name="">
            <a:extLst xmlns:a="http://schemas.openxmlformats.org/drawingml/2006/main">
              <a:ext uri="{FF2B5EF4-FFF2-40B4-BE49-F238E27FC236}">
                <a16:creationId xmlns:a16="http://schemas.microsoft.com/office/drawing/2014/main" id="{25AF4C31-ADAF-40F5-9E83-B502F694326B}"/>
              </a:ext>
            </a:extLst>
          </p:cNvPr>
          <p:cNvSpPr>
            <a:spLocks xmlns:a="http://schemas.openxmlformats.org/drawingml/2006/main" noGrp="1"/>
          </p:cNvSpPr>
          <p:nvPr/>
        </p:nvSpPr>
        <p:spPr>
          <a:xfrm xmlns:a="http://schemas.openxmlformats.org/drawingml/2006/main">
            <a:off x="6115050" y="1847850"/>
            <a:ext cx="2476500" cy="1314450"/>
          </a:xfrm>
          <a:prstGeom xmlns:a="http://schemas.openxmlformats.org/drawingml/2006/main" prst="roundRect">
            <a:avLst>
              <a:gd name="adj" fmla="val 13043"/>
            </a:avLst>
          </a:prstGeom>
          <a:solidFill xmlns:a="http://schemas.openxmlformats.org/drawingml/2006/main">
            <a:srgbClr val="FFFDFC"/>
          </a:solidFill>
          <a:ln xmlns:a="http://schemas.openxmlformats.org/drawingml/2006/main" w="9525">
            <a:solidFill>
              <a:srgbClr val="087E78"/>
            </a:solidFill>
            <a:prstDash val="solid"/>
          </a:ln>
        </p:spPr>
      </p:sp>
      <p:sp>
        <p:nvSpPr>
          <p:cNvPr id="17" name="">
            <a:extLst xmlns:a="http://schemas.openxmlformats.org/drawingml/2006/main">
              <a:ext uri="{FF2B5EF4-FFF2-40B4-BE49-F238E27FC236}">
                <a16:creationId xmlns:a16="http://schemas.microsoft.com/office/drawing/2014/main" id="{5E42A1BC-D54B-43B5-B14F-749E253F0089}"/>
              </a:ext>
            </a:extLst>
          </p:cNvPr>
          <p:cNvSpPr>
            <a:spLocks xmlns:a="http://schemas.openxmlformats.org/drawingml/2006/main" noGrp="1"/>
          </p:cNvSpPr>
          <p:nvPr/>
        </p:nvSpPr>
        <p:spPr>
          <a:xfrm xmlns:a="http://schemas.openxmlformats.org/drawingml/2006/main">
            <a:off x="6305550" y="20193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7E78"/>
                </a:solidFill>
                <a:latin typeface="Aptos"/>
                <a:ea typeface="Aptos"/>
                <a:cs typeface="Aptos"/>
              </a:defRPr>
            </a:pPr>
            <a:r>
              <a:rPr sz="1350" b="1">
                <a:solidFill>
                  <a:srgbClr val="087E78"/>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AB2B8898-788A-4F03-ABC0-A15D007F5DAE}"/>
              </a:ext>
            </a:extLst>
          </p:cNvPr>
          <p:cNvSpPr>
            <a:spLocks xmlns:a="http://schemas.openxmlformats.org/drawingml/2006/main" noGrp="1"/>
          </p:cNvSpPr>
          <p:nvPr/>
        </p:nvSpPr>
        <p:spPr>
          <a:xfrm xmlns:a="http://schemas.openxmlformats.org/drawingml/2006/main">
            <a:off x="6305550" y="243840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Comparator + outcomes?</a:t>
            </a:r>
          </a:p>
        </p:txBody>
      </p:sp>
      <p:sp>
        <p:nvSpPr>
          <p:cNvPr id="19" name="">
            <a:extLst xmlns:a="http://schemas.openxmlformats.org/drawingml/2006/main">
              <a:ext uri="{FF2B5EF4-FFF2-40B4-BE49-F238E27FC236}">
                <a16:creationId xmlns:a16="http://schemas.microsoft.com/office/drawing/2014/main" id="{AF2A5BFD-5F3E-4768-A29B-C86475248CC5}"/>
              </a:ext>
            </a:extLst>
          </p:cNvPr>
          <p:cNvSpPr>
            <a:spLocks xmlns:a="http://schemas.openxmlformats.org/drawingml/2006/main" noGrp="1"/>
          </p:cNvSpPr>
          <p:nvPr/>
        </p:nvSpPr>
        <p:spPr>
          <a:xfrm xmlns:a="http://schemas.openxmlformats.org/drawingml/2006/main">
            <a:off x="8877300" y="1847850"/>
            <a:ext cx="2476500" cy="1314450"/>
          </a:xfrm>
          <a:prstGeom xmlns:a="http://schemas.openxmlformats.org/drawingml/2006/main" prst="roundRect">
            <a:avLst>
              <a:gd name="adj" fmla="val 13043"/>
            </a:avLst>
          </a:prstGeom>
          <a:solidFill xmlns:a="http://schemas.openxmlformats.org/drawingml/2006/main">
            <a:srgbClr val="FFFDFC"/>
          </a:solidFill>
          <a:ln xmlns:a="http://schemas.openxmlformats.org/drawingml/2006/main" w="9525">
            <a:solidFill>
              <a:srgbClr val="087E78"/>
            </a:solidFill>
            <a:prstDash val="solid"/>
          </a:ln>
        </p:spPr>
      </p:sp>
      <p:sp>
        <p:nvSpPr>
          <p:cNvPr id="20" name="">
            <a:extLst xmlns:a="http://schemas.openxmlformats.org/drawingml/2006/main">
              <a:ext uri="{FF2B5EF4-FFF2-40B4-BE49-F238E27FC236}">
                <a16:creationId xmlns:a16="http://schemas.microsoft.com/office/drawing/2014/main" id="{36C7CD86-0F6D-41B5-AD48-B7375F3E698A}"/>
              </a:ext>
            </a:extLst>
          </p:cNvPr>
          <p:cNvSpPr>
            <a:spLocks xmlns:a="http://schemas.openxmlformats.org/drawingml/2006/main" noGrp="1"/>
          </p:cNvSpPr>
          <p:nvPr/>
        </p:nvSpPr>
        <p:spPr>
          <a:xfrm xmlns:a="http://schemas.openxmlformats.org/drawingml/2006/main">
            <a:off x="9067800" y="20193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7E78"/>
                </a:solidFill>
                <a:latin typeface="Aptos"/>
                <a:ea typeface="Aptos"/>
                <a:cs typeface="Aptos"/>
              </a:defRPr>
            </a:pPr>
            <a:r>
              <a:rPr sz="1350" b="1">
                <a:solidFill>
                  <a:srgbClr val="087E78"/>
                </a:solidFill>
                <a:latin typeface="Aptos"/>
                <a:ea typeface="Aptos"/>
                <a:cs typeface="Aptos"/>
              </a:rPr>
              <a:t>04</a:t>
            </a:r>
          </a:p>
        </p:txBody>
      </p:sp>
      <p:sp>
        <p:nvSpPr>
          <p:cNvPr id="21" name="">
            <a:extLst xmlns:a="http://schemas.openxmlformats.org/drawingml/2006/main">
              <a:ext uri="{FF2B5EF4-FFF2-40B4-BE49-F238E27FC236}">
                <a16:creationId xmlns:a16="http://schemas.microsoft.com/office/drawing/2014/main" id="{BC966F44-DD56-4643-ACA3-2174914F3244}"/>
              </a:ext>
            </a:extLst>
          </p:cNvPr>
          <p:cNvSpPr>
            <a:spLocks xmlns:a="http://schemas.openxmlformats.org/drawingml/2006/main" noGrp="1"/>
          </p:cNvSpPr>
          <p:nvPr/>
        </p:nvSpPr>
        <p:spPr>
          <a:xfrm xmlns:a="http://schemas.openxmlformats.org/drawingml/2006/main">
            <a:off x="9067800" y="243840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False negatives + positives?</a:t>
            </a:r>
          </a:p>
        </p:txBody>
      </p:sp>
      <p:sp>
        <p:nvSpPr>
          <p:cNvPr id="22" name="">
            <a:extLst xmlns:a="http://schemas.openxmlformats.org/drawingml/2006/main">
              <a:ext uri="{FF2B5EF4-FFF2-40B4-BE49-F238E27FC236}">
                <a16:creationId xmlns:a16="http://schemas.microsoft.com/office/drawing/2014/main" id="{BF3EE03C-66DA-43C2-97BE-7CCCA84B0A0D}"/>
              </a:ext>
            </a:extLst>
          </p:cNvPr>
          <p:cNvSpPr>
            <a:spLocks xmlns:a="http://schemas.openxmlformats.org/drawingml/2006/main" noGrp="1"/>
          </p:cNvSpPr>
          <p:nvPr/>
        </p:nvSpPr>
        <p:spPr>
          <a:xfrm xmlns:a="http://schemas.openxmlformats.org/drawingml/2006/main">
            <a:off x="590550" y="3429000"/>
            <a:ext cx="2476500" cy="1314450"/>
          </a:xfrm>
          <a:prstGeom xmlns:a="http://schemas.openxmlformats.org/drawingml/2006/main" prst="roundRect">
            <a:avLst>
              <a:gd name="adj" fmla="val 13043"/>
            </a:avLst>
          </a:prstGeom>
          <a:solidFill xmlns:a="http://schemas.openxmlformats.org/drawingml/2006/main">
            <a:srgbClr val="FFFDFC"/>
          </a:solidFill>
          <a:ln xmlns:a="http://schemas.openxmlformats.org/drawingml/2006/main" w="9525">
            <a:solidFill>
              <a:srgbClr val="087E78"/>
            </a:solidFill>
            <a:prstDash val="solid"/>
          </a:ln>
        </p:spPr>
      </p:sp>
      <p:sp>
        <p:nvSpPr>
          <p:cNvPr id="23" name="">
            <a:extLst xmlns:a="http://schemas.openxmlformats.org/drawingml/2006/main">
              <a:ext uri="{FF2B5EF4-FFF2-40B4-BE49-F238E27FC236}">
                <a16:creationId xmlns:a16="http://schemas.microsoft.com/office/drawing/2014/main" id="{6DAF5544-5268-41F9-A986-2B4985418297}"/>
              </a:ext>
            </a:extLst>
          </p:cNvPr>
          <p:cNvSpPr>
            <a:spLocks xmlns:a="http://schemas.openxmlformats.org/drawingml/2006/main" noGrp="1"/>
          </p:cNvSpPr>
          <p:nvPr/>
        </p:nvSpPr>
        <p:spPr>
          <a:xfrm xmlns:a="http://schemas.openxmlformats.org/drawingml/2006/main">
            <a:off x="781050" y="360045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7E78"/>
                </a:solidFill>
                <a:latin typeface="Aptos"/>
                <a:ea typeface="Aptos"/>
                <a:cs typeface="Aptos"/>
              </a:defRPr>
            </a:pPr>
            <a:r>
              <a:rPr sz="1350" b="1">
                <a:solidFill>
                  <a:srgbClr val="087E78"/>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5718C102-929D-4344-9DBA-3C2087475540}"/>
              </a:ext>
            </a:extLst>
          </p:cNvPr>
          <p:cNvSpPr>
            <a:spLocks xmlns:a="http://schemas.openxmlformats.org/drawingml/2006/main" noGrp="1"/>
          </p:cNvSpPr>
          <p:nvPr/>
        </p:nvSpPr>
        <p:spPr>
          <a:xfrm xmlns:a="http://schemas.openxmlformats.org/drawingml/2006/main">
            <a:off x="781050" y="401955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Subgroup performance?</a:t>
            </a:r>
          </a:p>
        </p:txBody>
      </p:sp>
      <p:sp>
        <p:nvSpPr>
          <p:cNvPr id="25" name="">
            <a:extLst xmlns:a="http://schemas.openxmlformats.org/drawingml/2006/main">
              <a:ext uri="{FF2B5EF4-FFF2-40B4-BE49-F238E27FC236}">
                <a16:creationId xmlns:a16="http://schemas.microsoft.com/office/drawing/2014/main" id="{C291B380-CEE5-43A7-A61E-B8A1A591AD47}"/>
              </a:ext>
            </a:extLst>
          </p:cNvPr>
          <p:cNvSpPr>
            <a:spLocks xmlns:a="http://schemas.openxmlformats.org/drawingml/2006/main" noGrp="1"/>
          </p:cNvSpPr>
          <p:nvPr/>
        </p:nvSpPr>
        <p:spPr>
          <a:xfrm xmlns:a="http://schemas.openxmlformats.org/drawingml/2006/main">
            <a:off x="3352800" y="3429000"/>
            <a:ext cx="2476500" cy="1314450"/>
          </a:xfrm>
          <a:prstGeom xmlns:a="http://schemas.openxmlformats.org/drawingml/2006/main" prst="roundRect">
            <a:avLst>
              <a:gd name="adj" fmla="val 13043"/>
            </a:avLst>
          </a:prstGeom>
          <a:solidFill xmlns:a="http://schemas.openxmlformats.org/drawingml/2006/main">
            <a:srgbClr val="FFFDFC"/>
          </a:solidFill>
          <a:ln xmlns:a="http://schemas.openxmlformats.org/drawingml/2006/main" w="9525">
            <a:solidFill>
              <a:srgbClr val="087E78"/>
            </a:solidFill>
            <a:prstDash val="solid"/>
          </a:ln>
        </p:spPr>
      </p:sp>
      <p:sp>
        <p:nvSpPr>
          <p:cNvPr id="26" name="">
            <a:extLst xmlns:a="http://schemas.openxmlformats.org/drawingml/2006/main">
              <a:ext uri="{FF2B5EF4-FFF2-40B4-BE49-F238E27FC236}">
                <a16:creationId xmlns:a16="http://schemas.microsoft.com/office/drawing/2014/main" id="{79F76CC6-3673-438C-8E64-DBB102341B83}"/>
              </a:ext>
            </a:extLst>
          </p:cNvPr>
          <p:cNvSpPr>
            <a:spLocks xmlns:a="http://schemas.openxmlformats.org/drawingml/2006/main" noGrp="1"/>
          </p:cNvSpPr>
          <p:nvPr/>
        </p:nvSpPr>
        <p:spPr>
          <a:xfrm xmlns:a="http://schemas.openxmlformats.org/drawingml/2006/main">
            <a:off x="3543300" y="360045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7E78"/>
                </a:solidFill>
                <a:latin typeface="Aptos"/>
                <a:ea typeface="Aptos"/>
                <a:cs typeface="Aptos"/>
              </a:defRPr>
            </a:pPr>
            <a:r>
              <a:rPr sz="1350" b="1">
                <a:solidFill>
                  <a:srgbClr val="087E78"/>
                </a:solidFill>
                <a:latin typeface="Aptos"/>
                <a:ea typeface="Aptos"/>
                <a:cs typeface="Aptos"/>
              </a:rPr>
              <a:t>06</a:t>
            </a:r>
          </a:p>
        </p:txBody>
      </p:sp>
      <p:sp>
        <p:nvSpPr>
          <p:cNvPr id="27" name="">
            <a:extLst xmlns:a="http://schemas.openxmlformats.org/drawingml/2006/main">
              <a:ext uri="{FF2B5EF4-FFF2-40B4-BE49-F238E27FC236}">
                <a16:creationId xmlns:a16="http://schemas.microsoft.com/office/drawing/2014/main" id="{2EB511CE-A083-4827-B6B4-D42E616FA448}"/>
              </a:ext>
            </a:extLst>
          </p:cNvPr>
          <p:cNvSpPr>
            <a:spLocks xmlns:a="http://schemas.openxmlformats.org/drawingml/2006/main" noGrp="1"/>
          </p:cNvSpPr>
          <p:nvPr/>
        </p:nvSpPr>
        <p:spPr>
          <a:xfrm xmlns:a="http://schemas.openxmlformats.org/drawingml/2006/main">
            <a:off x="3543300" y="401955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External/local validation?</a:t>
            </a:r>
          </a:p>
        </p:txBody>
      </p:sp>
      <p:sp>
        <p:nvSpPr>
          <p:cNvPr id="28" name="">
            <a:extLst xmlns:a="http://schemas.openxmlformats.org/drawingml/2006/main">
              <a:ext uri="{FF2B5EF4-FFF2-40B4-BE49-F238E27FC236}">
                <a16:creationId xmlns:a16="http://schemas.microsoft.com/office/drawing/2014/main" id="{F3E4C35E-7648-477C-AA26-0F01E33312D0}"/>
              </a:ext>
            </a:extLst>
          </p:cNvPr>
          <p:cNvSpPr>
            <a:spLocks xmlns:a="http://schemas.openxmlformats.org/drawingml/2006/main" noGrp="1"/>
          </p:cNvSpPr>
          <p:nvPr/>
        </p:nvSpPr>
        <p:spPr>
          <a:xfrm xmlns:a="http://schemas.openxmlformats.org/drawingml/2006/main">
            <a:off x="6115050" y="3429000"/>
            <a:ext cx="2476500" cy="1314450"/>
          </a:xfrm>
          <a:prstGeom xmlns:a="http://schemas.openxmlformats.org/drawingml/2006/main" prst="roundRect">
            <a:avLst>
              <a:gd name="adj" fmla="val 13043"/>
            </a:avLst>
          </a:prstGeom>
          <a:solidFill xmlns:a="http://schemas.openxmlformats.org/drawingml/2006/main">
            <a:srgbClr val="FFFDFC"/>
          </a:solidFill>
          <a:ln xmlns:a="http://schemas.openxmlformats.org/drawingml/2006/main" w="9525">
            <a:solidFill>
              <a:srgbClr val="087E78"/>
            </a:solidFill>
            <a:prstDash val="solid"/>
          </a:ln>
        </p:spPr>
      </p:sp>
      <p:sp>
        <p:nvSpPr>
          <p:cNvPr id="29" name="">
            <a:extLst xmlns:a="http://schemas.openxmlformats.org/drawingml/2006/main">
              <a:ext uri="{FF2B5EF4-FFF2-40B4-BE49-F238E27FC236}">
                <a16:creationId xmlns:a16="http://schemas.microsoft.com/office/drawing/2014/main" id="{458A1F35-04DC-4145-8C1F-9F83C7A84040}"/>
              </a:ext>
            </a:extLst>
          </p:cNvPr>
          <p:cNvSpPr>
            <a:spLocks xmlns:a="http://schemas.openxmlformats.org/drawingml/2006/main" noGrp="1"/>
          </p:cNvSpPr>
          <p:nvPr/>
        </p:nvSpPr>
        <p:spPr>
          <a:xfrm xmlns:a="http://schemas.openxmlformats.org/drawingml/2006/main">
            <a:off x="6305550" y="360045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7E78"/>
                </a:solidFill>
                <a:latin typeface="Aptos"/>
                <a:ea typeface="Aptos"/>
                <a:cs typeface="Aptos"/>
              </a:defRPr>
            </a:pPr>
            <a:r>
              <a:rPr sz="1350" b="1">
                <a:solidFill>
                  <a:srgbClr val="087E78"/>
                </a:solidFill>
                <a:latin typeface="Aptos"/>
                <a:ea typeface="Aptos"/>
                <a:cs typeface="Aptos"/>
              </a:rPr>
              <a:t>07</a:t>
            </a:r>
          </a:p>
        </p:txBody>
      </p:sp>
      <p:sp>
        <p:nvSpPr>
          <p:cNvPr id="30" name="">
            <a:extLst xmlns:a="http://schemas.openxmlformats.org/drawingml/2006/main">
              <a:ext uri="{FF2B5EF4-FFF2-40B4-BE49-F238E27FC236}">
                <a16:creationId xmlns:a16="http://schemas.microsoft.com/office/drawing/2014/main" id="{780337FE-3CAD-4AD1-BA45-9B4127817290}"/>
              </a:ext>
            </a:extLst>
          </p:cNvPr>
          <p:cNvSpPr>
            <a:spLocks xmlns:a="http://schemas.openxmlformats.org/drawingml/2006/main" noGrp="1"/>
          </p:cNvSpPr>
          <p:nvPr/>
        </p:nvSpPr>
        <p:spPr>
          <a:xfrm xmlns:a="http://schemas.openxmlformats.org/drawingml/2006/main">
            <a:off x="6305550" y="401955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Override + audit trail?</a:t>
            </a:r>
          </a:p>
        </p:txBody>
      </p:sp>
      <p:sp>
        <p:nvSpPr>
          <p:cNvPr id="31" name="">
            <a:extLst xmlns:a="http://schemas.openxmlformats.org/drawingml/2006/main">
              <a:ext uri="{FF2B5EF4-FFF2-40B4-BE49-F238E27FC236}">
                <a16:creationId xmlns:a16="http://schemas.microsoft.com/office/drawing/2014/main" id="{24CE9D9D-88EC-4217-B3E6-8A4A96476048}"/>
              </a:ext>
            </a:extLst>
          </p:cNvPr>
          <p:cNvSpPr>
            <a:spLocks xmlns:a="http://schemas.openxmlformats.org/drawingml/2006/main" noGrp="1"/>
          </p:cNvSpPr>
          <p:nvPr/>
        </p:nvSpPr>
        <p:spPr>
          <a:xfrm xmlns:a="http://schemas.openxmlformats.org/drawingml/2006/main">
            <a:off x="8877300" y="3429000"/>
            <a:ext cx="2476500" cy="1314450"/>
          </a:xfrm>
          <a:prstGeom xmlns:a="http://schemas.openxmlformats.org/drawingml/2006/main" prst="roundRect">
            <a:avLst>
              <a:gd name="adj" fmla="val 13043"/>
            </a:avLst>
          </a:prstGeom>
          <a:solidFill xmlns:a="http://schemas.openxmlformats.org/drawingml/2006/main">
            <a:srgbClr val="FFFDFC"/>
          </a:solidFill>
          <a:ln xmlns:a="http://schemas.openxmlformats.org/drawingml/2006/main" w="9525">
            <a:solidFill>
              <a:srgbClr val="E8694A"/>
            </a:solidFill>
            <a:prstDash val="solid"/>
          </a:ln>
        </p:spPr>
      </p:sp>
      <p:sp>
        <p:nvSpPr>
          <p:cNvPr id="32" name="">
            <a:extLst xmlns:a="http://schemas.openxmlformats.org/drawingml/2006/main">
              <a:ext uri="{FF2B5EF4-FFF2-40B4-BE49-F238E27FC236}">
                <a16:creationId xmlns:a16="http://schemas.microsoft.com/office/drawing/2014/main" id="{B28A45C8-A2B0-443F-ACC0-CDE40F9F4387}"/>
              </a:ext>
            </a:extLst>
          </p:cNvPr>
          <p:cNvSpPr>
            <a:spLocks xmlns:a="http://schemas.openxmlformats.org/drawingml/2006/main" noGrp="1"/>
          </p:cNvSpPr>
          <p:nvPr/>
        </p:nvSpPr>
        <p:spPr>
          <a:xfrm xmlns:a="http://schemas.openxmlformats.org/drawingml/2006/main">
            <a:off x="9067800" y="360045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E8694A"/>
                </a:solidFill>
                <a:latin typeface="Aptos"/>
                <a:ea typeface="Aptos"/>
                <a:cs typeface="Aptos"/>
              </a:defRPr>
            </a:pPr>
            <a:r>
              <a:rPr sz="1350" b="1">
                <a:solidFill>
                  <a:srgbClr val="E8694A"/>
                </a:solidFill>
                <a:latin typeface="Aptos"/>
                <a:ea typeface="Aptos"/>
                <a:cs typeface="Aptos"/>
              </a:rPr>
              <a:t>08</a:t>
            </a:r>
          </a:p>
        </p:txBody>
      </p:sp>
      <p:sp>
        <p:nvSpPr>
          <p:cNvPr id="33" name="">
            <a:extLst xmlns:a="http://schemas.openxmlformats.org/drawingml/2006/main">
              <a:ext uri="{FF2B5EF4-FFF2-40B4-BE49-F238E27FC236}">
                <a16:creationId xmlns:a16="http://schemas.microsoft.com/office/drawing/2014/main" id="{D6C7D224-AF15-41E5-B2C2-32041920F04A}"/>
              </a:ext>
            </a:extLst>
          </p:cNvPr>
          <p:cNvSpPr>
            <a:spLocks xmlns:a="http://schemas.openxmlformats.org/drawingml/2006/main" noGrp="1"/>
          </p:cNvSpPr>
          <p:nvPr/>
        </p:nvSpPr>
        <p:spPr>
          <a:xfrm xmlns:a="http://schemas.openxmlformats.org/drawingml/2006/main">
            <a:off x="9067800" y="401955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India status + data controls?</a:t>
            </a:r>
          </a:p>
        </p:txBody>
      </p:sp>
      <p:sp>
        <p:nvSpPr>
          <p:cNvPr id="34" name="">
            <a:extLst xmlns:a="http://schemas.openxmlformats.org/drawingml/2006/main">
              <a:ext uri="{FF2B5EF4-FFF2-40B4-BE49-F238E27FC236}">
                <a16:creationId xmlns:a16="http://schemas.microsoft.com/office/drawing/2014/main" id="{AA2C5C60-1BAB-45B6-889C-1995FE7B5702}"/>
              </a:ext>
            </a:extLst>
          </p:cNvPr>
          <p:cNvSpPr>
            <a:spLocks xmlns:a="http://schemas.openxmlformats.org/drawingml/2006/main" noGrp="1"/>
          </p:cNvSpPr>
          <p:nvPr/>
        </p:nvSpPr>
        <p:spPr>
          <a:xfrm xmlns:a="http://schemas.openxmlformats.org/drawingml/2006/main">
            <a:off x="1428750" y="53816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800" b="1">
                <a:solidFill>
                  <a:srgbClr val="B7433D"/>
                </a:solidFill>
                <a:latin typeface="Aptos"/>
                <a:ea typeface="Aptos"/>
                <a:cs typeface="Aptos"/>
              </a:defRPr>
            </a:pPr>
            <a:r>
              <a:rPr sz="1800" b="1">
                <a:solidFill>
                  <a:srgbClr val="B7433D"/>
                </a:solidFill>
                <a:latin typeface="Aptos"/>
                <a:ea typeface="Aptos"/>
                <a:cs typeface="Aptos"/>
              </a:rPr>
              <a:t>A persuasive heatmap is not an outcome study.</a:t>
            </a:r>
          </a:p>
        </p:txBody>
      </p:sp>
    </p:spTree>
    <p:extLst>
      <p:ext uri="{BB962C8B-B14F-4D97-AF65-F5344CB8AC3E}">
        <p14:creationId xmlns:p14="http://schemas.microsoft.com/office/powerpoint/2010/main" val="216880638"/>
      </p:ext>
    </p:extLst>
  </p:cSld>
</p:sld>
</file>

<file path=ppt/slides/slide2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DB0E51-1371-4BCE-94E4-90214F66E37A}"/>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8694A"/>
          </a:solidFill>
          <a:ln xmlns:a="http://schemas.openxmlformats.org/drawingml/2006/main" w="0">
            <a:solidFill>
              <a:srgbClr val="E8694A"/>
            </a:solidFill>
            <a:prstDash val="solid"/>
          </a:ln>
        </p:spPr>
      </p:sp>
      <p:sp>
        <p:nvSpPr>
          <p:cNvPr id="2" name="">
            <a:extLst xmlns:a="http://schemas.openxmlformats.org/drawingml/2006/main">
              <a:ext uri="{FF2B5EF4-FFF2-40B4-BE49-F238E27FC236}">
                <a16:creationId xmlns:a16="http://schemas.microsoft.com/office/drawing/2014/main" id="{997D6201-76A6-4B57-8FA9-53984F63768B}"/>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97765"/>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COMPARISON</a:t>
            </a:r>
          </a:p>
        </p:txBody>
      </p:sp>
      <p:sp>
        <p:nvSpPr>
          <p:cNvPr id="3" name="">
            <a:extLst xmlns:a="http://schemas.openxmlformats.org/drawingml/2006/main">
              <a:ext uri="{FF2B5EF4-FFF2-40B4-BE49-F238E27FC236}">
                <a16:creationId xmlns:a16="http://schemas.microsoft.com/office/drawing/2014/main" id="{C9A3E9DC-74C5-4679-8EC1-E95ED9F160DC}"/>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Seven cases, seven evidence labels</a:t>
            </a:r>
          </a:p>
        </p:txBody>
      </p:sp>
      <p:sp>
        <p:nvSpPr>
          <p:cNvPr id="4" name="">
            <a:extLst xmlns:a="http://schemas.openxmlformats.org/drawingml/2006/main">
              <a:ext uri="{FF2B5EF4-FFF2-40B4-BE49-F238E27FC236}">
                <a16:creationId xmlns:a16="http://schemas.microsoft.com/office/drawing/2014/main" id="{BF7506C5-A8EA-4527-A7BB-0BDC366085D8}"/>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B24F4858-7D6D-480E-BA9D-0096A95C8088}"/>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6B3C48B0-B57E-477C-A261-A29CFC1AAF89}"/>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0708EECA-B1AD-4709-B033-35E56E724FC6}"/>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All source links in Verified URLs workbook</a:t>
            </a:r>
          </a:p>
        </p:txBody>
      </p:sp>
      <p:sp>
        <p:nvSpPr>
          <p:cNvPr id="8" name="">
            <a:extLst xmlns:a="http://schemas.openxmlformats.org/drawingml/2006/main">
              <a:ext uri="{FF2B5EF4-FFF2-40B4-BE49-F238E27FC236}">
                <a16:creationId xmlns:a16="http://schemas.microsoft.com/office/drawing/2014/main" id="{4E338460-5DC5-4850-99EF-E7F2978B9140}"/>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6C0CF967-0FDD-4EE9-93BA-F4986AD8697E}"/>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22</a:t>
            </a:r>
          </a:p>
        </p:txBody>
      </p:sp>
      <p:sp>
        <p:nvSpPr>
          <p:cNvPr id="10" name="">
            <a:extLst xmlns:a="http://schemas.openxmlformats.org/drawingml/2006/main">
              <a:ext uri="{FF2B5EF4-FFF2-40B4-BE49-F238E27FC236}">
                <a16:creationId xmlns:a16="http://schemas.microsoft.com/office/drawing/2014/main" id="{85A65E2A-C905-4436-B000-5E7215FF30D2}"/>
              </a:ext>
            </a:extLst>
          </p:cNvPr>
          <p:cNvSpPr>
            <a:spLocks xmlns:a="http://schemas.openxmlformats.org/drawingml/2006/main" noGrp="1"/>
          </p:cNvSpPr>
          <p:nvPr/>
        </p:nvSpPr>
        <p:spPr>
          <a:xfrm xmlns:a="http://schemas.openxmlformats.org/drawingml/2006/main">
            <a:off x="590550" y="1714500"/>
            <a:ext cx="1371600" cy="361950"/>
          </a:xfrm>
          <a:prstGeom xmlns:a="http://schemas.openxmlformats.org/drawingml/2006/main" prst="rect">
            <a:avLst/>
          </a:prstGeom>
          <a:solidFill xmlns:a="http://schemas.openxmlformats.org/drawingml/2006/main">
            <a:srgbClr val="082638"/>
          </a:solidFill>
          <a:ln xmlns:a="http://schemas.openxmlformats.org/drawingml/2006/main" w="0">
            <a:solidFill>
              <a:srgbClr val="082638"/>
            </a:solidFill>
            <a:prstDash val="solid"/>
          </a:ln>
        </p:spPr>
      </p:sp>
      <p:sp>
        <p:nvSpPr>
          <p:cNvPr id="11" name="">
            <a:extLst xmlns:a="http://schemas.openxmlformats.org/drawingml/2006/main">
              <a:ext uri="{FF2B5EF4-FFF2-40B4-BE49-F238E27FC236}">
                <a16:creationId xmlns:a16="http://schemas.microsoft.com/office/drawing/2014/main" id="{0121DBE2-F1DB-45DC-842F-6F3572CAADC9}"/>
              </a:ext>
            </a:extLst>
          </p:cNvPr>
          <p:cNvSpPr>
            <a:spLocks xmlns:a="http://schemas.openxmlformats.org/drawingml/2006/main" noGrp="1"/>
          </p:cNvSpPr>
          <p:nvPr/>
        </p:nvSpPr>
        <p:spPr>
          <a:xfrm xmlns:a="http://schemas.openxmlformats.org/drawingml/2006/main">
            <a:off x="647700" y="1819275"/>
            <a:ext cx="125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900" b="1">
                <a:solidFill>
                  <a:srgbClr val="FFFFFF"/>
                </a:solidFill>
                <a:latin typeface="Aptos"/>
                <a:ea typeface="Aptos"/>
                <a:cs typeface="Aptos"/>
              </a:defRPr>
            </a:pPr>
            <a:r>
              <a:rPr sz="900" b="1">
                <a:solidFill>
                  <a:srgbClr val="FFFFFF"/>
                </a:solidFill>
                <a:latin typeface="Aptos"/>
                <a:ea typeface="Aptos"/>
                <a:cs typeface="Aptos"/>
              </a:rPr>
              <a:t>CASE</a:t>
            </a:r>
          </a:p>
        </p:txBody>
      </p:sp>
      <p:sp>
        <p:nvSpPr>
          <p:cNvPr id="12" name="">
            <a:extLst xmlns:a="http://schemas.openxmlformats.org/drawingml/2006/main">
              <a:ext uri="{FF2B5EF4-FFF2-40B4-BE49-F238E27FC236}">
                <a16:creationId xmlns:a16="http://schemas.microsoft.com/office/drawing/2014/main" id="{A314E92A-BE6A-4706-B8CA-EEC51285D486}"/>
              </a:ext>
            </a:extLst>
          </p:cNvPr>
          <p:cNvSpPr>
            <a:spLocks xmlns:a="http://schemas.openxmlformats.org/drawingml/2006/main" noGrp="1"/>
          </p:cNvSpPr>
          <p:nvPr/>
        </p:nvSpPr>
        <p:spPr>
          <a:xfrm xmlns:a="http://schemas.openxmlformats.org/drawingml/2006/main">
            <a:off x="2000250" y="1714500"/>
            <a:ext cx="2609850" cy="361950"/>
          </a:xfrm>
          <a:prstGeom xmlns:a="http://schemas.openxmlformats.org/drawingml/2006/main" prst="rect">
            <a:avLst/>
          </a:prstGeom>
          <a:solidFill xmlns:a="http://schemas.openxmlformats.org/drawingml/2006/main">
            <a:srgbClr val="082638"/>
          </a:solidFill>
          <a:ln xmlns:a="http://schemas.openxmlformats.org/drawingml/2006/main" w="0">
            <a:solidFill>
              <a:srgbClr val="082638"/>
            </a:solidFill>
            <a:prstDash val="solid"/>
          </a:ln>
        </p:spPr>
      </p:sp>
      <p:sp>
        <p:nvSpPr>
          <p:cNvPr id="13" name="">
            <a:extLst xmlns:a="http://schemas.openxmlformats.org/drawingml/2006/main">
              <a:ext uri="{FF2B5EF4-FFF2-40B4-BE49-F238E27FC236}">
                <a16:creationId xmlns:a16="http://schemas.microsoft.com/office/drawing/2014/main" id="{E5AA1749-4BEF-452A-AFAB-64677633DB19}"/>
              </a:ext>
            </a:extLst>
          </p:cNvPr>
          <p:cNvSpPr>
            <a:spLocks xmlns:a="http://schemas.openxmlformats.org/drawingml/2006/main" noGrp="1"/>
          </p:cNvSpPr>
          <p:nvPr/>
        </p:nvSpPr>
        <p:spPr>
          <a:xfrm xmlns:a="http://schemas.openxmlformats.org/drawingml/2006/main">
            <a:off x="2057400" y="18192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900" b="1">
                <a:solidFill>
                  <a:srgbClr val="FFFFFF"/>
                </a:solidFill>
                <a:latin typeface="Aptos"/>
                <a:ea typeface="Aptos"/>
                <a:cs typeface="Aptos"/>
              </a:defRPr>
            </a:pPr>
            <a:r>
              <a:rPr sz="900" b="1">
                <a:solidFill>
                  <a:srgbClr val="FFFFFF"/>
                </a:solidFill>
                <a:latin typeface="Aptos"/>
                <a:ea typeface="Aptos"/>
                <a:cs typeface="Aptos"/>
              </a:rPr>
              <a:t>DESIGN</a:t>
            </a:r>
          </a:p>
        </p:txBody>
      </p:sp>
      <p:sp>
        <p:nvSpPr>
          <p:cNvPr id="14" name="">
            <a:extLst xmlns:a="http://schemas.openxmlformats.org/drawingml/2006/main">
              <a:ext uri="{FF2B5EF4-FFF2-40B4-BE49-F238E27FC236}">
                <a16:creationId xmlns:a16="http://schemas.microsoft.com/office/drawing/2014/main" id="{121E5429-5B45-49E4-A736-212334350BB7}"/>
              </a:ext>
            </a:extLst>
          </p:cNvPr>
          <p:cNvSpPr>
            <a:spLocks xmlns:a="http://schemas.openxmlformats.org/drawingml/2006/main" noGrp="1"/>
          </p:cNvSpPr>
          <p:nvPr/>
        </p:nvSpPr>
        <p:spPr>
          <a:xfrm xmlns:a="http://schemas.openxmlformats.org/drawingml/2006/main">
            <a:off x="4648200" y="1714500"/>
            <a:ext cx="3714750" cy="361950"/>
          </a:xfrm>
          <a:prstGeom xmlns:a="http://schemas.openxmlformats.org/drawingml/2006/main" prst="rect">
            <a:avLst/>
          </a:prstGeom>
          <a:solidFill xmlns:a="http://schemas.openxmlformats.org/drawingml/2006/main">
            <a:srgbClr val="082638"/>
          </a:solidFill>
          <a:ln xmlns:a="http://schemas.openxmlformats.org/drawingml/2006/main" w="0">
            <a:solidFill>
              <a:srgbClr val="082638"/>
            </a:solidFill>
            <a:prstDash val="solid"/>
          </a:ln>
        </p:spPr>
      </p:sp>
      <p:sp>
        <p:nvSpPr>
          <p:cNvPr id="15" name="">
            <a:extLst xmlns:a="http://schemas.openxmlformats.org/drawingml/2006/main">
              <a:ext uri="{FF2B5EF4-FFF2-40B4-BE49-F238E27FC236}">
                <a16:creationId xmlns:a16="http://schemas.microsoft.com/office/drawing/2014/main" id="{2BDF2739-7C87-4CC7-8802-25B8D3E9868E}"/>
              </a:ext>
            </a:extLst>
          </p:cNvPr>
          <p:cNvSpPr>
            <a:spLocks xmlns:a="http://schemas.openxmlformats.org/drawingml/2006/main" noGrp="1"/>
          </p:cNvSpPr>
          <p:nvPr/>
        </p:nvSpPr>
        <p:spPr>
          <a:xfrm xmlns:a="http://schemas.openxmlformats.org/drawingml/2006/main">
            <a:off x="4705350" y="1819275"/>
            <a:ext cx="3600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900" b="1">
                <a:solidFill>
                  <a:srgbClr val="FFFFFF"/>
                </a:solidFill>
                <a:latin typeface="Aptos"/>
                <a:ea typeface="Aptos"/>
                <a:cs typeface="Aptos"/>
              </a:defRPr>
            </a:pPr>
            <a:r>
              <a:rPr sz="900" b="1">
                <a:solidFill>
                  <a:srgbClr val="FFFFFF"/>
                </a:solidFill>
                <a:latin typeface="Aptos"/>
                <a:ea typeface="Aptos"/>
                <a:cs typeface="Aptos"/>
              </a:rPr>
              <a:t>USEFUL SIGNAL</a:t>
            </a:r>
          </a:p>
        </p:txBody>
      </p:sp>
      <p:sp>
        <p:nvSpPr>
          <p:cNvPr id="16" name="">
            <a:extLst xmlns:a="http://schemas.openxmlformats.org/drawingml/2006/main">
              <a:ext uri="{FF2B5EF4-FFF2-40B4-BE49-F238E27FC236}">
                <a16:creationId xmlns:a16="http://schemas.microsoft.com/office/drawing/2014/main" id="{A417DF7C-41F3-4EA4-A0F7-35BF7ADD59BD}"/>
              </a:ext>
            </a:extLst>
          </p:cNvPr>
          <p:cNvSpPr>
            <a:spLocks xmlns:a="http://schemas.openxmlformats.org/drawingml/2006/main" noGrp="1"/>
          </p:cNvSpPr>
          <p:nvPr/>
        </p:nvSpPr>
        <p:spPr>
          <a:xfrm xmlns:a="http://schemas.openxmlformats.org/drawingml/2006/main">
            <a:off x="8401050" y="1714500"/>
            <a:ext cx="3143250" cy="361950"/>
          </a:xfrm>
          <a:prstGeom xmlns:a="http://schemas.openxmlformats.org/drawingml/2006/main" prst="rect">
            <a:avLst/>
          </a:prstGeom>
          <a:solidFill xmlns:a="http://schemas.openxmlformats.org/drawingml/2006/main">
            <a:srgbClr val="082638"/>
          </a:solidFill>
          <a:ln xmlns:a="http://schemas.openxmlformats.org/drawingml/2006/main" w="0">
            <a:solidFill>
              <a:srgbClr val="082638"/>
            </a:solidFill>
            <a:prstDash val="solid"/>
          </a:ln>
        </p:spPr>
      </p:sp>
      <p:sp>
        <p:nvSpPr>
          <p:cNvPr id="17" name="">
            <a:extLst xmlns:a="http://schemas.openxmlformats.org/drawingml/2006/main">
              <a:ext uri="{FF2B5EF4-FFF2-40B4-BE49-F238E27FC236}">
                <a16:creationId xmlns:a16="http://schemas.microsoft.com/office/drawing/2014/main" id="{B05600F4-494C-4742-951B-D6F1FBECEB34}"/>
              </a:ext>
            </a:extLst>
          </p:cNvPr>
          <p:cNvSpPr>
            <a:spLocks xmlns:a="http://schemas.openxmlformats.org/drawingml/2006/main" noGrp="1"/>
          </p:cNvSpPr>
          <p:nvPr/>
        </p:nvSpPr>
        <p:spPr>
          <a:xfrm xmlns:a="http://schemas.openxmlformats.org/drawingml/2006/main">
            <a:off x="8458200" y="1819275"/>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900" b="1">
                <a:solidFill>
                  <a:srgbClr val="FFFFFF"/>
                </a:solidFill>
                <a:latin typeface="Aptos"/>
                <a:ea typeface="Aptos"/>
                <a:cs typeface="Aptos"/>
              </a:defRPr>
            </a:pPr>
            <a:r>
              <a:rPr sz="900" b="1">
                <a:solidFill>
                  <a:srgbClr val="FFFFFF"/>
                </a:solidFill>
                <a:latin typeface="Aptos"/>
                <a:ea typeface="Aptos"/>
                <a:cs typeface="Aptos"/>
              </a:rPr>
              <a:t>DO NOT CLAIM</a:t>
            </a:r>
          </a:p>
        </p:txBody>
      </p:sp>
      <p:sp>
        <p:nvSpPr>
          <p:cNvPr id="18" name="">
            <a:extLst xmlns:a="http://schemas.openxmlformats.org/drawingml/2006/main">
              <a:ext uri="{FF2B5EF4-FFF2-40B4-BE49-F238E27FC236}">
                <a16:creationId xmlns:a16="http://schemas.microsoft.com/office/drawing/2014/main" id="{E718E692-42D4-4F22-9B6C-15604A034027}"/>
              </a:ext>
            </a:extLst>
          </p:cNvPr>
          <p:cNvSpPr>
            <a:spLocks xmlns:a="http://schemas.openxmlformats.org/drawingml/2006/main" noGrp="1"/>
          </p:cNvSpPr>
          <p:nvPr/>
        </p:nvSpPr>
        <p:spPr>
          <a:xfrm xmlns:a="http://schemas.openxmlformats.org/drawingml/2006/main">
            <a:off x="590550" y="2076450"/>
            <a:ext cx="137160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19" name="">
            <a:extLst xmlns:a="http://schemas.openxmlformats.org/drawingml/2006/main">
              <a:ext uri="{FF2B5EF4-FFF2-40B4-BE49-F238E27FC236}">
                <a16:creationId xmlns:a16="http://schemas.microsoft.com/office/drawing/2014/main" id="{B63915D9-BA20-45A7-9271-2FA68A517F8F}"/>
              </a:ext>
            </a:extLst>
          </p:cNvPr>
          <p:cNvSpPr>
            <a:spLocks xmlns:a="http://schemas.openxmlformats.org/drawingml/2006/main" noGrp="1"/>
          </p:cNvSpPr>
          <p:nvPr/>
        </p:nvSpPr>
        <p:spPr>
          <a:xfrm xmlns:a="http://schemas.openxmlformats.org/drawingml/2006/main">
            <a:off x="666750" y="2162175"/>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088" b="1">
                <a:solidFill>
                  <a:srgbClr val="183340"/>
                </a:solidFill>
                <a:latin typeface="Aptos"/>
                <a:ea typeface="Aptos"/>
                <a:cs typeface="Aptos"/>
              </a:defRPr>
            </a:pPr>
            <a:r>
              <a:rPr sz="1088" b="1">
                <a:solidFill>
                  <a:srgbClr val="183340"/>
                </a:solidFill>
                <a:latin typeface="Aptos"/>
                <a:ea typeface="Aptos"/>
                <a:cs typeface="Aptos"/>
              </a:rPr>
              <a:t>Serbia</a:t>
            </a:r>
          </a:p>
        </p:txBody>
      </p:sp>
      <p:sp>
        <p:nvSpPr>
          <p:cNvPr id="20" name="">
            <a:extLst xmlns:a="http://schemas.openxmlformats.org/drawingml/2006/main">
              <a:ext uri="{FF2B5EF4-FFF2-40B4-BE49-F238E27FC236}">
                <a16:creationId xmlns:a16="http://schemas.microsoft.com/office/drawing/2014/main" id="{F315782A-4ACF-4679-B556-6C0505183821}"/>
              </a:ext>
            </a:extLst>
          </p:cNvPr>
          <p:cNvSpPr>
            <a:spLocks xmlns:a="http://schemas.openxmlformats.org/drawingml/2006/main" noGrp="1"/>
          </p:cNvSpPr>
          <p:nvPr/>
        </p:nvSpPr>
        <p:spPr>
          <a:xfrm xmlns:a="http://schemas.openxmlformats.org/drawingml/2006/main">
            <a:off x="2000250" y="2076450"/>
            <a:ext cx="260985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21" name="">
            <a:extLst xmlns:a="http://schemas.openxmlformats.org/drawingml/2006/main">
              <a:ext uri="{FF2B5EF4-FFF2-40B4-BE49-F238E27FC236}">
                <a16:creationId xmlns:a16="http://schemas.microsoft.com/office/drawing/2014/main" id="{EAE31B19-407F-4431-BB77-97005050B2C6}"/>
              </a:ext>
            </a:extLst>
          </p:cNvPr>
          <p:cNvSpPr>
            <a:spLocks xmlns:a="http://schemas.openxmlformats.org/drawingml/2006/main" noGrp="1"/>
          </p:cNvSpPr>
          <p:nvPr/>
        </p:nvSpPr>
        <p:spPr>
          <a:xfrm xmlns:a="http://schemas.openxmlformats.org/drawingml/2006/main">
            <a:off x="2076450" y="216217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183340"/>
                </a:solidFill>
                <a:latin typeface="Aptos"/>
                <a:ea typeface="Aptos"/>
                <a:cs typeface="Aptos"/>
              </a:defRPr>
            </a:pPr>
            <a:r>
              <a:rPr sz="990" b="0">
                <a:solidFill>
                  <a:srgbClr val="183340"/>
                </a:solidFill>
                <a:latin typeface="Aptos"/>
                <a:ea typeface="Aptos"/>
                <a:cs typeface="Aptos"/>
              </a:rPr>
              <a:t>Operational case</a:t>
            </a:r>
          </a:p>
        </p:txBody>
      </p:sp>
      <p:sp>
        <p:nvSpPr>
          <p:cNvPr id="22" name="">
            <a:extLst xmlns:a="http://schemas.openxmlformats.org/drawingml/2006/main">
              <a:ext uri="{FF2B5EF4-FFF2-40B4-BE49-F238E27FC236}">
                <a16:creationId xmlns:a16="http://schemas.microsoft.com/office/drawing/2014/main" id="{7D0AA13E-0895-4B61-B9F0-AFCC474FD948}"/>
              </a:ext>
            </a:extLst>
          </p:cNvPr>
          <p:cNvSpPr>
            <a:spLocks xmlns:a="http://schemas.openxmlformats.org/drawingml/2006/main" noGrp="1"/>
          </p:cNvSpPr>
          <p:nvPr/>
        </p:nvSpPr>
        <p:spPr>
          <a:xfrm xmlns:a="http://schemas.openxmlformats.org/drawingml/2006/main">
            <a:off x="4648200" y="2076450"/>
            <a:ext cx="371475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23" name="">
            <a:extLst xmlns:a="http://schemas.openxmlformats.org/drawingml/2006/main">
              <a:ext uri="{FF2B5EF4-FFF2-40B4-BE49-F238E27FC236}">
                <a16:creationId xmlns:a16="http://schemas.microsoft.com/office/drawing/2014/main" id="{6CD6F649-6BD3-47ED-ACFC-5B60D2E40F2F}"/>
              </a:ext>
            </a:extLst>
          </p:cNvPr>
          <p:cNvSpPr>
            <a:spLocks xmlns:a="http://schemas.openxmlformats.org/drawingml/2006/main" noGrp="1"/>
          </p:cNvSpPr>
          <p:nvPr/>
        </p:nvSpPr>
        <p:spPr>
          <a:xfrm xmlns:a="http://schemas.openxmlformats.org/drawingml/2006/main">
            <a:off x="4724400" y="2162175"/>
            <a:ext cx="3562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183340"/>
                </a:solidFill>
                <a:latin typeface="Aptos"/>
                <a:ea typeface="Aptos"/>
                <a:cs typeface="Aptos"/>
              </a:defRPr>
            </a:pPr>
            <a:r>
              <a:rPr sz="990" b="0">
                <a:solidFill>
                  <a:srgbClr val="183340"/>
                </a:solidFill>
                <a:latin typeface="Aptos"/>
                <a:ea typeface="Aptos"/>
                <a:cs typeface="Aptos"/>
              </a:rPr>
              <a:t>Workflow integration</a:t>
            </a:r>
          </a:p>
        </p:txBody>
      </p:sp>
      <p:sp>
        <p:nvSpPr>
          <p:cNvPr id="24" name="">
            <a:extLst xmlns:a="http://schemas.openxmlformats.org/drawingml/2006/main">
              <a:ext uri="{FF2B5EF4-FFF2-40B4-BE49-F238E27FC236}">
                <a16:creationId xmlns:a16="http://schemas.microsoft.com/office/drawing/2014/main" id="{91EA423A-44FC-4CEF-9638-27599B10DB47}"/>
              </a:ext>
            </a:extLst>
          </p:cNvPr>
          <p:cNvSpPr>
            <a:spLocks xmlns:a="http://schemas.openxmlformats.org/drawingml/2006/main" noGrp="1"/>
          </p:cNvSpPr>
          <p:nvPr/>
        </p:nvSpPr>
        <p:spPr>
          <a:xfrm xmlns:a="http://schemas.openxmlformats.org/drawingml/2006/main">
            <a:off x="8401050" y="2076450"/>
            <a:ext cx="314325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25" name="">
            <a:extLst xmlns:a="http://schemas.openxmlformats.org/drawingml/2006/main">
              <a:ext uri="{FF2B5EF4-FFF2-40B4-BE49-F238E27FC236}">
                <a16:creationId xmlns:a16="http://schemas.microsoft.com/office/drawing/2014/main" id="{C06D1690-B815-49A1-938A-ED6C427A3199}"/>
              </a:ext>
            </a:extLst>
          </p:cNvPr>
          <p:cNvSpPr>
            <a:spLocks xmlns:a="http://schemas.openxmlformats.org/drawingml/2006/main" noGrp="1"/>
          </p:cNvSpPr>
          <p:nvPr/>
        </p:nvSpPr>
        <p:spPr>
          <a:xfrm xmlns:a="http://schemas.openxmlformats.org/drawingml/2006/main">
            <a:off x="8477250" y="2162175"/>
            <a:ext cx="2990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B7433D"/>
                </a:solidFill>
                <a:latin typeface="Aptos"/>
                <a:ea typeface="Aptos"/>
                <a:cs typeface="Aptos"/>
              </a:defRPr>
            </a:pPr>
            <a:r>
              <a:rPr sz="990" b="0">
                <a:solidFill>
                  <a:srgbClr val="B7433D"/>
                </a:solidFill>
                <a:latin typeface="Aptos"/>
                <a:ea typeface="Aptos"/>
                <a:cs typeface="Aptos"/>
              </a:rPr>
              <a:t>Universal performance</a:t>
            </a:r>
          </a:p>
        </p:txBody>
      </p:sp>
      <p:sp>
        <p:nvSpPr>
          <p:cNvPr id="26" name="">
            <a:extLst xmlns:a="http://schemas.openxmlformats.org/drawingml/2006/main">
              <a:ext uri="{FF2B5EF4-FFF2-40B4-BE49-F238E27FC236}">
                <a16:creationId xmlns:a16="http://schemas.microsoft.com/office/drawing/2014/main" id="{A3C6033F-A538-42EB-8412-F392DF6365BF}"/>
              </a:ext>
            </a:extLst>
          </p:cNvPr>
          <p:cNvSpPr>
            <a:spLocks xmlns:a="http://schemas.openxmlformats.org/drawingml/2006/main" noGrp="1"/>
          </p:cNvSpPr>
          <p:nvPr/>
        </p:nvSpPr>
        <p:spPr>
          <a:xfrm xmlns:a="http://schemas.openxmlformats.org/drawingml/2006/main">
            <a:off x="590550" y="2619375"/>
            <a:ext cx="1371600" cy="4762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27" name="">
            <a:extLst xmlns:a="http://schemas.openxmlformats.org/drawingml/2006/main">
              <a:ext uri="{FF2B5EF4-FFF2-40B4-BE49-F238E27FC236}">
                <a16:creationId xmlns:a16="http://schemas.microsoft.com/office/drawing/2014/main" id="{47284EEB-C6EB-4828-8BCB-619152EA133F}"/>
              </a:ext>
            </a:extLst>
          </p:cNvPr>
          <p:cNvSpPr>
            <a:spLocks xmlns:a="http://schemas.openxmlformats.org/drawingml/2006/main" noGrp="1"/>
          </p:cNvSpPr>
          <p:nvPr/>
        </p:nvSpPr>
        <p:spPr>
          <a:xfrm xmlns:a="http://schemas.openxmlformats.org/drawingml/2006/main">
            <a:off x="666750" y="270510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088" b="1">
                <a:solidFill>
                  <a:srgbClr val="183340"/>
                </a:solidFill>
                <a:latin typeface="Aptos"/>
                <a:ea typeface="Aptos"/>
                <a:cs typeface="Aptos"/>
              </a:defRPr>
            </a:pPr>
            <a:r>
              <a:rPr sz="1088" b="1">
                <a:solidFill>
                  <a:srgbClr val="183340"/>
                </a:solidFill>
                <a:latin typeface="Aptos"/>
                <a:ea typeface="Aptos"/>
                <a:cs typeface="Aptos"/>
              </a:rPr>
              <a:t>Qatar</a:t>
            </a:r>
          </a:p>
        </p:txBody>
      </p:sp>
      <p:sp>
        <p:nvSpPr>
          <p:cNvPr id="28" name="">
            <a:extLst xmlns:a="http://schemas.openxmlformats.org/drawingml/2006/main">
              <a:ext uri="{FF2B5EF4-FFF2-40B4-BE49-F238E27FC236}">
                <a16:creationId xmlns:a16="http://schemas.microsoft.com/office/drawing/2014/main" id="{7F3D6517-5EED-4B5C-ABF3-892EE762E335}"/>
              </a:ext>
            </a:extLst>
          </p:cNvPr>
          <p:cNvSpPr>
            <a:spLocks xmlns:a="http://schemas.openxmlformats.org/drawingml/2006/main" noGrp="1"/>
          </p:cNvSpPr>
          <p:nvPr/>
        </p:nvSpPr>
        <p:spPr>
          <a:xfrm xmlns:a="http://schemas.openxmlformats.org/drawingml/2006/main">
            <a:off x="2000250" y="2619375"/>
            <a:ext cx="2609850" cy="4762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29" name="">
            <a:extLst xmlns:a="http://schemas.openxmlformats.org/drawingml/2006/main">
              <a:ext uri="{FF2B5EF4-FFF2-40B4-BE49-F238E27FC236}">
                <a16:creationId xmlns:a16="http://schemas.microsoft.com/office/drawing/2014/main" id="{870A0154-FA9A-4110-A719-47334BB1A686}"/>
              </a:ext>
            </a:extLst>
          </p:cNvPr>
          <p:cNvSpPr>
            <a:spLocks xmlns:a="http://schemas.openxmlformats.org/drawingml/2006/main" noGrp="1"/>
          </p:cNvSpPr>
          <p:nvPr/>
        </p:nvSpPr>
        <p:spPr>
          <a:xfrm xmlns:a="http://schemas.openxmlformats.org/drawingml/2006/main">
            <a:off x="2076450" y="2705100"/>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183340"/>
                </a:solidFill>
                <a:latin typeface="Aptos"/>
                <a:ea typeface="Aptos"/>
                <a:cs typeface="Aptos"/>
              </a:defRPr>
            </a:pPr>
            <a:r>
              <a:rPr sz="990" b="0">
                <a:solidFill>
                  <a:srgbClr val="183340"/>
                </a:solidFill>
                <a:latin typeface="Aptos"/>
                <a:ea typeface="Aptos"/>
                <a:cs typeface="Aptos"/>
              </a:rPr>
              <a:t>Survey</a:t>
            </a:r>
          </a:p>
        </p:txBody>
      </p:sp>
      <p:sp>
        <p:nvSpPr>
          <p:cNvPr id="30" name="">
            <a:extLst xmlns:a="http://schemas.openxmlformats.org/drawingml/2006/main">
              <a:ext uri="{FF2B5EF4-FFF2-40B4-BE49-F238E27FC236}">
                <a16:creationId xmlns:a16="http://schemas.microsoft.com/office/drawing/2014/main" id="{F8B8A285-536B-4830-8DAC-28DDADC27C2B}"/>
              </a:ext>
            </a:extLst>
          </p:cNvPr>
          <p:cNvSpPr>
            <a:spLocks xmlns:a="http://schemas.openxmlformats.org/drawingml/2006/main" noGrp="1"/>
          </p:cNvSpPr>
          <p:nvPr/>
        </p:nvSpPr>
        <p:spPr>
          <a:xfrm xmlns:a="http://schemas.openxmlformats.org/drawingml/2006/main">
            <a:off x="4648200" y="2619375"/>
            <a:ext cx="3714750" cy="4762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31" name="">
            <a:extLst xmlns:a="http://schemas.openxmlformats.org/drawingml/2006/main">
              <a:ext uri="{FF2B5EF4-FFF2-40B4-BE49-F238E27FC236}">
                <a16:creationId xmlns:a16="http://schemas.microsoft.com/office/drawing/2014/main" id="{DB5C3E2B-96ED-4FA4-BF30-686D0C91287B}"/>
              </a:ext>
            </a:extLst>
          </p:cNvPr>
          <p:cNvSpPr>
            <a:spLocks xmlns:a="http://schemas.openxmlformats.org/drawingml/2006/main" noGrp="1"/>
          </p:cNvSpPr>
          <p:nvPr/>
        </p:nvSpPr>
        <p:spPr>
          <a:xfrm xmlns:a="http://schemas.openxmlformats.org/drawingml/2006/main">
            <a:off x="4724400" y="2705100"/>
            <a:ext cx="3562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183340"/>
                </a:solidFill>
                <a:latin typeface="Aptos"/>
                <a:ea typeface="Aptos"/>
                <a:cs typeface="Aptos"/>
              </a:defRPr>
            </a:pPr>
            <a:r>
              <a:rPr sz="990" b="0">
                <a:solidFill>
                  <a:srgbClr val="183340"/>
                </a:solidFill>
                <a:latin typeface="Aptos"/>
                <a:ea typeface="Aptos"/>
                <a:cs typeface="Aptos"/>
              </a:rPr>
              <a:t>Trust barriers</a:t>
            </a:r>
          </a:p>
        </p:txBody>
      </p:sp>
      <p:sp>
        <p:nvSpPr>
          <p:cNvPr id="32" name="">
            <a:extLst xmlns:a="http://schemas.openxmlformats.org/drawingml/2006/main">
              <a:ext uri="{FF2B5EF4-FFF2-40B4-BE49-F238E27FC236}">
                <a16:creationId xmlns:a16="http://schemas.microsoft.com/office/drawing/2014/main" id="{81FE0041-FFB4-4C14-BE85-A3C2872C2F73}"/>
              </a:ext>
            </a:extLst>
          </p:cNvPr>
          <p:cNvSpPr>
            <a:spLocks xmlns:a="http://schemas.openxmlformats.org/drawingml/2006/main" noGrp="1"/>
          </p:cNvSpPr>
          <p:nvPr/>
        </p:nvSpPr>
        <p:spPr>
          <a:xfrm xmlns:a="http://schemas.openxmlformats.org/drawingml/2006/main">
            <a:off x="8401050" y="2619375"/>
            <a:ext cx="3143250" cy="4762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33" name="">
            <a:extLst xmlns:a="http://schemas.openxmlformats.org/drawingml/2006/main">
              <a:ext uri="{FF2B5EF4-FFF2-40B4-BE49-F238E27FC236}">
                <a16:creationId xmlns:a16="http://schemas.microsoft.com/office/drawing/2014/main" id="{1D9DB6BC-493F-4A28-9A56-8227022DD4DF}"/>
              </a:ext>
            </a:extLst>
          </p:cNvPr>
          <p:cNvSpPr>
            <a:spLocks xmlns:a="http://schemas.openxmlformats.org/drawingml/2006/main" noGrp="1"/>
          </p:cNvSpPr>
          <p:nvPr/>
        </p:nvSpPr>
        <p:spPr>
          <a:xfrm xmlns:a="http://schemas.openxmlformats.org/drawingml/2006/main">
            <a:off x="8477250" y="2705100"/>
            <a:ext cx="2990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B7433D"/>
                </a:solidFill>
                <a:latin typeface="Aptos"/>
                <a:ea typeface="Aptos"/>
                <a:cs typeface="Aptos"/>
              </a:defRPr>
            </a:pPr>
            <a:r>
              <a:rPr sz="990" b="0">
                <a:solidFill>
                  <a:srgbClr val="B7433D"/>
                </a:solidFill>
                <a:latin typeface="Aptos"/>
                <a:ea typeface="Aptos"/>
                <a:cs typeface="Aptos"/>
              </a:rPr>
              <a:t>Clinical effectiveness</a:t>
            </a:r>
          </a:p>
        </p:txBody>
      </p:sp>
      <p:sp>
        <p:nvSpPr>
          <p:cNvPr id="34" name="">
            <a:extLst xmlns:a="http://schemas.openxmlformats.org/drawingml/2006/main">
              <a:ext uri="{FF2B5EF4-FFF2-40B4-BE49-F238E27FC236}">
                <a16:creationId xmlns:a16="http://schemas.microsoft.com/office/drawing/2014/main" id="{31151DE1-3B61-439D-85BC-658508E1DE95}"/>
              </a:ext>
            </a:extLst>
          </p:cNvPr>
          <p:cNvSpPr>
            <a:spLocks xmlns:a="http://schemas.openxmlformats.org/drawingml/2006/main" noGrp="1"/>
          </p:cNvSpPr>
          <p:nvPr/>
        </p:nvSpPr>
        <p:spPr>
          <a:xfrm xmlns:a="http://schemas.openxmlformats.org/drawingml/2006/main">
            <a:off x="590550" y="3162300"/>
            <a:ext cx="137160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35" name="">
            <a:extLst xmlns:a="http://schemas.openxmlformats.org/drawingml/2006/main">
              <a:ext uri="{FF2B5EF4-FFF2-40B4-BE49-F238E27FC236}">
                <a16:creationId xmlns:a16="http://schemas.microsoft.com/office/drawing/2014/main" id="{FAAFF810-36AC-4947-867B-1B2815AE1B03}"/>
              </a:ext>
            </a:extLst>
          </p:cNvPr>
          <p:cNvSpPr>
            <a:spLocks xmlns:a="http://schemas.openxmlformats.org/drawingml/2006/main" noGrp="1"/>
          </p:cNvSpPr>
          <p:nvPr/>
        </p:nvSpPr>
        <p:spPr>
          <a:xfrm xmlns:a="http://schemas.openxmlformats.org/drawingml/2006/main">
            <a:off x="666750" y="3248025"/>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088" b="1">
                <a:solidFill>
                  <a:srgbClr val="183340"/>
                </a:solidFill>
                <a:latin typeface="Aptos"/>
                <a:ea typeface="Aptos"/>
                <a:cs typeface="Aptos"/>
              </a:defRPr>
            </a:pPr>
            <a:r>
              <a:rPr sz="1088" b="1">
                <a:solidFill>
                  <a:srgbClr val="183340"/>
                </a:solidFill>
                <a:latin typeface="Aptos"/>
                <a:ea typeface="Aptos"/>
                <a:cs typeface="Aptos"/>
              </a:rPr>
              <a:t>China</a:t>
            </a:r>
          </a:p>
        </p:txBody>
      </p:sp>
      <p:sp>
        <p:nvSpPr>
          <p:cNvPr id="36" name="">
            <a:extLst xmlns:a="http://schemas.openxmlformats.org/drawingml/2006/main">
              <a:ext uri="{FF2B5EF4-FFF2-40B4-BE49-F238E27FC236}">
                <a16:creationId xmlns:a16="http://schemas.microsoft.com/office/drawing/2014/main" id="{662B42C1-0FAF-463F-83E5-F44DE9212690}"/>
              </a:ext>
            </a:extLst>
          </p:cNvPr>
          <p:cNvSpPr>
            <a:spLocks xmlns:a="http://schemas.openxmlformats.org/drawingml/2006/main" noGrp="1"/>
          </p:cNvSpPr>
          <p:nvPr/>
        </p:nvSpPr>
        <p:spPr>
          <a:xfrm xmlns:a="http://schemas.openxmlformats.org/drawingml/2006/main">
            <a:off x="2000250" y="3162300"/>
            <a:ext cx="260985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37" name="">
            <a:extLst xmlns:a="http://schemas.openxmlformats.org/drawingml/2006/main">
              <a:ext uri="{FF2B5EF4-FFF2-40B4-BE49-F238E27FC236}">
                <a16:creationId xmlns:a16="http://schemas.microsoft.com/office/drawing/2014/main" id="{10F089DA-6E28-4896-AD6B-AF81F810D274}"/>
              </a:ext>
            </a:extLst>
          </p:cNvPr>
          <p:cNvSpPr>
            <a:spLocks xmlns:a="http://schemas.openxmlformats.org/drawingml/2006/main" noGrp="1"/>
          </p:cNvSpPr>
          <p:nvPr/>
        </p:nvSpPr>
        <p:spPr>
          <a:xfrm xmlns:a="http://schemas.openxmlformats.org/drawingml/2006/main">
            <a:off x="2076450" y="324802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183340"/>
                </a:solidFill>
                <a:latin typeface="Aptos"/>
                <a:ea typeface="Aptos"/>
                <a:cs typeface="Aptos"/>
              </a:defRPr>
            </a:pPr>
            <a:r>
              <a:rPr sz="990" b="0">
                <a:solidFill>
                  <a:srgbClr val="183340"/>
                </a:solidFill>
                <a:latin typeface="Aptos"/>
                <a:ea typeface="Aptos"/>
                <a:cs typeface="Aptos"/>
              </a:rPr>
              <a:t>Education comparison</a:t>
            </a:r>
          </a:p>
        </p:txBody>
      </p:sp>
      <p:sp>
        <p:nvSpPr>
          <p:cNvPr id="38" name="">
            <a:extLst xmlns:a="http://schemas.openxmlformats.org/drawingml/2006/main">
              <a:ext uri="{FF2B5EF4-FFF2-40B4-BE49-F238E27FC236}">
                <a16:creationId xmlns:a16="http://schemas.microsoft.com/office/drawing/2014/main" id="{027379AE-223A-4E1A-9F77-AD149A6CD9EA}"/>
              </a:ext>
            </a:extLst>
          </p:cNvPr>
          <p:cNvSpPr>
            <a:spLocks xmlns:a="http://schemas.openxmlformats.org/drawingml/2006/main" noGrp="1"/>
          </p:cNvSpPr>
          <p:nvPr/>
        </p:nvSpPr>
        <p:spPr>
          <a:xfrm xmlns:a="http://schemas.openxmlformats.org/drawingml/2006/main">
            <a:off x="4648200" y="3162300"/>
            <a:ext cx="371475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39" name="">
            <a:extLst xmlns:a="http://schemas.openxmlformats.org/drawingml/2006/main">
              <a:ext uri="{FF2B5EF4-FFF2-40B4-BE49-F238E27FC236}">
                <a16:creationId xmlns:a16="http://schemas.microsoft.com/office/drawing/2014/main" id="{39F27D33-9C52-4B9C-8278-8F8F148E4396}"/>
              </a:ext>
            </a:extLst>
          </p:cNvPr>
          <p:cNvSpPr>
            <a:spLocks xmlns:a="http://schemas.openxmlformats.org/drawingml/2006/main" noGrp="1"/>
          </p:cNvSpPr>
          <p:nvPr/>
        </p:nvSpPr>
        <p:spPr>
          <a:xfrm xmlns:a="http://schemas.openxmlformats.org/drawingml/2006/main">
            <a:off x="4724400" y="3248025"/>
            <a:ext cx="3562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183340"/>
                </a:solidFill>
                <a:latin typeface="Aptos"/>
                <a:ea typeface="Aptos"/>
                <a:cs typeface="Aptos"/>
              </a:defRPr>
            </a:pPr>
            <a:r>
              <a:rPr sz="990" b="0">
                <a:solidFill>
                  <a:srgbClr val="183340"/>
                </a:solidFill>
                <a:latin typeface="Aptos"/>
                <a:ea typeface="Aptos"/>
                <a:cs typeface="Aptos"/>
              </a:rPr>
              <a:t>Time/score signal</a:t>
            </a:r>
          </a:p>
        </p:txBody>
      </p:sp>
      <p:sp>
        <p:nvSpPr>
          <p:cNvPr id="40" name="">
            <a:extLst xmlns:a="http://schemas.openxmlformats.org/drawingml/2006/main">
              <a:ext uri="{FF2B5EF4-FFF2-40B4-BE49-F238E27FC236}">
                <a16:creationId xmlns:a16="http://schemas.microsoft.com/office/drawing/2014/main" id="{B96E8CF2-AB33-4613-AE68-168557B00806}"/>
              </a:ext>
            </a:extLst>
          </p:cNvPr>
          <p:cNvSpPr>
            <a:spLocks xmlns:a="http://schemas.openxmlformats.org/drawingml/2006/main" noGrp="1"/>
          </p:cNvSpPr>
          <p:nvPr/>
        </p:nvSpPr>
        <p:spPr>
          <a:xfrm xmlns:a="http://schemas.openxmlformats.org/drawingml/2006/main">
            <a:off x="8401050" y="3162300"/>
            <a:ext cx="314325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41" name="">
            <a:extLst xmlns:a="http://schemas.openxmlformats.org/drawingml/2006/main">
              <a:ext uri="{FF2B5EF4-FFF2-40B4-BE49-F238E27FC236}">
                <a16:creationId xmlns:a16="http://schemas.microsoft.com/office/drawing/2014/main" id="{92E7CBFE-4B32-4968-972C-9C1C59385511}"/>
              </a:ext>
            </a:extLst>
          </p:cNvPr>
          <p:cNvSpPr>
            <a:spLocks xmlns:a="http://schemas.openxmlformats.org/drawingml/2006/main" noGrp="1"/>
          </p:cNvSpPr>
          <p:nvPr/>
        </p:nvSpPr>
        <p:spPr>
          <a:xfrm xmlns:a="http://schemas.openxmlformats.org/drawingml/2006/main">
            <a:off x="8477250" y="3248025"/>
            <a:ext cx="2990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B7433D"/>
                </a:solidFill>
                <a:latin typeface="Aptos"/>
                <a:ea typeface="Aptos"/>
                <a:cs typeface="Aptos"/>
              </a:defRPr>
            </a:pPr>
            <a:r>
              <a:rPr sz="990" b="0">
                <a:solidFill>
                  <a:srgbClr val="B7433D"/>
                </a:solidFill>
                <a:latin typeface="Aptos"/>
                <a:ea typeface="Aptos"/>
                <a:cs typeface="Aptos"/>
              </a:rPr>
              <a:t>Clinical benefit</a:t>
            </a:r>
          </a:p>
        </p:txBody>
      </p:sp>
      <p:sp>
        <p:nvSpPr>
          <p:cNvPr id="42" name="">
            <a:extLst xmlns:a="http://schemas.openxmlformats.org/drawingml/2006/main">
              <a:ext uri="{FF2B5EF4-FFF2-40B4-BE49-F238E27FC236}">
                <a16:creationId xmlns:a16="http://schemas.microsoft.com/office/drawing/2014/main" id="{2F365BDB-DE5E-41AC-ADAB-C58B1D1813EF}"/>
              </a:ext>
            </a:extLst>
          </p:cNvPr>
          <p:cNvSpPr>
            <a:spLocks xmlns:a="http://schemas.openxmlformats.org/drawingml/2006/main" noGrp="1"/>
          </p:cNvSpPr>
          <p:nvPr/>
        </p:nvSpPr>
        <p:spPr>
          <a:xfrm xmlns:a="http://schemas.openxmlformats.org/drawingml/2006/main">
            <a:off x="590550" y="3705225"/>
            <a:ext cx="1371600" cy="4762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43" name="">
            <a:extLst xmlns:a="http://schemas.openxmlformats.org/drawingml/2006/main">
              <a:ext uri="{FF2B5EF4-FFF2-40B4-BE49-F238E27FC236}">
                <a16:creationId xmlns:a16="http://schemas.microsoft.com/office/drawing/2014/main" id="{F132F9EA-6EB8-446A-8722-66C3AD75F46F}"/>
              </a:ext>
            </a:extLst>
          </p:cNvPr>
          <p:cNvSpPr>
            <a:spLocks xmlns:a="http://schemas.openxmlformats.org/drawingml/2006/main" noGrp="1"/>
          </p:cNvSpPr>
          <p:nvPr/>
        </p:nvSpPr>
        <p:spPr>
          <a:xfrm xmlns:a="http://schemas.openxmlformats.org/drawingml/2006/main">
            <a:off x="666750" y="37909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088" b="1">
                <a:solidFill>
                  <a:srgbClr val="183340"/>
                </a:solidFill>
                <a:latin typeface="Aptos"/>
                <a:ea typeface="Aptos"/>
                <a:cs typeface="Aptos"/>
              </a:defRPr>
            </a:pPr>
            <a:r>
              <a:rPr sz="1088" b="1">
                <a:solidFill>
                  <a:srgbClr val="183340"/>
                </a:solidFill>
                <a:latin typeface="Aptos"/>
                <a:ea typeface="Aptos"/>
                <a:cs typeface="Aptos"/>
              </a:rPr>
              <a:t>Trinity</a:t>
            </a:r>
          </a:p>
        </p:txBody>
      </p:sp>
      <p:sp>
        <p:nvSpPr>
          <p:cNvPr id="44" name="">
            <a:extLst xmlns:a="http://schemas.openxmlformats.org/drawingml/2006/main">
              <a:ext uri="{FF2B5EF4-FFF2-40B4-BE49-F238E27FC236}">
                <a16:creationId xmlns:a16="http://schemas.microsoft.com/office/drawing/2014/main" id="{511C69BD-A8B1-4CA3-89E2-0BBDBF319E50}"/>
              </a:ext>
            </a:extLst>
          </p:cNvPr>
          <p:cNvSpPr>
            <a:spLocks xmlns:a="http://schemas.openxmlformats.org/drawingml/2006/main" noGrp="1"/>
          </p:cNvSpPr>
          <p:nvPr/>
        </p:nvSpPr>
        <p:spPr>
          <a:xfrm xmlns:a="http://schemas.openxmlformats.org/drawingml/2006/main">
            <a:off x="2000250" y="3705225"/>
            <a:ext cx="2609850" cy="4762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45" name="">
            <a:extLst xmlns:a="http://schemas.openxmlformats.org/drawingml/2006/main">
              <a:ext uri="{FF2B5EF4-FFF2-40B4-BE49-F238E27FC236}">
                <a16:creationId xmlns:a16="http://schemas.microsoft.com/office/drawing/2014/main" id="{AD59EF2A-E583-4909-A20B-069419D09E46}"/>
              </a:ext>
            </a:extLst>
          </p:cNvPr>
          <p:cNvSpPr>
            <a:spLocks xmlns:a="http://schemas.openxmlformats.org/drawingml/2006/main" noGrp="1"/>
          </p:cNvSpPr>
          <p:nvPr/>
        </p:nvSpPr>
        <p:spPr>
          <a:xfrm xmlns:a="http://schemas.openxmlformats.org/drawingml/2006/main">
            <a:off x="2076450" y="3790950"/>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183340"/>
                </a:solidFill>
                <a:latin typeface="Aptos"/>
                <a:ea typeface="Aptos"/>
                <a:cs typeface="Aptos"/>
              </a:defRPr>
            </a:pPr>
            <a:r>
              <a:rPr sz="990" b="0">
                <a:solidFill>
                  <a:srgbClr val="183340"/>
                </a:solidFill>
                <a:latin typeface="Aptos"/>
                <a:ea typeface="Aptos"/>
                <a:cs typeface="Aptos"/>
              </a:rPr>
              <a:t>Participatory case</a:t>
            </a:r>
          </a:p>
        </p:txBody>
      </p:sp>
      <p:sp>
        <p:nvSpPr>
          <p:cNvPr id="46" name="">
            <a:extLst xmlns:a="http://schemas.openxmlformats.org/drawingml/2006/main">
              <a:ext uri="{FF2B5EF4-FFF2-40B4-BE49-F238E27FC236}">
                <a16:creationId xmlns:a16="http://schemas.microsoft.com/office/drawing/2014/main" id="{2E45A026-249E-4F56-AD14-7C2C8A67C273}"/>
              </a:ext>
            </a:extLst>
          </p:cNvPr>
          <p:cNvSpPr>
            <a:spLocks xmlns:a="http://schemas.openxmlformats.org/drawingml/2006/main" noGrp="1"/>
          </p:cNvSpPr>
          <p:nvPr/>
        </p:nvSpPr>
        <p:spPr>
          <a:xfrm xmlns:a="http://schemas.openxmlformats.org/drawingml/2006/main">
            <a:off x="4648200" y="3705225"/>
            <a:ext cx="3714750" cy="4762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47" name="">
            <a:extLst xmlns:a="http://schemas.openxmlformats.org/drawingml/2006/main">
              <a:ext uri="{FF2B5EF4-FFF2-40B4-BE49-F238E27FC236}">
                <a16:creationId xmlns:a16="http://schemas.microsoft.com/office/drawing/2014/main" id="{77C6B47C-6015-4E65-84EB-0F62DF31AEC5}"/>
              </a:ext>
            </a:extLst>
          </p:cNvPr>
          <p:cNvSpPr>
            <a:spLocks xmlns:a="http://schemas.openxmlformats.org/drawingml/2006/main" noGrp="1"/>
          </p:cNvSpPr>
          <p:nvPr/>
        </p:nvSpPr>
        <p:spPr>
          <a:xfrm xmlns:a="http://schemas.openxmlformats.org/drawingml/2006/main">
            <a:off x="4724400" y="3790950"/>
            <a:ext cx="3562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183340"/>
                </a:solidFill>
                <a:latin typeface="Aptos"/>
                <a:ea typeface="Aptos"/>
                <a:cs typeface="Aptos"/>
              </a:defRPr>
            </a:pPr>
            <a:r>
              <a:rPr sz="990" b="0">
                <a:solidFill>
                  <a:srgbClr val="183340"/>
                </a:solidFill>
                <a:latin typeface="Aptos"/>
                <a:ea typeface="Aptos"/>
                <a:cs typeface="Aptos"/>
              </a:rPr>
              <a:t>Future capabilities</a:t>
            </a:r>
          </a:p>
        </p:txBody>
      </p:sp>
      <p:sp>
        <p:nvSpPr>
          <p:cNvPr id="48" name="">
            <a:extLst xmlns:a="http://schemas.openxmlformats.org/drawingml/2006/main">
              <a:ext uri="{FF2B5EF4-FFF2-40B4-BE49-F238E27FC236}">
                <a16:creationId xmlns:a16="http://schemas.microsoft.com/office/drawing/2014/main" id="{A6F25F30-D573-4246-B690-C0482D636EE9}"/>
              </a:ext>
            </a:extLst>
          </p:cNvPr>
          <p:cNvSpPr>
            <a:spLocks xmlns:a="http://schemas.openxmlformats.org/drawingml/2006/main" noGrp="1"/>
          </p:cNvSpPr>
          <p:nvPr/>
        </p:nvSpPr>
        <p:spPr>
          <a:xfrm xmlns:a="http://schemas.openxmlformats.org/drawingml/2006/main">
            <a:off x="8401050" y="3705225"/>
            <a:ext cx="3143250" cy="4762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49" name="">
            <a:extLst xmlns:a="http://schemas.openxmlformats.org/drawingml/2006/main">
              <a:ext uri="{FF2B5EF4-FFF2-40B4-BE49-F238E27FC236}">
                <a16:creationId xmlns:a16="http://schemas.microsoft.com/office/drawing/2014/main" id="{F8C86273-B35E-4173-A8A2-5C52992C1B99}"/>
              </a:ext>
            </a:extLst>
          </p:cNvPr>
          <p:cNvSpPr>
            <a:spLocks xmlns:a="http://schemas.openxmlformats.org/drawingml/2006/main" noGrp="1"/>
          </p:cNvSpPr>
          <p:nvPr/>
        </p:nvSpPr>
        <p:spPr>
          <a:xfrm xmlns:a="http://schemas.openxmlformats.org/drawingml/2006/main">
            <a:off x="8477250" y="3790950"/>
            <a:ext cx="2990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B7433D"/>
                </a:solidFill>
                <a:latin typeface="Aptos"/>
                <a:ea typeface="Aptos"/>
                <a:cs typeface="Aptos"/>
              </a:defRPr>
            </a:pPr>
            <a:r>
              <a:rPr sz="990" b="0">
                <a:solidFill>
                  <a:srgbClr val="B7433D"/>
                </a:solidFill>
                <a:latin typeface="Aptos"/>
                <a:ea typeface="Aptos"/>
                <a:cs typeface="Aptos"/>
              </a:rPr>
              <a:t>Generalisability</a:t>
            </a:r>
          </a:p>
        </p:txBody>
      </p:sp>
      <p:sp>
        <p:nvSpPr>
          <p:cNvPr id="50" name="">
            <a:extLst xmlns:a="http://schemas.openxmlformats.org/drawingml/2006/main">
              <a:ext uri="{FF2B5EF4-FFF2-40B4-BE49-F238E27FC236}">
                <a16:creationId xmlns:a16="http://schemas.microsoft.com/office/drawing/2014/main" id="{0E573756-E04B-461C-9AA9-8E98E4CB2C9E}"/>
              </a:ext>
            </a:extLst>
          </p:cNvPr>
          <p:cNvSpPr>
            <a:spLocks xmlns:a="http://schemas.openxmlformats.org/drawingml/2006/main" noGrp="1"/>
          </p:cNvSpPr>
          <p:nvPr/>
        </p:nvSpPr>
        <p:spPr>
          <a:xfrm xmlns:a="http://schemas.openxmlformats.org/drawingml/2006/main">
            <a:off x="590550" y="4248150"/>
            <a:ext cx="137160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51" name="">
            <a:extLst xmlns:a="http://schemas.openxmlformats.org/drawingml/2006/main">
              <a:ext uri="{FF2B5EF4-FFF2-40B4-BE49-F238E27FC236}">
                <a16:creationId xmlns:a16="http://schemas.microsoft.com/office/drawing/2014/main" id="{B9C7D4DC-23CE-4387-B58C-F1522AAEC308}"/>
              </a:ext>
            </a:extLst>
          </p:cNvPr>
          <p:cNvSpPr>
            <a:spLocks xmlns:a="http://schemas.openxmlformats.org/drawingml/2006/main" noGrp="1"/>
          </p:cNvSpPr>
          <p:nvPr/>
        </p:nvSpPr>
        <p:spPr>
          <a:xfrm xmlns:a="http://schemas.openxmlformats.org/drawingml/2006/main">
            <a:off x="666750" y="4333875"/>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088" b="1">
                <a:solidFill>
                  <a:srgbClr val="183340"/>
                </a:solidFill>
                <a:latin typeface="Aptos"/>
                <a:ea typeface="Aptos"/>
                <a:cs typeface="Aptos"/>
              </a:defRPr>
            </a:pPr>
            <a:r>
              <a:rPr sz="1088" b="1">
                <a:solidFill>
                  <a:srgbClr val="183340"/>
                </a:solidFill>
                <a:latin typeface="Aptos"/>
                <a:ea typeface="Aptos"/>
                <a:cs typeface="Aptos"/>
              </a:rPr>
              <a:t>SepsisLab</a:t>
            </a:r>
          </a:p>
        </p:txBody>
      </p:sp>
      <p:sp>
        <p:nvSpPr>
          <p:cNvPr id="52" name="">
            <a:extLst xmlns:a="http://schemas.openxmlformats.org/drawingml/2006/main">
              <a:ext uri="{FF2B5EF4-FFF2-40B4-BE49-F238E27FC236}">
                <a16:creationId xmlns:a16="http://schemas.microsoft.com/office/drawing/2014/main" id="{51582533-B164-48FA-9505-AD5C5317C3C1}"/>
              </a:ext>
            </a:extLst>
          </p:cNvPr>
          <p:cNvSpPr>
            <a:spLocks xmlns:a="http://schemas.openxmlformats.org/drawingml/2006/main" noGrp="1"/>
          </p:cNvSpPr>
          <p:nvPr/>
        </p:nvSpPr>
        <p:spPr>
          <a:xfrm xmlns:a="http://schemas.openxmlformats.org/drawingml/2006/main">
            <a:off x="2000250" y="4248150"/>
            <a:ext cx="260985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53" name="">
            <a:extLst xmlns:a="http://schemas.openxmlformats.org/drawingml/2006/main">
              <a:ext uri="{FF2B5EF4-FFF2-40B4-BE49-F238E27FC236}">
                <a16:creationId xmlns:a16="http://schemas.microsoft.com/office/drawing/2014/main" id="{89B76A8F-CDBB-4AFF-B6C4-A001D4A8636A}"/>
              </a:ext>
            </a:extLst>
          </p:cNvPr>
          <p:cNvSpPr>
            <a:spLocks xmlns:a="http://schemas.openxmlformats.org/drawingml/2006/main" noGrp="1"/>
          </p:cNvSpPr>
          <p:nvPr/>
        </p:nvSpPr>
        <p:spPr>
          <a:xfrm xmlns:a="http://schemas.openxmlformats.org/drawingml/2006/main">
            <a:off x="2076450" y="433387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183340"/>
                </a:solidFill>
                <a:latin typeface="Aptos"/>
                <a:ea typeface="Aptos"/>
                <a:cs typeface="Aptos"/>
              </a:defRPr>
            </a:pPr>
            <a:r>
              <a:rPr sz="990" b="0">
                <a:solidFill>
                  <a:srgbClr val="183340"/>
                </a:solidFill>
                <a:latin typeface="Aptos"/>
                <a:ea typeface="Aptos"/>
                <a:cs typeface="Aptos"/>
              </a:rPr>
              <a:t>6-clinician prototype</a:t>
            </a:r>
          </a:p>
        </p:txBody>
      </p:sp>
      <p:sp>
        <p:nvSpPr>
          <p:cNvPr id="54" name="">
            <a:extLst xmlns:a="http://schemas.openxmlformats.org/drawingml/2006/main">
              <a:ext uri="{FF2B5EF4-FFF2-40B4-BE49-F238E27FC236}">
                <a16:creationId xmlns:a16="http://schemas.microsoft.com/office/drawing/2014/main" id="{DCBF389A-3BD1-48C9-B719-159273EA27A3}"/>
              </a:ext>
            </a:extLst>
          </p:cNvPr>
          <p:cNvSpPr>
            <a:spLocks xmlns:a="http://schemas.openxmlformats.org/drawingml/2006/main" noGrp="1"/>
          </p:cNvSpPr>
          <p:nvPr/>
        </p:nvSpPr>
        <p:spPr>
          <a:xfrm xmlns:a="http://schemas.openxmlformats.org/drawingml/2006/main">
            <a:off x="4648200" y="4248150"/>
            <a:ext cx="371475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55" name="">
            <a:extLst xmlns:a="http://schemas.openxmlformats.org/drawingml/2006/main">
              <a:ext uri="{FF2B5EF4-FFF2-40B4-BE49-F238E27FC236}">
                <a16:creationId xmlns:a16="http://schemas.microsoft.com/office/drawing/2014/main" id="{FE49A41B-C611-43A4-ADDE-5D776AC0E3D7}"/>
              </a:ext>
            </a:extLst>
          </p:cNvPr>
          <p:cNvSpPr>
            <a:spLocks xmlns:a="http://schemas.openxmlformats.org/drawingml/2006/main" noGrp="1"/>
          </p:cNvSpPr>
          <p:nvPr/>
        </p:nvSpPr>
        <p:spPr>
          <a:xfrm xmlns:a="http://schemas.openxmlformats.org/drawingml/2006/main">
            <a:off x="4724400" y="4333875"/>
            <a:ext cx="3562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183340"/>
                </a:solidFill>
                <a:latin typeface="Aptos"/>
                <a:ea typeface="Aptos"/>
                <a:cs typeface="Aptos"/>
              </a:defRPr>
            </a:pPr>
            <a:r>
              <a:rPr sz="990" b="0">
                <a:solidFill>
                  <a:srgbClr val="183340"/>
                </a:solidFill>
                <a:latin typeface="Aptos"/>
                <a:ea typeface="Aptos"/>
                <a:cs typeface="Aptos"/>
              </a:rPr>
              <a:t>Design insight</a:t>
            </a:r>
          </a:p>
        </p:txBody>
      </p:sp>
      <p:sp>
        <p:nvSpPr>
          <p:cNvPr id="56" name="">
            <a:extLst xmlns:a="http://schemas.openxmlformats.org/drawingml/2006/main">
              <a:ext uri="{FF2B5EF4-FFF2-40B4-BE49-F238E27FC236}">
                <a16:creationId xmlns:a16="http://schemas.microsoft.com/office/drawing/2014/main" id="{AE473593-859D-4B9E-920B-B999DD4DEF40}"/>
              </a:ext>
            </a:extLst>
          </p:cNvPr>
          <p:cNvSpPr>
            <a:spLocks xmlns:a="http://schemas.openxmlformats.org/drawingml/2006/main" noGrp="1"/>
          </p:cNvSpPr>
          <p:nvPr/>
        </p:nvSpPr>
        <p:spPr>
          <a:xfrm xmlns:a="http://schemas.openxmlformats.org/drawingml/2006/main">
            <a:off x="8401050" y="4248150"/>
            <a:ext cx="314325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57" name="">
            <a:extLst xmlns:a="http://schemas.openxmlformats.org/drawingml/2006/main">
              <a:ext uri="{FF2B5EF4-FFF2-40B4-BE49-F238E27FC236}">
                <a16:creationId xmlns:a16="http://schemas.microsoft.com/office/drawing/2014/main" id="{33492779-6861-46B2-8442-370EF09307EB}"/>
              </a:ext>
            </a:extLst>
          </p:cNvPr>
          <p:cNvSpPr>
            <a:spLocks xmlns:a="http://schemas.openxmlformats.org/drawingml/2006/main" noGrp="1"/>
          </p:cNvSpPr>
          <p:nvPr/>
        </p:nvSpPr>
        <p:spPr>
          <a:xfrm xmlns:a="http://schemas.openxmlformats.org/drawingml/2006/main">
            <a:off x="8477250" y="4333875"/>
            <a:ext cx="2990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B7433D"/>
                </a:solidFill>
                <a:latin typeface="Aptos"/>
                <a:ea typeface="Aptos"/>
                <a:cs typeface="Aptos"/>
              </a:defRPr>
            </a:pPr>
            <a:r>
              <a:rPr sz="990" b="0">
                <a:solidFill>
                  <a:srgbClr val="B7433D"/>
                </a:solidFill>
                <a:latin typeface="Aptos"/>
                <a:ea typeface="Aptos"/>
                <a:cs typeface="Aptos"/>
              </a:rPr>
              <a:t>Outcome/safety benefit</a:t>
            </a:r>
          </a:p>
        </p:txBody>
      </p:sp>
      <p:sp>
        <p:nvSpPr>
          <p:cNvPr id="58" name="">
            <a:extLst xmlns:a="http://schemas.openxmlformats.org/drawingml/2006/main">
              <a:ext uri="{FF2B5EF4-FFF2-40B4-BE49-F238E27FC236}">
                <a16:creationId xmlns:a16="http://schemas.microsoft.com/office/drawing/2014/main" id="{76BA92A5-B635-4BF6-96CF-776202BF3B24}"/>
              </a:ext>
            </a:extLst>
          </p:cNvPr>
          <p:cNvSpPr>
            <a:spLocks xmlns:a="http://schemas.openxmlformats.org/drawingml/2006/main" noGrp="1"/>
          </p:cNvSpPr>
          <p:nvPr/>
        </p:nvSpPr>
        <p:spPr>
          <a:xfrm xmlns:a="http://schemas.openxmlformats.org/drawingml/2006/main">
            <a:off x="590550" y="4791075"/>
            <a:ext cx="1371600" cy="4762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59" name="">
            <a:extLst xmlns:a="http://schemas.openxmlformats.org/drawingml/2006/main">
              <a:ext uri="{FF2B5EF4-FFF2-40B4-BE49-F238E27FC236}">
                <a16:creationId xmlns:a16="http://schemas.microsoft.com/office/drawing/2014/main" id="{E8261C9A-A398-4731-80ED-3EF1D4E30B1F}"/>
              </a:ext>
            </a:extLst>
          </p:cNvPr>
          <p:cNvSpPr>
            <a:spLocks xmlns:a="http://schemas.openxmlformats.org/drawingml/2006/main" noGrp="1"/>
          </p:cNvSpPr>
          <p:nvPr/>
        </p:nvSpPr>
        <p:spPr>
          <a:xfrm xmlns:a="http://schemas.openxmlformats.org/drawingml/2006/main">
            <a:off x="666750" y="487680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088" b="1">
                <a:solidFill>
                  <a:srgbClr val="183340"/>
                </a:solidFill>
                <a:latin typeface="Aptos"/>
                <a:ea typeface="Aptos"/>
                <a:cs typeface="Aptos"/>
              </a:defRPr>
            </a:pPr>
            <a:r>
              <a:rPr sz="1088" b="1">
                <a:solidFill>
                  <a:srgbClr val="183340"/>
                </a:solidFill>
                <a:latin typeface="Aptos"/>
                <a:ea typeface="Aptos"/>
                <a:cs typeface="Aptos"/>
              </a:rPr>
              <a:t>Scribes</a:t>
            </a:r>
          </a:p>
        </p:txBody>
      </p:sp>
      <p:sp>
        <p:nvSpPr>
          <p:cNvPr id="60" name="">
            <a:extLst xmlns:a="http://schemas.openxmlformats.org/drawingml/2006/main">
              <a:ext uri="{FF2B5EF4-FFF2-40B4-BE49-F238E27FC236}">
                <a16:creationId xmlns:a16="http://schemas.microsoft.com/office/drawing/2014/main" id="{DAB57D49-0D10-43DE-8B7D-62F190B55F32}"/>
              </a:ext>
            </a:extLst>
          </p:cNvPr>
          <p:cNvSpPr>
            <a:spLocks xmlns:a="http://schemas.openxmlformats.org/drawingml/2006/main" noGrp="1"/>
          </p:cNvSpPr>
          <p:nvPr/>
        </p:nvSpPr>
        <p:spPr>
          <a:xfrm xmlns:a="http://schemas.openxmlformats.org/drawingml/2006/main">
            <a:off x="2000250" y="4791075"/>
            <a:ext cx="2609850" cy="4762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61" name="">
            <a:extLst xmlns:a="http://schemas.openxmlformats.org/drawingml/2006/main">
              <a:ext uri="{FF2B5EF4-FFF2-40B4-BE49-F238E27FC236}">
                <a16:creationId xmlns:a16="http://schemas.microsoft.com/office/drawing/2014/main" id="{63ADB060-E9B0-48AF-B294-52E7DB44EDF4}"/>
              </a:ext>
            </a:extLst>
          </p:cNvPr>
          <p:cNvSpPr>
            <a:spLocks xmlns:a="http://schemas.openxmlformats.org/drawingml/2006/main" noGrp="1"/>
          </p:cNvSpPr>
          <p:nvPr/>
        </p:nvSpPr>
        <p:spPr>
          <a:xfrm xmlns:a="http://schemas.openxmlformats.org/drawingml/2006/main">
            <a:off x="2076450" y="4876800"/>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183340"/>
                </a:solidFill>
                <a:latin typeface="Aptos"/>
                <a:ea typeface="Aptos"/>
                <a:cs typeface="Aptos"/>
              </a:defRPr>
            </a:pPr>
            <a:r>
              <a:rPr sz="990" b="0">
                <a:solidFill>
                  <a:srgbClr val="183340"/>
                </a:solidFill>
                <a:latin typeface="Aptos"/>
                <a:ea typeface="Aptos"/>
                <a:cs typeface="Aptos"/>
              </a:rPr>
              <a:t>Implementation evidence</a:t>
            </a:r>
          </a:p>
        </p:txBody>
      </p:sp>
      <p:sp>
        <p:nvSpPr>
          <p:cNvPr id="62" name="">
            <a:extLst xmlns:a="http://schemas.openxmlformats.org/drawingml/2006/main">
              <a:ext uri="{FF2B5EF4-FFF2-40B4-BE49-F238E27FC236}">
                <a16:creationId xmlns:a16="http://schemas.microsoft.com/office/drawing/2014/main" id="{5AFB755A-68B9-4868-A213-10A5F6255105}"/>
              </a:ext>
            </a:extLst>
          </p:cNvPr>
          <p:cNvSpPr>
            <a:spLocks xmlns:a="http://schemas.openxmlformats.org/drawingml/2006/main" noGrp="1"/>
          </p:cNvSpPr>
          <p:nvPr/>
        </p:nvSpPr>
        <p:spPr>
          <a:xfrm xmlns:a="http://schemas.openxmlformats.org/drawingml/2006/main">
            <a:off x="4648200" y="4791075"/>
            <a:ext cx="3714750" cy="4762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63" name="">
            <a:extLst xmlns:a="http://schemas.openxmlformats.org/drawingml/2006/main">
              <a:ext uri="{FF2B5EF4-FFF2-40B4-BE49-F238E27FC236}">
                <a16:creationId xmlns:a16="http://schemas.microsoft.com/office/drawing/2014/main" id="{CCBC2F52-7F2C-4D62-B916-F78D1DC0A26E}"/>
              </a:ext>
            </a:extLst>
          </p:cNvPr>
          <p:cNvSpPr>
            <a:spLocks xmlns:a="http://schemas.openxmlformats.org/drawingml/2006/main" noGrp="1"/>
          </p:cNvSpPr>
          <p:nvPr/>
        </p:nvSpPr>
        <p:spPr>
          <a:xfrm xmlns:a="http://schemas.openxmlformats.org/drawingml/2006/main">
            <a:off x="4724400" y="4876800"/>
            <a:ext cx="3562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183340"/>
                </a:solidFill>
                <a:latin typeface="Aptos"/>
                <a:ea typeface="Aptos"/>
                <a:cs typeface="Aptos"/>
              </a:defRPr>
            </a:pPr>
            <a:r>
              <a:rPr sz="990" b="0">
                <a:solidFill>
                  <a:srgbClr val="183340"/>
                </a:solidFill>
                <a:latin typeface="Aptos"/>
                <a:ea typeface="Aptos"/>
                <a:cs typeface="Aptos"/>
              </a:rPr>
              <a:t>Workflow trade-off</a:t>
            </a:r>
          </a:p>
        </p:txBody>
      </p:sp>
      <p:sp>
        <p:nvSpPr>
          <p:cNvPr id="64" name="">
            <a:extLst xmlns:a="http://schemas.openxmlformats.org/drawingml/2006/main">
              <a:ext uri="{FF2B5EF4-FFF2-40B4-BE49-F238E27FC236}">
                <a16:creationId xmlns:a16="http://schemas.microsoft.com/office/drawing/2014/main" id="{D736B7B7-88ED-434A-8E85-31A93B0C2D49}"/>
              </a:ext>
            </a:extLst>
          </p:cNvPr>
          <p:cNvSpPr>
            <a:spLocks xmlns:a="http://schemas.openxmlformats.org/drawingml/2006/main" noGrp="1"/>
          </p:cNvSpPr>
          <p:nvPr/>
        </p:nvSpPr>
        <p:spPr>
          <a:xfrm xmlns:a="http://schemas.openxmlformats.org/drawingml/2006/main">
            <a:off x="8401050" y="4791075"/>
            <a:ext cx="3143250" cy="4762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65" name="">
            <a:extLst xmlns:a="http://schemas.openxmlformats.org/drawingml/2006/main">
              <a:ext uri="{FF2B5EF4-FFF2-40B4-BE49-F238E27FC236}">
                <a16:creationId xmlns:a16="http://schemas.microsoft.com/office/drawing/2014/main" id="{005AD5DF-3D7F-4ADD-AC3C-1F1B4DD0E87E}"/>
              </a:ext>
            </a:extLst>
          </p:cNvPr>
          <p:cNvSpPr>
            <a:spLocks xmlns:a="http://schemas.openxmlformats.org/drawingml/2006/main" noGrp="1"/>
          </p:cNvSpPr>
          <p:nvPr/>
        </p:nvSpPr>
        <p:spPr>
          <a:xfrm xmlns:a="http://schemas.openxmlformats.org/drawingml/2006/main">
            <a:off x="8477250" y="4876800"/>
            <a:ext cx="2990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B7433D"/>
                </a:solidFill>
                <a:latin typeface="Aptos"/>
                <a:ea typeface="Aptos"/>
                <a:cs typeface="Aptos"/>
              </a:defRPr>
            </a:pPr>
            <a:r>
              <a:rPr sz="990" b="0">
                <a:solidFill>
                  <a:srgbClr val="B7433D"/>
                </a:solidFill>
                <a:latin typeface="Aptos"/>
                <a:ea typeface="Aptos"/>
                <a:cs typeface="Aptos"/>
              </a:rPr>
              <a:t>Product-wide safety</a:t>
            </a:r>
          </a:p>
        </p:txBody>
      </p:sp>
      <p:sp>
        <p:nvSpPr>
          <p:cNvPr id="66" name="">
            <a:extLst xmlns:a="http://schemas.openxmlformats.org/drawingml/2006/main">
              <a:ext uri="{FF2B5EF4-FFF2-40B4-BE49-F238E27FC236}">
                <a16:creationId xmlns:a16="http://schemas.microsoft.com/office/drawing/2014/main" id="{2B522BDC-32A3-4A2D-A96B-1F43C18E5FB3}"/>
              </a:ext>
            </a:extLst>
          </p:cNvPr>
          <p:cNvSpPr>
            <a:spLocks xmlns:a="http://schemas.openxmlformats.org/drawingml/2006/main" noGrp="1"/>
          </p:cNvSpPr>
          <p:nvPr/>
        </p:nvSpPr>
        <p:spPr>
          <a:xfrm xmlns:a="http://schemas.openxmlformats.org/drawingml/2006/main">
            <a:off x="590550" y="5334000"/>
            <a:ext cx="137160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67" name="">
            <a:extLst xmlns:a="http://schemas.openxmlformats.org/drawingml/2006/main">
              <a:ext uri="{FF2B5EF4-FFF2-40B4-BE49-F238E27FC236}">
                <a16:creationId xmlns:a16="http://schemas.microsoft.com/office/drawing/2014/main" id="{47E126D4-69F1-4166-B1C0-F86A154E13DD}"/>
              </a:ext>
            </a:extLst>
          </p:cNvPr>
          <p:cNvSpPr>
            <a:spLocks xmlns:a="http://schemas.openxmlformats.org/drawingml/2006/main" noGrp="1"/>
          </p:cNvSpPr>
          <p:nvPr/>
        </p:nvSpPr>
        <p:spPr>
          <a:xfrm xmlns:a="http://schemas.openxmlformats.org/drawingml/2006/main">
            <a:off x="666750" y="5419725"/>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088" b="1">
                <a:solidFill>
                  <a:srgbClr val="183340"/>
                </a:solidFill>
                <a:latin typeface="Aptos"/>
                <a:ea typeface="Aptos"/>
                <a:cs typeface="Aptos"/>
              </a:defRPr>
            </a:pPr>
            <a:r>
              <a:rPr sz="1088" b="1">
                <a:solidFill>
                  <a:srgbClr val="183340"/>
                </a:solidFill>
                <a:latin typeface="Aptos"/>
                <a:ea typeface="Aptos"/>
                <a:cs typeface="Aptos"/>
              </a:rPr>
              <a:t>XAI</a:t>
            </a:r>
          </a:p>
        </p:txBody>
      </p:sp>
      <p:sp>
        <p:nvSpPr>
          <p:cNvPr id="68" name="">
            <a:extLst xmlns:a="http://schemas.openxmlformats.org/drawingml/2006/main">
              <a:ext uri="{FF2B5EF4-FFF2-40B4-BE49-F238E27FC236}">
                <a16:creationId xmlns:a16="http://schemas.microsoft.com/office/drawing/2014/main" id="{39C9B423-98C5-4544-88B2-3CAEEBB53780}"/>
              </a:ext>
            </a:extLst>
          </p:cNvPr>
          <p:cNvSpPr>
            <a:spLocks xmlns:a="http://schemas.openxmlformats.org/drawingml/2006/main" noGrp="1"/>
          </p:cNvSpPr>
          <p:nvPr/>
        </p:nvSpPr>
        <p:spPr>
          <a:xfrm xmlns:a="http://schemas.openxmlformats.org/drawingml/2006/main">
            <a:off x="2000250" y="5334000"/>
            <a:ext cx="260985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69" name="">
            <a:extLst xmlns:a="http://schemas.openxmlformats.org/drawingml/2006/main">
              <a:ext uri="{FF2B5EF4-FFF2-40B4-BE49-F238E27FC236}">
                <a16:creationId xmlns:a16="http://schemas.microsoft.com/office/drawing/2014/main" id="{144C085C-E7D2-4657-8195-1FB853BC9C2C}"/>
              </a:ext>
            </a:extLst>
          </p:cNvPr>
          <p:cNvSpPr>
            <a:spLocks xmlns:a="http://schemas.openxmlformats.org/drawingml/2006/main" noGrp="1"/>
          </p:cNvSpPr>
          <p:nvPr/>
        </p:nvSpPr>
        <p:spPr>
          <a:xfrm xmlns:a="http://schemas.openxmlformats.org/drawingml/2006/main">
            <a:off x="2076450" y="541972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183340"/>
                </a:solidFill>
                <a:latin typeface="Aptos"/>
                <a:ea typeface="Aptos"/>
                <a:cs typeface="Aptos"/>
              </a:defRPr>
            </a:pPr>
            <a:r>
              <a:rPr sz="990" b="0">
                <a:solidFill>
                  <a:srgbClr val="183340"/>
                </a:solidFill>
                <a:latin typeface="Aptos"/>
                <a:ea typeface="Aptos"/>
                <a:cs typeface="Aptos"/>
              </a:rPr>
              <a:t>Narrative chapter</a:t>
            </a:r>
          </a:p>
        </p:txBody>
      </p:sp>
      <p:sp>
        <p:nvSpPr>
          <p:cNvPr id="70" name="">
            <a:extLst xmlns:a="http://schemas.openxmlformats.org/drawingml/2006/main">
              <a:ext uri="{FF2B5EF4-FFF2-40B4-BE49-F238E27FC236}">
                <a16:creationId xmlns:a16="http://schemas.microsoft.com/office/drawing/2014/main" id="{DBE07F40-BEB2-4242-972C-B6A09066BAB7}"/>
              </a:ext>
            </a:extLst>
          </p:cNvPr>
          <p:cNvSpPr>
            <a:spLocks xmlns:a="http://schemas.openxmlformats.org/drawingml/2006/main" noGrp="1"/>
          </p:cNvSpPr>
          <p:nvPr/>
        </p:nvSpPr>
        <p:spPr>
          <a:xfrm xmlns:a="http://schemas.openxmlformats.org/drawingml/2006/main">
            <a:off x="4648200" y="5334000"/>
            <a:ext cx="371475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71" name="">
            <a:extLst xmlns:a="http://schemas.openxmlformats.org/drawingml/2006/main">
              <a:ext uri="{FF2B5EF4-FFF2-40B4-BE49-F238E27FC236}">
                <a16:creationId xmlns:a16="http://schemas.microsoft.com/office/drawing/2014/main" id="{00F89FA0-2AB7-4511-BBF7-BA22B70A1456}"/>
              </a:ext>
            </a:extLst>
          </p:cNvPr>
          <p:cNvSpPr>
            <a:spLocks xmlns:a="http://schemas.openxmlformats.org/drawingml/2006/main" noGrp="1"/>
          </p:cNvSpPr>
          <p:nvPr/>
        </p:nvSpPr>
        <p:spPr>
          <a:xfrm xmlns:a="http://schemas.openxmlformats.org/drawingml/2006/main">
            <a:off x="4724400" y="5419725"/>
            <a:ext cx="3562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183340"/>
                </a:solidFill>
                <a:latin typeface="Aptos"/>
                <a:ea typeface="Aptos"/>
                <a:cs typeface="Aptos"/>
              </a:defRPr>
            </a:pPr>
            <a:r>
              <a:rPr sz="990" b="0">
                <a:solidFill>
                  <a:srgbClr val="183340"/>
                </a:solidFill>
                <a:latin typeface="Aptos"/>
                <a:ea typeface="Aptos"/>
                <a:cs typeface="Aptos"/>
              </a:rPr>
              <a:t>Audit questions</a:t>
            </a:r>
          </a:p>
        </p:txBody>
      </p:sp>
      <p:sp>
        <p:nvSpPr>
          <p:cNvPr id="72" name="">
            <a:extLst xmlns:a="http://schemas.openxmlformats.org/drawingml/2006/main">
              <a:ext uri="{FF2B5EF4-FFF2-40B4-BE49-F238E27FC236}">
                <a16:creationId xmlns:a16="http://schemas.microsoft.com/office/drawing/2014/main" id="{88005305-F1E6-4E53-B8C6-9C3E805F2C97}"/>
              </a:ext>
            </a:extLst>
          </p:cNvPr>
          <p:cNvSpPr>
            <a:spLocks xmlns:a="http://schemas.openxmlformats.org/drawingml/2006/main" noGrp="1"/>
          </p:cNvSpPr>
          <p:nvPr/>
        </p:nvSpPr>
        <p:spPr>
          <a:xfrm xmlns:a="http://schemas.openxmlformats.org/drawingml/2006/main">
            <a:off x="8401050" y="5334000"/>
            <a:ext cx="3143250" cy="476250"/>
          </a:xfrm>
          <a:prstGeom xmlns:a="http://schemas.openxmlformats.org/drawingml/2006/main" prst="rect">
            <a:avLst/>
          </a:prstGeom>
          <a:solidFill xmlns:a="http://schemas.openxmlformats.org/drawingml/2006/main">
            <a:srgbClr val="FBE7DF"/>
          </a:solidFill>
          <a:ln xmlns:a="http://schemas.openxmlformats.org/drawingml/2006/main" w="9525">
            <a:solidFill>
              <a:srgbClr val="D3DDDE"/>
            </a:solidFill>
            <a:prstDash val="solid"/>
          </a:ln>
        </p:spPr>
      </p:sp>
      <p:sp>
        <p:nvSpPr>
          <p:cNvPr id="73" name="">
            <a:extLst xmlns:a="http://schemas.openxmlformats.org/drawingml/2006/main">
              <a:ext uri="{FF2B5EF4-FFF2-40B4-BE49-F238E27FC236}">
                <a16:creationId xmlns:a16="http://schemas.microsoft.com/office/drawing/2014/main" id="{70C5F6C9-1424-423D-AA47-D4208056E0C1}"/>
              </a:ext>
            </a:extLst>
          </p:cNvPr>
          <p:cNvSpPr>
            <a:spLocks xmlns:a="http://schemas.openxmlformats.org/drawingml/2006/main" noGrp="1"/>
          </p:cNvSpPr>
          <p:nvPr/>
        </p:nvSpPr>
        <p:spPr>
          <a:xfrm xmlns:a="http://schemas.openxmlformats.org/drawingml/2006/main">
            <a:off x="8477250" y="5419725"/>
            <a:ext cx="2990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990" b="0">
                <a:solidFill>
                  <a:srgbClr val="B7433D"/>
                </a:solidFill>
                <a:latin typeface="Aptos"/>
                <a:ea typeface="Aptos"/>
                <a:cs typeface="Aptos"/>
              </a:defRPr>
            </a:pPr>
            <a:r>
              <a:rPr sz="990" b="0">
                <a:solidFill>
                  <a:srgbClr val="B7433D"/>
                </a:solidFill>
                <a:latin typeface="Aptos"/>
                <a:ea typeface="Aptos"/>
                <a:cs typeface="Aptos"/>
              </a:rPr>
              <a:t>Accuracy from explanation</a:t>
            </a:r>
          </a:p>
        </p:txBody>
      </p:sp>
    </p:spTree>
    <p:extLst>
      <p:ext uri="{BB962C8B-B14F-4D97-AF65-F5344CB8AC3E}">
        <p14:creationId xmlns:p14="http://schemas.microsoft.com/office/powerpoint/2010/main" val="324726569"/>
      </p:ext>
    </p:extLst>
  </p:cSld>
</p:sld>
</file>

<file path=ppt/slides/slide2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39BE15-D40F-4077-97E4-EF005992927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F6F9F"/>
          </a:solidFill>
          <a:ln xmlns:a="http://schemas.openxmlformats.org/drawingml/2006/main" w="0">
            <a:solidFill>
              <a:srgbClr val="2F6F9F"/>
            </a:solidFill>
            <a:prstDash val="solid"/>
          </a:ln>
        </p:spPr>
      </p:sp>
      <p:sp>
        <p:nvSpPr>
          <p:cNvPr id="2" name="">
            <a:extLst xmlns:a="http://schemas.openxmlformats.org/drawingml/2006/main">
              <a:ext uri="{FF2B5EF4-FFF2-40B4-BE49-F238E27FC236}">
                <a16:creationId xmlns:a16="http://schemas.microsoft.com/office/drawing/2014/main" id="{569FA1B4-BD3A-40FC-84A1-1DEAC383EFB5}"/>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GOVERNANCE</a:t>
            </a:r>
          </a:p>
        </p:txBody>
      </p:sp>
      <p:sp>
        <p:nvSpPr>
          <p:cNvPr id="3" name="">
            <a:extLst xmlns:a="http://schemas.openxmlformats.org/drawingml/2006/main">
              <a:ext uri="{FF2B5EF4-FFF2-40B4-BE49-F238E27FC236}">
                <a16:creationId xmlns:a16="http://schemas.microsoft.com/office/drawing/2014/main" id="{6F668A92-7F9A-47AB-B52A-F0734A065737}"/>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09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India guardrails: legal compliance is the floor; professional accountability is higher</a:t>
            </a:r>
          </a:p>
        </p:txBody>
      </p:sp>
      <p:sp>
        <p:nvSpPr>
          <p:cNvPr id="4" name="">
            <a:extLst xmlns:a="http://schemas.openxmlformats.org/drawingml/2006/main">
              <a:ext uri="{FF2B5EF4-FFF2-40B4-BE49-F238E27FC236}">
                <a16:creationId xmlns:a16="http://schemas.microsoft.com/office/drawing/2014/main" id="{EB143682-053A-4E7E-9ACA-1FB39F85DE01}"/>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D363CD18-15F3-4C55-A26A-A4410907276C}"/>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D140A10D-983C-4FE1-8E74-0E7E0E598AED}"/>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D021A78D-5E05-48BA-A54D-071E1BA2DCCB}"/>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MeitY • ICMR • CDSCO • Department of Pharmaceuticals</a:t>
            </a:r>
          </a:p>
        </p:txBody>
      </p:sp>
      <p:sp>
        <p:nvSpPr>
          <p:cNvPr id="8" name="">
            <a:extLst xmlns:a="http://schemas.openxmlformats.org/drawingml/2006/main">
              <a:ext uri="{FF2B5EF4-FFF2-40B4-BE49-F238E27FC236}">
                <a16:creationId xmlns:a16="http://schemas.microsoft.com/office/drawing/2014/main" id="{757E467F-BF37-45A1-A608-B5FE51F85DCE}"/>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9" name="">
            <a:extLst xmlns:a="http://schemas.openxmlformats.org/drawingml/2006/main">
              <a:ext uri="{FF2B5EF4-FFF2-40B4-BE49-F238E27FC236}">
                <a16:creationId xmlns:a16="http://schemas.microsoft.com/office/drawing/2014/main" id="{35F57171-F787-44A4-8D67-B51A6BB14E18}"/>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23</a:t>
            </a:r>
          </a:p>
        </p:txBody>
      </p:sp>
      <p:sp>
        <p:nvSpPr>
          <p:cNvPr id="10" name="">
            <a:extLst xmlns:a="http://schemas.openxmlformats.org/drawingml/2006/main">
              <a:ext uri="{FF2B5EF4-FFF2-40B4-BE49-F238E27FC236}">
                <a16:creationId xmlns:a16="http://schemas.microsoft.com/office/drawing/2014/main" id="{E417D2A6-DED9-471D-8B0F-CC3BD88234D6}"/>
              </a:ext>
            </a:extLst>
          </p:cNvPr>
          <p:cNvSpPr>
            <a:spLocks xmlns:a="http://schemas.openxmlformats.org/drawingml/2006/main" noGrp="1"/>
          </p:cNvSpPr>
          <p:nvPr/>
        </p:nvSpPr>
        <p:spPr>
          <a:xfrm xmlns:a="http://schemas.openxmlformats.org/drawingml/2006/main">
            <a:off x="6096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2F6F9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55EFA5C4-264A-458D-81C0-0EDBD622C6E1}"/>
              </a:ext>
            </a:extLst>
          </p:cNvPr>
          <p:cNvSpPr>
            <a:spLocks xmlns:a="http://schemas.openxmlformats.org/drawingml/2006/main" noGrp="1"/>
          </p:cNvSpPr>
          <p:nvPr/>
        </p:nvSpPr>
        <p:spPr>
          <a:xfrm xmlns:a="http://schemas.openxmlformats.org/drawingml/2006/main">
            <a:off x="762000" y="1905000"/>
            <a:ext cx="8191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DATA</a:t>
            </a:r>
          </a:p>
        </p:txBody>
      </p:sp>
      <p:sp>
        <p:nvSpPr>
          <p:cNvPr id="12" name="">
            <a:extLst xmlns:a="http://schemas.openxmlformats.org/drawingml/2006/main">
              <a:ext uri="{FF2B5EF4-FFF2-40B4-BE49-F238E27FC236}">
                <a16:creationId xmlns:a16="http://schemas.microsoft.com/office/drawing/2014/main" id="{1391F678-488B-46B7-9783-A87A40088D14}"/>
              </a:ext>
            </a:extLst>
          </p:cNvPr>
          <p:cNvSpPr>
            <a:spLocks xmlns:a="http://schemas.openxmlformats.org/drawingml/2006/main" noGrp="1"/>
          </p:cNvSpPr>
          <p:nvPr/>
        </p:nvSpPr>
        <p:spPr>
          <a:xfrm xmlns:a="http://schemas.openxmlformats.org/drawingml/2006/main">
            <a:off x="7810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DPDP compliance</a:t>
            </a:r>
          </a:p>
        </p:txBody>
      </p:sp>
      <p:sp>
        <p:nvSpPr>
          <p:cNvPr id="13" name="">
            <a:extLst xmlns:a="http://schemas.openxmlformats.org/drawingml/2006/main">
              <a:ext uri="{FF2B5EF4-FFF2-40B4-BE49-F238E27FC236}">
                <a16:creationId xmlns:a16="http://schemas.microsoft.com/office/drawing/2014/main" id="{F1161747-0B57-481A-BA29-1E8BCD842330}"/>
              </a:ext>
            </a:extLst>
          </p:cNvPr>
          <p:cNvSpPr>
            <a:spLocks xmlns:a="http://schemas.openxmlformats.org/drawingml/2006/main" noGrp="1"/>
          </p:cNvSpPr>
          <p:nvPr/>
        </p:nvSpPr>
        <p:spPr>
          <a:xfrm xmlns:a="http://schemas.openxmlformats.org/drawingml/2006/main">
            <a:off x="7810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Purpose, notice/consent where applicable, minimisation, security, retention and rights.</a:t>
            </a:r>
          </a:p>
        </p:txBody>
      </p:sp>
      <p:sp>
        <p:nvSpPr>
          <p:cNvPr id="14" name="">
            <a:extLst xmlns:a="http://schemas.openxmlformats.org/drawingml/2006/main">
              <a:ext uri="{FF2B5EF4-FFF2-40B4-BE49-F238E27FC236}">
                <a16:creationId xmlns:a16="http://schemas.microsoft.com/office/drawing/2014/main" id="{2073A7EA-45C2-486E-9BA6-615DF72B6EB1}"/>
              </a:ext>
            </a:extLst>
          </p:cNvPr>
          <p:cNvSpPr>
            <a:spLocks xmlns:a="http://schemas.openxmlformats.org/drawingml/2006/main" noGrp="1"/>
          </p:cNvSpPr>
          <p:nvPr/>
        </p:nvSpPr>
        <p:spPr>
          <a:xfrm xmlns:a="http://schemas.openxmlformats.org/drawingml/2006/main">
            <a:off x="433705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087E7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55B66894-0B5B-43F4-96FA-74DB2BABF5C9}"/>
              </a:ext>
            </a:extLst>
          </p:cNvPr>
          <p:cNvSpPr>
            <a:spLocks xmlns:a="http://schemas.openxmlformats.org/drawingml/2006/main" noGrp="1"/>
          </p:cNvSpPr>
          <p:nvPr/>
        </p:nvSpPr>
        <p:spPr>
          <a:xfrm xmlns:a="http://schemas.openxmlformats.org/drawingml/2006/main">
            <a:off x="4489450" y="1905000"/>
            <a:ext cx="8191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CLINICAL</a:t>
            </a:r>
          </a:p>
        </p:txBody>
      </p:sp>
      <p:sp>
        <p:nvSpPr>
          <p:cNvPr id="16" name="">
            <a:extLst xmlns:a="http://schemas.openxmlformats.org/drawingml/2006/main">
              <a:ext uri="{FF2B5EF4-FFF2-40B4-BE49-F238E27FC236}">
                <a16:creationId xmlns:a16="http://schemas.microsoft.com/office/drawing/2014/main" id="{C7CCC60C-239F-420C-A7D2-C24C7BE67B4C}"/>
              </a:ext>
            </a:extLst>
          </p:cNvPr>
          <p:cNvSpPr>
            <a:spLocks xmlns:a="http://schemas.openxmlformats.org/drawingml/2006/main" noGrp="1"/>
          </p:cNvSpPr>
          <p:nvPr/>
        </p:nvSpPr>
        <p:spPr>
          <a:xfrm xmlns:a="http://schemas.openxmlformats.org/drawingml/2006/main">
            <a:off x="450850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ICMR ethics</a:t>
            </a:r>
          </a:p>
        </p:txBody>
      </p:sp>
      <p:sp>
        <p:nvSpPr>
          <p:cNvPr id="17" name="">
            <a:extLst xmlns:a="http://schemas.openxmlformats.org/drawingml/2006/main">
              <a:ext uri="{FF2B5EF4-FFF2-40B4-BE49-F238E27FC236}">
                <a16:creationId xmlns:a16="http://schemas.microsoft.com/office/drawing/2014/main" id="{F539DDC4-E3B2-428A-9B5E-A2EFC30CD63F}"/>
              </a:ext>
            </a:extLst>
          </p:cNvPr>
          <p:cNvSpPr>
            <a:spLocks xmlns:a="http://schemas.openxmlformats.org/drawingml/2006/main" noGrp="1"/>
          </p:cNvSpPr>
          <p:nvPr/>
        </p:nvSpPr>
        <p:spPr>
          <a:xfrm xmlns:a="http://schemas.openxmlformats.org/drawingml/2006/main">
            <a:off x="450850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Safety, autonomy, transparency, accountability, equity and human oversight.</a:t>
            </a:r>
          </a:p>
        </p:txBody>
      </p:sp>
      <p:sp>
        <p:nvSpPr>
          <p:cNvPr id="18" name="">
            <a:extLst xmlns:a="http://schemas.openxmlformats.org/drawingml/2006/main">
              <a:ext uri="{FF2B5EF4-FFF2-40B4-BE49-F238E27FC236}">
                <a16:creationId xmlns:a16="http://schemas.microsoft.com/office/drawing/2014/main" id="{BDC49D85-FBDB-4E99-B8E6-2C0BA323F7AF}"/>
              </a:ext>
            </a:extLst>
          </p:cNvPr>
          <p:cNvSpPr>
            <a:spLocks xmlns:a="http://schemas.openxmlformats.org/drawingml/2006/main" noGrp="1"/>
          </p:cNvSpPr>
          <p:nvPr/>
        </p:nvSpPr>
        <p:spPr>
          <a:xfrm xmlns:a="http://schemas.openxmlformats.org/drawingml/2006/main">
            <a:off x="80645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C5902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10400845-0386-45CA-BF91-3CBA40E99620}"/>
              </a:ext>
            </a:extLst>
          </p:cNvPr>
          <p:cNvSpPr>
            <a:spLocks xmlns:a="http://schemas.openxmlformats.org/drawingml/2006/main" noGrp="1"/>
          </p:cNvSpPr>
          <p:nvPr/>
        </p:nvSpPr>
        <p:spPr>
          <a:xfrm xmlns:a="http://schemas.openxmlformats.org/drawingml/2006/main">
            <a:off x="8216900" y="1905000"/>
            <a:ext cx="8191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DEVICE</a:t>
            </a:r>
          </a:p>
        </p:txBody>
      </p:sp>
      <p:sp>
        <p:nvSpPr>
          <p:cNvPr id="20" name="">
            <a:extLst xmlns:a="http://schemas.openxmlformats.org/drawingml/2006/main">
              <a:ext uri="{FF2B5EF4-FFF2-40B4-BE49-F238E27FC236}">
                <a16:creationId xmlns:a16="http://schemas.microsoft.com/office/drawing/2014/main" id="{0B35D281-1C4B-40B9-A5AA-69CBBC6265FB}"/>
              </a:ext>
            </a:extLst>
          </p:cNvPr>
          <p:cNvSpPr>
            <a:spLocks xmlns:a="http://schemas.openxmlformats.org/drawingml/2006/main" noGrp="1"/>
          </p:cNvSpPr>
          <p:nvPr/>
        </p:nvSpPr>
        <p:spPr>
          <a:xfrm xmlns:a="http://schemas.openxmlformats.org/drawingml/2006/main">
            <a:off x="82359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Product status</a:t>
            </a:r>
          </a:p>
        </p:txBody>
      </p:sp>
      <p:sp>
        <p:nvSpPr>
          <p:cNvPr id="21" name="">
            <a:extLst xmlns:a="http://schemas.openxmlformats.org/drawingml/2006/main">
              <a:ext uri="{FF2B5EF4-FFF2-40B4-BE49-F238E27FC236}">
                <a16:creationId xmlns:a16="http://schemas.microsoft.com/office/drawing/2014/main" id="{4942F449-925A-45E1-BD2F-F93C1E390C37}"/>
              </a:ext>
            </a:extLst>
          </p:cNvPr>
          <p:cNvSpPr>
            <a:spLocks xmlns:a="http://schemas.openxmlformats.org/drawingml/2006/main" noGrp="1"/>
          </p:cNvSpPr>
          <p:nvPr/>
        </p:nvSpPr>
        <p:spPr>
          <a:xfrm xmlns:a="http://schemas.openxmlformats.org/drawingml/2006/main">
            <a:off x="82359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Verify intended use and CDSCO status for medical-device software; do not infer approval.</a:t>
            </a:r>
          </a:p>
        </p:txBody>
      </p:sp>
      <p:sp>
        <p:nvSpPr>
          <p:cNvPr id="22" name="">
            <a:extLst xmlns:a="http://schemas.openxmlformats.org/drawingml/2006/main">
              <a:ext uri="{FF2B5EF4-FFF2-40B4-BE49-F238E27FC236}">
                <a16:creationId xmlns:a16="http://schemas.microsoft.com/office/drawing/2014/main" id="{2016A70E-E7A8-4C5F-B1BC-A62E7037E391}"/>
              </a:ext>
            </a:extLst>
          </p:cNvPr>
          <p:cNvSpPr>
            <a:spLocks xmlns:a="http://schemas.openxmlformats.org/drawingml/2006/main" noGrp="1"/>
          </p:cNvSpPr>
          <p:nvPr/>
        </p:nvSpPr>
        <p:spPr>
          <a:xfrm xmlns:a="http://schemas.openxmlformats.org/drawingml/2006/main">
            <a:off x="609600" y="3333750"/>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E869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183EC5CD-C395-492C-B6D0-D077F8653023}"/>
              </a:ext>
            </a:extLst>
          </p:cNvPr>
          <p:cNvSpPr>
            <a:spLocks xmlns:a="http://schemas.openxmlformats.org/drawingml/2006/main" noGrp="1"/>
          </p:cNvSpPr>
          <p:nvPr/>
        </p:nvSpPr>
        <p:spPr>
          <a:xfrm xmlns:a="http://schemas.openxmlformats.org/drawingml/2006/main">
            <a:off x="762000" y="3476625"/>
            <a:ext cx="8191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PHARMA</a:t>
            </a:r>
          </a:p>
        </p:txBody>
      </p:sp>
      <p:sp>
        <p:nvSpPr>
          <p:cNvPr id="24" name="">
            <a:extLst xmlns:a="http://schemas.openxmlformats.org/drawingml/2006/main">
              <a:ext uri="{FF2B5EF4-FFF2-40B4-BE49-F238E27FC236}">
                <a16:creationId xmlns:a16="http://schemas.microsoft.com/office/drawing/2014/main" id="{71015B8E-7F3B-47D9-A5CF-F33FB98788F1}"/>
              </a:ext>
            </a:extLst>
          </p:cNvPr>
          <p:cNvSpPr>
            <a:spLocks xmlns:a="http://schemas.openxmlformats.org/drawingml/2006/main" noGrp="1"/>
          </p:cNvSpPr>
          <p:nvPr/>
        </p:nvSpPr>
        <p:spPr>
          <a:xfrm xmlns:a="http://schemas.openxmlformats.org/drawingml/2006/main">
            <a:off x="781050" y="3829050"/>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UCPMP + SOPs</a:t>
            </a:r>
          </a:p>
        </p:txBody>
      </p:sp>
      <p:sp>
        <p:nvSpPr>
          <p:cNvPr id="25" name="">
            <a:extLst xmlns:a="http://schemas.openxmlformats.org/drawingml/2006/main">
              <a:ext uri="{FF2B5EF4-FFF2-40B4-BE49-F238E27FC236}">
                <a16:creationId xmlns:a16="http://schemas.microsoft.com/office/drawing/2014/main" id="{B549B765-4062-487F-ADFD-931475F79BDC}"/>
              </a:ext>
            </a:extLst>
          </p:cNvPr>
          <p:cNvSpPr>
            <a:spLocks xmlns:a="http://schemas.openxmlformats.org/drawingml/2006/main" noGrp="1"/>
          </p:cNvSpPr>
          <p:nvPr/>
        </p:nvSpPr>
        <p:spPr>
          <a:xfrm xmlns:a="http://schemas.openxmlformats.org/drawingml/2006/main">
            <a:off x="781050" y="4200525"/>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51"/>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Non-promotional medical information; immediate PV/PQC escalation; approved review.</a:t>
            </a:r>
          </a:p>
        </p:txBody>
      </p:sp>
    </p:spTree>
    <p:extLst>
      <p:ext uri="{BB962C8B-B14F-4D97-AF65-F5344CB8AC3E}">
        <p14:creationId xmlns:p14="http://schemas.microsoft.com/office/powerpoint/2010/main" val="347801365"/>
      </p:ext>
    </p:extLst>
  </p:cSld>
</p:sld>
</file>

<file path=ppt/slides/slide24.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CA47808-4BF5-47F7-8A65-8E5C84CC8E7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8694A"/>
          </a:solidFill>
          <a:ln xmlns:a="http://schemas.openxmlformats.org/drawingml/2006/main" w="0">
            <a:solidFill>
              <a:srgbClr val="E8694A"/>
            </a:solidFill>
            <a:prstDash val="solid"/>
          </a:ln>
        </p:spPr>
      </p:sp>
      <p:sp>
        <p:nvSpPr>
          <p:cNvPr id="2" name="">
            <a:extLst xmlns:a="http://schemas.openxmlformats.org/drawingml/2006/main">
              <a:ext uri="{FF2B5EF4-FFF2-40B4-BE49-F238E27FC236}">
                <a16:creationId xmlns:a16="http://schemas.microsoft.com/office/drawing/2014/main" id="{6E76CF41-55E5-4A5C-98B5-438918B368E7}"/>
              </a:ext>
            </a:extLst>
          </p:cNvPr>
          <p:cNvSpPr>
            <a:spLocks xmlns:a="http://schemas.openxmlformats.org/drawingml/2006/main" noGrp="1"/>
          </p:cNvSpPr>
          <p:nvPr/>
        </p:nvSpPr>
        <p:spPr>
          <a:xfrm xmlns:a="http://schemas.openxmlformats.org/drawingml/2006/main">
            <a:off x="590550" y="285750"/>
            <a:ext cx="13716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93828"/>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60-MINUTE TRANSITION</a:t>
            </a:r>
          </a:p>
        </p:txBody>
      </p:sp>
      <p:sp>
        <p:nvSpPr>
          <p:cNvPr id="3" name="">
            <a:extLst xmlns:a="http://schemas.openxmlformats.org/drawingml/2006/main">
              <a:ext uri="{FF2B5EF4-FFF2-40B4-BE49-F238E27FC236}">
                <a16:creationId xmlns:a16="http://schemas.microsoft.com/office/drawing/2014/main" id="{174143C6-89E7-42E3-A4E4-4734FD184023}"/>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Theory closes with one decision rule</a:t>
            </a:r>
          </a:p>
        </p:txBody>
      </p:sp>
      <p:sp>
        <p:nvSpPr>
          <p:cNvPr id="4" name="">
            <a:extLst xmlns:a="http://schemas.openxmlformats.org/drawingml/2006/main">
              <a:ext uri="{FF2B5EF4-FFF2-40B4-BE49-F238E27FC236}">
                <a16:creationId xmlns:a16="http://schemas.microsoft.com/office/drawing/2014/main" id="{8E47BD3C-DD31-4845-A633-9F29DE5FBEE4}"/>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E2B59014-73B3-4625-BC66-F96C8E47CE7A}"/>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35E16AF0-CE90-48E2-910B-DDDCABDC6C80}"/>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0FE0C705-DB67-48DA-95D1-CBA5A9DC0E4F}"/>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717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THEORY</a:t>
            </a:r>
          </a:p>
        </p:txBody>
      </p:sp>
      <p:sp>
        <p:nvSpPr>
          <p:cNvPr id="8" name="">
            <a:extLst xmlns:a="http://schemas.openxmlformats.org/drawingml/2006/main">
              <a:ext uri="{FF2B5EF4-FFF2-40B4-BE49-F238E27FC236}">
                <a16:creationId xmlns:a16="http://schemas.microsoft.com/office/drawing/2014/main" id="{7F2E3161-507B-4F2A-8AF5-27467CFF16D9}"/>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24</a:t>
            </a:r>
          </a:p>
        </p:txBody>
      </p:sp>
      <p:sp>
        <p:nvSpPr>
          <p:cNvPr id="9" name="">
            <a:extLst xmlns:a="http://schemas.openxmlformats.org/drawingml/2006/main">
              <a:ext uri="{FF2B5EF4-FFF2-40B4-BE49-F238E27FC236}">
                <a16:creationId xmlns:a16="http://schemas.microsoft.com/office/drawing/2014/main" id="{9060DC29-521A-48D9-AE19-A995FBEAD17A}"/>
              </a:ext>
            </a:extLst>
          </p:cNvPr>
          <p:cNvSpPr>
            <a:spLocks xmlns:a="http://schemas.openxmlformats.org/drawingml/2006/main" noGrp="1"/>
          </p:cNvSpPr>
          <p:nvPr/>
        </p:nvSpPr>
        <p:spPr>
          <a:xfrm xmlns:a="http://schemas.openxmlformats.org/drawingml/2006/main">
            <a:off x="857250" y="18097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725" b="1">
                <a:solidFill>
                  <a:srgbClr val="63747C"/>
                </a:solidFill>
                <a:latin typeface="Aptos"/>
                <a:ea typeface="Aptos"/>
                <a:cs typeface="Aptos"/>
              </a:defRPr>
            </a:pPr>
            <a:r>
              <a:rPr sz="1725" b="1">
                <a:solidFill>
                  <a:srgbClr val="63747C"/>
                </a:solidFill>
                <a:latin typeface="Aptos"/>
                <a:ea typeface="Aptos"/>
                <a:cs typeface="Aptos"/>
              </a:rPr>
              <a:t>Use AI when it strengthens</a:t>
            </a:r>
          </a:p>
        </p:txBody>
      </p:sp>
      <p:sp>
        <p:nvSpPr>
          <p:cNvPr id="10" name="">
            <a:extLst xmlns:a="http://schemas.openxmlformats.org/drawingml/2006/main">
              <a:ext uri="{FF2B5EF4-FFF2-40B4-BE49-F238E27FC236}">
                <a16:creationId xmlns:a16="http://schemas.microsoft.com/office/drawing/2014/main" id="{7AF8C81F-B03F-4172-B84A-375233129D51}"/>
              </a:ext>
            </a:extLst>
          </p:cNvPr>
          <p:cNvSpPr>
            <a:spLocks xmlns:a="http://schemas.openxmlformats.org/drawingml/2006/main" noGrp="1"/>
          </p:cNvSpPr>
          <p:nvPr/>
        </p:nvSpPr>
        <p:spPr>
          <a:xfrm xmlns:a="http://schemas.openxmlformats.org/drawingml/2006/main">
            <a:off x="857250" y="2362200"/>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2550" b="1">
                <a:solidFill>
                  <a:srgbClr val="082638"/>
                </a:solidFill>
                <a:latin typeface="Aptos"/>
                <a:ea typeface="Aptos"/>
                <a:cs typeface="Aptos"/>
              </a:defRPr>
            </a:pPr>
            <a:r>
              <a:rPr sz="2550" b="1">
                <a:solidFill>
                  <a:srgbClr val="082638"/>
                </a:solidFill>
                <a:latin typeface="Aptos"/>
                <a:ea typeface="Aptos"/>
                <a:cs typeface="Aptos"/>
              </a:rPr>
              <a:t>attention  •  understanding  •  evidence  •  continuity</a:t>
            </a:r>
          </a:p>
        </p:txBody>
      </p:sp>
      <p:sp>
        <p:nvSpPr>
          <p:cNvPr id="11" name="">
            <a:extLst xmlns:a="http://schemas.openxmlformats.org/drawingml/2006/main">
              <a:ext uri="{FF2B5EF4-FFF2-40B4-BE49-F238E27FC236}">
                <a16:creationId xmlns:a16="http://schemas.microsoft.com/office/drawing/2014/main" id="{810F9F96-9D40-4E59-8C1A-E92E58902BA3}"/>
              </a:ext>
            </a:extLst>
          </p:cNvPr>
          <p:cNvSpPr>
            <a:spLocks xmlns:a="http://schemas.openxmlformats.org/drawingml/2006/main" noGrp="1"/>
          </p:cNvSpPr>
          <p:nvPr/>
        </p:nvSpPr>
        <p:spPr>
          <a:xfrm xmlns:a="http://schemas.openxmlformats.org/drawingml/2006/main">
            <a:off x="857250" y="33813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725" b="1">
                <a:solidFill>
                  <a:srgbClr val="63747C"/>
                </a:solidFill>
                <a:latin typeface="Aptos"/>
                <a:ea typeface="Aptos"/>
                <a:cs typeface="Aptos"/>
              </a:defRPr>
            </a:pPr>
            <a:r>
              <a:rPr sz="1725" b="1">
                <a:solidFill>
                  <a:srgbClr val="63747C"/>
                </a:solidFill>
                <a:latin typeface="Aptos"/>
                <a:ea typeface="Aptos"/>
                <a:cs typeface="Aptos"/>
              </a:rPr>
              <a:t>and stop when it obscures</a:t>
            </a:r>
          </a:p>
        </p:txBody>
      </p:sp>
      <p:sp>
        <p:nvSpPr>
          <p:cNvPr id="12" name="">
            <a:extLst xmlns:a="http://schemas.openxmlformats.org/drawingml/2006/main">
              <a:ext uri="{FF2B5EF4-FFF2-40B4-BE49-F238E27FC236}">
                <a16:creationId xmlns:a16="http://schemas.microsoft.com/office/drawing/2014/main" id="{C83E0D8A-4F1A-422E-A750-DCB57D9D7B97}"/>
              </a:ext>
            </a:extLst>
          </p:cNvPr>
          <p:cNvSpPr>
            <a:spLocks xmlns:a="http://schemas.openxmlformats.org/drawingml/2006/main" noGrp="1"/>
          </p:cNvSpPr>
          <p:nvPr/>
        </p:nvSpPr>
        <p:spPr>
          <a:xfrm xmlns:a="http://schemas.openxmlformats.org/drawingml/2006/main">
            <a:off x="857250" y="3933825"/>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2400" b="1">
                <a:solidFill>
                  <a:srgbClr val="B7433D"/>
                </a:solidFill>
                <a:latin typeface="Aptos"/>
                <a:ea typeface="Aptos"/>
                <a:cs typeface="Aptos"/>
              </a:defRPr>
            </a:pPr>
            <a:r>
              <a:rPr sz="2400" b="1">
                <a:solidFill>
                  <a:srgbClr val="B7433D"/>
                </a:solidFill>
                <a:latin typeface="Aptos"/>
                <a:ea typeface="Aptos"/>
                <a:cs typeface="Aptos"/>
              </a:rPr>
              <a:t>ownership  •  uncertainty  •  privacy  •  urgent escalation</a:t>
            </a:r>
          </a:p>
        </p:txBody>
      </p:sp>
      <p:sp>
        <p:nvSpPr>
          <p:cNvPr id="13" name="">
            <a:extLst xmlns:a="http://schemas.openxmlformats.org/drawingml/2006/main">
              <a:ext uri="{FF2B5EF4-FFF2-40B4-BE49-F238E27FC236}">
                <a16:creationId xmlns:a16="http://schemas.microsoft.com/office/drawing/2014/main" id="{CAF4854E-5EB3-426A-AF41-25A0FC265C00}"/>
              </a:ext>
            </a:extLst>
          </p:cNvPr>
          <p:cNvSpPr>
            <a:spLocks xmlns:a="http://schemas.openxmlformats.org/drawingml/2006/main" noGrp="1"/>
          </p:cNvSpPr>
          <p:nvPr/>
        </p:nvSpPr>
        <p:spPr>
          <a:xfrm xmlns:a="http://schemas.openxmlformats.org/drawingml/2006/main">
            <a:off x="2095500" y="5276850"/>
            <a:ext cx="8001000" cy="428625"/>
          </a:xfrm>
          <a:prstGeom xmlns:a="http://schemas.openxmlformats.org/drawingml/2006/main" prst="roundRect">
            <a:avLst>
              <a:gd name="adj" fmla="val 31111"/>
            </a:avLst>
          </a:prstGeom>
          <a:solidFill xmlns:a="http://schemas.openxmlformats.org/drawingml/2006/main">
            <a:srgbClr val="082638"/>
          </a:solidFill>
          <a:ln xmlns:a="http://schemas.openxmlformats.org/drawingml/2006/main" w="9525">
            <a:solidFill>
              <a:srgbClr val="082638"/>
            </a:solidFill>
            <a:prstDash val="solid"/>
          </a:ln>
        </p:spPr>
      </p:sp>
      <p:sp>
        <p:nvSpPr>
          <p:cNvPr id="14" name="">
            <a:extLst xmlns:a="http://schemas.openxmlformats.org/drawingml/2006/main">
              <a:ext uri="{FF2B5EF4-FFF2-40B4-BE49-F238E27FC236}">
                <a16:creationId xmlns:a16="http://schemas.microsoft.com/office/drawing/2014/main" id="{B75FDBAC-BD01-4A71-B8C2-C029A59EC7FC}"/>
              </a:ext>
            </a:extLst>
          </p:cNvPr>
          <p:cNvSpPr>
            <a:spLocks xmlns:a="http://schemas.openxmlformats.org/drawingml/2006/main" noGrp="1"/>
          </p:cNvSpPr>
          <p:nvPr/>
        </p:nvSpPr>
        <p:spPr>
          <a:xfrm xmlns:a="http://schemas.openxmlformats.org/drawingml/2006/main">
            <a:off x="2381250" y="5381625"/>
            <a:ext cx="7429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39"/>
          </a:bodyPr>
          <a:lstStyle xmlns:a="http://schemas.openxmlformats.org/drawingml/2006/main"/>
          <a:p xmlns:a="http://schemas.openxmlformats.org/drawingml/2006/main">
            <a:pPr algn="ctr">
              <a:lnSpc>
                <a:spcPct val="103000"/>
              </a:lnSpc>
              <a:buNone/>
              <a:defRPr sz="1425" b="1">
                <a:solidFill>
                  <a:srgbClr val="FFFFFF"/>
                </a:solidFill>
                <a:latin typeface="Aptos"/>
                <a:ea typeface="Aptos"/>
                <a:cs typeface="Aptos"/>
              </a:defRPr>
            </a:pPr>
            <a:r>
              <a:rPr sz="1425" b="1">
                <a:solidFill>
                  <a:srgbClr val="FFFFFF"/>
                </a:solidFill>
                <a:latin typeface="Aptos"/>
                <a:ea typeface="Aptos"/>
                <a:cs typeface="Aptos"/>
              </a:rPr>
              <a:t>60 minutes complete  →  open the workshop workbook</a:t>
            </a:r>
          </a:p>
        </p:txBody>
      </p:sp>
    </p:spTree>
    <p:extLst>
      <p:ext uri="{BB962C8B-B14F-4D97-AF65-F5344CB8AC3E}">
        <p14:creationId xmlns:p14="http://schemas.microsoft.com/office/powerpoint/2010/main" val="1189339009"/>
      </p:ext>
    </p:extLst>
  </p:cSld>
</p:sld>
</file>

<file path=ppt/slides/slide25.xml><?xml version="1.0" encoding="utf-8"?>
<p:sld xmlns:p="http://schemas.openxmlformats.org/presentationml/2006/main">
  <p:cSld>
    <p:bg>
      <p:bgPr>
        <a:solidFill xmlns:a="http://schemas.openxmlformats.org/drawingml/2006/main">
          <a:srgbClr val="087E7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7C9BEFE-8E40-4798-AE91-65F839893E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0D9A7839-0F23-4634-BCBE-9EAC0CC416A6}"/>
              </a:ext>
            </a:extLst>
          </p:cNvPr>
          <p:cNvSpPr>
            <a:spLocks xmlns:a="http://schemas.openxmlformats.org/drawingml/2006/main" noGrp="1"/>
          </p:cNvSpPr>
          <p:nvPr/>
        </p:nvSpPr>
        <p:spPr>
          <a:xfrm xmlns:a="http://schemas.openxmlformats.org/drawingml/2006/main">
            <a:off x="666750" y="590550"/>
            <a:ext cx="18097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087E78"/>
                </a:solidFill>
                <a:latin typeface="Aptos"/>
                <a:ea typeface="Aptos"/>
                <a:cs typeface="Aptos"/>
              </a:defRPr>
            </a:pPr>
            <a:r>
              <a:rPr sz="863" b="1">
                <a:solidFill>
                  <a:srgbClr val="087E78"/>
                </a:solidFill>
                <a:latin typeface="Aptos"/>
                <a:ea typeface="Aptos"/>
                <a:cs typeface="Aptos"/>
              </a:rPr>
              <a:t>90-MINUTE LAB</a:t>
            </a:r>
          </a:p>
        </p:txBody>
      </p:sp>
      <p:sp>
        <p:nvSpPr>
          <p:cNvPr id="3" name="">
            <a:extLst xmlns:a="http://schemas.openxmlformats.org/drawingml/2006/main">
              <a:ext uri="{FF2B5EF4-FFF2-40B4-BE49-F238E27FC236}">
                <a16:creationId xmlns:a16="http://schemas.microsoft.com/office/drawing/2014/main" id="{B50C1232-F1B2-441E-BEAC-A9D2A04082EE}"/>
              </a:ext>
            </a:extLst>
          </p:cNvPr>
          <p:cNvSpPr>
            <a:spLocks xmlns:a="http://schemas.openxmlformats.org/drawingml/2006/main" noGrp="1"/>
          </p:cNvSpPr>
          <p:nvPr/>
        </p:nvSpPr>
        <p:spPr>
          <a:xfrm xmlns:a="http://schemas.openxmlformats.org/drawingml/2006/main">
            <a:off x="666750" y="1476375"/>
            <a:ext cx="10572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4050" b="1">
                <a:solidFill>
                  <a:srgbClr val="FFFFFF"/>
                </a:solidFill>
                <a:latin typeface="Aptos"/>
                <a:ea typeface="Aptos"/>
                <a:cs typeface="Aptos"/>
              </a:defRPr>
            </a:pPr>
            <a:r>
              <a:rPr sz="4050" b="1">
                <a:solidFill>
                  <a:srgbClr val="FFFFFF"/>
                </a:solidFill>
                <a:latin typeface="Aptos"/>
                <a:ea typeface="Aptos"/>
                <a:cs typeface="Aptos"/>
              </a:rPr>
              <a:t>Hands-on workshop</a:t>
            </a:r>
          </a:p>
        </p:txBody>
      </p:sp>
      <p:sp>
        <p:nvSpPr>
          <p:cNvPr id="4" name="">
            <a:extLst xmlns:a="http://schemas.openxmlformats.org/drawingml/2006/main">
              <a:ext uri="{FF2B5EF4-FFF2-40B4-BE49-F238E27FC236}">
                <a16:creationId xmlns:a16="http://schemas.microsoft.com/office/drawing/2014/main" id="{664377F6-8B73-4E62-BFF8-1B367D6A3F9F}"/>
              </a:ext>
            </a:extLst>
          </p:cNvPr>
          <p:cNvSpPr>
            <a:spLocks xmlns:a="http://schemas.openxmlformats.org/drawingml/2006/main" noGrp="1"/>
          </p:cNvSpPr>
          <p:nvPr/>
        </p:nvSpPr>
        <p:spPr>
          <a:xfrm xmlns:a="http://schemas.openxmlformats.org/drawingml/2006/main">
            <a:off x="704850" y="321945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0">
                <a:solidFill>
                  <a:srgbClr val="FFFFFF"/>
                </a:solidFill>
                <a:latin typeface="Aptos"/>
                <a:ea typeface="Aptos"/>
                <a:cs typeface="Aptos"/>
              </a:defRPr>
            </a:pPr>
            <a:r>
              <a:rPr sz="1950" b="0">
                <a:solidFill>
                  <a:srgbClr val="FFFFFF"/>
                </a:solidFill>
                <a:latin typeface="Aptos"/>
                <a:ea typeface="Aptos"/>
                <a:cs typeface="Aptos"/>
              </a:rPr>
              <a:t>Four stations: consultation continuity, diagnostic support, patient/pharma communication, and evidence/projection.</a:t>
            </a:r>
          </a:p>
        </p:txBody>
      </p:sp>
      <p:sp>
        <p:nvSpPr>
          <p:cNvPr id="5" name="">
            <a:extLst xmlns:a="http://schemas.openxmlformats.org/drawingml/2006/main">
              <a:ext uri="{FF2B5EF4-FFF2-40B4-BE49-F238E27FC236}">
                <a16:creationId xmlns:a16="http://schemas.microsoft.com/office/drawing/2014/main" id="{E9429994-DA4B-4F9F-BEC1-6A9091695013}"/>
              </a:ext>
            </a:extLst>
          </p:cNvPr>
          <p:cNvSpPr>
            <a:spLocks xmlns:a="http://schemas.openxmlformats.org/drawingml/2006/main" noGrp="1"/>
          </p:cNvSpPr>
          <p:nvPr/>
        </p:nvSpPr>
        <p:spPr>
          <a:xfrm xmlns:a="http://schemas.openxmlformats.org/drawingml/2006/main">
            <a:off x="704850" y="4495800"/>
            <a:ext cx="66675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8A023660-4959-41AE-B745-BC67EE551030}"/>
              </a:ext>
            </a:extLst>
          </p:cNvPr>
          <p:cNvSpPr>
            <a:spLocks xmlns:a="http://schemas.openxmlformats.org/drawingml/2006/main" noGrp="1"/>
          </p:cNvSpPr>
          <p:nvPr/>
        </p:nvSpPr>
        <p:spPr>
          <a:xfrm xmlns:a="http://schemas.openxmlformats.org/drawingml/2006/main">
            <a:off x="704850" y="4762500"/>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FFFFFF"/>
                </a:solidFill>
                <a:latin typeface="Aptos"/>
                <a:ea typeface="Aptos"/>
                <a:cs typeface="Aptos"/>
              </a:defRPr>
            </a:pPr>
            <a:r>
              <a:rPr sz="1500" b="1">
                <a:solidFill>
                  <a:srgbClr val="FFFFFF"/>
                </a:solidFill>
                <a:latin typeface="Aptos"/>
                <a:ea typeface="Aptos"/>
                <a:cs typeface="Aptos"/>
              </a:rPr>
              <a:t>AI assists  •  Professionals decide  •  Patients remain the purpose</a:t>
            </a:r>
          </a:p>
        </p:txBody>
      </p:sp>
      <p:sp>
        <p:nvSpPr>
          <p:cNvPr id="7" name="">
            <a:extLst xmlns:a="http://schemas.openxmlformats.org/drawingml/2006/main">
              <a:ext uri="{FF2B5EF4-FFF2-40B4-BE49-F238E27FC236}">
                <a16:creationId xmlns:a16="http://schemas.microsoft.com/office/drawing/2014/main" id="{E2412948-510A-4D26-A166-3F5107C77594}"/>
              </a:ext>
            </a:extLst>
          </p:cNvPr>
          <p:cNvSpPr>
            <a:spLocks xmlns:a="http://schemas.openxmlformats.org/drawingml/2006/main" noGrp="1"/>
          </p:cNvSpPr>
          <p:nvPr/>
        </p:nvSpPr>
        <p:spPr>
          <a:xfrm xmlns:a="http://schemas.openxmlformats.org/drawingml/2006/main">
            <a:off x="11049000" y="62103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75" b="1">
                <a:solidFill>
                  <a:srgbClr val="FFFFFF"/>
                </a:solidFill>
                <a:latin typeface="Aptos"/>
                <a:ea typeface="Aptos"/>
                <a:cs typeface="Aptos"/>
              </a:defRPr>
            </a:pPr>
            <a:r>
              <a:rPr sz="975" b="1">
                <a:solidFill>
                  <a:srgbClr val="FFFFFF"/>
                </a:solidFill>
                <a:latin typeface="Aptos"/>
                <a:ea typeface="Aptos"/>
                <a:cs typeface="Aptos"/>
              </a:rPr>
              <a:t>25</a:t>
            </a:r>
          </a:p>
        </p:txBody>
      </p:sp>
    </p:spTree>
    <p:extLst>
      <p:ext uri="{BB962C8B-B14F-4D97-AF65-F5344CB8AC3E}">
        <p14:creationId xmlns:p14="http://schemas.microsoft.com/office/powerpoint/2010/main" val="1852581495"/>
      </p:ext>
    </p:extLst>
  </p:cSld>
</p:sld>
</file>

<file path=ppt/slides/slide26.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E1C7822-140F-40A7-9D7D-FEF36511CE2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D28B0557-0EED-421B-BD9C-041CA4E21FC8}"/>
              </a:ext>
            </a:extLst>
          </p:cNvPr>
          <p:cNvSpPr>
            <a:spLocks xmlns:a="http://schemas.openxmlformats.org/drawingml/2006/main" noGrp="1"/>
          </p:cNvSpPr>
          <p:nvPr/>
        </p:nvSpPr>
        <p:spPr>
          <a:xfrm xmlns:a="http://schemas.openxmlformats.org/drawingml/2006/main">
            <a:off x="590550" y="285750"/>
            <a:ext cx="130302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79715"/>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WORKSHOP ACCESS MAP</a:t>
            </a:r>
          </a:p>
        </p:txBody>
      </p:sp>
      <p:sp>
        <p:nvSpPr>
          <p:cNvPr id="3" name="">
            <a:extLst xmlns:a="http://schemas.openxmlformats.org/drawingml/2006/main">
              <a:ext uri="{FF2B5EF4-FFF2-40B4-BE49-F238E27FC236}">
                <a16:creationId xmlns:a16="http://schemas.microsoft.com/office/drawing/2014/main" id="{BE731930-12E9-478F-AB22-F91947AAC2E3}"/>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Access determines demo mode—not learning value</a:t>
            </a:r>
          </a:p>
        </p:txBody>
      </p:sp>
      <p:sp>
        <p:nvSpPr>
          <p:cNvPr id="4" name="">
            <a:extLst xmlns:a="http://schemas.openxmlformats.org/drawingml/2006/main">
              <a:ext uri="{FF2B5EF4-FFF2-40B4-BE49-F238E27FC236}">
                <a16:creationId xmlns:a16="http://schemas.microsoft.com/office/drawing/2014/main" id="{AE43F8E4-2240-4A98-9ABE-AE6A87D352F1}"/>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BA64294E-BD41-43E5-B14C-CB53C119E2B0}"/>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39338826-4839-4E9A-89A5-3CA61B5C7B27}"/>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3310BC23-80AF-417C-99EF-64BF7B68E3D0}"/>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Access checked 21 Jul 2026; verify before delivery</a:t>
            </a:r>
          </a:p>
        </p:txBody>
      </p:sp>
      <p:sp>
        <p:nvSpPr>
          <p:cNvPr id="8" name="">
            <a:extLst xmlns:a="http://schemas.openxmlformats.org/drawingml/2006/main">
              <a:ext uri="{FF2B5EF4-FFF2-40B4-BE49-F238E27FC236}">
                <a16:creationId xmlns:a16="http://schemas.microsoft.com/office/drawing/2014/main" id="{F3D49B79-1D6B-4847-803A-0B18F3013D13}"/>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B5E79995-2515-4CE2-8A29-F176B7A9581D}"/>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26</a:t>
            </a:r>
          </a:p>
        </p:txBody>
      </p:sp>
      <p:sp>
        <p:nvSpPr>
          <p:cNvPr id="10" name="">
            <a:extLst xmlns:a="http://schemas.openxmlformats.org/drawingml/2006/main">
              <a:ext uri="{FF2B5EF4-FFF2-40B4-BE49-F238E27FC236}">
                <a16:creationId xmlns:a16="http://schemas.microsoft.com/office/drawing/2014/main" id="{7E0C1464-7105-44F2-81B9-41AF4525AE7E}"/>
              </a:ext>
            </a:extLst>
          </p:cNvPr>
          <p:cNvSpPr>
            <a:spLocks xmlns:a="http://schemas.openxmlformats.org/drawingml/2006/main" noGrp="1"/>
          </p:cNvSpPr>
          <p:nvPr/>
        </p:nvSpPr>
        <p:spPr>
          <a:xfrm xmlns:a="http://schemas.openxmlformats.org/drawingml/2006/main">
            <a:off x="609600" y="1952625"/>
            <a:ext cx="3498850" cy="2095500"/>
          </a:xfrm>
          <a:prstGeom xmlns:a="http://schemas.openxmlformats.org/drawingml/2006/main" prst="roundRect">
            <a:avLst>
              <a:gd name="adj" fmla="val 8182"/>
            </a:avLst>
          </a:prstGeom>
          <a:solidFill xmlns:a="http://schemas.openxmlformats.org/drawingml/2006/main">
            <a:srgbClr val="FFFDFC"/>
          </a:solidFill>
          <a:ln xmlns:a="http://schemas.openxmlformats.org/drawingml/2006/main" w="9525">
            <a:solidFill>
              <a:srgbClr val="36805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3C697517-6B2F-4B64-9257-59DB7E6DD5AC}"/>
              </a:ext>
            </a:extLst>
          </p:cNvPr>
          <p:cNvSpPr>
            <a:spLocks xmlns:a="http://schemas.openxmlformats.org/drawingml/2006/main" noGrp="1"/>
          </p:cNvSpPr>
          <p:nvPr/>
        </p:nvSpPr>
        <p:spPr>
          <a:xfrm xmlns:a="http://schemas.openxmlformats.org/drawingml/2006/main">
            <a:off x="762000" y="2095500"/>
            <a:ext cx="819150" cy="266700"/>
          </a:xfrm>
          <a:prstGeom xmlns:a="http://schemas.openxmlformats.org/drawingml/2006/main" prst="roundRect">
            <a:avLst>
              <a:gd name="adj" fmla="val 50000"/>
            </a:avLst>
          </a:prstGeom>
          <a:solidFill xmlns:a="http://schemas.openxmlformats.org/drawingml/2006/main">
            <a:srgbClr val="36805F"/>
          </a:solidFill>
          <a:ln xmlns:a="http://schemas.openxmlformats.org/drawingml/2006/main" w="9525">
            <a:solidFill>
              <a:srgbClr val="36805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LIVE</a:t>
            </a:r>
          </a:p>
        </p:txBody>
      </p:sp>
      <p:sp>
        <p:nvSpPr>
          <p:cNvPr id="12" name="">
            <a:extLst xmlns:a="http://schemas.openxmlformats.org/drawingml/2006/main">
              <a:ext uri="{FF2B5EF4-FFF2-40B4-BE49-F238E27FC236}">
                <a16:creationId xmlns:a16="http://schemas.microsoft.com/office/drawing/2014/main" id="{52CD2C99-1ECF-4ED2-B712-B1CE870265F0}"/>
              </a:ext>
            </a:extLst>
          </p:cNvPr>
          <p:cNvSpPr>
            <a:spLocks xmlns:a="http://schemas.openxmlformats.org/drawingml/2006/main" noGrp="1"/>
          </p:cNvSpPr>
          <p:nvPr/>
        </p:nvSpPr>
        <p:spPr>
          <a:xfrm xmlns:a="http://schemas.openxmlformats.org/drawingml/2006/main">
            <a:off x="781050" y="24479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Free / free-tier</a:t>
            </a:r>
          </a:p>
        </p:txBody>
      </p:sp>
      <p:sp>
        <p:nvSpPr>
          <p:cNvPr id="13" name="">
            <a:extLst xmlns:a="http://schemas.openxmlformats.org/drawingml/2006/main">
              <a:ext uri="{FF2B5EF4-FFF2-40B4-BE49-F238E27FC236}">
                <a16:creationId xmlns:a16="http://schemas.microsoft.com/office/drawing/2014/main" id="{3FF18BE6-762C-4542-92E2-099B26045CFA}"/>
              </a:ext>
            </a:extLst>
          </p:cNvPr>
          <p:cNvSpPr>
            <a:spLocks xmlns:a="http://schemas.openxmlformats.org/drawingml/2006/main" noGrp="1"/>
          </p:cNvSpPr>
          <p:nvPr/>
        </p:nvSpPr>
        <p:spPr>
          <a:xfrm xmlns:a="http://schemas.openxmlformats.org/drawingml/2006/main">
            <a:off x="781050" y="2819400"/>
            <a:ext cx="31559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ChatGPT, Heidi*, Medscape AI*, DxGPT, MDCalc, PubMed, ResearchRabbit. *Account/region may apply.</a:t>
            </a:r>
          </a:p>
        </p:txBody>
      </p:sp>
      <p:sp>
        <p:nvSpPr>
          <p:cNvPr id="14" name="">
            <a:extLst xmlns:a="http://schemas.openxmlformats.org/drawingml/2006/main">
              <a:ext uri="{FF2B5EF4-FFF2-40B4-BE49-F238E27FC236}">
                <a16:creationId xmlns:a16="http://schemas.microsoft.com/office/drawing/2014/main" id="{F09F94F9-BFC3-4D1E-A80C-82D8FDC64429}"/>
              </a:ext>
            </a:extLst>
          </p:cNvPr>
          <p:cNvSpPr>
            <a:spLocks xmlns:a="http://schemas.openxmlformats.org/drawingml/2006/main" noGrp="1"/>
          </p:cNvSpPr>
          <p:nvPr/>
        </p:nvSpPr>
        <p:spPr>
          <a:xfrm xmlns:a="http://schemas.openxmlformats.org/drawingml/2006/main">
            <a:off x="4337050" y="1952625"/>
            <a:ext cx="3498850" cy="2095500"/>
          </a:xfrm>
          <a:prstGeom xmlns:a="http://schemas.openxmlformats.org/drawingml/2006/main" prst="roundRect">
            <a:avLst>
              <a:gd name="adj" fmla="val 8182"/>
            </a:avLst>
          </a:prstGeom>
          <a:solidFill xmlns:a="http://schemas.openxmlformats.org/drawingml/2006/main">
            <a:srgbClr val="FFFDFC"/>
          </a:solidFill>
          <a:ln xmlns:a="http://schemas.openxmlformats.org/drawingml/2006/main" w="9525">
            <a:solidFill>
              <a:srgbClr val="C5902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C255DCBC-DF20-4FEF-8CFA-39E4A6FA486C}"/>
              </a:ext>
            </a:extLst>
          </p:cNvPr>
          <p:cNvSpPr>
            <a:spLocks xmlns:a="http://schemas.openxmlformats.org/drawingml/2006/main" noGrp="1"/>
          </p:cNvSpPr>
          <p:nvPr/>
        </p:nvSpPr>
        <p:spPr>
          <a:xfrm xmlns:a="http://schemas.openxmlformats.org/drawingml/2006/main">
            <a:off x="4489450" y="2095500"/>
            <a:ext cx="8191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88405"/>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FACILITATOR</a:t>
            </a:r>
          </a:p>
        </p:txBody>
      </p:sp>
      <p:sp>
        <p:nvSpPr>
          <p:cNvPr id="16" name="">
            <a:extLst xmlns:a="http://schemas.openxmlformats.org/drawingml/2006/main">
              <a:ext uri="{FF2B5EF4-FFF2-40B4-BE49-F238E27FC236}">
                <a16:creationId xmlns:a16="http://schemas.microsoft.com/office/drawing/2014/main" id="{FBC39454-61BB-4108-A25B-1D9A3E124795}"/>
              </a:ext>
            </a:extLst>
          </p:cNvPr>
          <p:cNvSpPr>
            <a:spLocks xmlns:a="http://schemas.openxmlformats.org/drawingml/2006/main" noGrp="1"/>
          </p:cNvSpPr>
          <p:nvPr/>
        </p:nvSpPr>
        <p:spPr>
          <a:xfrm xmlns:a="http://schemas.openxmlformats.org/drawingml/2006/main">
            <a:off x="4508500" y="24479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Paid / trial</a:t>
            </a:r>
          </a:p>
        </p:txBody>
      </p:sp>
      <p:sp>
        <p:nvSpPr>
          <p:cNvPr id="17" name="">
            <a:extLst xmlns:a="http://schemas.openxmlformats.org/drawingml/2006/main">
              <a:ext uri="{FF2B5EF4-FFF2-40B4-BE49-F238E27FC236}">
                <a16:creationId xmlns:a16="http://schemas.microsoft.com/office/drawing/2014/main" id="{1593D260-FE05-489A-BA49-46DAB0726B7B}"/>
              </a:ext>
            </a:extLst>
          </p:cNvPr>
          <p:cNvSpPr>
            <a:spLocks xmlns:a="http://schemas.openxmlformats.org/drawingml/2006/main" noGrp="1"/>
          </p:cNvSpPr>
          <p:nvPr/>
        </p:nvSpPr>
        <p:spPr>
          <a:xfrm xmlns:a="http://schemas.openxmlformats.org/drawingml/2006/main">
            <a:off x="4508500" y="2819400"/>
            <a:ext cx="31559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Nabla, VisualDx, Epocrates premium, Elicit/Scite paid features, Canva/Gamma premium.</a:t>
            </a:r>
          </a:p>
        </p:txBody>
      </p:sp>
      <p:sp>
        <p:nvSpPr>
          <p:cNvPr id="18" name="">
            <a:extLst xmlns:a="http://schemas.openxmlformats.org/drawingml/2006/main">
              <a:ext uri="{FF2B5EF4-FFF2-40B4-BE49-F238E27FC236}">
                <a16:creationId xmlns:a16="http://schemas.microsoft.com/office/drawing/2014/main" id="{36D65357-C6E9-45B8-A4C1-4B17397911AF}"/>
              </a:ext>
            </a:extLst>
          </p:cNvPr>
          <p:cNvSpPr>
            <a:spLocks xmlns:a="http://schemas.openxmlformats.org/drawingml/2006/main" noGrp="1"/>
          </p:cNvSpPr>
          <p:nvPr/>
        </p:nvSpPr>
        <p:spPr>
          <a:xfrm xmlns:a="http://schemas.openxmlformats.org/drawingml/2006/main">
            <a:off x="8064500" y="1952625"/>
            <a:ext cx="3498850" cy="2095500"/>
          </a:xfrm>
          <a:prstGeom xmlns:a="http://schemas.openxmlformats.org/drawingml/2006/main" prst="roundRect">
            <a:avLst>
              <a:gd name="adj" fmla="val 8182"/>
            </a:avLst>
          </a:prstGeom>
          <a:solidFill xmlns:a="http://schemas.openxmlformats.org/drawingml/2006/main">
            <a:srgbClr val="FFFDFC"/>
          </a:solidFill>
          <a:ln xmlns:a="http://schemas.openxmlformats.org/drawingml/2006/main" w="9525">
            <a:solidFill>
              <a:srgbClr val="2F6F9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6E8D5115-FA8E-4ED8-BB88-220556D483F3}"/>
              </a:ext>
            </a:extLst>
          </p:cNvPr>
          <p:cNvSpPr>
            <a:spLocks xmlns:a="http://schemas.openxmlformats.org/drawingml/2006/main" noGrp="1"/>
          </p:cNvSpPr>
          <p:nvPr/>
        </p:nvSpPr>
        <p:spPr>
          <a:xfrm xmlns:a="http://schemas.openxmlformats.org/drawingml/2006/main">
            <a:off x="8216900" y="2095500"/>
            <a:ext cx="8191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SHOWCASE</a:t>
            </a:r>
          </a:p>
        </p:txBody>
      </p:sp>
      <p:sp>
        <p:nvSpPr>
          <p:cNvPr id="20" name="">
            <a:extLst xmlns:a="http://schemas.openxmlformats.org/drawingml/2006/main">
              <a:ext uri="{FF2B5EF4-FFF2-40B4-BE49-F238E27FC236}">
                <a16:creationId xmlns:a16="http://schemas.microsoft.com/office/drawing/2014/main" id="{559B1154-130F-4958-9441-EBEE106C8D85}"/>
              </a:ext>
            </a:extLst>
          </p:cNvPr>
          <p:cNvSpPr>
            <a:spLocks xmlns:a="http://schemas.openxmlformats.org/drawingml/2006/main" noGrp="1"/>
          </p:cNvSpPr>
          <p:nvPr/>
        </p:nvSpPr>
        <p:spPr>
          <a:xfrm xmlns:a="http://schemas.openxmlformats.org/drawingml/2006/main">
            <a:off x="8235950" y="24479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Institutional</a:t>
            </a:r>
          </a:p>
        </p:txBody>
      </p:sp>
      <p:sp>
        <p:nvSpPr>
          <p:cNvPr id="21" name="">
            <a:extLst xmlns:a="http://schemas.openxmlformats.org/drawingml/2006/main">
              <a:ext uri="{FF2B5EF4-FFF2-40B4-BE49-F238E27FC236}">
                <a16:creationId xmlns:a16="http://schemas.microsoft.com/office/drawing/2014/main" id="{3FE4F040-EE39-4853-BA20-B548933A7FFB}"/>
              </a:ext>
            </a:extLst>
          </p:cNvPr>
          <p:cNvSpPr>
            <a:spLocks xmlns:a="http://schemas.openxmlformats.org/drawingml/2006/main" noGrp="1"/>
          </p:cNvSpPr>
          <p:nvPr/>
        </p:nvSpPr>
        <p:spPr>
          <a:xfrm xmlns:a="http://schemas.openxmlformats.org/drawingml/2006/main">
            <a:off x="8235950" y="2819400"/>
            <a:ext cx="31559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Abridge, ClinicalKey AI, Lexicomp/Micromedex, Veeva and enterprise PV/MI platforms.</a:t>
            </a:r>
          </a:p>
        </p:txBody>
      </p:sp>
      <p:sp>
        <p:nvSpPr>
          <p:cNvPr id="22" name="">
            <a:extLst xmlns:a="http://schemas.openxmlformats.org/drawingml/2006/main">
              <a:ext uri="{FF2B5EF4-FFF2-40B4-BE49-F238E27FC236}">
                <a16:creationId xmlns:a16="http://schemas.microsoft.com/office/drawing/2014/main" id="{DAAD26DC-536C-4524-8680-D17837F8029E}"/>
              </a:ext>
            </a:extLst>
          </p:cNvPr>
          <p:cNvSpPr>
            <a:spLocks xmlns:a="http://schemas.openxmlformats.org/drawingml/2006/main" noGrp="1"/>
          </p:cNvSpPr>
          <p:nvPr/>
        </p:nvSpPr>
        <p:spPr>
          <a:xfrm xmlns:a="http://schemas.openxmlformats.org/drawingml/2006/main">
            <a:off x="1571625" y="4648200"/>
            <a:ext cx="9048750" cy="876300"/>
          </a:xfrm>
          <a:prstGeom xmlns:a="http://schemas.openxmlformats.org/drawingml/2006/main" prst="roundRect">
            <a:avLst>
              <a:gd name="adj" fmla="val 19565"/>
            </a:avLst>
          </a:prstGeom>
          <a:solidFill xmlns:a="http://schemas.openxmlformats.org/drawingml/2006/main">
            <a:srgbClr val="FBE7DF"/>
          </a:solidFill>
          <a:ln xmlns:a="http://schemas.openxmlformats.org/drawingml/2006/main" w="9525">
            <a:solidFill>
              <a:srgbClr val="E8694A"/>
            </a:solidFill>
            <a:prstDash val="solid"/>
          </a:ln>
        </p:spPr>
      </p:sp>
      <p:sp>
        <p:nvSpPr>
          <p:cNvPr id="23" name="">
            <a:extLst xmlns:a="http://schemas.openxmlformats.org/drawingml/2006/main">
              <a:ext uri="{FF2B5EF4-FFF2-40B4-BE49-F238E27FC236}">
                <a16:creationId xmlns:a16="http://schemas.microsoft.com/office/drawing/2014/main" id="{721F40C6-C3B3-48DB-BD0E-9D8735AA34CA}"/>
              </a:ext>
            </a:extLst>
          </p:cNvPr>
          <p:cNvSpPr>
            <a:spLocks xmlns:a="http://schemas.openxmlformats.org/drawingml/2006/main" noGrp="1"/>
          </p:cNvSpPr>
          <p:nvPr/>
        </p:nvSpPr>
        <p:spPr>
          <a:xfrm xmlns:a="http://schemas.openxmlformats.org/drawingml/2006/main">
            <a:off x="1857375" y="4857750"/>
            <a:ext cx="847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464"/>
          </a:bodyPr>
          <a:lstStyle xmlns:a="http://schemas.openxmlformats.org/drawingml/2006/main"/>
          <a:p xmlns:a="http://schemas.openxmlformats.org/drawingml/2006/main">
            <a:pPr algn="ctr">
              <a:lnSpc>
                <a:spcPct val="103000"/>
              </a:lnSpc>
              <a:buNone/>
              <a:defRPr sz="1575" b="1">
                <a:solidFill>
                  <a:srgbClr val="B7433D"/>
                </a:solidFill>
                <a:latin typeface="Aptos"/>
                <a:ea typeface="Aptos"/>
                <a:cs typeface="Aptos"/>
              </a:defRPr>
            </a:pPr>
            <a:r>
              <a:rPr sz="1575" b="1">
                <a:solidFill>
                  <a:srgbClr val="B7433D"/>
                </a:solidFill>
                <a:latin typeface="Aptos"/>
                <a:ea typeface="Aptos"/>
                <a:cs typeface="Aptos"/>
              </a:rPr>
              <a:t>If access fails: use prepared screenshots/output → analyse with ChatGPT → score with the same clinical checkpoint.</a:t>
            </a:r>
          </a:p>
        </p:txBody>
      </p:sp>
    </p:spTree>
    <p:extLst>
      <p:ext uri="{BB962C8B-B14F-4D97-AF65-F5344CB8AC3E}">
        <p14:creationId xmlns:p14="http://schemas.microsoft.com/office/powerpoint/2010/main" val="281068400"/>
      </p:ext>
    </p:extLst>
  </p:cSld>
</p:sld>
</file>

<file path=ppt/slides/slide27.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7D47088-06CE-43F6-9719-C96704B9F79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AE9749B8-2195-46ED-BD76-7D3748059194}"/>
              </a:ext>
            </a:extLst>
          </p:cNvPr>
          <p:cNvSpPr>
            <a:spLocks xmlns:a="http://schemas.openxmlformats.org/drawingml/2006/main" noGrp="1"/>
          </p:cNvSpPr>
          <p:nvPr/>
        </p:nvSpPr>
        <p:spPr>
          <a:xfrm xmlns:a="http://schemas.openxmlformats.org/drawingml/2006/main">
            <a:off x="590550" y="285750"/>
            <a:ext cx="164592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87319"/>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UNIVERSAL SAFETY WRAPPER</a:t>
            </a:r>
          </a:p>
        </p:txBody>
      </p:sp>
      <p:sp>
        <p:nvSpPr>
          <p:cNvPr id="3" name="">
            <a:extLst xmlns:a="http://schemas.openxmlformats.org/drawingml/2006/main">
              <a:ext uri="{FF2B5EF4-FFF2-40B4-BE49-F238E27FC236}">
                <a16:creationId xmlns:a16="http://schemas.microsoft.com/office/drawing/2014/main" id="{EE53E0DE-B23E-46E7-A167-BE4E9F46381C}"/>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Paste this wrapper before every medical discussion prompt</a:t>
            </a:r>
          </a:p>
        </p:txBody>
      </p:sp>
      <p:sp>
        <p:nvSpPr>
          <p:cNvPr id="4" name="">
            <a:extLst xmlns:a="http://schemas.openxmlformats.org/drawingml/2006/main">
              <a:ext uri="{FF2B5EF4-FFF2-40B4-BE49-F238E27FC236}">
                <a16:creationId xmlns:a16="http://schemas.microsoft.com/office/drawing/2014/main" id="{C4B4F62B-4129-4F3D-A684-0F0DD338AB0B}"/>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C0AA0903-04CA-4B99-85A0-12010FCF3037}"/>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C7F088B5-3E8F-4BDB-9611-37EB57FA3FD7}"/>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CE33D18E-E185-4392-9719-C13636309AD7}"/>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Full text in Participant Workbook + Prompt Cards</a:t>
            </a:r>
          </a:p>
        </p:txBody>
      </p:sp>
      <p:sp>
        <p:nvSpPr>
          <p:cNvPr id="8" name="">
            <a:extLst xmlns:a="http://schemas.openxmlformats.org/drawingml/2006/main">
              <a:ext uri="{FF2B5EF4-FFF2-40B4-BE49-F238E27FC236}">
                <a16:creationId xmlns:a16="http://schemas.microsoft.com/office/drawing/2014/main" id="{1F655753-D443-4AFE-B154-D9B4081399B9}"/>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7DCF261D-03CF-488F-9282-AF67DD9B2C41}"/>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27</a:t>
            </a:r>
          </a:p>
        </p:txBody>
      </p:sp>
      <p:sp>
        <p:nvSpPr>
          <p:cNvPr id="10" name="">
            <a:extLst xmlns:a="http://schemas.openxmlformats.org/drawingml/2006/main">
              <a:ext uri="{FF2B5EF4-FFF2-40B4-BE49-F238E27FC236}">
                <a16:creationId xmlns:a16="http://schemas.microsoft.com/office/drawing/2014/main" id="{8D5F320B-00D0-487A-8180-7D78378A8C17}"/>
              </a:ext>
            </a:extLst>
          </p:cNvPr>
          <p:cNvSpPr>
            <a:spLocks xmlns:a="http://schemas.openxmlformats.org/drawingml/2006/main" noGrp="1"/>
          </p:cNvSpPr>
          <p:nvPr/>
        </p:nvSpPr>
        <p:spPr>
          <a:xfrm xmlns:a="http://schemas.openxmlformats.org/drawingml/2006/main">
            <a:off x="666750" y="1752600"/>
            <a:ext cx="10858500" cy="3752850"/>
          </a:xfrm>
          <a:prstGeom xmlns:a="http://schemas.openxmlformats.org/drawingml/2006/main" prst="roundRect">
            <a:avLst>
              <a:gd name="adj" fmla="val 5584"/>
            </a:avLst>
          </a:prstGeom>
          <a:solidFill xmlns:a="http://schemas.openxmlformats.org/drawingml/2006/main">
            <a:srgbClr val="082638"/>
          </a:solidFill>
          <a:ln xmlns:a="http://schemas.openxmlformats.org/drawingml/2006/main" w="9525">
            <a:solidFill>
              <a:srgbClr val="082638"/>
            </a:solidFill>
            <a:prstDash val="solid"/>
          </a:ln>
        </p:spPr>
      </p:sp>
      <p:sp>
        <p:nvSpPr>
          <p:cNvPr id="11" name="">
            <a:extLst xmlns:a="http://schemas.openxmlformats.org/drawingml/2006/main">
              <a:ext uri="{FF2B5EF4-FFF2-40B4-BE49-F238E27FC236}">
                <a16:creationId xmlns:a16="http://schemas.microsoft.com/office/drawing/2014/main" id="{2B68E361-03C9-4BFB-92CA-99B4D0863927}"/>
              </a:ext>
            </a:extLst>
          </p:cNvPr>
          <p:cNvSpPr>
            <a:spLocks xmlns:a="http://schemas.openxmlformats.org/drawingml/2006/main" noGrp="1"/>
          </p:cNvSpPr>
          <p:nvPr/>
        </p:nvSpPr>
        <p:spPr>
          <a:xfrm xmlns:a="http://schemas.openxmlformats.org/drawingml/2006/main">
            <a:off x="971550" y="2085975"/>
            <a:ext cx="102489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FFFFFF"/>
                </a:solidFill>
                <a:latin typeface="Aptos"/>
                <a:ea typeface="Aptos"/>
                <a:cs typeface="Aptos"/>
              </a:defRPr>
            </a:pPr>
            <a:r>
              <a:rPr sz="1425" b="0">
                <a:solidFill>
                  <a:srgbClr val="FFFFFF"/>
                </a:solidFill>
                <a:latin typeface="Aptos"/>
                <a:ea typeface="Aptos"/>
                <a:cs typeface="Aptos"/>
              </a:rPr>
              <a:t>You are supporting a synthetic healthcare education exercise. You are not the treating clinician and must not replace professional judgement. Do not provide a final diagnosis, prescribe, change a dose, provide reassurance or instruct anyone to delay urgent care. Separate supplied facts, patient-reported information, professional observations, assumptions, unknowns and AI-generated hypotheses. Do not invent findings, medicines, laboratory results, citations or guidelines. Identify red flags and information requiring urgent professional review. Use only the information and approved sources supplied. End with a section titled 'Human decision and verification required'.</a:t>
            </a:r>
          </a:p>
        </p:txBody>
      </p:sp>
      <p:sp>
        <p:nvSpPr>
          <p:cNvPr id="12" name="">
            <a:extLst xmlns:a="http://schemas.openxmlformats.org/drawingml/2006/main">
              <a:ext uri="{FF2B5EF4-FFF2-40B4-BE49-F238E27FC236}">
                <a16:creationId xmlns:a16="http://schemas.microsoft.com/office/drawing/2014/main" id="{70CEE1A6-4C5B-4C67-A3B2-B72A72989C15}"/>
              </a:ext>
            </a:extLst>
          </p:cNvPr>
          <p:cNvSpPr>
            <a:spLocks xmlns:a="http://schemas.openxmlformats.org/drawingml/2006/main" noGrp="1"/>
          </p:cNvSpPr>
          <p:nvPr/>
        </p:nvSpPr>
        <p:spPr>
          <a:xfrm xmlns:a="http://schemas.openxmlformats.org/drawingml/2006/main">
            <a:off x="1866900" y="5743575"/>
            <a:ext cx="8458200" cy="333375"/>
          </a:xfrm>
          <a:prstGeom xmlns:a="http://schemas.openxmlformats.org/drawingml/2006/main" prst="roundRect">
            <a:avLst>
              <a:gd name="adj" fmla="val 34286"/>
            </a:avLst>
          </a:prstGeom>
          <a:solidFill xmlns:a="http://schemas.openxmlformats.org/drawingml/2006/main">
            <a:srgbClr val="E8694A"/>
          </a:solidFill>
          <a:ln xmlns:a="http://schemas.openxmlformats.org/drawingml/2006/main" w="9525">
            <a:solidFill>
              <a:srgbClr val="E8694A"/>
            </a:solidFill>
            <a:prstDash val="solid"/>
          </a:ln>
        </p:spPr>
      </p:sp>
      <p:sp>
        <p:nvSpPr>
          <p:cNvPr id="13" name="">
            <a:extLst xmlns:a="http://schemas.openxmlformats.org/drawingml/2006/main">
              <a:ext uri="{FF2B5EF4-FFF2-40B4-BE49-F238E27FC236}">
                <a16:creationId xmlns:a16="http://schemas.microsoft.com/office/drawing/2014/main" id="{C3925165-04B6-404E-A017-C6FABFB34FBC}"/>
              </a:ext>
            </a:extLst>
          </p:cNvPr>
          <p:cNvSpPr>
            <a:spLocks xmlns:a="http://schemas.openxmlformats.org/drawingml/2006/main" noGrp="1"/>
          </p:cNvSpPr>
          <p:nvPr/>
        </p:nvSpPr>
        <p:spPr>
          <a:xfrm xmlns:a="http://schemas.openxmlformats.org/drawingml/2006/main">
            <a:off x="2057400" y="5810250"/>
            <a:ext cx="807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125" b="1">
                <a:solidFill>
                  <a:srgbClr val="FFFFFF"/>
                </a:solidFill>
                <a:latin typeface="Aptos"/>
                <a:ea typeface="Aptos"/>
                <a:cs typeface="Aptos"/>
              </a:defRPr>
            </a:pPr>
            <a:r>
              <a:rPr sz="1125" b="1">
                <a:solidFill>
                  <a:srgbClr val="FFFFFF"/>
                </a:solidFill>
                <a:latin typeface="Aptos"/>
                <a:ea typeface="Aptos"/>
                <a:cs typeface="Aptos"/>
              </a:rPr>
              <a:t>Synthetic data only  •  No final diagnosis or prescribing  •  Human verification</a:t>
            </a:r>
          </a:p>
        </p:txBody>
      </p:sp>
    </p:spTree>
    <p:extLst>
      <p:ext uri="{BB962C8B-B14F-4D97-AF65-F5344CB8AC3E}">
        <p14:creationId xmlns:p14="http://schemas.microsoft.com/office/powerpoint/2010/main" val="842583448"/>
      </p:ext>
    </p:extLst>
  </p:cSld>
</p:sld>
</file>

<file path=ppt/slides/slide28.xml><?xml version="1.0" encoding="utf-8"?>
<p:sld xmlns:p="http://schemas.openxmlformats.org/presentationml/2006/main">
  <p:cSld>
    <p:bg>
      <p:bgPr>
        <a:solidFill xmlns:a="http://schemas.openxmlformats.org/drawingml/2006/main">
          <a:srgbClr val="087E7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15C059-D19C-4946-BCF2-3AF7FF6F857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A324D6F6-F60C-4B07-A89A-748E7FD5151A}"/>
              </a:ext>
            </a:extLst>
          </p:cNvPr>
          <p:cNvSpPr>
            <a:spLocks xmlns:a="http://schemas.openxmlformats.org/drawingml/2006/main" noGrp="1"/>
          </p:cNvSpPr>
          <p:nvPr/>
        </p:nvSpPr>
        <p:spPr>
          <a:xfrm xmlns:a="http://schemas.openxmlformats.org/drawingml/2006/main">
            <a:off x="666750" y="590550"/>
            <a:ext cx="18097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087E78"/>
                </a:solidFill>
                <a:latin typeface="Aptos"/>
                <a:ea typeface="Aptos"/>
                <a:cs typeface="Aptos"/>
              </a:defRPr>
            </a:pPr>
            <a:r>
              <a:rPr sz="863" b="1">
                <a:solidFill>
                  <a:srgbClr val="087E78"/>
                </a:solidFill>
                <a:latin typeface="Aptos"/>
                <a:ea typeface="Aptos"/>
                <a:cs typeface="Aptos"/>
              </a:rPr>
              <a:t>LAB STATION 1</a:t>
            </a:r>
          </a:p>
        </p:txBody>
      </p:sp>
      <p:sp>
        <p:nvSpPr>
          <p:cNvPr id="3" name="">
            <a:extLst xmlns:a="http://schemas.openxmlformats.org/drawingml/2006/main">
              <a:ext uri="{FF2B5EF4-FFF2-40B4-BE49-F238E27FC236}">
                <a16:creationId xmlns:a16="http://schemas.microsoft.com/office/drawing/2014/main" id="{5BBA4E1B-EB64-4FAD-BC61-E7E2AE8639B4}"/>
              </a:ext>
            </a:extLst>
          </p:cNvPr>
          <p:cNvSpPr>
            <a:spLocks xmlns:a="http://schemas.openxmlformats.org/drawingml/2006/main" noGrp="1"/>
          </p:cNvSpPr>
          <p:nvPr/>
        </p:nvSpPr>
        <p:spPr>
          <a:xfrm xmlns:a="http://schemas.openxmlformats.org/drawingml/2006/main">
            <a:off x="666750" y="1476375"/>
            <a:ext cx="10572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4050" b="1">
                <a:solidFill>
                  <a:srgbClr val="FFFFFF"/>
                </a:solidFill>
                <a:latin typeface="Aptos"/>
                <a:ea typeface="Aptos"/>
                <a:cs typeface="Aptos"/>
              </a:defRPr>
            </a:pPr>
            <a:r>
              <a:rPr sz="4050" b="1">
                <a:solidFill>
                  <a:srgbClr val="FFFFFF"/>
                </a:solidFill>
                <a:latin typeface="Aptos"/>
                <a:ea typeface="Aptos"/>
                <a:cs typeface="Aptos"/>
              </a:rPr>
              <a:t>Station 1: Consultation continuity</a:t>
            </a:r>
          </a:p>
        </p:txBody>
      </p:sp>
      <p:sp>
        <p:nvSpPr>
          <p:cNvPr id="4" name="">
            <a:extLst xmlns:a="http://schemas.openxmlformats.org/drawingml/2006/main">
              <a:ext uri="{FF2B5EF4-FFF2-40B4-BE49-F238E27FC236}">
                <a16:creationId xmlns:a16="http://schemas.microsoft.com/office/drawing/2014/main" id="{E0DED4F0-DE46-446C-B31C-48B606B68168}"/>
              </a:ext>
            </a:extLst>
          </p:cNvPr>
          <p:cNvSpPr>
            <a:spLocks xmlns:a="http://schemas.openxmlformats.org/drawingml/2006/main" noGrp="1"/>
          </p:cNvSpPr>
          <p:nvPr/>
        </p:nvSpPr>
        <p:spPr>
          <a:xfrm xmlns:a="http://schemas.openxmlformats.org/drawingml/2006/main">
            <a:off x="704850" y="321945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0">
                <a:solidFill>
                  <a:srgbClr val="FFFFFF"/>
                </a:solidFill>
                <a:latin typeface="Aptos"/>
                <a:ea typeface="Aptos"/>
                <a:cs typeface="Aptos"/>
              </a:defRPr>
            </a:pPr>
            <a:r>
              <a:rPr sz="1950" b="0">
                <a:solidFill>
                  <a:srgbClr val="FFFFFF"/>
                </a:solidFill>
                <a:latin typeface="Aptos"/>
                <a:ea typeface="Aptos"/>
                <a:cs typeface="Aptos"/>
              </a:rPr>
              <a:t>Compare an ambient-scribe workflow with a structured ChatGPT draft—then find what must be corrected.</a:t>
            </a:r>
          </a:p>
        </p:txBody>
      </p:sp>
      <p:sp>
        <p:nvSpPr>
          <p:cNvPr id="5" name="">
            <a:extLst xmlns:a="http://schemas.openxmlformats.org/drawingml/2006/main">
              <a:ext uri="{FF2B5EF4-FFF2-40B4-BE49-F238E27FC236}">
                <a16:creationId xmlns:a16="http://schemas.microsoft.com/office/drawing/2014/main" id="{F46E98C9-DA2C-4AFD-87F2-8C3181D3EB03}"/>
              </a:ext>
            </a:extLst>
          </p:cNvPr>
          <p:cNvSpPr>
            <a:spLocks xmlns:a="http://schemas.openxmlformats.org/drawingml/2006/main" noGrp="1"/>
          </p:cNvSpPr>
          <p:nvPr/>
        </p:nvSpPr>
        <p:spPr>
          <a:xfrm xmlns:a="http://schemas.openxmlformats.org/drawingml/2006/main">
            <a:off x="704850" y="4495800"/>
            <a:ext cx="66675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CF33B2D8-E495-4BAB-83E9-B27685AD118E}"/>
              </a:ext>
            </a:extLst>
          </p:cNvPr>
          <p:cNvSpPr>
            <a:spLocks xmlns:a="http://schemas.openxmlformats.org/drawingml/2006/main" noGrp="1"/>
          </p:cNvSpPr>
          <p:nvPr/>
        </p:nvSpPr>
        <p:spPr>
          <a:xfrm xmlns:a="http://schemas.openxmlformats.org/drawingml/2006/main">
            <a:off x="704850" y="4762500"/>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FFFFFF"/>
                </a:solidFill>
                <a:latin typeface="Aptos"/>
                <a:ea typeface="Aptos"/>
                <a:cs typeface="Aptos"/>
              </a:defRPr>
            </a:pPr>
            <a:r>
              <a:rPr sz="1500" b="1">
                <a:solidFill>
                  <a:srgbClr val="FFFFFF"/>
                </a:solidFill>
                <a:latin typeface="Aptos"/>
                <a:ea typeface="Aptos"/>
                <a:cs typeface="Aptos"/>
              </a:rPr>
              <a:t>AI assists  •  Professionals decide  •  Patients remain the purpose</a:t>
            </a:r>
          </a:p>
        </p:txBody>
      </p:sp>
      <p:sp>
        <p:nvSpPr>
          <p:cNvPr id="7" name="">
            <a:extLst xmlns:a="http://schemas.openxmlformats.org/drawingml/2006/main">
              <a:ext uri="{FF2B5EF4-FFF2-40B4-BE49-F238E27FC236}">
                <a16:creationId xmlns:a16="http://schemas.microsoft.com/office/drawing/2014/main" id="{BE9C90FD-9837-4ED9-95F8-CE1FEFA98D6B}"/>
              </a:ext>
            </a:extLst>
          </p:cNvPr>
          <p:cNvSpPr>
            <a:spLocks xmlns:a="http://schemas.openxmlformats.org/drawingml/2006/main" noGrp="1"/>
          </p:cNvSpPr>
          <p:nvPr/>
        </p:nvSpPr>
        <p:spPr>
          <a:xfrm xmlns:a="http://schemas.openxmlformats.org/drawingml/2006/main">
            <a:off x="11049000" y="62103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75" b="1">
                <a:solidFill>
                  <a:srgbClr val="FFFFFF"/>
                </a:solidFill>
                <a:latin typeface="Aptos"/>
                <a:ea typeface="Aptos"/>
                <a:cs typeface="Aptos"/>
              </a:defRPr>
            </a:pPr>
            <a:r>
              <a:rPr sz="975" b="1">
                <a:solidFill>
                  <a:srgbClr val="FFFFFF"/>
                </a:solidFill>
                <a:latin typeface="Aptos"/>
                <a:ea typeface="Aptos"/>
                <a:cs typeface="Aptos"/>
              </a:rPr>
              <a:t>28</a:t>
            </a:r>
          </a:p>
        </p:txBody>
      </p:sp>
    </p:spTree>
    <p:extLst>
      <p:ext uri="{BB962C8B-B14F-4D97-AF65-F5344CB8AC3E}">
        <p14:creationId xmlns:p14="http://schemas.microsoft.com/office/powerpoint/2010/main" val="462338418"/>
      </p:ext>
    </p:extLst>
  </p:cSld>
</p:sld>
</file>

<file path=ppt/slides/slide29.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AE343F1-9B82-45C8-9BD1-EC45537232E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13B2DB7B-1912-49FE-B457-958F6FAC1FD5}"/>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9016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1 TOOL MAP</a:t>
            </a:r>
          </a:p>
        </p:txBody>
      </p:sp>
      <p:sp>
        <p:nvSpPr>
          <p:cNvPr id="3" name="">
            <a:extLst xmlns:a="http://schemas.openxmlformats.org/drawingml/2006/main">
              <a:ext uri="{FF2B5EF4-FFF2-40B4-BE49-F238E27FC236}">
                <a16:creationId xmlns:a16="http://schemas.microsoft.com/office/drawing/2014/main" id="{BA7D702E-3770-434E-A5F4-481F8D73FC91}"/>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Three tools, one governed task</a:t>
            </a:r>
          </a:p>
        </p:txBody>
      </p:sp>
      <p:sp>
        <p:nvSpPr>
          <p:cNvPr id="4" name="">
            <a:extLst xmlns:a="http://schemas.openxmlformats.org/drawingml/2006/main">
              <a:ext uri="{FF2B5EF4-FFF2-40B4-BE49-F238E27FC236}">
                <a16:creationId xmlns:a16="http://schemas.microsoft.com/office/drawing/2014/main" id="{87C1DF81-A6DE-4890-B5B4-625D0111B2A3}"/>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428711FE-1130-41F7-96E3-261274555C63}"/>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7974F224-4B32-449A-B1BA-9484F79816C1}"/>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290F94C7-6E84-434E-AD9F-97756FEC3902}"/>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Official product pages; verify account/privacy before workshop</a:t>
            </a:r>
          </a:p>
        </p:txBody>
      </p:sp>
      <p:sp>
        <p:nvSpPr>
          <p:cNvPr id="8" name="">
            <a:extLst xmlns:a="http://schemas.openxmlformats.org/drawingml/2006/main">
              <a:ext uri="{FF2B5EF4-FFF2-40B4-BE49-F238E27FC236}">
                <a16:creationId xmlns:a16="http://schemas.microsoft.com/office/drawing/2014/main" id="{201429A1-ADA4-4140-AE3E-6CF95EA53CAE}"/>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6FC6207C-386D-46FE-8BAA-14A1C8568825}"/>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29</a:t>
            </a:r>
          </a:p>
        </p:txBody>
      </p:sp>
      <p:sp>
        <p:nvSpPr>
          <p:cNvPr id="10" name="">
            <a:extLst xmlns:a="http://schemas.openxmlformats.org/drawingml/2006/main">
              <a:ext uri="{FF2B5EF4-FFF2-40B4-BE49-F238E27FC236}">
                <a16:creationId xmlns:a16="http://schemas.microsoft.com/office/drawing/2014/main" id="{67039999-58E5-4813-8ECF-1DE684090D8E}"/>
              </a:ext>
            </a:extLst>
          </p:cNvPr>
          <p:cNvSpPr>
            <a:spLocks xmlns:a="http://schemas.openxmlformats.org/drawingml/2006/main" noGrp="1"/>
          </p:cNvSpPr>
          <p:nvPr/>
        </p:nvSpPr>
        <p:spPr>
          <a:xfrm xmlns:a="http://schemas.openxmlformats.org/drawingml/2006/main">
            <a:off x="6096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36805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E48D23CF-DFE9-4890-A6CE-76BB724C9EFC}"/>
              </a:ext>
            </a:extLst>
          </p:cNvPr>
          <p:cNvSpPr>
            <a:spLocks xmlns:a="http://schemas.openxmlformats.org/drawingml/2006/main" noGrp="1"/>
          </p:cNvSpPr>
          <p:nvPr/>
        </p:nvSpPr>
        <p:spPr>
          <a:xfrm xmlns:a="http://schemas.openxmlformats.org/drawingml/2006/main">
            <a:off x="762000" y="1905000"/>
            <a:ext cx="819150" cy="266700"/>
          </a:xfrm>
          <a:prstGeom xmlns:a="http://schemas.openxmlformats.org/drawingml/2006/main" prst="roundRect">
            <a:avLst>
              <a:gd name="adj" fmla="val 50000"/>
            </a:avLst>
          </a:prstGeom>
          <a:solidFill xmlns:a="http://schemas.openxmlformats.org/drawingml/2006/main">
            <a:srgbClr val="36805F"/>
          </a:solidFill>
          <a:ln xmlns:a="http://schemas.openxmlformats.org/drawingml/2006/main" w="9525">
            <a:solidFill>
              <a:srgbClr val="36805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LIVE</a:t>
            </a:r>
          </a:p>
        </p:txBody>
      </p:sp>
      <p:sp>
        <p:nvSpPr>
          <p:cNvPr id="12" name="">
            <a:extLst xmlns:a="http://schemas.openxmlformats.org/drawingml/2006/main">
              <a:ext uri="{FF2B5EF4-FFF2-40B4-BE49-F238E27FC236}">
                <a16:creationId xmlns:a16="http://schemas.microsoft.com/office/drawing/2014/main" id="{96236FDE-3F80-406F-9FE9-F88196C5345E}"/>
              </a:ext>
            </a:extLst>
          </p:cNvPr>
          <p:cNvSpPr>
            <a:spLocks xmlns:a="http://schemas.openxmlformats.org/drawingml/2006/main" noGrp="1"/>
          </p:cNvSpPr>
          <p:nvPr/>
        </p:nvSpPr>
        <p:spPr>
          <a:xfrm xmlns:a="http://schemas.openxmlformats.org/drawingml/2006/main">
            <a:off x="7810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Heidi Health</a:t>
            </a:r>
          </a:p>
        </p:txBody>
      </p:sp>
      <p:sp>
        <p:nvSpPr>
          <p:cNvPr id="13" name="">
            <a:extLst xmlns:a="http://schemas.openxmlformats.org/drawingml/2006/main">
              <a:ext uri="{FF2B5EF4-FFF2-40B4-BE49-F238E27FC236}">
                <a16:creationId xmlns:a16="http://schemas.microsoft.com/office/drawing/2014/main" id="{0B1A3CE1-C68E-4F1E-8ED4-91D476ABECEA}"/>
              </a:ext>
            </a:extLst>
          </p:cNvPr>
          <p:cNvSpPr>
            <a:spLocks xmlns:a="http://schemas.openxmlformats.org/drawingml/2006/main" noGrp="1"/>
          </p:cNvSpPr>
          <p:nvPr/>
        </p:nvSpPr>
        <p:spPr>
          <a:xfrm xmlns:a="http://schemas.openxmlformats.org/drawingml/2006/main">
            <a:off x="7810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Free tier + paid; synthetic transcript only. https://scribe.heidihealth.com</a:t>
            </a:r>
          </a:p>
        </p:txBody>
      </p:sp>
      <p:sp>
        <p:nvSpPr>
          <p:cNvPr id="14" name="">
            <a:extLst xmlns:a="http://schemas.openxmlformats.org/drawingml/2006/main">
              <a:ext uri="{FF2B5EF4-FFF2-40B4-BE49-F238E27FC236}">
                <a16:creationId xmlns:a16="http://schemas.microsoft.com/office/drawing/2014/main" id="{3DCAAE42-4F49-4973-9E08-D9E5771EE96F}"/>
              </a:ext>
            </a:extLst>
          </p:cNvPr>
          <p:cNvSpPr>
            <a:spLocks xmlns:a="http://schemas.openxmlformats.org/drawingml/2006/main" noGrp="1"/>
          </p:cNvSpPr>
          <p:nvPr/>
        </p:nvSpPr>
        <p:spPr>
          <a:xfrm xmlns:a="http://schemas.openxmlformats.org/drawingml/2006/main">
            <a:off x="433705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C5902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38441044-D832-426B-894F-B02FFB2C1A15}"/>
              </a:ext>
            </a:extLst>
          </p:cNvPr>
          <p:cNvSpPr>
            <a:spLocks xmlns:a="http://schemas.openxmlformats.org/drawingml/2006/main" noGrp="1"/>
          </p:cNvSpPr>
          <p:nvPr/>
        </p:nvSpPr>
        <p:spPr>
          <a:xfrm xmlns:a="http://schemas.openxmlformats.org/drawingml/2006/main">
            <a:off x="4489450" y="1905000"/>
            <a:ext cx="8191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TRIAL</a:t>
            </a:r>
          </a:p>
        </p:txBody>
      </p:sp>
      <p:sp>
        <p:nvSpPr>
          <p:cNvPr id="16" name="">
            <a:extLst xmlns:a="http://schemas.openxmlformats.org/drawingml/2006/main">
              <a:ext uri="{FF2B5EF4-FFF2-40B4-BE49-F238E27FC236}">
                <a16:creationId xmlns:a16="http://schemas.microsoft.com/office/drawing/2014/main" id="{1E89211D-56D6-423E-B627-07A5F8F15959}"/>
              </a:ext>
            </a:extLst>
          </p:cNvPr>
          <p:cNvSpPr>
            <a:spLocks xmlns:a="http://schemas.openxmlformats.org/drawingml/2006/main" noGrp="1"/>
          </p:cNvSpPr>
          <p:nvPr/>
        </p:nvSpPr>
        <p:spPr>
          <a:xfrm xmlns:a="http://schemas.openxmlformats.org/drawingml/2006/main">
            <a:off x="450850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Nabla</a:t>
            </a:r>
          </a:p>
        </p:txBody>
      </p:sp>
      <p:sp>
        <p:nvSpPr>
          <p:cNvPr id="17" name="">
            <a:extLst xmlns:a="http://schemas.openxmlformats.org/drawingml/2006/main">
              <a:ext uri="{FF2B5EF4-FFF2-40B4-BE49-F238E27FC236}">
                <a16:creationId xmlns:a16="http://schemas.microsoft.com/office/drawing/2014/main" id="{98D5811D-3803-4C56-B627-2026242860C3}"/>
              </a:ext>
            </a:extLst>
          </p:cNvPr>
          <p:cNvSpPr>
            <a:spLocks xmlns:a="http://schemas.openxmlformats.org/drawingml/2006/main" noGrp="1"/>
          </p:cNvSpPr>
          <p:nvPr/>
        </p:nvSpPr>
        <p:spPr>
          <a:xfrm xmlns:a="http://schemas.openxmlformats.org/drawingml/2006/main">
            <a:off x="450850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Trial/enterprise; compare note structure and review controls. https://app.nabla.com</a:t>
            </a:r>
          </a:p>
        </p:txBody>
      </p:sp>
      <p:sp>
        <p:nvSpPr>
          <p:cNvPr id="18" name="">
            <a:extLst xmlns:a="http://schemas.openxmlformats.org/drawingml/2006/main">
              <a:ext uri="{FF2B5EF4-FFF2-40B4-BE49-F238E27FC236}">
                <a16:creationId xmlns:a16="http://schemas.microsoft.com/office/drawing/2014/main" id="{C16EF7D9-BDD5-420E-87C7-B37EF006AB85}"/>
              </a:ext>
            </a:extLst>
          </p:cNvPr>
          <p:cNvSpPr>
            <a:spLocks xmlns:a="http://schemas.openxmlformats.org/drawingml/2006/main" noGrp="1"/>
          </p:cNvSpPr>
          <p:nvPr/>
        </p:nvSpPr>
        <p:spPr>
          <a:xfrm xmlns:a="http://schemas.openxmlformats.org/drawingml/2006/main">
            <a:off x="80645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2F6F9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C3A11CFE-42D3-42A4-A2A6-7A692A8838B9}"/>
              </a:ext>
            </a:extLst>
          </p:cNvPr>
          <p:cNvSpPr>
            <a:spLocks xmlns:a="http://schemas.openxmlformats.org/drawingml/2006/main" noGrp="1"/>
          </p:cNvSpPr>
          <p:nvPr/>
        </p:nvSpPr>
        <p:spPr>
          <a:xfrm xmlns:a="http://schemas.openxmlformats.org/drawingml/2006/main">
            <a:off x="8216900" y="1905000"/>
            <a:ext cx="8191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SHOW</a:t>
            </a:r>
          </a:p>
        </p:txBody>
      </p:sp>
      <p:sp>
        <p:nvSpPr>
          <p:cNvPr id="20" name="">
            <a:extLst xmlns:a="http://schemas.openxmlformats.org/drawingml/2006/main">
              <a:ext uri="{FF2B5EF4-FFF2-40B4-BE49-F238E27FC236}">
                <a16:creationId xmlns:a16="http://schemas.microsoft.com/office/drawing/2014/main" id="{5FB1D6FB-FB00-4B12-B871-451AEE2FB372}"/>
              </a:ext>
            </a:extLst>
          </p:cNvPr>
          <p:cNvSpPr>
            <a:spLocks xmlns:a="http://schemas.openxmlformats.org/drawingml/2006/main" noGrp="1"/>
          </p:cNvSpPr>
          <p:nvPr/>
        </p:nvSpPr>
        <p:spPr>
          <a:xfrm xmlns:a="http://schemas.openxmlformats.org/drawingml/2006/main">
            <a:off x="82359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Abridge</a:t>
            </a:r>
          </a:p>
        </p:txBody>
      </p:sp>
      <p:sp>
        <p:nvSpPr>
          <p:cNvPr id="21" name="">
            <a:extLst xmlns:a="http://schemas.openxmlformats.org/drawingml/2006/main">
              <a:ext uri="{FF2B5EF4-FFF2-40B4-BE49-F238E27FC236}">
                <a16:creationId xmlns:a16="http://schemas.microsoft.com/office/drawing/2014/main" id="{0CA90771-94AA-4AA4-B565-465DDC0FA58C}"/>
              </a:ext>
            </a:extLst>
          </p:cNvPr>
          <p:cNvSpPr>
            <a:spLocks xmlns:a="http://schemas.openxmlformats.org/drawingml/2006/main" noGrp="1"/>
          </p:cNvSpPr>
          <p:nvPr/>
        </p:nvSpPr>
        <p:spPr>
          <a:xfrm xmlns:a="http://schemas.openxmlformats.org/drawingml/2006/main">
            <a:off x="82359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Enterprise demo/product walkthrough. https://www.abridge.com/product</a:t>
            </a:r>
          </a:p>
        </p:txBody>
      </p:sp>
      <p:sp>
        <p:nvSpPr>
          <p:cNvPr id="22" name="">
            <a:extLst xmlns:a="http://schemas.openxmlformats.org/drawingml/2006/main">
              <a:ext uri="{FF2B5EF4-FFF2-40B4-BE49-F238E27FC236}">
                <a16:creationId xmlns:a16="http://schemas.microsoft.com/office/drawing/2014/main" id="{0F256CC7-AC1A-41E0-A9BD-E36E7F6E3BDD}"/>
              </a:ext>
            </a:extLst>
          </p:cNvPr>
          <p:cNvSpPr>
            <a:spLocks xmlns:a="http://schemas.openxmlformats.org/drawingml/2006/main" noGrp="1"/>
          </p:cNvSpPr>
          <p:nvPr/>
        </p:nvSpPr>
        <p:spPr>
          <a:xfrm xmlns:a="http://schemas.openxmlformats.org/drawingml/2006/main">
            <a:off x="609600" y="3333750"/>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E869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797D0FA5-95A3-44C6-901E-878114D7FE00}"/>
              </a:ext>
            </a:extLst>
          </p:cNvPr>
          <p:cNvSpPr>
            <a:spLocks xmlns:a="http://schemas.openxmlformats.org/drawingml/2006/main" noGrp="1"/>
          </p:cNvSpPr>
          <p:nvPr/>
        </p:nvSpPr>
        <p:spPr>
          <a:xfrm xmlns:a="http://schemas.openxmlformats.org/drawingml/2006/main">
            <a:off x="762000" y="3476625"/>
            <a:ext cx="8191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EVERYONE</a:t>
            </a:r>
          </a:p>
        </p:txBody>
      </p:sp>
      <p:sp>
        <p:nvSpPr>
          <p:cNvPr id="24" name="">
            <a:extLst xmlns:a="http://schemas.openxmlformats.org/drawingml/2006/main">
              <a:ext uri="{FF2B5EF4-FFF2-40B4-BE49-F238E27FC236}">
                <a16:creationId xmlns:a16="http://schemas.microsoft.com/office/drawing/2014/main" id="{B020FE96-FA4F-420A-B13F-02D51CB44365}"/>
              </a:ext>
            </a:extLst>
          </p:cNvPr>
          <p:cNvSpPr>
            <a:spLocks xmlns:a="http://schemas.openxmlformats.org/drawingml/2006/main" noGrp="1"/>
          </p:cNvSpPr>
          <p:nvPr/>
        </p:nvSpPr>
        <p:spPr>
          <a:xfrm xmlns:a="http://schemas.openxmlformats.org/drawingml/2006/main">
            <a:off x="781050" y="3829050"/>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ChatGPT</a:t>
            </a:r>
          </a:p>
        </p:txBody>
      </p:sp>
      <p:sp>
        <p:nvSpPr>
          <p:cNvPr id="25" name="">
            <a:extLst xmlns:a="http://schemas.openxmlformats.org/drawingml/2006/main">
              <a:ext uri="{FF2B5EF4-FFF2-40B4-BE49-F238E27FC236}">
                <a16:creationId xmlns:a16="http://schemas.microsoft.com/office/drawing/2014/main" id="{C94B4871-8977-49BA-BEB0-A36492CE8606}"/>
              </a:ext>
            </a:extLst>
          </p:cNvPr>
          <p:cNvSpPr>
            <a:spLocks xmlns:a="http://schemas.openxmlformats.org/drawingml/2006/main" noGrp="1"/>
          </p:cNvSpPr>
          <p:nvPr/>
        </p:nvSpPr>
        <p:spPr>
          <a:xfrm xmlns:a="http://schemas.openxmlformats.org/drawingml/2006/main">
            <a:off x="781050" y="4200525"/>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Use Prompt 1 for tagged facts, unknowns, teach-back and escalation.</a:t>
            </a:r>
          </a:p>
        </p:txBody>
      </p:sp>
    </p:spTree>
    <p:extLst>
      <p:ext uri="{BB962C8B-B14F-4D97-AF65-F5344CB8AC3E}">
        <p14:creationId xmlns:p14="http://schemas.microsoft.com/office/powerpoint/2010/main" val="1936010164"/>
      </p:ext>
    </p:extLst>
  </p:cSld>
</p:sld>
</file>

<file path=ppt/slides/slide30.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BDB864-5837-4D72-80FC-530AFA8888D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49DE0965-69BD-4177-84F4-E0C0FC27ABC3}"/>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1 INPUT</a:t>
            </a:r>
          </a:p>
        </p:txBody>
      </p:sp>
      <p:sp>
        <p:nvSpPr>
          <p:cNvPr id="3" name="">
            <a:extLst xmlns:a="http://schemas.openxmlformats.org/drawingml/2006/main">
              <a:ext uri="{FF2B5EF4-FFF2-40B4-BE49-F238E27FC236}">
                <a16:creationId xmlns:a16="http://schemas.microsoft.com/office/drawing/2014/main" id="{42AFD557-A13A-42CB-9F98-D5F72392240C}"/>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Synthetic consultation: continuity, not diagnosis</a:t>
            </a:r>
          </a:p>
        </p:txBody>
      </p:sp>
      <p:sp>
        <p:nvSpPr>
          <p:cNvPr id="4" name="">
            <a:extLst xmlns:a="http://schemas.openxmlformats.org/drawingml/2006/main">
              <a:ext uri="{FF2B5EF4-FFF2-40B4-BE49-F238E27FC236}">
                <a16:creationId xmlns:a16="http://schemas.microsoft.com/office/drawing/2014/main" id="{8411CE5F-077A-4569-9DB5-FC85D47FF681}"/>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B4131FC1-DBBD-4220-8E84-E94318E5E80E}"/>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FFCD600C-5476-4F1D-95AD-017D3D5C3638}"/>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C4DBC384-954A-4C71-BAB4-A9F7CD70EC7B}"/>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8" name="">
            <a:extLst xmlns:a="http://schemas.openxmlformats.org/drawingml/2006/main">
              <a:ext uri="{FF2B5EF4-FFF2-40B4-BE49-F238E27FC236}">
                <a16:creationId xmlns:a16="http://schemas.microsoft.com/office/drawing/2014/main" id="{3244E4CB-52B8-4EEC-B582-811A64D9DA68}"/>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30</a:t>
            </a:r>
          </a:p>
        </p:txBody>
      </p:sp>
      <p:sp>
        <p:nvSpPr>
          <p:cNvPr id="9" name="">
            <a:extLst xmlns:a="http://schemas.openxmlformats.org/drawingml/2006/main">
              <a:ext uri="{FF2B5EF4-FFF2-40B4-BE49-F238E27FC236}">
                <a16:creationId xmlns:a16="http://schemas.microsoft.com/office/drawing/2014/main" id="{EDB1BEAC-3B96-4B31-B67D-418EFADF9360}"/>
              </a:ext>
            </a:extLst>
          </p:cNvPr>
          <p:cNvSpPr>
            <a:spLocks xmlns:a="http://schemas.openxmlformats.org/drawingml/2006/main" noGrp="1"/>
          </p:cNvSpPr>
          <p:nvPr/>
        </p:nvSpPr>
        <p:spPr>
          <a:xfrm xmlns:a="http://schemas.openxmlformats.org/drawingml/2006/main">
            <a:off x="628650" y="1762125"/>
            <a:ext cx="4914900" cy="3848100"/>
          </a:xfrm>
          <a:prstGeom xmlns:a="http://schemas.openxmlformats.org/drawingml/2006/main" prst="roundRect">
            <a:avLst>
              <a:gd name="adj" fmla="val 5446"/>
            </a:avLst>
          </a:prstGeom>
          <a:solidFill xmlns:a="http://schemas.openxmlformats.org/drawingml/2006/main">
            <a:srgbClr val="FFFDFC"/>
          </a:solidFill>
          <a:ln xmlns:a="http://schemas.openxmlformats.org/drawingml/2006/main" w="9525">
            <a:solidFill>
              <a:srgbClr val="087E78"/>
            </a:solidFill>
            <a:prstDash val="solid"/>
          </a:ln>
        </p:spPr>
      </p:sp>
      <p:sp>
        <p:nvSpPr>
          <p:cNvPr id="10" name="">
            <a:extLst xmlns:a="http://schemas.openxmlformats.org/drawingml/2006/main">
              <a:ext uri="{FF2B5EF4-FFF2-40B4-BE49-F238E27FC236}">
                <a16:creationId xmlns:a16="http://schemas.microsoft.com/office/drawing/2014/main" id="{BD4FA17F-8AA0-4506-B1E4-A26BF837C568}"/>
              </a:ext>
            </a:extLst>
          </p:cNvPr>
          <p:cNvSpPr>
            <a:spLocks xmlns:a="http://schemas.openxmlformats.org/drawingml/2006/main" noGrp="1"/>
          </p:cNvSpPr>
          <p:nvPr/>
        </p:nvSpPr>
        <p:spPr>
          <a:xfrm xmlns:a="http://schemas.openxmlformats.org/drawingml/2006/main">
            <a:off x="857250" y="1971675"/>
            <a:ext cx="952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SYNTHETIC</a:t>
            </a:r>
          </a:p>
        </p:txBody>
      </p:sp>
      <p:sp>
        <p:nvSpPr>
          <p:cNvPr id="11" name="">
            <a:extLst xmlns:a="http://schemas.openxmlformats.org/drawingml/2006/main">
              <a:ext uri="{FF2B5EF4-FFF2-40B4-BE49-F238E27FC236}">
                <a16:creationId xmlns:a16="http://schemas.microsoft.com/office/drawing/2014/main" id="{98D3760C-09C9-4D47-B12C-E58D98C14AF0}"/>
              </a:ext>
            </a:extLst>
          </p:cNvPr>
          <p:cNvSpPr>
            <a:spLocks xmlns:a="http://schemas.openxmlformats.org/drawingml/2006/main" noGrp="1"/>
          </p:cNvSpPr>
          <p:nvPr/>
        </p:nvSpPr>
        <p:spPr>
          <a:xfrm xmlns:a="http://schemas.openxmlformats.org/drawingml/2006/main">
            <a:off x="857250" y="23812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2100" b="1">
                <a:solidFill>
                  <a:srgbClr val="082638"/>
                </a:solidFill>
                <a:latin typeface="Aptos"/>
                <a:ea typeface="Aptos"/>
                <a:cs typeface="Aptos"/>
              </a:defRPr>
            </a:pPr>
            <a:r>
              <a:rPr sz="2100" b="1">
                <a:solidFill>
                  <a:srgbClr val="082638"/>
                </a:solidFill>
                <a:latin typeface="Aptos"/>
                <a:ea typeface="Aptos"/>
                <a:cs typeface="Aptos"/>
              </a:rPr>
              <a:t>Mrs A, 52</a:t>
            </a:r>
          </a:p>
        </p:txBody>
      </p:sp>
      <p:sp>
        <p:nvSpPr>
          <p:cNvPr id="12" name="">
            <a:extLst xmlns:a="http://schemas.openxmlformats.org/drawingml/2006/main">
              <a:ext uri="{FF2B5EF4-FFF2-40B4-BE49-F238E27FC236}">
                <a16:creationId xmlns:a16="http://schemas.microsoft.com/office/drawing/2014/main" id="{36B8E00E-F7BE-472B-846E-6E909832A6D7}"/>
              </a:ext>
            </a:extLst>
          </p:cNvPr>
          <p:cNvSpPr>
            <a:spLocks xmlns:a="http://schemas.openxmlformats.org/drawingml/2006/main" noGrp="1"/>
          </p:cNvSpPr>
          <p:nvPr/>
        </p:nvSpPr>
        <p:spPr>
          <a:xfrm xmlns:a="http://schemas.openxmlformats.org/drawingml/2006/main">
            <a:off x="876300" y="2952750"/>
            <a:ext cx="4095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Type 2 diabetes + hypertension</a:t>
            </a:r>
          </a:p>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Missed medicines twice this week</a:t>
            </a:r>
          </a:p>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Low health literacy; prefers Hindi</a:t>
            </a:r>
          </a:p>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Tingling feet; no acute red flags supplied</a:t>
            </a:r>
          </a:p>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Believes insulin means “failure”</a:t>
            </a:r>
          </a:p>
        </p:txBody>
      </p:sp>
      <p:sp>
        <p:nvSpPr>
          <p:cNvPr id="13" name="">
            <a:extLst xmlns:a="http://schemas.openxmlformats.org/drawingml/2006/main">
              <a:ext uri="{FF2B5EF4-FFF2-40B4-BE49-F238E27FC236}">
                <a16:creationId xmlns:a16="http://schemas.microsoft.com/office/drawing/2014/main" id="{32CC60F9-012D-4E99-B7A7-0247333119E1}"/>
              </a:ext>
            </a:extLst>
          </p:cNvPr>
          <p:cNvSpPr>
            <a:spLocks xmlns:a="http://schemas.openxmlformats.org/drawingml/2006/main" noGrp="1"/>
          </p:cNvSpPr>
          <p:nvPr/>
        </p:nvSpPr>
        <p:spPr>
          <a:xfrm xmlns:a="http://schemas.openxmlformats.org/drawingml/2006/main">
            <a:off x="6019800" y="1762125"/>
            <a:ext cx="5257800" cy="3848100"/>
          </a:xfrm>
          <a:prstGeom xmlns:a="http://schemas.openxmlformats.org/drawingml/2006/main" prst="roundRect">
            <a:avLst>
              <a:gd name="adj" fmla="val 5446"/>
            </a:avLst>
          </a:prstGeom>
          <a:solidFill xmlns:a="http://schemas.openxmlformats.org/drawingml/2006/main">
            <a:srgbClr val="082638"/>
          </a:solidFill>
          <a:ln xmlns:a="http://schemas.openxmlformats.org/drawingml/2006/main" w="9525">
            <a:solidFill>
              <a:srgbClr val="082638"/>
            </a:solidFill>
            <a:prstDash val="solid"/>
          </a:ln>
        </p:spPr>
      </p:sp>
      <p:sp>
        <p:nvSpPr>
          <p:cNvPr id="14" name="">
            <a:extLst xmlns:a="http://schemas.openxmlformats.org/drawingml/2006/main">
              <a:ext uri="{FF2B5EF4-FFF2-40B4-BE49-F238E27FC236}">
                <a16:creationId xmlns:a16="http://schemas.microsoft.com/office/drawing/2014/main" id="{2C9EBC29-DD89-4B6C-9F78-AAC03FAF27BE}"/>
              </a:ext>
            </a:extLst>
          </p:cNvPr>
          <p:cNvSpPr>
            <a:spLocks xmlns:a="http://schemas.openxmlformats.org/drawingml/2006/main" noGrp="1"/>
          </p:cNvSpPr>
          <p:nvPr/>
        </p:nvSpPr>
        <p:spPr>
          <a:xfrm xmlns:a="http://schemas.openxmlformats.org/drawingml/2006/main">
            <a:off x="6286500" y="199072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DDF2EE"/>
                </a:solidFill>
                <a:latin typeface="Aptos"/>
                <a:ea typeface="Aptos"/>
                <a:cs typeface="Aptos"/>
              </a:defRPr>
            </a:pPr>
            <a:r>
              <a:rPr sz="1050" b="1">
                <a:solidFill>
                  <a:srgbClr val="DDF2EE"/>
                </a:solidFill>
                <a:latin typeface="Aptos"/>
                <a:ea typeface="Aptos"/>
                <a:cs typeface="Aptos"/>
              </a:rPr>
              <a:t>CREATE</a:t>
            </a:r>
          </a:p>
        </p:txBody>
      </p:sp>
      <p:sp>
        <p:nvSpPr>
          <p:cNvPr id="15" name="">
            <a:extLst xmlns:a="http://schemas.openxmlformats.org/drawingml/2006/main">
              <a:ext uri="{FF2B5EF4-FFF2-40B4-BE49-F238E27FC236}">
                <a16:creationId xmlns:a16="http://schemas.microsoft.com/office/drawing/2014/main" id="{7FC06301-073A-4CBE-9A9D-D3B8DE1671F4}"/>
              </a:ext>
            </a:extLst>
          </p:cNvPr>
          <p:cNvSpPr>
            <a:spLocks xmlns:a="http://schemas.openxmlformats.org/drawingml/2006/main" noGrp="1"/>
          </p:cNvSpPr>
          <p:nvPr/>
        </p:nvSpPr>
        <p:spPr>
          <a:xfrm xmlns:a="http://schemas.openxmlformats.org/drawingml/2006/main">
            <a:off x="6305550" y="2457450"/>
            <a:ext cx="3238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1</a:t>
            </a:r>
          </a:p>
        </p:txBody>
      </p:sp>
      <p:sp>
        <p:nvSpPr>
          <p:cNvPr id="16" name="">
            <a:extLst xmlns:a="http://schemas.openxmlformats.org/drawingml/2006/main">
              <a:ext uri="{FF2B5EF4-FFF2-40B4-BE49-F238E27FC236}">
                <a16:creationId xmlns:a16="http://schemas.microsoft.com/office/drawing/2014/main" id="{3CC35C64-967B-4D32-AA58-DBA9402173B3}"/>
              </a:ext>
            </a:extLst>
          </p:cNvPr>
          <p:cNvSpPr>
            <a:spLocks xmlns:a="http://schemas.openxmlformats.org/drawingml/2006/main" noGrp="1"/>
          </p:cNvSpPr>
          <p:nvPr/>
        </p:nvSpPr>
        <p:spPr>
          <a:xfrm xmlns:a="http://schemas.openxmlformats.org/drawingml/2006/main">
            <a:off x="6800850" y="24574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425" b="1">
                <a:solidFill>
                  <a:srgbClr val="FFFFFF"/>
                </a:solidFill>
                <a:latin typeface="Aptos"/>
                <a:ea typeface="Aptos"/>
                <a:cs typeface="Aptos"/>
              </a:defRPr>
            </a:pPr>
            <a:r>
              <a:rPr sz="1425" b="1">
                <a:solidFill>
                  <a:srgbClr val="FFFFFF"/>
                </a:solidFill>
                <a:latin typeface="Aptos"/>
                <a:ea typeface="Aptos"/>
                <a:cs typeface="Aptos"/>
              </a:rPr>
              <a:t>Reviewable draft summary</a:t>
            </a:r>
          </a:p>
        </p:txBody>
      </p:sp>
      <p:sp>
        <p:nvSpPr>
          <p:cNvPr id="17" name="">
            <a:extLst xmlns:a="http://schemas.openxmlformats.org/drawingml/2006/main">
              <a:ext uri="{FF2B5EF4-FFF2-40B4-BE49-F238E27FC236}">
                <a16:creationId xmlns:a16="http://schemas.microsoft.com/office/drawing/2014/main" id="{865FF6F8-83E2-4913-BC65-0BC293B0B1E6}"/>
              </a:ext>
            </a:extLst>
          </p:cNvPr>
          <p:cNvSpPr>
            <a:spLocks xmlns:a="http://schemas.openxmlformats.org/drawingml/2006/main" noGrp="1"/>
          </p:cNvSpPr>
          <p:nvPr/>
        </p:nvSpPr>
        <p:spPr>
          <a:xfrm xmlns:a="http://schemas.openxmlformats.org/drawingml/2006/main">
            <a:off x="6305550" y="3000375"/>
            <a:ext cx="3238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2</a:t>
            </a:r>
          </a:p>
        </p:txBody>
      </p:sp>
      <p:sp>
        <p:nvSpPr>
          <p:cNvPr id="18" name="">
            <a:extLst xmlns:a="http://schemas.openxmlformats.org/drawingml/2006/main">
              <a:ext uri="{FF2B5EF4-FFF2-40B4-BE49-F238E27FC236}">
                <a16:creationId xmlns:a16="http://schemas.microsoft.com/office/drawing/2014/main" id="{19DEF126-FD07-4449-8DE4-F92AB2B29AB8}"/>
              </a:ext>
            </a:extLst>
          </p:cNvPr>
          <p:cNvSpPr>
            <a:spLocks xmlns:a="http://schemas.openxmlformats.org/drawingml/2006/main" noGrp="1"/>
          </p:cNvSpPr>
          <p:nvPr/>
        </p:nvSpPr>
        <p:spPr>
          <a:xfrm xmlns:a="http://schemas.openxmlformats.org/drawingml/2006/main">
            <a:off x="6800850" y="3000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425" b="1">
                <a:solidFill>
                  <a:srgbClr val="FFFFFF"/>
                </a:solidFill>
                <a:latin typeface="Aptos"/>
                <a:ea typeface="Aptos"/>
                <a:cs typeface="Aptos"/>
              </a:defRPr>
            </a:pPr>
            <a:r>
              <a:rPr sz="1425" b="1">
                <a:solidFill>
                  <a:srgbClr val="FFFFFF"/>
                </a:solidFill>
                <a:latin typeface="Aptos"/>
                <a:ea typeface="Aptos"/>
                <a:cs typeface="Aptos"/>
              </a:rPr>
              <a:t>Facts / unknowns / hypotheses tags</a:t>
            </a:r>
          </a:p>
        </p:txBody>
      </p:sp>
      <p:sp>
        <p:nvSpPr>
          <p:cNvPr id="19" name="">
            <a:extLst xmlns:a="http://schemas.openxmlformats.org/drawingml/2006/main">
              <a:ext uri="{FF2B5EF4-FFF2-40B4-BE49-F238E27FC236}">
                <a16:creationId xmlns:a16="http://schemas.microsoft.com/office/drawing/2014/main" id="{C808D359-B203-4E0D-90B6-C350924872A1}"/>
              </a:ext>
            </a:extLst>
          </p:cNvPr>
          <p:cNvSpPr>
            <a:spLocks xmlns:a="http://schemas.openxmlformats.org/drawingml/2006/main" noGrp="1"/>
          </p:cNvSpPr>
          <p:nvPr/>
        </p:nvSpPr>
        <p:spPr>
          <a:xfrm xmlns:a="http://schemas.openxmlformats.org/drawingml/2006/main">
            <a:off x="6305550" y="3543300"/>
            <a:ext cx="3238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3</a:t>
            </a:r>
          </a:p>
        </p:txBody>
      </p:sp>
      <p:sp>
        <p:nvSpPr>
          <p:cNvPr id="20" name="">
            <a:extLst xmlns:a="http://schemas.openxmlformats.org/drawingml/2006/main">
              <a:ext uri="{FF2B5EF4-FFF2-40B4-BE49-F238E27FC236}">
                <a16:creationId xmlns:a16="http://schemas.microsoft.com/office/drawing/2014/main" id="{2DA52707-8383-4D69-9392-6B00217C8471}"/>
              </a:ext>
            </a:extLst>
          </p:cNvPr>
          <p:cNvSpPr>
            <a:spLocks xmlns:a="http://schemas.openxmlformats.org/drawingml/2006/main" noGrp="1"/>
          </p:cNvSpPr>
          <p:nvPr/>
        </p:nvSpPr>
        <p:spPr>
          <a:xfrm xmlns:a="http://schemas.openxmlformats.org/drawingml/2006/main">
            <a:off x="6800850" y="35433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425" b="1">
                <a:solidFill>
                  <a:srgbClr val="FFFFFF"/>
                </a:solidFill>
                <a:latin typeface="Aptos"/>
                <a:ea typeface="Aptos"/>
                <a:cs typeface="Aptos"/>
              </a:defRPr>
            </a:pPr>
            <a:r>
              <a:rPr sz="1425" b="1">
                <a:solidFill>
                  <a:srgbClr val="FFFFFF"/>
                </a:solidFill>
                <a:latin typeface="Aptos"/>
                <a:ea typeface="Aptos"/>
                <a:cs typeface="Aptos"/>
              </a:rPr>
              <a:t>Medication-reconciliation questions</a:t>
            </a:r>
          </a:p>
        </p:txBody>
      </p:sp>
      <p:sp>
        <p:nvSpPr>
          <p:cNvPr id="21" name="">
            <a:extLst xmlns:a="http://schemas.openxmlformats.org/drawingml/2006/main">
              <a:ext uri="{FF2B5EF4-FFF2-40B4-BE49-F238E27FC236}">
                <a16:creationId xmlns:a16="http://schemas.microsoft.com/office/drawing/2014/main" id="{D209D94E-EBE2-41ED-9899-C03F888A6C37}"/>
              </a:ext>
            </a:extLst>
          </p:cNvPr>
          <p:cNvSpPr>
            <a:spLocks xmlns:a="http://schemas.openxmlformats.org/drawingml/2006/main" noGrp="1"/>
          </p:cNvSpPr>
          <p:nvPr/>
        </p:nvSpPr>
        <p:spPr>
          <a:xfrm xmlns:a="http://schemas.openxmlformats.org/drawingml/2006/main">
            <a:off x="6305550" y="4086225"/>
            <a:ext cx="3238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4</a:t>
            </a:r>
          </a:p>
        </p:txBody>
      </p:sp>
      <p:sp>
        <p:nvSpPr>
          <p:cNvPr id="22" name="">
            <a:extLst xmlns:a="http://schemas.openxmlformats.org/drawingml/2006/main">
              <a:ext uri="{FF2B5EF4-FFF2-40B4-BE49-F238E27FC236}">
                <a16:creationId xmlns:a16="http://schemas.microsoft.com/office/drawing/2014/main" id="{A3120B75-755E-431E-B909-BEFDFF7BAB56}"/>
              </a:ext>
            </a:extLst>
          </p:cNvPr>
          <p:cNvSpPr>
            <a:spLocks xmlns:a="http://schemas.openxmlformats.org/drawingml/2006/main" noGrp="1"/>
          </p:cNvSpPr>
          <p:nvPr/>
        </p:nvSpPr>
        <p:spPr>
          <a:xfrm xmlns:a="http://schemas.openxmlformats.org/drawingml/2006/main">
            <a:off x="6800850" y="40862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425" b="1">
                <a:solidFill>
                  <a:srgbClr val="FFFFFF"/>
                </a:solidFill>
                <a:latin typeface="Aptos"/>
                <a:ea typeface="Aptos"/>
                <a:cs typeface="Aptos"/>
              </a:defRPr>
            </a:pPr>
            <a:r>
              <a:rPr sz="1425" b="1">
                <a:solidFill>
                  <a:srgbClr val="FFFFFF"/>
                </a:solidFill>
                <a:latin typeface="Aptos"/>
                <a:ea typeface="Aptos"/>
                <a:cs typeface="Aptos"/>
              </a:rPr>
              <a:t>Patient summary + teach-back</a:t>
            </a:r>
          </a:p>
        </p:txBody>
      </p:sp>
      <p:sp>
        <p:nvSpPr>
          <p:cNvPr id="23" name="">
            <a:extLst xmlns:a="http://schemas.openxmlformats.org/drawingml/2006/main">
              <a:ext uri="{FF2B5EF4-FFF2-40B4-BE49-F238E27FC236}">
                <a16:creationId xmlns:a16="http://schemas.microsoft.com/office/drawing/2014/main" id="{AE582E96-7721-46F6-B276-C1DF907A7B13}"/>
              </a:ext>
            </a:extLst>
          </p:cNvPr>
          <p:cNvSpPr>
            <a:spLocks xmlns:a="http://schemas.openxmlformats.org/drawingml/2006/main" noGrp="1"/>
          </p:cNvSpPr>
          <p:nvPr/>
        </p:nvSpPr>
        <p:spPr>
          <a:xfrm xmlns:a="http://schemas.openxmlformats.org/drawingml/2006/main">
            <a:off x="6305550" y="4629150"/>
            <a:ext cx="3238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5</a:t>
            </a:r>
          </a:p>
        </p:txBody>
      </p:sp>
      <p:sp>
        <p:nvSpPr>
          <p:cNvPr id="24" name="">
            <a:extLst xmlns:a="http://schemas.openxmlformats.org/drawingml/2006/main">
              <a:ext uri="{FF2B5EF4-FFF2-40B4-BE49-F238E27FC236}">
                <a16:creationId xmlns:a16="http://schemas.microsoft.com/office/drawing/2014/main" id="{96016883-CE67-4E7D-ADFA-A3A31484E4B8}"/>
              </a:ext>
            </a:extLst>
          </p:cNvPr>
          <p:cNvSpPr>
            <a:spLocks xmlns:a="http://schemas.openxmlformats.org/drawingml/2006/main" noGrp="1"/>
          </p:cNvSpPr>
          <p:nvPr/>
        </p:nvSpPr>
        <p:spPr>
          <a:xfrm xmlns:a="http://schemas.openxmlformats.org/drawingml/2006/main">
            <a:off x="6800850" y="46291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425" b="1">
                <a:solidFill>
                  <a:srgbClr val="FFFFFF"/>
                </a:solidFill>
                <a:latin typeface="Aptos"/>
                <a:ea typeface="Aptos"/>
                <a:cs typeface="Aptos"/>
              </a:defRPr>
            </a:pPr>
            <a:r>
              <a:rPr sz="1425" b="1">
                <a:solidFill>
                  <a:srgbClr val="FFFFFF"/>
                </a:solidFill>
                <a:latin typeface="Aptos"/>
                <a:ea typeface="Aptos"/>
                <a:cs typeface="Aptos"/>
              </a:rPr>
              <a:t>Follow-up and escalation items</a:t>
            </a:r>
          </a:p>
        </p:txBody>
      </p:sp>
    </p:spTree>
    <p:extLst>
      <p:ext uri="{BB962C8B-B14F-4D97-AF65-F5344CB8AC3E}">
        <p14:creationId xmlns:p14="http://schemas.microsoft.com/office/powerpoint/2010/main" val="2023523615"/>
      </p:ext>
    </p:extLst>
  </p:cSld>
</p:sld>
</file>

<file path=ppt/slides/slide3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7EF5585-0A73-4400-BFE0-DCEF2ECA4C8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2D8ED3FA-24DF-452E-95F8-28448146B6A9}"/>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1 DEMO</a:t>
            </a:r>
          </a:p>
        </p:txBody>
      </p:sp>
      <p:sp>
        <p:nvSpPr>
          <p:cNvPr id="3" name="">
            <a:extLst xmlns:a="http://schemas.openxmlformats.org/drawingml/2006/main">
              <a:ext uri="{FF2B5EF4-FFF2-40B4-BE49-F238E27FC236}">
                <a16:creationId xmlns:a16="http://schemas.microsoft.com/office/drawing/2014/main" id="{0485F586-26E7-4FCD-817F-39B948FD1FF4}"/>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Specialised-tool demo: capture → draft → review → release</a:t>
            </a:r>
          </a:p>
        </p:txBody>
      </p:sp>
      <p:sp>
        <p:nvSpPr>
          <p:cNvPr id="4" name="">
            <a:extLst xmlns:a="http://schemas.openxmlformats.org/drawingml/2006/main">
              <a:ext uri="{FF2B5EF4-FFF2-40B4-BE49-F238E27FC236}">
                <a16:creationId xmlns:a16="http://schemas.microsoft.com/office/drawing/2014/main" id="{DA95560B-2F08-4EFA-9D71-E5A9A9CC84E9}"/>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9208FD8C-8FDA-4207-B84B-2F3DA9533177}"/>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01389DAB-1C61-4304-ACED-DE50AACA0CE0}"/>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CE58A21A-D56D-48D7-BF87-0D59663C703D}"/>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Heidi/Nabla/Abridge product pages</a:t>
            </a:r>
          </a:p>
        </p:txBody>
      </p:sp>
      <p:sp>
        <p:nvSpPr>
          <p:cNvPr id="8" name="">
            <a:extLst xmlns:a="http://schemas.openxmlformats.org/drawingml/2006/main">
              <a:ext uri="{FF2B5EF4-FFF2-40B4-BE49-F238E27FC236}">
                <a16:creationId xmlns:a16="http://schemas.microsoft.com/office/drawing/2014/main" id="{CC27BA69-839C-4F75-88AE-000C377085F4}"/>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0FCD8966-13FE-414D-A231-E073810A0CD6}"/>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31</a:t>
            </a:r>
          </a:p>
        </p:txBody>
      </p:sp>
      <p:sp>
        <p:nvSpPr>
          <p:cNvPr id="10" name="">
            <a:extLst xmlns:a="http://schemas.openxmlformats.org/drawingml/2006/main">
              <a:ext uri="{FF2B5EF4-FFF2-40B4-BE49-F238E27FC236}">
                <a16:creationId xmlns:a16="http://schemas.microsoft.com/office/drawing/2014/main" id="{E349F430-56EE-4B98-9688-116A3A53918D}"/>
              </a:ext>
            </a:extLst>
          </p:cNvPr>
          <p:cNvSpPr>
            <a:spLocks xmlns:a="http://schemas.openxmlformats.org/drawingml/2006/main" noGrp="1"/>
          </p:cNvSpPr>
          <p:nvPr/>
        </p:nvSpPr>
        <p:spPr>
          <a:xfrm xmlns:a="http://schemas.openxmlformats.org/drawingml/2006/main">
            <a:off x="457200" y="2047875"/>
            <a:ext cx="2057400" cy="2324100"/>
          </a:xfrm>
          <a:prstGeom xmlns:a="http://schemas.openxmlformats.org/drawingml/2006/main" prst="roundRect">
            <a:avLst>
              <a:gd name="adj" fmla="val 8333"/>
            </a:avLst>
          </a:prstGeom>
          <a:solidFill xmlns:a="http://schemas.openxmlformats.org/drawingml/2006/main">
            <a:srgbClr val="FFFDFC"/>
          </a:solidFill>
          <a:ln xmlns:a="http://schemas.openxmlformats.org/drawingml/2006/main" w="9525">
            <a:solidFill>
              <a:srgbClr val="087E78"/>
            </a:solidFill>
            <a:prstDash val="solid"/>
          </a:ln>
        </p:spPr>
      </p:sp>
      <p:sp>
        <p:nvSpPr>
          <p:cNvPr id="11" name="">
            <a:extLst xmlns:a="http://schemas.openxmlformats.org/drawingml/2006/main">
              <a:ext uri="{FF2B5EF4-FFF2-40B4-BE49-F238E27FC236}">
                <a16:creationId xmlns:a16="http://schemas.microsoft.com/office/drawing/2014/main" id="{27AD3B83-59B8-4993-822B-DD791D6A73BE}"/>
              </a:ext>
            </a:extLst>
          </p:cNvPr>
          <p:cNvSpPr>
            <a:spLocks xmlns:a="http://schemas.openxmlformats.org/drawingml/2006/main" noGrp="1"/>
          </p:cNvSpPr>
          <p:nvPr/>
        </p:nvSpPr>
        <p:spPr>
          <a:xfrm xmlns:a="http://schemas.openxmlformats.org/drawingml/2006/main">
            <a:off x="609600" y="2238375"/>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875" b="1">
                <a:solidFill>
                  <a:srgbClr val="087E78"/>
                </a:solidFill>
                <a:latin typeface="Aptos"/>
                <a:ea typeface="Aptos"/>
                <a:cs typeface="Aptos"/>
              </a:defRPr>
            </a:pPr>
            <a:r>
              <a:rPr sz="1875" b="1">
                <a:solidFill>
                  <a:srgbClr val="087E78"/>
                </a:solidFill>
                <a:latin typeface="Aptos"/>
                <a:ea typeface="Aptos"/>
                <a:cs typeface="Aptos"/>
              </a:rPr>
              <a:t>1</a:t>
            </a:r>
          </a:p>
        </p:txBody>
      </p:sp>
      <p:sp>
        <p:nvSpPr>
          <p:cNvPr id="12" name="">
            <a:extLst xmlns:a="http://schemas.openxmlformats.org/drawingml/2006/main">
              <a:ext uri="{FF2B5EF4-FFF2-40B4-BE49-F238E27FC236}">
                <a16:creationId xmlns:a16="http://schemas.microsoft.com/office/drawing/2014/main" id="{F11A3346-1101-489C-B824-AEDC15882DF8}"/>
              </a:ext>
            </a:extLst>
          </p:cNvPr>
          <p:cNvSpPr>
            <a:spLocks xmlns:a="http://schemas.openxmlformats.org/drawingml/2006/main" noGrp="1"/>
          </p:cNvSpPr>
          <p:nvPr/>
        </p:nvSpPr>
        <p:spPr>
          <a:xfrm xmlns:a="http://schemas.openxmlformats.org/drawingml/2006/main">
            <a:off x="1047750" y="22860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25" b="1">
                <a:solidFill>
                  <a:srgbClr val="082638"/>
                </a:solidFill>
                <a:latin typeface="Aptos"/>
                <a:ea typeface="Aptos"/>
                <a:cs typeface="Aptos"/>
              </a:defRPr>
            </a:pPr>
            <a:r>
              <a:rPr sz="1125" b="1">
                <a:solidFill>
                  <a:srgbClr val="082638"/>
                </a:solidFill>
                <a:latin typeface="Aptos"/>
                <a:ea typeface="Aptos"/>
                <a:cs typeface="Aptos"/>
              </a:rPr>
              <a:t>NOTICE</a:t>
            </a:r>
          </a:p>
        </p:txBody>
      </p:sp>
      <p:sp>
        <p:nvSpPr>
          <p:cNvPr id="13" name="">
            <a:extLst xmlns:a="http://schemas.openxmlformats.org/drawingml/2006/main">
              <a:ext uri="{FF2B5EF4-FFF2-40B4-BE49-F238E27FC236}">
                <a16:creationId xmlns:a16="http://schemas.microsoft.com/office/drawing/2014/main" id="{EFE56AA0-D5A9-49F6-B0F2-9706164CC1BE}"/>
              </a:ext>
            </a:extLst>
          </p:cNvPr>
          <p:cNvSpPr>
            <a:spLocks xmlns:a="http://schemas.openxmlformats.org/drawingml/2006/main" noGrp="1"/>
          </p:cNvSpPr>
          <p:nvPr/>
        </p:nvSpPr>
        <p:spPr>
          <a:xfrm xmlns:a="http://schemas.openxmlformats.org/drawingml/2006/main">
            <a:off x="666750" y="2924175"/>
            <a:ext cx="1638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183340"/>
                </a:solidFill>
                <a:latin typeface="Aptos"/>
                <a:ea typeface="Aptos"/>
                <a:cs typeface="Aptos"/>
              </a:defRPr>
            </a:pPr>
            <a:r>
              <a:rPr sz="1350" b="1">
                <a:solidFill>
                  <a:srgbClr val="183340"/>
                </a:solidFill>
                <a:latin typeface="Aptos"/>
                <a:ea typeface="Aptos"/>
                <a:cs typeface="Aptos"/>
              </a:rPr>
              <a:t>Synthetic encounter; consent script</a:t>
            </a:r>
          </a:p>
        </p:txBody>
      </p:sp>
      <p:sp>
        <p:nvSpPr>
          <p:cNvPr id="14" name="">
            <a:extLst xmlns:a="http://schemas.openxmlformats.org/drawingml/2006/main">
              <a:ext uri="{FF2B5EF4-FFF2-40B4-BE49-F238E27FC236}">
                <a16:creationId xmlns:a16="http://schemas.microsoft.com/office/drawing/2014/main" id="{B5B25D9E-AE87-464B-9B6B-030EF5549F41}"/>
              </a:ext>
            </a:extLst>
          </p:cNvPr>
          <p:cNvSpPr>
            <a:spLocks xmlns:a="http://schemas.openxmlformats.org/drawingml/2006/main" noGrp="1"/>
          </p:cNvSpPr>
          <p:nvPr/>
        </p:nvSpPr>
        <p:spPr>
          <a:xfrm xmlns:a="http://schemas.openxmlformats.org/drawingml/2006/main">
            <a:off x="2781300" y="2047875"/>
            <a:ext cx="2057400" cy="2324100"/>
          </a:xfrm>
          <a:prstGeom xmlns:a="http://schemas.openxmlformats.org/drawingml/2006/main" prst="roundRect">
            <a:avLst>
              <a:gd name="adj" fmla="val 8333"/>
            </a:avLst>
          </a:prstGeom>
          <a:solidFill xmlns:a="http://schemas.openxmlformats.org/drawingml/2006/main">
            <a:srgbClr val="FFFDFC"/>
          </a:solidFill>
          <a:ln xmlns:a="http://schemas.openxmlformats.org/drawingml/2006/main" w="9525">
            <a:solidFill>
              <a:srgbClr val="087E78"/>
            </a:solidFill>
            <a:prstDash val="solid"/>
          </a:ln>
        </p:spPr>
      </p:sp>
      <p:sp>
        <p:nvSpPr>
          <p:cNvPr id="15" name="">
            <a:extLst xmlns:a="http://schemas.openxmlformats.org/drawingml/2006/main">
              <a:ext uri="{FF2B5EF4-FFF2-40B4-BE49-F238E27FC236}">
                <a16:creationId xmlns:a16="http://schemas.microsoft.com/office/drawing/2014/main" id="{479420F7-34C1-4F54-9E83-1803EC9DF767}"/>
              </a:ext>
            </a:extLst>
          </p:cNvPr>
          <p:cNvSpPr>
            <a:spLocks xmlns:a="http://schemas.openxmlformats.org/drawingml/2006/main" noGrp="1"/>
          </p:cNvSpPr>
          <p:nvPr/>
        </p:nvSpPr>
        <p:spPr>
          <a:xfrm xmlns:a="http://schemas.openxmlformats.org/drawingml/2006/main">
            <a:off x="2933700" y="2238375"/>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875" b="1">
                <a:solidFill>
                  <a:srgbClr val="087E78"/>
                </a:solidFill>
                <a:latin typeface="Aptos"/>
                <a:ea typeface="Aptos"/>
                <a:cs typeface="Aptos"/>
              </a:defRPr>
            </a:pPr>
            <a:r>
              <a:rPr sz="1875" b="1">
                <a:solidFill>
                  <a:srgbClr val="087E78"/>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B58EC76B-99C1-44D2-86E1-2EE13D8C7B5C}"/>
              </a:ext>
            </a:extLst>
          </p:cNvPr>
          <p:cNvSpPr>
            <a:spLocks xmlns:a="http://schemas.openxmlformats.org/drawingml/2006/main" noGrp="1"/>
          </p:cNvSpPr>
          <p:nvPr/>
        </p:nvSpPr>
        <p:spPr>
          <a:xfrm xmlns:a="http://schemas.openxmlformats.org/drawingml/2006/main">
            <a:off x="3371850" y="22860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25" b="1">
                <a:solidFill>
                  <a:srgbClr val="082638"/>
                </a:solidFill>
                <a:latin typeface="Aptos"/>
                <a:ea typeface="Aptos"/>
                <a:cs typeface="Aptos"/>
              </a:defRPr>
            </a:pPr>
            <a:r>
              <a:rPr sz="1125" b="1">
                <a:solidFill>
                  <a:srgbClr val="082638"/>
                </a:solidFill>
                <a:latin typeface="Aptos"/>
                <a:ea typeface="Aptos"/>
                <a:cs typeface="Aptos"/>
              </a:rPr>
              <a:t>CAPTURE</a:t>
            </a:r>
          </a:p>
        </p:txBody>
      </p:sp>
      <p:sp>
        <p:nvSpPr>
          <p:cNvPr id="17" name="">
            <a:extLst xmlns:a="http://schemas.openxmlformats.org/drawingml/2006/main">
              <a:ext uri="{FF2B5EF4-FFF2-40B4-BE49-F238E27FC236}">
                <a16:creationId xmlns:a16="http://schemas.microsoft.com/office/drawing/2014/main" id="{B6E59A8F-08F5-41E5-9B97-CBE683BA622B}"/>
              </a:ext>
            </a:extLst>
          </p:cNvPr>
          <p:cNvSpPr>
            <a:spLocks xmlns:a="http://schemas.openxmlformats.org/drawingml/2006/main" noGrp="1"/>
          </p:cNvSpPr>
          <p:nvPr/>
        </p:nvSpPr>
        <p:spPr>
          <a:xfrm xmlns:a="http://schemas.openxmlformats.org/drawingml/2006/main">
            <a:off x="2990850" y="2924175"/>
            <a:ext cx="1638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183340"/>
                </a:solidFill>
                <a:latin typeface="Aptos"/>
                <a:ea typeface="Aptos"/>
                <a:cs typeface="Aptos"/>
              </a:defRPr>
            </a:pPr>
            <a:r>
              <a:rPr sz="1350" b="1">
                <a:solidFill>
                  <a:srgbClr val="183340"/>
                </a:solidFill>
                <a:latin typeface="Aptos"/>
                <a:ea typeface="Aptos"/>
                <a:cs typeface="Aptos"/>
              </a:rPr>
              <a:t>Enter prepared transcript; no recording needed</a:t>
            </a:r>
          </a:p>
        </p:txBody>
      </p:sp>
      <p:sp>
        <p:nvSpPr>
          <p:cNvPr id="18" name="">
            <a:extLst xmlns:a="http://schemas.openxmlformats.org/drawingml/2006/main">
              <a:ext uri="{FF2B5EF4-FFF2-40B4-BE49-F238E27FC236}">
                <a16:creationId xmlns:a16="http://schemas.microsoft.com/office/drawing/2014/main" id="{CB2F9A32-FAA7-47AB-B881-19CD66BE1E96}"/>
              </a:ext>
            </a:extLst>
          </p:cNvPr>
          <p:cNvSpPr>
            <a:spLocks xmlns:a="http://schemas.openxmlformats.org/drawingml/2006/main" noGrp="1"/>
          </p:cNvSpPr>
          <p:nvPr/>
        </p:nvSpPr>
        <p:spPr>
          <a:xfrm xmlns:a="http://schemas.openxmlformats.org/drawingml/2006/main">
            <a:off x="5105400" y="2047875"/>
            <a:ext cx="2057400" cy="2324100"/>
          </a:xfrm>
          <a:prstGeom xmlns:a="http://schemas.openxmlformats.org/drawingml/2006/main" prst="roundRect">
            <a:avLst>
              <a:gd name="adj" fmla="val 8333"/>
            </a:avLst>
          </a:prstGeom>
          <a:solidFill xmlns:a="http://schemas.openxmlformats.org/drawingml/2006/main">
            <a:srgbClr val="FFFDFC"/>
          </a:solidFill>
          <a:ln xmlns:a="http://schemas.openxmlformats.org/drawingml/2006/main" w="9525">
            <a:solidFill>
              <a:srgbClr val="087E78"/>
            </a:solidFill>
            <a:prstDash val="solid"/>
          </a:ln>
        </p:spPr>
      </p:sp>
      <p:sp>
        <p:nvSpPr>
          <p:cNvPr id="19" name="">
            <a:extLst xmlns:a="http://schemas.openxmlformats.org/drawingml/2006/main">
              <a:ext uri="{FF2B5EF4-FFF2-40B4-BE49-F238E27FC236}">
                <a16:creationId xmlns:a16="http://schemas.microsoft.com/office/drawing/2014/main" id="{C5E9A0F7-6966-4A7F-98CB-AE672F6D9DD2}"/>
              </a:ext>
            </a:extLst>
          </p:cNvPr>
          <p:cNvSpPr>
            <a:spLocks xmlns:a="http://schemas.openxmlformats.org/drawingml/2006/main" noGrp="1"/>
          </p:cNvSpPr>
          <p:nvPr/>
        </p:nvSpPr>
        <p:spPr>
          <a:xfrm xmlns:a="http://schemas.openxmlformats.org/drawingml/2006/main">
            <a:off x="5257800" y="2238375"/>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875" b="1">
                <a:solidFill>
                  <a:srgbClr val="087E78"/>
                </a:solidFill>
                <a:latin typeface="Aptos"/>
                <a:ea typeface="Aptos"/>
                <a:cs typeface="Aptos"/>
              </a:defRPr>
            </a:pPr>
            <a:r>
              <a:rPr sz="1875" b="1">
                <a:solidFill>
                  <a:srgbClr val="087E78"/>
                </a:solidFill>
                <a:latin typeface="Aptos"/>
                <a:ea typeface="Aptos"/>
                <a:cs typeface="Aptos"/>
              </a:rPr>
              <a:t>3</a:t>
            </a:r>
          </a:p>
        </p:txBody>
      </p:sp>
      <p:sp>
        <p:nvSpPr>
          <p:cNvPr id="20" name="">
            <a:extLst xmlns:a="http://schemas.openxmlformats.org/drawingml/2006/main">
              <a:ext uri="{FF2B5EF4-FFF2-40B4-BE49-F238E27FC236}">
                <a16:creationId xmlns:a16="http://schemas.microsoft.com/office/drawing/2014/main" id="{513EB906-CBA4-44E6-A647-FF981A827772}"/>
              </a:ext>
            </a:extLst>
          </p:cNvPr>
          <p:cNvSpPr>
            <a:spLocks xmlns:a="http://schemas.openxmlformats.org/drawingml/2006/main" noGrp="1"/>
          </p:cNvSpPr>
          <p:nvPr/>
        </p:nvSpPr>
        <p:spPr>
          <a:xfrm xmlns:a="http://schemas.openxmlformats.org/drawingml/2006/main">
            <a:off x="5695950" y="22860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25" b="1">
                <a:solidFill>
                  <a:srgbClr val="082638"/>
                </a:solidFill>
                <a:latin typeface="Aptos"/>
                <a:ea typeface="Aptos"/>
                <a:cs typeface="Aptos"/>
              </a:defRPr>
            </a:pPr>
            <a:r>
              <a:rPr sz="1125" b="1">
                <a:solidFill>
                  <a:srgbClr val="082638"/>
                </a:solidFill>
                <a:latin typeface="Aptos"/>
                <a:ea typeface="Aptos"/>
                <a:cs typeface="Aptos"/>
              </a:rPr>
              <a:t>DRAFT</a:t>
            </a:r>
          </a:p>
        </p:txBody>
      </p:sp>
      <p:sp>
        <p:nvSpPr>
          <p:cNvPr id="21" name="">
            <a:extLst xmlns:a="http://schemas.openxmlformats.org/drawingml/2006/main">
              <a:ext uri="{FF2B5EF4-FFF2-40B4-BE49-F238E27FC236}">
                <a16:creationId xmlns:a16="http://schemas.microsoft.com/office/drawing/2014/main" id="{AE9CC396-779A-40C7-BB87-17BCEB03BDC4}"/>
              </a:ext>
            </a:extLst>
          </p:cNvPr>
          <p:cNvSpPr>
            <a:spLocks xmlns:a="http://schemas.openxmlformats.org/drawingml/2006/main" noGrp="1"/>
          </p:cNvSpPr>
          <p:nvPr/>
        </p:nvSpPr>
        <p:spPr>
          <a:xfrm xmlns:a="http://schemas.openxmlformats.org/drawingml/2006/main">
            <a:off x="5314950" y="2924175"/>
            <a:ext cx="1638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183340"/>
                </a:solidFill>
                <a:latin typeface="Aptos"/>
                <a:ea typeface="Aptos"/>
                <a:cs typeface="Aptos"/>
              </a:defRPr>
            </a:pPr>
            <a:r>
              <a:rPr sz="1350" b="1">
                <a:solidFill>
                  <a:srgbClr val="183340"/>
                </a:solidFill>
                <a:latin typeface="Aptos"/>
                <a:ea typeface="Aptos"/>
                <a:cs typeface="Aptos"/>
              </a:rPr>
              <a:t>Generate note + patient instructions</a:t>
            </a:r>
          </a:p>
        </p:txBody>
      </p:sp>
      <p:sp>
        <p:nvSpPr>
          <p:cNvPr id="22" name="">
            <a:extLst xmlns:a="http://schemas.openxmlformats.org/drawingml/2006/main">
              <a:ext uri="{FF2B5EF4-FFF2-40B4-BE49-F238E27FC236}">
                <a16:creationId xmlns:a16="http://schemas.microsoft.com/office/drawing/2014/main" id="{D706DA89-3D53-46C6-B9F0-67FD5EFC9B8A}"/>
              </a:ext>
            </a:extLst>
          </p:cNvPr>
          <p:cNvSpPr>
            <a:spLocks xmlns:a="http://schemas.openxmlformats.org/drawingml/2006/main" noGrp="1"/>
          </p:cNvSpPr>
          <p:nvPr/>
        </p:nvSpPr>
        <p:spPr>
          <a:xfrm xmlns:a="http://schemas.openxmlformats.org/drawingml/2006/main">
            <a:off x="7429500" y="2047875"/>
            <a:ext cx="2057400" cy="2324100"/>
          </a:xfrm>
          <a:prstGeom xmlns:a="http://schemas.openxmlformats.org/drawingml/2006/main" prst="roundRect">
            <a:avLst>
              <a:gd name="adj" fmla="val 8333"/>
            </a:avLst>
          </a:prstGeom>
          <a:solidFill xmlns:a="http://schemas.openxmlformats.org/drawingml/2006/main">
            <a:srgbClr val="FBE7DF"/>
          </a:solidFill>
          <a:ln xmlns:a="http://schemas.openxmlformats.org/drawingml/2006/main" w="9525">
            <a:solidFill>
              <a:srgbClr val="E8694A"/>
            </a:solidFill>
            <a:prstDash val="solid"/>
          </a:ln>
        </p:spPr>
      </p:sp>
      <p:sp>
        <p:nvSpPr>
          <p:cNvPr id="23" name="">
            <a:extLst xmlns:a="http://schemas.openxmlformats.org/drawingml/2006/main">
              <a:ext uri="{FF2B5EF4-FFF2-40B4-BE49-F238E27FC236}">
                <a16:creationId xmlns:a16="http://schemas.microsoft.com/office/drawing/2014/main" id="{3A421D0D-AEB4-4368-9204-1F922BE2B4DB}"/>
              </a:ext>
            </a:extLst>
          </p:cNvPr>
          <p:cNvSpPr>
            <a:spLocks xmlns:a="http://schemas.openxmlformats.org/drawingml/2006/main" noGrp="1"/>
          </p:cNvSpPr>
          <p:nvPr/>
        </p:nvSpPr>
        <p:spPr>
          <a:xfrm xmlns:a="http://schemas.openxmlformats.org/drawingml/2006/main">
            <a:off x="7581900" y="2238375"/>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875" b="1">
                <a:solidFill>
                  <a:srgbClr val="E8694A"/>
                </a:solidFill>
                <a:latin typeface="Aptos"/>
                <a:ea typeface="Aptos"/>
                <a:cs typeface="Aptos"/>
              </a:defRPr>
            </a:pPr>
            <a:r>
              <a:rPr sz="1875" b="1">
                <a:solidFill>
                  <a:srgbClr val="E8694A"/>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FADA67A1-C11C-4B68-8A70-5708B60DEEBE}"/>
              </a:ext>
            </a:extLst>
          </p:cNvPr>
          <p:cNvSpPr>
            <a:spLocks xmlns:a="http://schemas.openxmlformats.org/drawingml/2006/main" noGrp="1"/>
          </p:cNvSpPr>
          <p:nvPr/>
        </p:nvSpPr>
        <p:spPr>
          <a:xfrm xmlns:a="http://schemas.openxmlformats.org/drawingml/2006/main">
            <a:off x="8020050" y="22860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25" b="1">
                <a:solidFill>
                  <a:srgbClr val="082638"/>
                </a:solidFill>
                <a:latin typeface="Aptos"/>
                <a:ea typeface="Aptos"/>
                <a:cs typeface="Aptos"/>
              </a:defRPr>
            </a:pPr>
            <a:r>
              <a:rPr sz="1125" b="1">
                <a:solidFill>
                  <a:srgbClr val="082638"/>
                </a:solidFill>
                <a:latin typeface="Aptos"/>
                <a:ea typeface="Aptos"/>
                <a:cs typeface="Aptos"/>
              </a:rPr>
              <a:t>AUDIT</a:t>
            </a:r>
          </a:p>
        </p:txBody>
      </p:sp>
      <p:sp>
        <p:nvSpPr>
          <p:cNvPr id="25" name="">
            <a:extLst xmlns:a="http://schemas.openxmlformats.org/drawingml/2006/main">
              <a:ext uri="{FF2B5EF4-FFF2-40B4-BE49-F238E27FC236}">
                <a16:creationId xmlns:a16="http://schemas.microsoft.com/office/drawing/2014/main" id="{5D362B76-4E2E-4CDD-99FB-493CD406E2B3}"/>
              </a:ext>
            </a:extLst>
          </p:cNvPr>
          <p:cNvSpPr>
            <a:spLocks xmlns:a="http://schemas.openxmlformats.org/drawingml/2006/main" noGrp="1"/>
          </p:cNvSpPr>
          <p:nvPr/>
        </p:nvSpPr>
        <p:spPr>
          <a:xfrm xmlns:a="http://schemas.openxmlformats.org/drawingml/2006/main">
            <a:off x="7639050" y="2924175"/>
            <a:ext cx="1638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183340"/>
                </a:solidFill>
                <a:latin typeface="Aptos"/>
                <a:ea typeface="Aptos"/>
                <a:cs typeface="Aptos"/>
              </a:defRPr>
            </a:pPr>
            <a:r>
              <a:rPr sz="1350" b="1">
                <a:solidFill>
                  <a:srgbClr val="183340"/>
                </a:solidFill>
                <a:latin typeface="Aptos"/>
                <a:ea typeface="Aptos"/>
                <a:cs typeface="Aptos"/>
              </a:rPr>
              <a:t>Find omissions, inventions and unsafe phrasing</a:t>
            </a:r>
          </a:p>
        </p:txBody>
      </p:sp>
      <p:sp>
        <p:nvSpPr>
          <p:cNvPr id="26" name="">
            <a:extLst xmlns:a="http://schemas.openxmlformats.org/drawingml/2006/main">
              <a:ext uri="{FF2B5EF4-FFF2-40B4-BE49-F238E27FC236}">
                <a16:creationId xmlns:a16="http://schemas.microsoft.com/office/drawing/2014/main" id="{834AC18F-BF1D-4879-8E91-AE350742DC95}"/>
              </a:ext>
            </a:extLst>
          </p:cNvPr>
          <p:cNvSpPr>
            <a:spLocks xmlns:a="http://schemas.openxmlformats.org/drawingml/2006/main" noGrp="1"/>
          </p:cNvSpPr>
          <p:nvPr/>
        </p:nvSpPr>
        <p:spPr>
          <a:xfrm xmlns:a="http://schemas.openxmlformats.org/drawingml/2006/main">
            <a:off x="9753600" y="2047875"/>
            <a:ext cx="2057400" cy="2324100"/>
          </a:xfrm>
          <a:prstGeom xmlns:a="http://schemas.openxmlformats.org/drawingml/2006/main" prst="roundRect">
            <a:avLst>
              <a:gd name="adj" fmla="val 8333"/>
            </a:avLst>
          </a:prstGeom>
          <a:solidFill xmlns:a="http://schemas.openxmlformats.org/drawingml/2006/main">
            <a:srgbClr val="FFFDFC"/>
          </a:solidFill>
          <a:ln xmlns:a="http://schemas.openxmlformats.org/drawingml/2006/main" w="9525">
            <a:solidFill>
              <a:srgbClr val="087E78"/>
            </a:solidFill>
            <a:prstDash val="solid"/>
          </a:ln>
        </p:spPr>
      </p:sp>
      <p:sp>
        <p:nvSpPr>
          <p:cNvPr id="27" name="">
            <a:extLst xmlns:a="http://schemas.openxmlformats.org/drawingml/2006/main">
              <a:ext uri="{FF2B5EF4-FFF2-40B4-BE49-F238E27FC236}">
                <a16:creationId xmlns:a16="http://schemas.microsoft.com/office/drawing/2014/main" id="{301E278D-FE8C-442C-968A-DF0D2431CF1D}"/>
              </a:ext>
            </a:extLst>
          </p:cNvPr>
          <p:cNvSpPr>
            <a:spLocks xmlns:a="http://schemas.openxmlformats.org/drawingml/2006/main" noGrp="1"/>
          </p:cNvSpPr>
          <p:nvPr/>
        </p:nvSpPr>
        <p:spPr>
          <a:xfrm xmlns:a="http://schemas.openxmlformats.org/drawingml/2006/main">
            <a:off x="9906000" y="2238375"/>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875" b="1">
                <a:solidFill>
                  <a:srgbClr val="087E78"/>
                </a:solidFill>
                <a:latin typeface="Aptos"/>
                <a:ea typeface="Aptos"/>
                <a:cs typeface="Aptos"/>
              </a:defRPr>
            </a:pPr>
            <a:r>
              <a:rPr sz="1875" b="1">
                <a:solidFill>
                  <a:srgbClr val="087E78"/>
                </a:solidFill>
                <a:latin typeface="Aptos"/>
                <a:ea typeface="Aptos"/>
                <a:cs typeface="Aptos"/>
              </a:rPr>
              <a:t>5</a:t>
            </a:r>
          </a:p>
        </p:txBody>
      </p:sp>
      <p:sp>
        <p:nvSpPr>
          <p:cNvPr id="28" name="">
            <a:extLst xmlns:a="http://schemas.openxmlformats.org/drawingml/2006/main">
              <a:ext uri="{FF2B5EF4-FFF2-40B4-BE49-F238E27FC236}">
                <a16:creationId xmlns:a16="http://schemas.microsoft.com/office/drawing/2014/main" id="{1F993D72-B6AA-4F84-A0E9-108879711D94}"/>
              </a:ext>
            </a:extLst>
          </p:cNvPr>
          <p:cNvSpPr>
            <a:spLocks xmlns:a="http://schemas.openxmlformats.org/drawingml/2006/main" noGrp="1"/>
          </p:cNvSpPr>
          <p:nvPr/>
        </p:nvSpPr>
        <p:spPr>
          <a:xfrm xmlns:a="http://schemas.openxmlformats.org/drawingml/2006/main">
            <a:off x="10344150" y="22860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25" b="1">
                <a:solidFill>
                  <a:srgbClr val="082638"/>
                </a:solidFill>
                <a:latin typeface="Aptos"/>
                <a:ea typeface="Aptos"/>
                <a:cs typeface="Aptos"/>
              </a:defRPr>
            </a:pPr>
            <a:r>
              <a:rPr sz="1125" b="1">
                <a:solidFill>
                  <a:srgbClr val="082638"/>
                </a:solidFill>
                <a:latin typeface="Aptos"/>
                <a:ea typeface="Aptos"/>
                <a:cs typeface="Aptos"/>
              </a:rPr>
              <a:t>DECIDE</a:t>
            </a:r>
          </a:p>
        </p:txBody>
      </p:sp>
      <p:sp>
        <p:nvSpPr>
          <p:cNvPr id="29" name="">
            <a:extLst xmlns:a="http://schemas.openxmlformats.org/drawingml/2006/main">
              <a:ext uri="{FF2B5EF4-FFF2-40B4-BE49-F238E27FC236}">
                <a16:creationId xmlns:a16="http://schemas.microsoft.com/office/drawing/2014/main" id="{0DD749AA-0F3E-4880-9AB3-2BD96FDFF087}"/>
              </a:ext>
            </a:extLst>
          </p:cNvPr>
          <p:cNvSpPr>
            <a:spLocks xmlns:a="http://schemas.openxmlformats.org/drawingml/2006/main" noGrp="1"/>
          </p:cNvSpPr>
          <p:nvPr/>
        </p:nvSpPr>
        <p:spPr>
          <a:xfrm xmlns:a="http://schemas.openxmlformats.org/drawingml/2006/main">
            <a:off x="9963150" y="2924175"/>
            <a:ext cx="1638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183340"/>
                </a:solidFill>
                <a:latin typeface="Aptos"/>
                <a:ea typeface="Aptos"/>
                <a:cs typeface="Aptos"/>
              </a:defRPr>
            </a:pPr>
            <a:r>
              <a:rPr sz="1350" b="1">
                <a:solidFill>
                  <a:srgbClr val="183340"/>
                </a:solidFill>
                <a:latin typeface="Aptos"/>
                <a:ea typeface="Aptos"/>
                <a:cs typeface="Aptos"/>
              </a:rPr>
              <a:t>Edit, sign or reject; record reason</a:t>
            </a:r>
          </a:p>
        </p:txBody>
      </p:sp>
      <p:sp>
        <p:nvSpPr>
          <p:cNvPr id="30" name="">
            <a:extLst xmlns:a="http://schemas.openxmlformats.org/drawingml/2006/main">
              <a:ext uri="{FF2B5EF4-FFF2-40B4-BE49-F238E27FC236}">
                <a16:creationId xmlns:a16="http://schemas.microsoft.com/office/drawing/2014/main" id="{60937CA0-1C60-4F3C-908F-B4EA30A4B21D}"/>
              </a:ext>
            </a:extLst>
          </p:cNvPr>
          <p:cNvSpPr>
            <a:spLocks xmlns:a="http://schemas.openxmlformats.org/drawingml/2006/main" noGrp="1"/>
          </p:cNvSpPr>
          <p:nvPr/>
        </p:nvSpPr>
        <p:spPr>
          <a:xfrm xmlns:a="http://schemas.openxmlformats.org/drawingml/2006/main">
            <a:off x="1600200" y="4933950"/>
            <a:ext cx="9048750" cy="685800"/>
          </a:xfrm>
          <a:prstGeom xmlns:a="http://schemas.openxmlformats.org/drawingml/2006/main" prst="roundRect">
            <a:avLst>
              <a:gd name="adj" fmla="val 25000"/>
            </a:avLst>
          </a:prstGeom>
          <a:solidFill xmlns:a="http://schemas.openxmlformats.org/drawingml/2006/main">
            <a:srgbClr val="082638"/>
          </a:solidFill>
          <a:ln xmlns:a="http://schemas.openxmlformats.org/drawingml/2006/main" w="9525">
            <a:solidFill>
              <a:srgbClr val="082638"/>
            </a:solidFill>
            <a:prstDash val="solid"/>
          </a:ln>
        </p:spPr>
      </p:sp>
      <p:sp>
        <p:nvSpPr>
          <p:cNvPr id="31" name="">
            <a:extLst xmlns:a="http://schemas.openxmlformats.org/drawingml/2006/main">
              <a:ext uri="{FF2B5EF4-FFF2-40B4-BE49-F238E27FC236}">
                <a16:creationId xmlns:a16="http://schemas.microsoft.com/office/drawing/2014/main" id="{FAB7E4B9-C643-4FC3-A9C4-1803C4B20BA9}"/>
              </a:ext>
            </a:extLst>
          </p:cNvPr>
          <p:cNvSpPr>
            <a:spLocks xmlns:a="http://schemas.openxmlformats.org/drawingml/2006/main" noGrp="1"/>
          </p:cNvSpPr>
          <p:nvPr/>
        </p:nvSpPr>
        <p:spPr>
          <a:xfrm xmlns:a="http://schemas.openxmlformats.org/drawingml/2006/main">
            <a:off x="1885950" y="5095875"/>
            <a:ext cx="8477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07"/>
          </a:bodyPr>
          <a:lstStyle xmlns:a="http://schemas.openxmlformats.org/drawingml/2006/main"/>
          <a:p xmlns:a="http://schemas.openxmlformats.org/drawingml/2006/main">
            <a:pPr algn="ctr">
              <a:lnSpc>
                <a:spcPct val="103000"/>
              </a:lnSpc>
              <a:buNone/>
              <a:defRPr sz="1500" b="1">
                <a:solidFill>
                  <a:srgbClr val="FFFFFF"/>
                </a:solidFill>
                <a:latin typeface="Aptos"/>
                <a:ea typeface="Aptos"/>
                <a:cs typeface="Aptos"/>
              </a:defRPr>
            </a:pPr>
            <a:r>
              <a:rPr sz="1500" b="1">
                <a:solidFill>
                  <a:srgbClr val="FFFFFF"/>
                </a:solidFill>
                <a:latin typeface="Aptos"/>
                <a:ea typeface="Aptos"/>
                <a:cs typeface="Aptos"/>
              </a:rPr>
              <a:t>Stop rule: an invented diagnosis, dose, allergy or red-flag disposition enters the draft unnoticed.</a:t>
            </a:r>
          </a:p>
        </p:txBody>
      </p:sp>
    </p:spTree>
    <p:extLst>
      <p:ext uri="{BB962C8B-B14F-4D97-AF65-F5344CB8AC3E}">
        <p14:creationId xmlns:p14="http://schemas.microsoft.com/office/powerpoint/2010/main" val="334286384"/>
      </p:ext>
    </p:extLst>
  </p:cSld>
</p:sld>
</file>

<file path=ppt/slides/slide3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E84C3D-6770-4F8F-A238-D430B6EE68F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92EA0D0D-1FFA-4046-A1B3-7CF0570681B7}"/>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9560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CHATGPT EXERCISE</a:t>
            </a:r>
          </a:p>
        </p:txBody>
      </p:sp>
      <p:sp>
        <p:nvSpPr>
          <p:cNvPr id="3" name="">
            <a:extLst xmlns:a="http://schemas.openxmlformats.org/drawingml/2006/main">
              <a:ext uri="{FF2B5EF4-FFF2-40B4-BE49-F238E27FC236}">
                <a16:creationId xmlns:a16="http://schemas.microsoft.com/office/drawing/2014/main" id="{C3276113-ABBA-4B62-BF8B-E0025B1A355E}"/>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ChatGPT fallback: create a tagged, reviewable draft</a:t>
            </a:r>
          </a:p>
        </p:txBody>
      </p:sp>
      <p:sp>
        <p:nvSpPr>
          <p:cNvPr id="4" name="">
            <a:extLst xmlns:a="http://schemas.openxmlformats.org/drawingml/2006/main">
              <a:ext uri="{FF2B5EF4-FFF2-40B4-BE49-F238E27FC236}">
                <a16:creationId xmlns:a16="http://schemas.microsoft.com/office/drawing/2014/main" id="{BCA90845-6C48-4521-A478-B9BE4EC23895}"/>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E1B9F623-C5D6-470C-8B42-50DBBE40CDC7}"/>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857993E1-3B5C-4C74-9758-04101AEA4768}"/>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A369B162-9066-412C-A9C7-4DA97AC4E2DE}"/>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Full copy-ready prompt: Prompt Cards PDF</a:t>
            </a:r>
          </a:p>
        </p:txBody>
      </p:sp>
      <p:sp>
        <p:nvSpPr>
          <p:cNvPr id="8" name="">
            <a:extLst xmlns:a="http://schemas.openxmlformats.org/drawingml/2006/main">
              <a:ext uri="{FF2B5EF4-FFF2-40B4-BE49-F238E27FC236}">
                <a16:creationId xmlns:a16="http://schemas.microsoft.com/office/drawing/2014/main" id="{DAC92C24-1F76-47BB-9DBA-024BC317397F}"/>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8A5E9F1E-0188-4697-A512-79A4990EBC07}"/>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32</a:t>
            </a:r>
          </a:p>
        </p:txBody>
      </p:sp>
      <p:sp>
        <p:nvSpPr>
          <p:cNvPr id="10" name="">
            <a:extLst xmlns:a="http://schemas.openxmlformats.org/drawingml/2006/main">
              <a:ext uri="{FF2B5EF4-FFF2-40B4-BE49-F238E27FC236}">
                <a16:creationId xmlns:a16="http://schemas.microsoft.com/office/drawing/2014/main" id="{153B41BF-3CF1-434A-9B72-573682DB558F}"/>
              </a:ext>
            </a:extLst>
          </p:cNvPr>
          <p:cNvSpPr>
            <a:spLocks xmlns:a="http://schemas.openxmlformats.org/drawingml/2006/main" noGrp="1"/>
          </p:cNvSpPr>
          <p:nvPr/>
        </p:nvSpPr>
        <p:spPr>
          <a:xfrm xmlns:a="http://schemas.openxmlformats.org/drawingml/2006/main">
            <a:off x="609600" y="1714500"/>
            <a:ext cx="7029450" cy="4095750"/>
          </a:xfrm>
          <a:prstGeom xmlns:a="http://schemas.openxmlformats.org/drawingml/2006/main" prst="roundRect">
            <a:avLst>
              <a:gd name="adj" fmla="val 4651"/>
            </a:avLst>
          </a:prstGeom>
          <a:solidFill xmlns:a="http://schemas.openxmlformats.org/drawingml/2006/main">
            <a:srgbClr val="082638"/>
          </a:solidFill>
          <a:ln xmlns:a="http://schemas.openxmlformats.org/drawingml/2006/main" w="9525">
            <a:solidFill>
              <a:srgbClr val="082638"/>
            </a:solidFill>
            <a:prstDash val="solid"/>
          </a:ln>
        </p:spPr>
      </p:sp>
      <p:sp>
        <p:nvSpPr>
          <p:cNvPr id="11" name="">
            <a:extLst xmlns:a="http://schemas.openxmlformats.org/drawingml/2006/main">
              <a:ext uri="{FF2B5EF4-FFF2-40B4-BE49-F238E27FC236}">
                <a16:creationId xmlns:a16="http://schemas.microsoft.com/office/drawing/2014/main" id="{35A34590-9519-4107-B3CC-1DE21D0DCD45}"/>
              </a:ext>
            </a:extLst>
          </p:cNvPr>
          <p:cNvSpPr>
            <a:spLocks xmlns:a="http://schemas.openxmlformats.org/drawingml/2006/main" noGrp="1"/>
          </p:cNvSpPr>
          <p:nvPr/>
        </p:nvSpPr>
        <p:spPr>
          <a:xfrm xmlns:a="http://schemas.openxmlformats.org/drawingml/2006/main">
            <a:off x="838200" y="1924050"/>
            <a:ext cx="9906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PROMPT 1</a:t>
            </a:r>
          </a:p>
        </p:txBody>
      </p:sp>
      <p:sp>
        <p:nvSpPr>
          <p:cNvPr id="12" name="">
            <a:extLst xmlns:a="http://schemas.openxmlformats.org/drawingml/2006/main">
              <a:ext uri="{FF2B5EF4-FFF2-40B4-BE49-F238E27FC236}">
                <a16:creationId xmlns:a16="http://schemas.microsoft.com/office/drawing/2014/main" id="{7C1866CD-0AED-4B73-8106-62CEC092C038}"/>
              </a:ext>
            </a:extLst>
          </p:cNvPr>
          <p:cNvSpPr>
            <a:spLocks xmlns:a="http://schemas.openxmlformats.org/drawingml/2006/main" noGrp="1"/>
          </p:cNvSpPr>
          <p:nvPr/>
        </p:nvSpPr>
        <p:spPr>
          <a:xfrm xmlns:a="http://schemas.openxmlformats.org/drawingml/2006/main">
            <a:off x="838200" y="2343150"/>
            <a:ext cx="6553200" cy="300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FFFFFF"/>
                </a:solidFill>
                <a:latin typeface="Aptos"/>
                <a:ea typeface="Aptos"/>
                <a:cs typeface="Aptos"/>
              </a:defRPr>
            </a:pPr>
            <a:r>
              <a:rPr sz="1275" b="0">
                <a:solidFill>
                  <a:srgbClr val="FFFFFF"/>
                </a:solidFill>
                <a:latin typeface="Aptos"/>
                <a:ea typeface="Aptos"/>
                <a:cs typeface="Aptos"/>
              </a:rPr>
              <a:t>Using the synthetic consultation transcript below, create: (1) a source-grounded draft encounter summary, (2) a problem-information list, (3) medication-reconciliation questions, (4) a plain-language patient summary, (5) three teach-back questions, and (6) follow-up and escalation items. Tag every statement [PATIENT REPORTED], [PROFESSIONAL OBSERVATION], [UNKNOWN] or [NEEDS VERIFICATION]. Do not invent examination findings, diagnosis, medication, dose, investigation, reassurance or follow-up decision. Transcript: [PASTE SYNTHETIC TRANSCRIPT]</a:t>
            </a:r>
          </a:p>
        </p:txBody>
      </p:sp>
      <p:sp>
        <p:nvSpPr>
          <p:cNvPr id="13" name="">
            <a:extLst xmlns:a="http://schemas.openxmlformats.org/drawingml/2006/main">
              <a:ext uri="{FF2B5EF4-FFF2-40B4-BE49-F238E27FC236}">
                <a16:creationId xmlns:a16="http://schemas.microsoft.com/office/drawing/2014/main" id="{EDBBB912-E2E8-48A3-9731-A3C0D0B98BFC}"/>
              </a:ext>
            </a:extLst>
          </p:cNvPr>
          <p:cNvSpPr>
            <a:spLocks xmlns:a="http://schemas.openxmlformats.org/drawingml/2006/main" noGrp="1"/>
          </p:cNvSpPr>
          <p:nvPr/>
        </p:nvSpPr>
        <p:spPr>
          <a:xfrm xmlns:a="http://schemas.openxmlformats.org/drawingml/2006/main">
            <a:off x="7924800" y="1714500"/>
            <a:ext cx="3371850" cy="1866900"/>
          </a:xfrm>
          <a:prstGeom xmlns:a="http://schemas.openxmlformats.org/drawingml/2006/main" prst="roundRect">
            <a:avLst>
              <a:gd name="adj" fmla="val 10204"/>
            </a:avLst>
          </a:prstGeom>
          <a:solidFill xmlns:a="http://schemas.openxmlformats.org/drawingml/2006/main">
            <a:srgbClr val="DDF2EE"/>
          </a:solidFill>
          <a:ln xmlns:a="http://schemas.openxmlformats.org/drawingml/2006/main" w="9525">
            <a:solidFill>
              <a:srgbClr val="087E78"/>
            </a:solidFill>
            <a:prstDash val="solid"/>
          </a:ln>
        </p:spPr>
      </p:sp>
      <p:sp>
        <p:nvSpPr>
          <p:cNvPr id="14" name="">
            <a:extLst xmlns:a="http://schemas.openxmlformats.org/drawingml/2006/main">
              <a:ext uri="{FF2B5EF4-FFF2-40B4-BE49-F238E27FC236}">
                <a16:creationId xmlns:a16="http://schemas.microsoft.com/office/drawing/2014/main" id="{FC3209CD-13D5-4572-B1AC-64B73E758CC6}"/>
              </a:ext>
            </a:extLst>
          </p:cNvPr>
          <p:cNvSpPr>
            <a:spLocks xmlns:a="http://schemas.openxmlformats.org/drawingml/2006/main" noGrp="1"/>
          </p:cNvSpPr>
          <p:nvPr/>
        </p:nvSpPr>
        <p:spPr>
          <a:xfrm xmlns:a="http://schemas.openxmlformats.org/drawingml/2006/main">
            <a:off x="8153400" y="19335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EXPECTED OUTPUT</a:t>
            </a:r>
          </a:p>
        </p:txBody>
      </p:sp>
      <p:sp>
        <p:nvSpPr>
          <p:cNvPr id="15" name="">
            <a:extLst xmlns:a="http://schemas.openxmlformats.org/drawingml/2006/main">
              <a:ext uri="{FF2B5EF4-FFF2-40B4-BE49-F238E27FC236}">
                <a16:creationId xmlns:a16="http://schemas.microsoft.com/office/drawing/2014/main" id="{FCABFDC4-73C3-4FA0-858E-8D6BC3FBE91B}"/>
              </a:ext>
            </a:extLst>
          </p:cNvPr>
          <p:cNvSpPr>
            <a:spLocks xmlns:a="http://schemas.openxmlformats.org/drawingml/2006/main" noGrp="1"/>
          </p:cNvSpPr>
          <p:nvPr/>
        </p:nvSpPr>
        <p:spPr>
          <a:xfrm xmlns:a="http://schemas.openxmlformats.org/drawingml/2006/main">
            <a:off x="8153400" y="2305050"/>
            <a:ext cx="29146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Tagged draft note, patient summary, questions and escalation items</a:t>
            </a:r>
          </a:p>
        </p:txBody>
      </p:sp>
      <p:sp>
        <p:nvSpPr>
          <p:cNvPr id="16" name="">
            <a:extLst xmlns:a="http://schemas.openxmlformats.org/drawingml/2006/main">
              <a:ext uri="{FF2B5EF4-FFF2-40B4-BE49-F238E27FC236}">
                <a16:creationId xmlns:a16="http://schemas.microsoft.com/office/drawing/2014/main" id="{00C59BF5-6F9F-4145-99A3-7A583FCCE2D6}"/>
              </a:ext>
            </a:extLst>
          </p:cNvPr>
          <p:cNvSpPr>
            <a:spLocks xmlns:a="http://schemas.openxmlformats.org/drawingml/2006/main" noGrp="1"/>
          </p:cNvSpPr>
          <p:nvPr/>
        </p:nvSpPr>
        <p:spPr>
          <a:xfrm xmlns:a="http://schemas.openxmlformats.org/drawingml/2006/main">
            <a:off x="7924800" y="3762375"/>
            <a:ext cx="3371850" cy="2047875"/>
          </a:xfrm>
          <a:prstGeom xmlns:a="http://schemas.openxmlformats.org/drawingml/2006/main" prst="roundRect">
            <a:avLst>
              <a:gd name="adj" fmla="val 9302"/>
            </a:avLst>
          </a:prstGeom>
          <a:solidFill xmlns:a="http://schemas.openxmlformats.org/drawingml/2006/main">
            <a:srgbClr val="FBE7DF"/>
          </a:solidFill>
          <a:ln xmlns:a="http://schemas.openxmlformats.org/drawingml/2006/main" w="9525">
            <a:solidFill>
              <a:srgbClr val="E8694A"/>
            </a:solidFill>
            <a:prstDash val="solid"/>
          </a:ln>
        </p:spPr>
      </p:sp>
      <p:sp>
        <p:nvSpPr>
          <p:cNvPr id="17" name="">
            <a:extLst xmlns:a="http://schemas.openxmlformats.org/drawingml/2006/main">
              <a:ext uri="{FF2B5EF4-FFF2-40B4-BE49-F238E27FC236}">
                <a16:creationId xmlns:a16="http://schemas.microsoft.com/office/drawing/2014/main" id="{88EC0CAA-182B-487A-9D2F-D432E2907364}"/>
              </a:ext>
            </a:extLst>
          </p:cNvPr>
          <p:cNvSpPr>
            <a:spLocks xmlns:a="http://schemas.openxmlformats.org/drawingml/2006/main" noGrp="1"/>
          </p:cNvSpPr>
          <p:nvPr/>
        </p:nvSpPr>
        <p:spPr>
          <a:xfrm xmlns:a="http://schemas.openxmlformats.org/drawingml/2006/main">
            <a:off x="8153400" y="3971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B7433D"/>
                </a:solidFill>
                <a:latin typeface="Aptos"/>
                <a:ea typeface="Aptos"/>
                <a:cs typeface="Aptos"/>
              </a:defRPr>
            </a:pPr>
            <a:r>
              <a:rPr sz="1050" b="1">
                <a:solidFill>
                  <a:srgbClr val="B7433D"/>
                </a:solidFill>
                <a:latin typeface="Aptos"/>
                <a:ea typeface="Aptos"/>
                <a:cs typeface="Aptos"/>
              </a:rPr>
              <a:t>HUMAN CHECKPOINT</a:t>
            </a:r>
          </a:p>
        </p:txBody>
      </p:sp>
      <p:sp>
        <p:nvSpPr>
          <p:cNvPr id="18" name="">
            <a:extLst xmlns:a="http://schemas.openxmlformats.org/drawingml/2006/main">
              <a:ext uri="{FF2B5EF4-FFF2-40B4-BE49-F238E27FC236}">
                <a16:creationId xmlns:a16="http://schemas.microsoft.com/office/drawing/2014/main" id="{8D83B057-17F3-4968-9D85-5BD8A02EED89}"/>
              </a:ext>
            </a:extLst>
          </p:cNvPr>
          <p:cNvSpPr>
            <a:spLocks xmlns:a="http://schemas.openxmlformats.org/drawingml/2006/main" noGrp="1"/>
          </p:cNvSpPr>
          <p:nvPr/>
        </p:nvSpPr>
        <p:spPr>
          <a:xfrm xmlns:a="http://schemas.openxmlformats.org/drawingml/2006/main">
            <a:off x="8153400" y="4343400"/>
            <a:ext cx="29146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Reconcile facts and medicines; check red flags, consent, local language and record policy before sign-off.</a:t>
            </a:r>
          </a:p>
        </p:txBody>
      </p:sp>
    </p:spTree>
    <p:extLst>
      <p:ext uri="{BB962C8B-B14F-4D97-AF65-F5344CB8AC3E}">
        <p14:creationId xmlns:p14="http://schemas.microsoft.com/office/powerpoint/2010/main" val="988818082"/>
      </p:ext>
    </p:extLst>
  </p:cSld>
</p:sld>
</file>

<file path=ppt/slides/slide3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672A434-ECD1-4454-9F50-8DEBAD2C1DCA}"/>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7FAD441B-2929-48B4-99D4-1CA31FEF9B41}"/>
              </a:ext>
            </a:extLst>
          </p:cNvPr>
          <p:cNvSpPr>
            <a:spLocks xmlns:a="http://schemas.openxmlformats.org/drawingml/2006/main" noGrp="1"/>
          </p:cNvSpPr>
          <p:nvPr/>
        </p:nvSpPr>
        <p:spPr>
          <a:xfrm xmlns:a="http://schemas.openxmlformats.org/drawingml/2006/main">
            <a:off x="590550" y="285750"/>
            <a:ext cx="13716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903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1 CHECKPOINT</a:t>
            </a:r>
          </a:p>
        </p:txBody>
      </p:sp>
      <p:sp>
        <p:nvSpPr>
          <p:cNvPr id="3" name="">
            <a:extLst xmlns:a="http://schemas.openxmlformats.org/drawingml/2006/main">
              <a:ext uri="{FF2B5EF4-FFF2-40B4-BE49-F238E27FC236}">
                <a16:creationId xmlns:a16="http://schemas.microsoft.com/office/drawing/2014/main" id="{87461CA2-5780-4659-9896-217266E84E00}"/>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58"/>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Debrief: what attention returned—and what review work appeared?</a:t>
            </a:r>
          </a:p>
        </p:txBody>
      </p:sp>
      <p:sp>
        <p:nvSpPr>
          <p:cNvPr id="4" name="">
            <a:extLst xmlns:a="http://schemas.openxmlformats.org/drawingml/2006/main">
              <a:ext uri="{FF2B5EF4-FFF2-40B4-BE49-F238E27FC236}">
                <a16:creationId xmlns:a16="http://schemas.microsoft.com/office/drawing/2014/main" id="{62177E28-E1A7-40C4-B8F1-BD5A1E08169F}"/>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4E358C88-EE35-490A-83E2-353142D4BA32}"/>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8719DB9F-7063-45FA-BD73-1082FD689E22}"/>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68379B72-E46B-43F3-A159-49BEA3107DF5}"/>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8" name="">
            <a:extLst xmlns:a="http://schemas.openxmlformats.org/drawingml/2006/main">
              <a:ext uri="{FF2B5EF4-FFF2-40B4-BE49-F238E27FC236}">
                <a16:creationId xmlns:a16="http://schemas.microsoft.com/office/drawing/2014/main" id="{02DF74D1-CB45-404A-AD08-8422F83F4AA5}"/>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33</a:t>
            </a:r>
          </a:p>
        </p:txBody>
      </p:sp>
      <p:sp>
        <p:nvSpPr>
          <p:cNvPr id="9" name="">
            <a:extLst xmlns:a="http://schemas.openxmlformats.org/drawingml/2006/main">
              <a:ext uri="{FF2B5EF4-FFF2-40B4-BE49-F238E27FC236}">
                <a16:creationId xmlns:a16="http://schemas.microsoft.com/office/drawing/2014/main" id="{0C0331C3-A8DA-445F-AA26-95424E57590B}"/>
              </a:ext>
            </a:extLst>
          </p:cNvPr>
          <p:cNvSpPr>
            <a:spLocks xmlns:a="http://schemas.openxmlformats.org/drawingml/2006/main" noGrp="1"/>
          </p:cNvSpPr>
          <p:nvPr/>
        </p:nvSpPr>
        <p:spPr>
          <a:xfrm xmlns:a="http://schemas.openxmlformats.org/drawingml/2006/main">
            <a:off x="609600" y="2019300"/>
            <a:ext cx="3498850" cy="2095500"/>
          </a:xfrm>
          <a:prstGeom xmlns:a="http://schemas.openxmlformats.org/drawingml/2006/main" prst="roundRect">
            <a:avLst>
              <a:gd name="adj" fmla="val 8182"/>
            </a:avLst>
          </a:prstGeom>
          <a:solidFill xmlns:a="http://schemas.openxmlformats.org/drawingml/2006/main">
            <a:srgbClr val="FFFDFC"/>
          </a:solidFill>
          <a:ln xmlns:a="http://schemas.openxmlformats.org/drawingml/2006/main" w="9525">
            <a:solidFill>
              <a:srgbClr val="36805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697AB6B-377E-4DB1-9E69-3BF45C741923}"/>
              </a:ext>
            </a:extLst>
          </p:cNvPr>
          <p:cNvSpPr>
            <a:spLocks xmlns:a="http://schemas.openxmlformats.org/drawingml/2006/main" noGrp="1"/>
          </p:cNvSpPr>
          <p:nvPr/>
        </p:nvSpPr>
        <p:spPr>
          <a:xfrm xmlns:a="http://schemas.openxmlformats.org/drawingml/2006/main">
            <a:off x="762000" y="2162175"/>
            <a:ext cx="819150" cy="266700"/>
          </a:xfrm>
          <a:prstGeom xmlns:a="http://schemas.openxmlformats.org/drawingml/2006/main" prst="roundRect">
            <a:avLst>
              <a:gd name="adj" fmla="val 50000"/>
            </a:avLst>
          </a:prstGeom>
          <a:solidFill xmlns:a="http://schemas.openxmlformats.org/drawingml/2006/main">
            <a:srgbClr val="36805F"/>
          </a:solidFill>
          <a:ln xmlns:a="http://schemas.openxmlformats.org/drawingml/2006/main" w="9525">
            <a:solidFill>
              <a:srgbClr val="36805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RETURNED</a:t>
            </a:r>
          </a:p>
        </p:txBody>
      </p:sp>
      <p:sp>
        <p:nvSpPr>
          <p:cNvPr id="11" name="">
            <a:extLst xmlns:a="http://schemas.openxmlformats.org/drawingml/2006/main">
              <a:ext uri="{FF2B5EF4-FFF2-40B4-BE49-F238E27FC236}">
                <a16:creationId xmlns:a16="http://schemas.microsoft.com/office/drawing/2014/main" id="{F77C8BF0-35E3-412A-A620-61F806F1DD73}"/>
              </a:ext>
            </a:extLst>
          </p:cNvPr>
          <p:cNvSpPr>
            <a:spLocks xmlns:a="http://schemas.openxmlformats.org/drawingml/2006/main" noGrp="1"/>
          </p:cNvSpPr>
          <p:nvPr/>
        </p:nvSpPr>
        <p:spPr>
          <a:xfrm xmlns:a="http://schemas.openxmlformats.org/drawingml/2006/main">
            <a:off x="781050" y="2514600"/>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Attention</a:t>
            </a:r>
          </a:p>
        </p:txBody>
      </p:sp>
      <p:sp>
        <p:nvSpPr>
          <p:cNvPr id="12" name="">
            <a:extLst xmlns:a="http://schemas.openxmlformats.org/drawingml/2006/main">
              <a:ext uri="{FF2B5EF4-FFF2-40B4-BE49-F238E27FC236}">
                <a16:creationId xmlns:a16="http://schemas.microsoft.com/office/drawing/2014/main" id="{A1833913-0E42-4FEC-9E6A-64532F027930}"/>
              </a:ext>
            </a:extLst>
          </p:cNvPr>
          <p:cNvSpPr>
            <a:spLocks xmlns:a="http://schemas.openxmlformats.org/drawingml/2006/main" noGrp="1"/>
          </p:cNvSpPr>
          <p:nvPr/>
        </p:nvSpPr>
        <p:spPr>
          <a:xfrm xmlns:a="http://schemas.openxmlformats.org/drawingml/2006/main">
            <a:off x="781050" y="2886075"/>
            <a:ext cx="31559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Less screen switching; faster draft; consistent teach-back structure.</a:t>
            </a:r>
          </a:p>
        </p:txBody>
      </p:sp>
      <p:sp>
        <p:nvSpPr>
          <p:cNvPr id="13" name="">
            <a:extLst xmlns:a="http://schemas.openxmlformats.org/drawingml/2006/main">
              <a:ext uri="{FF2B5EF4-FFF2-40B4-BE49-F238E27FC236}">
                <a16:creationId xmlns:a16="http://schemas.microsoft.com/office/drawing/2014/main" id="{A3C81311-FAF3-418E-91D1-727B54ED3BA0}"/>
              </a:ext>
            </a:extLst>
          </p:cNvPr>
          <p:cNvSpPr>
            <a:spLocks xmlns:a="http://schemas.openxmlformats.org/drawingml/2006/main" noGrp="1"/>
          </p:cNvSpPr>
          <p:nvPr/>
        </p:nvSpPr>
        <p:spPr>
          <a:xfrm xmlns:a="http://schemas.openxmlformats.org/drawingml/2006/main">
            <a:off x="4337050" y="2019300"/>
            <a:ext cx="3498850" cy="2095500"/>
          </a:xfrm>
          <a:prstGeom xmlns:a="http://schemas.openxmlformats.org/drawingml/2006/main" prst="roundRect">
            <a:avLst>
              <a:gd name="adj" fmla="val 8182"/>
            </a:avLst>
          </a:prstGeom>
          <a:solidFill xmlns:a="http://schemas.openxmlformats.org/drawingml/2006/main">
            <a:srgbClr val="FFFDFC"/>
          </a:solidFill>
          <a:ln xmlns:a="http://schemas.openxmlformats.org/drawingml/2006/main" w="9525">
            <a:solidFill>
              <a:srgbClr val="E869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53FF130D-94AC-4655-B4E8-245E951DBA1B}"/>
              </a:ext>
            </a:extLst>
          </p:cNvPr>
          <p:cNvSpPr>
            <a:spLocks xmlns:a="http://schemas.openxmlformats.org/drawingml/2006/main" noGrp="1"/>
          </p:cNvSpPr>
          <p:nvPr/>
        </p:nvSpPr>
        <p:spPr>
          <a:xfrm xmlns:a="http://schemas.openxmlformats.org/drawingml/2006/main">
            <a:off x="4489450" y="2162175"/>
            <a:ext cx="8191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CREATED</a:t>
            </a:r>
          </a:p>
        </p:txBody>
      </p:sp>
      <p:sp>
        <p:nvSpPr>
          <p:cNvPr id="15" name="">
            <a:extLst xmlns:a="http://schemas.openxmlformats.org/drawingml/2006/main">
              <a:ext uri="{FF2B5EF4-FFF2-40B4-BE49-F238E27FC236}">
                <a16:creationId xmlns:a16="http://schemas.microsoft.com/office/drawing/2014/main" id="{4E020E1A-4DAB-4653-AFFE-89E4E1DAA438}"/>
              </a:ext>
            </a:extLst>
          </p:cNvPr>
          <p:cNvSpPr>
            <a:spLocks xmlns:a="http://schemas.openxmlformats.org/drawingml/2006/main" noGrp="1"/>
          </p:cNvSpPr>
          <p:nvPr/>
        </p:nvSpPr>
        <p:spPr>
          <a:xfrm xmlns:a="http://schemas.openxmlformats.org/drawingml/2006/main">
            <a:off x="4508500" y="2514600"/>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Verification</a:t>
            </a:r>
          </a:p>
        </p:txBody>
      </p:sp>
      <p:sp>
        <p:nvSpPr>
          <p:cNvPr id="16" name="">
            <a:extLst xmlns:a="http://schemas.openxmlformats.org/drawingml/2006/main">
              <a:ext uri="{FF2B5EF4-FFF2-40B4-BE49-F238E27FC236}">
                <a16:creationId xmlns:a16="http://schemas.microsoft.com/office/drawing/2014/main" id="{1C95057B-D142-405F-857B-879687BA01B1}"/>
              </a:ext>
            </a:extLst>
          </p:cNvPr>
          <p:cNvSpPr>
            <a:spLocks xmlns:a="http://schemas.openxmlformats.org/drawingml/2006/main" noGrp="1"/>
          </p:cNvSpPr>
          <p:nvPr/>
        </p:nvSpPr>
        <p:spPr>
          <a:xfrm xmlns:a="http://schemas.openxmlformats.org/drawingml/2006/main">
            <a:off x="4508500" y="2886075"/>
            <a:ext cx="31559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Omissions, hallucinations, tone, medicine reconciliation, consent and release review.</a:t>
            </a:r>
          </a:p>
        </p:txBody>
      </p:sp>
      <p:sp>
        <p:nvSpPr>
          <p:cNvPr id="17" name="">
            <a:extLst xmlns:a="http://schemas.openxmlformats.org/drawingml/2006/main">
              <a:ext uri="{FF2B5EF4-FFF2-40B4-BE49-F238E27FC236}">
                <a16:creationId xmlns:a16="http://schemas.microsoft.com/office/drawing/2014/main" id="{B88E989D-CB84-49D3-89E2-E049A872802F}"/>
              </a:ext>
            </a:extLst>
          </p:cNvPr>
          <p:cNvSpPr>
            <a:spLocks xmlns:a="http://schemas.openxmlformats.org/drawingml/2006/main" noGrp="1"/>
          </p:cNvSpPr>
          <p:nvPr/>
        </p:nvSpPr>
        <p:spPr>
          <a:xfrm xmlns:a="http://schemas.openxmlformats.org/drawingml/2006/main">
            <a:off x="8064500" y="2019300"/>
            <a:ext cx="3498850" cy="2095500"/>
          </a:xfrm>
          <a:prstGeom xmlns:a="http://schemas.openxmlformats.org/drawingml/2006/main" prst="roundRect">
            <a:avLst>
              <a:gd name="adj" fmla="val 8182"/>
            </a:avLst>
          </a:prstGeom>
          <a:solidFill xmlns:a="http://schemas.openxmlformats.org/drawingml/2006/main">
            <a:srgbClr val="FFFDFC"/>
          </a:solidFill>
          <a:ln xmlns:a="http://schemas.openxmlformats.org/drawingml/2006/main" w="9525">
            <a:solidFill>
              <a:srgbClr val="2F6F9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2FB4DEB6-AD1A-4906-B867-2FF9A5848C10}"/>
              </a:ext>
            </a:extLst>
          </p:cNvPr>
          <p:cNvSpPr>
            <a:spLocks xmlns:a="http://schemas.openxmlformats.org/drawingml/2006/main" noGrp="1"/>
          </p:cNvSpPr>
          <p:nvPr/>
        </p:nvSpPr>
        <p:spPr>
          <a:xfrm xmlns:a="http://schemas.openxmlformats.org/drawingml/2006/main">
            <a:off x="8216900" y="2162175"/>
            <a:ext cx="8191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DECISION</a:t>
            </a:r>
          </a:p>
        </p:txBody>
      </p:sp>
      <p:sp>
        <p:nvSpPr>
          <p:cNvPr id="19" name="">
            <a:extLst xmlns:a="http://schemas.openxmlformats.org/drawingml/2006/main">
              <a:ext uri="{FF2B5EF4-FFF2-40B4-BE49-F238E27FC236}">
                <a16:creationId xmlns:a16="http://schemas.microsoft.com/office/drawing/2014/main" id="{9CABDC2A-8389-45F7-8BA3-5D09F1320446}"/>
              </a:ext>
            </a:extLst>
          </p:cNvPr>
          <p:cNvSpPr>
            <a:spLocks xmlns:a="http://schemas.openxmlformats.org/drawingml/2006/main" noGrp="1"/>
          </p:cNvSpPr>
          <p:nvPr/>
        </p:nvSpPr>
        <p:spPr>
          <a:xfrm xmlns:a="http://schemas.openxmlformats.org/drawingml/2006/main">
            <a:off x="8235950" y="2514600"/>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Pilot rule</a:t>
            </a:r>
          </a:p>
        </p:txBody>
      </p:sp>
      <p:sp>
        <p:nvSpPr>
          <p:cNvPr id="20" name="">
            <a:extLst xmlns:a="http://schemas.openxmlformats.org/drawingml/2006/main">
              <a:ext uri="{FF2B5EF4-FFF2-40B4-BE49-F238E27FC236}">
                <a16:creationId xmlns:a16="http://schemas.microsoft.com/office/drawing/2014/main" id="{FEF6DD02-9030-47A4-A44A-6E901C192CEC}"/>
              </a:ext>
            </a:extLst>
          </p:cNvPr>
          <p:cNvSpPr>
            <a:spLocks xmlns:a="http://schemas.openxmlformats.org/drawingml/2006/main" noGrp="1"/>
          </p:cNvSpPr>
          <p:nvPr/>
        </p:nvSpPr>
        <p:spPr>
          <a:xfrm xmlns:a="http://schemas.openxmlformats.org/drawingml/2006/main">
            <a:off x="8235950" y="2886075"/>
            <a:ext cx="31559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Measure time, error taxonomy, patient experience, after-hours work and stop criteria.</a:t>
            </a:r>
          </a:p>
        </p:txBody>
      </p:sp>
      <p:sp>
        <p:nvSpPr>
          <p:cNvPr id="21" name="">
            <a:extLst xmlns:a="http://schemas.openxmlformats.org/drawingml/2006/main">
              <a:ext uri="{FF2B5EF4-FFF2-40B4-BE49-F238E27FC236}">
                <a16:creationId xmlns:a16="http://schemas.microsoft.com/office/drawing/2014/main" id="{01D58387-B58A-4482-9B97-04E0B91D5BEF}"/>
              </a:ext>
            </a:extLst>
          </p:cNvPr>
          <p:cNvSpPr>
            <a:spLocks xmlns:a="http://schemas.openxmlformats.org/drawingml/2006/main" noGrp="1"/>
          </p:cNvSpPr>
          <p:nvPr/>
        </p:nvSpPr>
        <p:spPr>
          <a:xfrm xmlns:a="http://schemas.openxmlformats.org/drawingml/2006/main">
            <a:off x="1524000" y="4972050"/>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800" b="1">
                <a:solidFill>
                  <a:srgbClr val="082638"/>
                </a:solidFill>
                <a:latin typeface="Aptos"/>
                <a:ea typeface="Aptos"/>
                <a:cs typeface="Aptos"/>
              </a:defRPr>
            </a:pPr>
            <a:r>
              <a:rPr sz="1800" b="1">
                <a:solidFill>
                  <a:srgbClr val="082638"/>
                </a:solidFill>
                <a:latin typeface="Aptos"/>
                <a:ea typeface="Aptos"/>
                <a:cs typeface="Aptos"/>
              </a:rPr>
              <a:t>Score both tools with the same outcome and safety criteria.</a:t>
            </a:r>
          </a:p>
        </p:txBody>
      </p:sp>
    </p:spTree>
    <p:extLst>
      <p:ext uri="{BB962C8B-B14F-4D97-AF65-F5344CB8AC3E}">
        <p14:creationId xmlns:p14="http://schemas.microsoft.com/office/powerpoint/2010/main" val="1398767859"/>
      </p:ext>
    </p:extLst>
  </p:cSld>
</p:sld>
</file>

<file path=ppt/slides/slide34.xml><?xml version="1.0" encoding="utf-8"?>
<p:sld xmlns:p="http://schemas.openxmlformats.org/presentationml/2006/main">
  <p:cSld>
    <p:bg>
      <p:bgPr>
        <a:solidFill xmlns:a="http://schemas.openxmlformats.org/drawingml/2006/main">
          <a:srgbClr val="087E7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A3CEBE-3C5D-437C-9902-4929ABCD92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724903F0-C6A0-48D1-AC27-75350F401D84}"/>
              </a:ext>
            </a:extLst>
          </p:cNvPr>
          <p:cNvSpPr>
            <a:spLocks xmlns:a="http://schemas.openxmlformats.org/drawingml/2006/main" noGrp="1"/>
          </p:cNvSpPr>
          <p:nvPr/>
        </p:nvSpPr>
        <p:spPr>
          <a:xfrm xmlns:a="http://schemas.openxmlformats.org/drawingml/2006/main">
            <a:off x="666750" y="590550"/>
            <a:ext cx="18097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087E78"/>
                </a:solidFill>
                <a:latin typeface="Aptos"/>
                <a:ea typeface="Aptos"/>
                <a:cs typeface="Aptos"/>
              </a:defRPr>
            </a:pPr>
            <a:r>
              <a:rPr sz="863" b="1">
                <a:solidFill>
                  <a:srgbClr val="087E78"/>
                </a:solidFill>
                <a:latin typeface="Aptos"/>
                <a:ea typeface="Aptos"/>
                <a:cs typeface="Aptos"/>
              </a:rPr>
              <a:t>LAB STATION 2</a:t>
            </a:r>
          </a:p>
        </p:txBody>
      </p:sp>
      <p:sp>
        <p:nvSpPr>
          <p:cNvPr id="3" name="">
            <a:extLst xmlns:a="http://schemas.openxmlformats.org/drawingml/2006/main">
              <a:ext uri="{FF2B5EF4-FFF2-40B4-BE49-F238E27FC236}">
                <a16:creationId xmlns:a16="http://schemas.microsoft.com/office/drawing/2014/main" id="{367FC644-5E67-4A15-9CCC-C6B6DA634A2C}"/>
              </a:ext>
            </a:extLst>
          </p:cNvPr>
          <p:cNvSpPr>
            <a:spLocks xmlns:a="http://schemas.openxmlformats.org/drawingml/2006/main" noGrp="1"/>
          </p:cNvSpPr>
          <p:nvPr/>
        </p:nvSpPr>
        <p:spPr>
          <a:xfrm xmlns:a="http://schemas.openxmlformats.org/drawingml/2006/main">
            <a:off x="666750" y="1476375"/>
            <a:ext cx="10572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4050" b="1">
                <a:solidFill>
                  <a:srgbClr val="FFFFFF"/>
                </a:solidFill>
                <a:latin typeface="Aptos"/>
                <a:ea typeface="Aptos"/>
                <a:cs typeface="Aptos"/>
              </a:defRPr>
            </a:pPr>
            <a:r>
              <a:rPr sz="4050" b="1">
                <a:solidFill>
                  <a:srgbClr val="FFFFFF"/>
                </a:solidFill>
                <a:latin typeface="Aptos"/>
                <a:ea typeface="Aptos"/>
                <a:cs typeface="Aptos"/>
              </a:rPr>
              <a:t>Station 2: Diagnostic support + medication safety</a:t>
            </a:r>
          </a:p>
        </p:txBody>
      </p:sp>
      <p:sp>
        <p:nvSpPr>
          <p:cNvPr id="4" name="">
            <a:extLst xmlns:a="http://schemas.openxmlformats.org/drawingml/2006/main">
              <a:ext uri="{FF2B5EF4-FFF2-40B4-BE49-F238E27FC236}">
                <a16:creationId xmlns:a16="http://schemas.microsoft.com/office/drawing/2014/main" id="{9BF20FCB-AE15-445A-9DFF-EB555FD7D95E}"/>
              </a:ext>
            </a:extLst>
          </p:cNvPr>
          <p:cNvSpPr>
            <a:spLocks xmlns:a="http://schemas.openxmlformats.org/drawingml/2006/main" noGrp="1"/>
          </p:cNvSpPr>
          <p:nvPr/>
        </p:nvSpPr>
        <p:spPr>
          <a:xfrm xmlns:a="http://schemas.openxmlformats.org/drawingml/2006/main">
            <a:off x="704850" y="321945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0">
                <a:solidFill>
                  <a:srgbClr val="FFFFFF"/>
                </a:solidFill>
                <a:latin typeface="Aptos"/>
                <a:ea typeface="Aptos"/>
                <a:cs typeface="Aptos"/>
              </a:defRPr>
            </a:pPr>
            <a:r>
              <a:rPr sz="1950" b="0">
                <a:solidFill>
                  <a:srgbClr val="FFFFFF"/>
                </a:solidFill>
                <a:latin typeface="Aptos"/>
                <a:ea typeface="Aptos"/>
                <a:cs typeface="Aptos"/>
              </a:rPr>
              <a:t>Use purpose-built tools to widen attention, then triangulate with evidence, calculators and drug references.</a:t>
            </a:r>
          </a:p>
        </p:txBody>
      </p:sp>
      <p:sp>
        <p:nvSpPr>
          <p:cNvPr id="5" name="">
            <a:extLst xmlns:a="http://schemas.openxmlformats.org/drawingml/2006/main">
              <a:ext uri="{FF2B5EF4-FFF2-40B4-BE49-F238E27FC236}">
                <a16:creationId xmlns:a16="http://schemas.microsoft.com/office/drawing/2014/main" id="{E6EB8DF3-2957-4036-BE80-15CE663A27EE}"/>
              </a:ext>
            </a:extLst>
          </p:cNvPr>
          <p:cNvSpPr>
            <a:spLocks xmlns:a="http://schemas.openxmlformats.org/drawingml/2006/main" noGrp="1"/>
          </p:cNvSpPr>
          <p:nvPr/>
        </p:nvSpPr>
        <p:spPr>
          <a:xfrm xmlns:a="http://schemas.openxmlformats.org/drawingml/2006/main">
            <a:off x="704850" y="4495800"/>
            <a:ext cx="66675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C4F141BE-1EEA-45DE-A04C-6FC1D721DCEC}"/>
              </a:ext>
            </a:extLst>
          </p:cNvPr>
          <p:cNvSpPr>
            <a:spLocks xmlns:a="http://schemas.openxmlformats.org/drawingml/2006/main" noGrp="1"/>
          </p:cNvSpPr>
          <p:nvPr/>
        </p:nvSpPr>
        <p:spPr>
          <a:xfrm xmlns:a="http://schemas.openxmlformats.org/drawingml/2006/main">
            <a:off x="704850" y="4762500"/>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FFFFFF"/>
                </a:solidFill>
                <a:latin typeface="Aptos"/>
                <a:ea typeface="Aptos"/>
                <a:cs typeface="Aptos"/>
              </a:defRPr>
            </a:pPr>
            <a:r>
              <a:rPr sz="1500" b="1">
                <a:solidFill>
                  <a:srgbClr val="FFFFFF"/>
                </a:solidFill>
                <a:latin typeface="Aptos"/>
                <a:ea typeface="Aptos"/>
                <a:cs typeface="Aptos"/>
              </a:rPr>
              <a:t>AI assists  •  Professionals decide  •  Patients remain the purpose</a:t>
            </a:r>
          </a:p>
        </p:txBody>
      </p:sp>
      <p:sp>
        <p:nvSpPr>
          <p:cNvPr id="7" name="">
            <a:extLst xmlns:a="http://schemas.openxmlformats.org/drawingml/2006/main">
              <a:ext uri="{FF2B5EF4-FFF2-40B4-BE49-F238E27FC236}">
                <a16:creationId xmlns:a16="http://schemas.microsoft.com/office/drawing/2014/main" id="{DE11173C-9570-409B-89DB-BFEB33D5D68F}"/>
              </a:ext>
            </a:extLst>
          </p:cNvPr>
          <p:cNvSpPr>
            <a:spLocks xmlns:a="http://schemas.openxmlformats.org/drawingml/2006/main" noGrp="1"/>
          </p:cNvSpPr>
          <p:nvPr/>
        </p:nvSpPr>
        <p:spPr>
          <a:xfrm xmlns:a="http://schemas.openxmlformats.org/drawingml/2006/main">
            <a:off x="11049000" y="62103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75" b="1">
                <a:solidFill>
                  <a:srgbClr val="FFFFFF"/>
                </a:solidFill>
                <a:latin typeface="Aptos"/>
                <a:ea typeface="Aptos"/>
                <a:cs typeface="Aptos"/>
              </a:defRPr>
            </a:pPr>
            <a:r>
              <a:rPr sz="975" b="1">
                <a:solidFill>
                  <a:srgbClr val="FFFFFF"/>
                </a:solidFill>
                <a:latin typeface="Aptos"/>
                <a:ea typeface="Aptos"/>
                <a:cs typeface="Aptos"/>
              </a:rPr>
              <a:t>34</a:t>
            </a:r>
          </a:p>
        </p:txBody>
      </p:sp>
    </p:spTree>
    <p:extLst>
      <p:ext uri="{BB962C8B-B14F-4D97-AF65-F5344CB8AC3E}">
        <p14:creationId xmlns:p14="http://schemas.microsoft.com/office/powerpoint/2010/main" val="1262522181"/>
      </p:ext>
    </p:extLst>
  </p:cSld>
</p:sld>
</file>

<file path=ppt/slides/slide35.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CECD6B2-4146-4445-B991-3AF4B89D398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44D283A4-4584-4D52-BD1A-9A4E12979722}"/>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9016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2 TOOL MAP</a:t>
            </a:r>
          </a:p>
        </p:txBody>
      </p:sp>
      <p:sp>
        <p:nvSpPr>
          <p:cNvPr id="3" name="">
            <a:extLst xmlns:a="http://schemas.openxmlformats.org/drawingml/2006/main">
              <a:ext uri="{FF2B5EF4-FFF2-40B4-BE49-F238E27FC236}">
                <a16:creationId xmlns:a16="http://schemas.microsoft.com/office/drawing/2014/main" id="{1EA74674-FAC1-4509-B71E-D0ED40D99933}"/>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Match the tool to the clinical question</a:t>
            </a:r>
          </a:p>
        </p:txBody>
      </p:sp>
      <p:sp>
        <p:nvSpPr>
          <p:cNvPr id="4" name="">
            <a:extLst xmlns:a="http://schemas.openxmlformats.org/drawingml/2006/main">
              <a:ext uri="{FF2B5EF4-FFF2-40B4-BE49-F238E27FC236}">
                <a16:creationId xmlns:a16="http://schemas.microsoft.com/office/drawing/2014/main" id="{B6FD8962-B41A-4D94-9DA0-5338F34D79F5}"/>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77922077-421A-4CD1-B6FF-77277BB4FFC8}"/>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37C28946-63A8-4EE5-9C75-20667C62CC91}"/>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2821702A-C855-4A40-AA93-7911A35CDFB8}"/>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Official product pages; access details in Tool Matrix</a:t>
            </a:r>
          </a:p>
        </p:txBody>
      </p:sp>
      <p:sp>
        <p:nvSpPr>
          <p:cNvPr id="8" name="">
            <a:extLst xmlns:a="http://schemas.openxmlformats.org/drawingml/2006/main">
              <a:ext uri="{FF2B5EF4-FFF2-40B4-BE49-F238E27FC236}">
                <a16:creationId xmlns:a16="http://schemas.microsoft.com/office/drawing/2014/main" id="{EF4624F8-9C0B-4862-BFE6-6A0FEBFD5373}"/>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A4B2F6D3-EFA3-4855-8815-4BBC41F912AA}"/>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35</a:t>
            </a:r>
          </a:p>
        </p:txBody>
      </p:sp>
      <p:sp>
        <p:nvSpPr>
          <p:cNvPr id="10" name="">
            <a:extLst xmlns:a="http://schemas.openxmlformats.org/drawingml/2006/main">
              <a:ext uri="{FF2B5EF4-FFF2-40B4-BE49-F238E27FC236}">
                <a16:creationId xmlns:a16="http://schemas.microsoft.com/office/drawing/2014/main" id="{FB425FEA-1353-47ED-882C-6E93483BFB49}"/>
              </a:ext>
            </a:extLst>
          </p:cNvPr>
          <p:cNvSpPr>
            <a:spLocks xmlns:a="http://schemas.openxmlformats.org/drawingml/2006/main" noGrp="1"/>
          </p:cNvSpPr>
          <p:nvPr/>
        </p:nvSpPr>
        <p:spPr>
          <a:xfrm xmlns:a="http://schemas.openxmlformats.org/drawingml/2006/main">
            <a:off x="6096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2F6F9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F072B58B-179D-467B-9E5C-1BCCA8ACD3A4}"/>
              </a:ext>
            </a:extLst>
          </p:cNvPr>
          <p:cNvSpPr>
            <a:spLocks xmlns:a="http://schemas.openxmlformats.org/drawingml/2006/main" noGrp="1"/>
          </p:cNvSpPr>
          <p:nvPr/>
        </p:nvSpPr>
        <p:spPr>
          <a:xfrm xmlns:a="http://schemas.openxmlformats.org/drawingml/2006/main">
            <a:off x="762000" y="1905000"/>
            <a:ext cx="8191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EVIDENCE</a:t>
            </a:r>
          </a:p>
        </p:txBody>
      </p:sp>
      <p:sp>
        <p:nvSpPr>
          <p:cNvPr id="12" name="">
            <a:extLst xmlns:a="http://schemas.openxmlformats.org/drawingml/2006/main">
              <a:ext uri="{FF2B5EF4-FFF2-40B4-BE49-F238E27FC236}">
                <a16:creationId xmlns:a16="http://schemas.microsoft.com/office/drawing/2014/main" id="{8469783F-A311-45E3-8134-381CAEEC8F8D}"/>
              </a:ext>
            </a:extLst>
          </p:cNvPr>
          <p:cNvSpPr>
            <a:spLocks xmlns:a="http://schemas.openxmlformats.org/drawingml/2006/main" noGrp="1"/>
          </p:cNvSpPr>
          <p:nvPr/>
        </p:nvSpPr>
        <p:spPr>
          <a:xfrm xmlns:a="http://schemas.openxmlformats.org/drawingml/2006/main">
            <a:off x="7810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Medscape AI / ClinicalKey AI</a:t>
            </a:r>
          </a:p>
        </p:txBody>
      </p:sp>
      <p:sp>
        <p:nvSpPr>
          <p:cNvPr id="13" name="">
            <a:extLst xmlns:a="http://schemas.openxmlformats.org/drawingml/2006/main">
              <a:ext uri="{FF2B5EF4-FFF2-40B4-BE49-F238E27FC236}">
                <a16:creationId xmlns:a16="http://schemas.microsoft.com/office/drawing/2014/main" id="{6674EAFC-F52F-444A-93DB-A8CC7500F8FC}"/>
              </a:ext>
            </a:extLst>
          </p:cNvPr>
          <p:cNvSpPr>
            <a:spLocks xmlns:a="http://schemas.openxmlformats.org/drawingml/2006/main" noGrp="1"/>
          </p:cNvSpPr>
          <p:nvPr/>
        </p:nvSpPr>
        <p:spPr>
          <a:xfrm xmlns:a="http://schemas.openxmlformats.org/drawingml/2006/main">
            <a:off x="7810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Cited orientation; free registered vs institutional access.</a:t>
            </a:r>
          </a:p>
        </p:txBody>
      </p:sp>
      <p:sp>
        <p:nvSpPr>
          <p:cNvPr id="14" name="">
            <a:extLst xmlns:a="http://schemas.openxmlformats.org/drawingml/2006/main">
              <a:ext uri="{FF2B5EF4-FFF2-40B4-BE49-F238E27FC236}">
                <a16:creationId xmlns:a16="http://schemas.microsoft.com/office/drawing/2014/main" id="{593A7019-28CC-4B5C-8862-561CC4333784}"/>
              </a:ext>
            </a:extLst>
          </p:cNvPr>
          <p:cNvSpPr>
            <a:spLocks xmlns:a="http://schemas.openxmlformats.org/drawingml/2006/main" noGrp="1"/>
          </p:cNvSpPr>
          <p:nvPr/>
        </p:nvSpPr>
        <p:spPr>
          <a:xfrm xmlns:a="http://schemas.openxmlformats.org/drawingml/2006/main">
            <a:off x="433705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087E7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FC2B261C-7E9B-4C07-8AEE-7B9A7EF37728}"/>
              </a:ext>
            </a:extLst>
          </p:cNvPr>
          <p:cNvSpPr>
            <a:spLocks xmlns:a="http://schemas.openxmlformats.org/drawingml/2006/main" noGrp="1"/>
          </p:cNvSpPr>
          <p:nvPr/>
        </p:nvSpPr>
        <p:spPr>
          <a:xfrm xmlns:a="http://schemas.openxmlformats.org/drawingml/2006/main">
            <a:off x="4489450" y="1905000"/>
            <a:ext cx="8191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81609"/>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DIFFERENTIAL</a:t>
            </a:r>
          </a:p>
        </p:txBody>
      </p:sp>
      <p:sp>
        <p:nvSpPr>
          <p:cNvPr id="16" name="">
            <a:extLst xmlns:a="http://schemas.openxmlformats.org/drawingml/2006/main">
              <a:ext uri="{FF2B5EF4-FFF2-40B4-BE49-F238E27FC236}">
                <a16:creationId xmlns:a16="http://schemas.microsoft.com/office/drawing/2014/main" id="{89A095F2-008E-4EB4-B098-BA777B743D68}"/>
              </a:ext>
            </a:extLst>
          </p:cNvPr>
          <p:cNvSpPr>
            <a:spLocks xmlns:a="http://schemas.openxmlformats.org/drawingml/2006/main" noGrp="1"/>
          </p:cNvSpPr>
          <p:nvPr/>
        </p:nvSpPr>
        <p:spPr>
          <a:xfrm xmlns:a="http://schemas.openxmlformats.org/drawingml/2006/main">
            <a:off x="450850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DxGPT / VisualDx / iatroX</a:t>
            </a:r>
          </a:p>
        </p:txBody>
      </p:sp>
      <p:sp>
        <p:nvSpPr>
          <p:cNvPr id="17" name="">
            <a:extLst xmlns:a="http://schemas.openxmlformats.org/drawingml/2006/main">
              <a:ext uri="{FF2B5EF4-FFF2-40B4-BE49-F238E27FC236}">
                <a16:creationId xmlns:a16="http://schemas.microsoft.com/office/drawing/2014/main" id="{4C3E2D29-D325-4E3F-883D-6628C0B9F678}"/>
              </a:ext>
            </a:extLst>
          </p:cNvPr>
          <p:cNvSpPr>
            <a:spLocks xmlns:a="http://schemas.openxmlformats.org/drawingml/2006/main" noGrp="1"/>
          </p:cNvSpPr>
          <p:nvPr/>
        </p:nvSpPr>
        <p:spPr>
          <a:xfrm xmlns:a="http://schemas.openxmlformats.org/drawingml/2006/main">
            <a:off x="450850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Hypotheses, missing information and visual context; scope varies.</a:t>
            </a:r>
          </a:p>
        </p:txBody>
      </p:sp>
      <p:sp>
        <p:nvSpPr>
          <p:cNvPr id="18" name="">
            <a:extLst xmlns:a="http://schemas.openxmlformats.org/drawingml/2006/main">
              <a:ext uri="{FF2B5EF4-FFF2-40B4-BE49-F238E27FC236}">
                <a16:creationId xmlns:a16="http://schemas.microsoft.com/office/drawing/2014/main" id="{15861706-16D1-46C6-9D01-B9FDB9FD0E60}"/>
              </a:ext>
            </a:extLst>
          </p:cNvPr>
          <p:cNvSpPr>
            <a:spLocks xmlns:a="http://schemas.openxmlformats.org/drawingml/2006/main" noGrp="1"/>
          </p:cNvSpPr>
          <p:nvPr/>
        </p:nvSpPr>
        <p:spPr>
          <a:xfrm xmlns:a="http://schemas.openxmlformats.org/drawingml/2006/main">
            <a:off x="80645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C5902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699F8694-397C-43D9-82A6-0EB1FA0A42DA}"/>
              </a:ext>
            </a:extLst>
          </p:cNvPr>
          <p:cNvSpPr>
            <a:spLocks xmlns:a="http://schemas.openxmlformats.org/drawingml/2006/main" noGrp="1"/>
          </p:cNvSpPr>
          <p:nvPr/>
        </p:nvSpPr>
        <p:spPr>
          <a:xfrm xmlns:a="http://schemas.openxmlformats.org/drawingml/2006/main">
            <a:off x="8216900" y="1905000"/>
            <a:ext cx="8191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96548"/>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CALCULATE</a:t>
            </a:r>
          </a:p>
        </p:txBody>
      </p:sp>
      <p:sp>
        <p:nvSpPr>
          <p:cNvPr id="20" name="">
            <a:extLst xmlns:a="http://schemas.openxmlformats.org/drawingml/2006/main">
              <a:ext uri="{FF2B5EF4-FFF2-40B4-BE49-F238E27FC236}">
                <a16:creationId xmlns:a16="http://schemas.microsoft.com/office/drawing/2014/main" id="{149C8750-89A2-4A7E-96F1-53AABEEF6DE5}"/>
              </a:ext>
            </a:extLst>
          </p:cNvPr>
          <p:cNvSpPr>
            <a:spLocks xmlns:a="http://schemas.openxmlformats.org/drawingml/2006/main" noGrp="1"/>
          </p:cNvSpPr>
          <p:nvPr/>
        </p:nvSpPr>
        <p:spPr>
          <a:xfrm xmlns:a="http://schemas.openxmlformats.org/drawingml/2006/main">
            <a:off x="82359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MDCalc</a:t>
            </a:r>
          </a:p>
        </p:txBody>
      </p:sp>
      <p:sp>
        <p:nvSpPr>
          <p:cNvPr id="21" name="">
            <a:extLst xmlns:a="http://schemas.openxmlformats.org/drawingml/2006/main">
              <a:ext uri="{FF2B5EF4-FFF2-40B4-BE49-F238E27FC236}">
                <a16:creationId xmlns:a16="http://schemas.microsoft.com/office/drawing/2014/main" id="{C8158147-7A2F-4A2B-98C5-B7EFF105E6BE}"/>
              </a:ext>
            </a:extLst>
          </p:cNvPr>
          <p:cNvSpPr>
            <a:spLocks xmlns:a="http://schemas.openxmlformats.org/drawingml/2006/main" noGrp="1"/>
          </p:cNvSpPr>
          <p:nvPr/>
        </p:nvSpPr>
        <p:spPr>
          <a:xfrm xmlns:a="http://schemas.openxmlformats.org/drawingml/2006/main">
            <a:off x="82359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Bounded calculators with source studies; verify every input.</a:t>
            </a:r>
          </a:p>
        </p:txBody>
      </p:sp>
      <p:sp>
        <p:nvSpPr>
          <p:cNvPr id="22" name="">
            <a:extLst xmlns:a="http://schemas.openxmlformats.org/drawingml/2006/main">
              <a:ext uri="{FF2B5EF4-FFF2-40B4-BE49-F238E27FC236}">
                <a16:creationId xmlns:a16="http://schemas.microsoft.com/office/drawing/2014/main" id="{31271DF8-4E20-4417-AAA6-B8254A1FC14C}"/>
              </a:ext>
            </a:extLst>
          </p:cNvPr>
          <p:cNvSpPr>
            <a:spLocks xmlns:a="http://schemas.openxmlformats.org/drawingml/2006/main" noGrp="1"/>
          </p:cNvSpPr>
          <p:nvPr/>
        </p:nvSpPr>
        <p:spPr>
          <a:xfrm xmlns:a="http://schemas.openxmlformats.org/drawingml/2006/main">
            <a:off x="609600" y="3333750"/>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E869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5495FD04-8686-46E8-B7BB-B433F8CA7428}"/>
              </a:ext>
            </a:extLst>
          </p:cNvPr>
          <p:cNvSpPr>
            <a:spLocks xmlns:a="http://schemas.openxmlformats.org/drawingml/2006/main" noGrp="1"/>
          </p:cNvSpPr>
          <p:nvPr/>
        </p:nvSpPr>
        <p:spPr>
          <a:xfrm xmlns:a="http://schemas.openxmlformats.org/drawingml/2006/main">
            <a:off x="762000" y="3476625"/>
            <a:ext cx="8191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MEDICINES</a:t>
            </a:r>
          </a:p>
        </p:txBody>
      </p:sp>
      <p:sp>
        <p:nvSpPr>
          <p:cNvPr id="24" name="">
            <a:extLst xmlns:a="http://schemas.openxmlformats.org/drawingml/2006/main">
              <a:ext uri="{FF2B5EF4-FFF2-40B4-BE49-F238E27FC236}">
                <a16:creationId xmlns:a16="http://schemas.microsoft.com/office/drawing/2014/main" id="{1047C26A-32BA-4DAD-A121-0F02464658AA}"/>
              </a:ext>
            </a:extLst>
          </p:cNvPr>
          <p:cNvSpPr>
            <a:spLocks xmlns:a="http://schemas.openxmlformats.org/drawingml/2006/main" noGrp="1"/>
          </p:cNvSpPr>
          <p:nvPr/>
        </p:nvSpPr>
        <p:spPr>
          <a:xfrm xmlns:a="http://schemas.openxmlformats.org/drawingml/2006/main">
            <a:off x="781050" y="3829050"/>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77"/>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Epocrates / institutional references</a:t>
            </a:r>
          </a:p>
        </p:txBody>
      </p:sp>
      <p:sp>
        <p:nvSpPr>
          <p:cNvPr id="25" name="">
            <a:extLst xmlns:a="http://schemas.openxmlformats.org/drawingml/2006/main">
              <a:ext uri="{FF2B5EF4-FFF2-40B4-BE49-F238E27FC236}">
                <a16:creationId xmlns:a16="http://schemas.microsoft.com/office/drawing/2014/main" id="{A7D9BEC3-DB04-44CB-AAEE-FD5B7D13D84F}"/>
              </a:ext>
            </a:extLst>
          </p:cNvPr>
          <p:cNvSpPr>
            <a:spLocks xmlns:a="http://schemas.openxmlformats.org/drawingml/2006/main" noGrp="1"/>
          </p:cNvSpPr>
          <p:nvPr/>
        </p:nvSpPr>
        <p:spPr>
          <a:xfrm xmlns:a="http://schemas.openxmlformats.org/drawingml/2006/main">
            <a:off x="781050" y="4200525"/>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Drug facts and interactions; confirm India formulary and local protocol.</a:t>
            </a:r>
          </a:p>
        </p:txBody>
      </p:sp>
    </p:spTree>
    <p:extLst>
      <p:ext uri="{BB962C8B-B14F-4D97-AF65-F5344CB8AC3E}">
        <p14:creationId xmlns:p14="http://schemas.microsoft.com/office/powerpoint/2010/main" val="544520304"/>
      </p:ext>
    </p:extLst>
  </p:cSld>
</p:sld>
</file>

<file path=ppt/slides/slide36.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C836DF1-140D-45BA-B9C1-05812F85922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AB96F63C-30CC-47F8-9B20-3511D0701B47}"/>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2 INPUT</a:t>
            </a:r>
          </a:p>
        </p:txBody>
      </p:sp>
      <p:sp>
        <p:nvSpPr>
          <p:cNvPr id="3" name="">
            <a:extLst xmlns:a="http://schemas.openxmlformats.org/drawingml/2006/main">
              <a:ext uri="{FF2B5EF4-FFF2-40B4-BE49-F238E27FC236}">
                <a16:creationId xmlns:a16="http://schemas.microsoft.com/office/drawing/2014/main" id="{EB0E9E3F-9239-43BF-82BB-BC246A8985E0}"/>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Synthetic case: make uncertainty visible</a:t>
            </a:r>
          </a:p>
        </p:txBody>
      </p:sp>
      <p:sp>
        <p:nvSpPr>
          <p:cNvPr id="4" name="">
            <a:extLst xmlns:a="http://schemas.openxmlformats.org/drawingml/2006/main">
              <a:ext uri="{FF2B5EF4-FFF2-40B4-BE49-F238E27FC236}">
                <a16:creationId xmlns:a16="http://schemas.microsoft.com/office/drawing/2014/main" id="{593719D8-7C7B-442B-9F36-1DE098DAAF37}"/>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FABC9C41-5544-4099-9A44-A9A528FF5198}"/>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6E5D2C70-2AAE-4125-862F-943E88CC2112}"/>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FA1CDE3A-286F-4F62-8339-1B892371B05A}"/>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8" name="">
            <a:extLst xmlns:a="http://schemas.openxmlformats.org/drawingml/2006/main">
              <a:ext uri="{FF2B5EF4-FFF2-40B4-BE49-F238E27FC236}">
                <a16:creationId xmlns:a16="http://schemas.microsoft.com/office/drawing/2014/main" id="{4A763F3F-F692-4676-B59F-4E4E63389CC1}"/>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36</a:t>
            </a:r>
          </a:p>
        </p:txBody>
      </p:sp>
      <p:sp>
        <p:nvSpPr>
          <p:cNvPr id="9" name="">
            <a:extLst xmlns:a="http://schemas.openxmlformats.org/drawingml/2006/main">
              <a:ext uri="{FF2B5EF4-FFF2-40B4-BE49-F238E27FC236}">
                <a16:creationId xmlns:a16="http://schemas.microsoft.com/office/drawing/2014/main" id="{58159086-C749-4412-B8D4-3D738B398F8E}"/>
              </a:ext>
            </a:extLst>
          </p:cNvPr>
          <p:cNvSpPr>
            <a:spLocks xmlns:a="http://schemas.openxmlformats.org/drawingml/2006/main" noGrp="1"/>
          </p:cNvSpPr>
          <p:nvPr/>
        </p:nvSpPr>
        <p:spPr>
          <a:xfrm xmlns:a="http://schemas.openxmlformats.org/drawingml/2006/main">
            <a:off x="609600" y="1762125"/>
            <a:ext cx="4667250" cy="3857625"/>
          </a:xfrm>
          <a:prstGeom xmlns:a="http://schemas.openxmlformats.org/drawingml/2006/main" prst="roundRect">
            <a:avLst>
              <a:gd name="adj" fmla="val 5432"/>
            </a:avLst>
          </a:prstGeom>
          <a:solidFill xmlns:a="http://schemas.openxmlformats.org/drawingml/2006/main">
            <a:srgbClr val="082638"/>
          </a:solidFill>
          <a:ln xmlns:a="http://schemas.openxmlformats.org/drawingml/2006/main" w="9525">
            <a:solidFill>
              <a:srgbClr val="082638"/>
            </a:solidFill>
            <a:prstDash val="solid"/>
          </a:ln>
        </p:spPr>
      </p:sp>
      <p:sp>
        <p:nvSpPr>
          <p:cNvPr id="10" name="">
            <a:extLst xmlns:a="http://schemas.openxmlformats.org/drawingml/2006/main">
              <a:ext uri="{FF2B5EF4-FFF2-40B4-BE49-F238E27FC236}">
                <a16:creationId xmlns:a16="http://schemas.microsoft.com/office/drawing/2014/main" id="{8FD2994C-4F59-48FC-A971-5881B934BFA1}"/>
              </a:ext>
            </a:extLst>
          </p:cNvPr>
          <p:cNvSpPr>
            <a:spLocks xmlns:a="http://schemas.openxmlformats.org/drawingml/2006/main" noGrp="1"/>
          </p:cNvSpPr>
          <p:nvPr/>
        </p:nvSpPr>
        <p:spPr>
          <a:xfrm xmlns:a="http://schemas.openxmlformats.org/drawingml/2006/main">
            <a:off x="838200" y="1990725"/>
            <a:ext cx="9525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SYNTHETIC</a:t>
            </a:r>
          </a:p>
        </p:txBody>
      </p:sp>
      <p:sp>
        <p:nvSpPr>
          <p:cNvPr id="11" name="">
            <a:extLst xmlns:a="http://schemas.openxmlformats.org/drawingml/2006/main">
              <a:ext uri="{FF2B5EF4-FFF2-40B4-BE49-F238E27FC236}">
                <a16:creationId xmlns:a16="http://schemas.microsoft.com/office/drawing/2014/main" id="{05909750-512A-4652-BCAA-5008C11CEC77}"/>
              </a:ext>
            </a:extLst>
          </p:cNvPr>
          <p:cNvSpPr>
            <a:spLocks xmlns:a="http://schemas.openxmlformats.org/drawingml/2006/main" noGrp="1"/>
          </p:cNvSpPr>
          <p:nvPr/>
        </p:nvSpPr>
        <p:spPr>
          <a:xfrm xmlns:a="http://schemas.openxmlformats.org/drawingml/2006/main">
            <a:off x="838200" y="240982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2100" b="1">
                <a:solidFill>
                  <a:srgbClr val="FFFFFF"/>
                </a:solidFill>
                <a:latin typeface="Aptos"/>
                <a:ea typeface="Aptos"/>
                <a:cs typeface="Aptos"/>
              </a:defRPr>
            </a:pPr>
            <a:r>
              <a:rPr sz="2100" b="1">
                <a:solidFill>
                  <a:srgbClr val="FFFFFF"/>
                </a:solidFill>
                <a:latin typeface="Aptos"/>
                <a:ea typeface="Aptos"/>
                <a:cs typeface="Aptos"/>
              </a:rPr>
              <a:t>Mr R, 58</a:t>
            </a:r>
          </a:p>
        </p:txBody>
      </p:sp>
      <p:sp>
        <p:nvSpPr>
          <p:cNvPr id="12" name="">
            <a:extLst xmlns:a="http://schemas.openxmlformats.org/drawingml/2006/main">
              <a:ext uri="{FF2B5EF4-FFF2-40B4-BE49-F238E27FC236}">
                <a16:creationId xmlns:a16="http://schemas.microsoft.com/office/drawing/2014/main" id="{6F7FC5E4-3BA2-471E-AA8F-D1E0D3A0E2B0}"/>
              </a:ext>
            </a:extLst>
          </p:cNvPr>
          <p:cNvSpPr>
            <a:spLocks xmlns:a="http://schemas.openxmlformats.org/drawingml/2006/main" noGrp="1"/>
          </p:cNvSpPr>
          <p:nvPr/>
        </p:nvSpPr>
        <p:spPr>
          <a:xfrm xmlns:a="http://schemas.openxmlformats.org/drawingml/2006/main">
            <a:off x="857250" y="2952750"/>
            <a:ext cx="38100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 indent="-10" algn="l">
              <a:lnSpc>
                <a:spcPct val="110000"/>
              </a:lnSpc>
              <a:buNone/>
              <a:defRPr sz="1388" b="0">
                <a:solidFill>
                  <a:srgbClr val="FFFFFF"/>
                </a:solidFill>
                <a:latin typeface="Aptos"/>
                <a:ea typeface="Aptos"/>
                <a:cs typeface="Aptos"/>
              </a:defRPr>
            </a:pPr>
            <a:r>
              <a:rPr sz="1388" b="0">
                <a:solidFill>
                  <a:srgbClr val="FFFFFF"/>
                </a:solidFill>
                <a:latin typeface="Aptos"/>
                <a:ea typeface="Aptos"/>
                <a:cs typeface="Aptos"/>
              </a:rPr>
              <a:t>Progressive breathlessness + ankle swelling</a:t>
            </a:r>
          </a:p>
          <a:p xmlns:a="http://schemas.openxmlformats.org/drawingml/2006/main">
            <a:pPr marL="22" indent="-10" algn="l">
              <a:lnSpc>
                <a:spcPct val="110000"/>
              </a:lnSpc>
              <a:buNone/>
              <a:defRPr sz="1388" b="0">
                <a:solidFill>
                  <a:srgbClr val="FFFFFF"/>
                </a:solidFill>
                <a:latin typeface="Aptos"/>
                <a:ea typeface="Aptos"/>
                <a:cs typeface="Aptos"/>
              </a:defRPr>
            </a:pPr>
            <a:r>
              <a:rPr sz="1388" b="0">
                <a:solidFill>
                  <a:srgbClr val="FFFFFF"/>
                </a:solidFill>
                <a:latin typeface="Aptos"/>
                <a:ea typeface="Aptos"/>
                <a:cs typeface="Aptos"/>
              </a:rPr>
              <a:t>BP 164/96; pulse 104; SpO₂ 93%</a:t>
            </a:r>
          </a:p>
          <a:p xmlns:a="http://schemas.openxmlformats.org/drawingml/2006/main">
            <a:pPr marL="22" indent="-10" algn="l">
              <a:lnSpc>
                <a:spcPct val="110000"/>
              </a:lnSpc>
              <a:buNone/>
              <a:defRPr sz="1388" b="0">
                <a:solidFill>
                  <a:srgbClr val="FFFFFF"/>
                </a:solidFill>
                <a:latin typeface="Aptos"/>
                <a:ea typeface="Aptos"/>
                <a:cs typeface="Aptos"/>
              </a:defRPr>
            </a:pPr>
            <a:r>
              <a:rPr sz="1388" b="0">
                <a:solidFill>
                  <a:srgbClr val="FFFFFF"/>
                </a:solidFill>
                <a:latin typeface="Aptos"/>
                <a:ea typeface="Aptos"/>
                <a:cs typeface="Aptos"/>
              </a:rPr>
              <a:t>Diabetes, hypertension, smoker</a:t>
            </a:r>
          </a:p>
          <a:p xmlns:a="http://schemas.openxmlformats.org/drawingml/2006/main">
            <a:pPr marL="22" indent="-10" algn="l">
              <a:lnSpc>
                <a:spcPct val="110000"/>
              </a:lnSpc>
              <a:buNone/>
              <a:defRPr sz="1388" b="0">
                <a:solidFill>
                  <a:srgbClr val="FFFFFF"/>
                </a:solidFill>
                <a:latin typeface="Aptos"/>
                <a:ea typeface="Aptos"/>
                <a:cs typeface="Aptos"/>
              </a:defRPr>
            </a:pPr>
            <a:r>
              <a:rPr sz="1388" b="0">
                <a:solidFill>
                  <a:srgbClr val="FFFFFF"/>
                </a:solidFill>
                <a:latin typeface="Aptos"/>
                <a:ea typeface="Aptos"/>
                <a:cs typeface="Aptos"/>
              </a:rPr>
              <a:t>Raised BNP reported; basal crepitations</a:t>
            </a:r>
          </a:p>
          <a:p xmlns:a="http://schemas.openxmlformats.org/drawingml/2006/main">
            <a:pPr marL="22" indent="-10" algn="l">
              <a:lnSpc>
                <a:spcPct val="110000"/>
              </a:lnSpc>
              <a:buNone/>
              <a:defRPr sz="1388" b="0">
                <a:solidFill>
                  <a:srgbClr val="FFFFFF"/>
                </a:solidFill>
                <a:latin typeface="Aptos"/>
                <a:ea typeface="Aptos"/>
                <a:cs typeface="Aptos"/>
              </a:defRPr>
            </a:pPr>
            <a:r>
              <a:rPr sz="1388" b="0">
                <a:solidFill>
                  <a:srgbClr val="FFFFFF"/>
                </a:solidFill>
                <a:latin typeface="Aptos"/>
                <a:ea typeface="Aptos"/>
                <a:cs typeface="Aptos"/>
              </a:rPr>
              <a:t>Medication and ECG information incomplete</a:t>
            </a:r>
          </a:p>
        </p:txBody>
      </p:sp>
      <p:sp>
        <p:nvSpPr>
          <p:cNvPr id="13" name="">
            <a:extLst xmlns:a="http://schemas.openxmlformats.org/drawingml/2006/main">
              <a:ext uri="{FF2B5EF4-FFF2-40B4-BE49-F238E27FC236}">
                <a16:creationId xmlns:a16="http://schemas.microsoft.com/office/drawing/2014/main" id="{B3F66FCF-981E-4D11-BDED-B708A083BBD5}"/>
              </a:ext>
            </a:extLst>
          </p:cNvPr>
          <p:cNvSpPr>
            <a:spLocks xmlns:a="http://schemas.openxmlformats.org/drawingml/2006/main" noGrp="1"/>
          </p:cNvSpPr>
          <p:nvPr/>
        </p:nvSpPr>
        <p:spPr>
          <a:xfrm xmlns:a="http://schemas.openxmlformats.org/drawingml/2006/main">
            <a:off x="5810250" y="1762125"/>
            <a:ext cx="5467350" cy="3857625"/>
          </a:xfrm>
          <a:prstGeom xmlns:a="http://schemas.openxmlformats.org/drawingml/2006/main" prst="roundRect">
            <a:avLst>
              <a:gd name="adj" fmla="val 5432"/>
            </a:avLst>
          </a:prstGeom>
          <a:solidFill xmlns:a="http://schemas.openxmlformats.org/drawingml/2006/main">
            <a:srgbClr val="FFFDFC"/>
          </a:solidFill>
          <a:ln xmlns:a="http://schemas.openxmlformats.org/drawingml/2006/main" w="9525">
            <a:solidFill>
              <a:srgbClr val="087E78"/>
            </a:solidFill>
            <a:prstDash val="solid"/>
          </a:ln>
        </p:spPr>
      </p:sp>
      <p:sp>
        <p:nvSpPr>
          <p:cNvPr id="14" name="">
            <a:extLst xmlns:a="http://schemas.openxmlformats.org/drawingml/2006/main">
              <a:ext uri="{FF2B5EF4-FFF2-40B4-BE49-F238E27FC236}">
                <a16:creationId xmlns:a16="http://schemas.microsoft.com/office/drawing/2014/main" id="{9368104C-D884-41F9-9A8D-FBF5A6125C64}"/>
              </a:ext>
            </a:extLst>
          </p:cNvPr>
          <p:cNvSpPr>
            <a:spLocks xmlns:a="http://schemas.openxmlformats.org/drawingml/2006/main" noGrp="1"/>
          </p:cNvSpPr>
          <p:nvPr/>
        </p:nvSpPr>
        <p:spPr>
          <a:xfrm xmlns:a="http://schemas.openxmlformats.org/drawingml/2006/main">
            <a:off x="6076950" y="20097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TEAM QUESTION</a:t>
            </a:r>
          </a:p>
        </p:txBody>
      </p:sp>
      <p:sp>
        <p:nvSpPr>
          <p:cNvPr id="15" name="">
            <a:extLst xmlns:a="http://schemas.openxmlformats.org/drawingml/2006/main">
              <a:ext uri="{FF2B5EF4-FFF2-40B4-BE49-F238E27FC236}">
                <a16:creationId xmlns:a16="http://schemas.microsoft.com/office/drawing/2014/main" id="{164733F9-C321-4361-81A8-7A09BCF0624D}"/>
              </a:ext>
            </a:extLst>
          </p:cNvPr>
          <p:cNvSpPr>
            <a:spLocks xmlns:a="http://schemas.openxmlformats.org/drawingml/2006/main" noGrp="1"/>
          </p:cNvSpPr>
          <p:nvPr/>
        </p:nvSpPr>
        <p:spPr>
          <a:xfrm xmlns:a="http://schemas.openxmlformats.org/drawingml/2006/main">
            <a:off x="6076950" y="2447925"/>
            <a:ext cx="4781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2025" b="1">
                <a:solidFill>
                  <a:srgbClr val="082638"/>
                </a:solidFill>
                <a:latin typeface="Aptos"/>
                <a:ea typeface="Aptos"/>
                <a:cs typeface="Aptos"/>
              </a:defRPr>
            </a:pPr>
            <a:r>
              <a:rPr sz="2025" b="1">
                <a:solidFill>
                  <a:srgbClr val="082638"/>
                </a:solidFill>
                <a:latin typeface="Aptos"/>
                <a:ea typeface="Aptos"/>
                <a:cs typeface="Aptos"/>
              </a:rPr>
              <a:t>Which information changes urgency before it changes the differential?</a:t>
            </a:r>
          </a:p>
        </p:txBody>
      </p:sp>
      <p:sp>
        <p:nvSpPr>
          <p:cNvPr id="16" name="">
            <a:extLst xmlns:a="http://schemas.openxmlformats.org/drawingml/2006/main">
              <a:ext uri="{FF2B5EF4-FFF2-40B4-BE49-F238E27FC236}">
                <a16:creationId xmlns:a16="http://schemas.microsoft.com/office/drawing/2014/main" id="{97957EB8-CF97-4145-807A-177787743295}"/>
              </a:ext>
            </a:extLst>
          </p:cNvPr>
          <p:cNvSpPr>
            <a:spLocks xmlns:a="http://schemas.openxmlformats.org/drawingml/2006/main" noGrp="1"/>
          </p:cNvSpPr>
          <p:nvPr/>
        </p:nvSpPr>
        <p:spPr>
          <a:xfrm xmlns:a="http://schemas.openxmlformats.org/drawingml/2006/main">
            <a:off x="6096000" y="3524250"/>
            <a:ext cx="4095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Common/likely</a:t>
            </a:r>
          </a:p>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Dangerous must-not-miss</a:t>
            </a:r>
          </a:p>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Alternatives</a:t>
            </a:r>
          </a:p>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Missing evidence</a:t>
            </a:r>
          </a:p>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Human disposition decision</a:t>
            </a:r>
          </a:p>
        </p:txBody>
      </p:sp>
    </p:spTree>
    <p:extLst>
      <p:ext uri="{BB962C8B-B14F-4D97-AF65-F5344CB8AC3E}">
        <p14:creationId xmlns:p14="http://schemas.microsoft.com/office/powerpoint/2010/main" val="1540986465"/>
      </p:ext>
    </p:extLst>
  </p:cSld>
</p:sld>
</file>

<file path=ppt/slides/slide37.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AEB0BC-AE26-4B3E-A12B-1BC2FC1DDC32}"/>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B1555D7B-BE4B-4C46-947E-FF170D097302}"/>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9560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CHATGPT EXERCISE</a:t>
            </a:r>
          </a:p>
        </p:txBody>
      </p:sp>
      <p:sp>
        <p:nvSpPr>
          <p:cNvPr id="3" name="">
            <a:extLst xmlns:a="http://schemas.openxmlformats.org/drawingml/2006/main">
              <a:ext uri="{FF2B5EF4-FFF2-40B4-BE49-F238E27FC236}">
                <a16:creationId xmlns:a16="http://schemas.microsoft.com/office/drawing/2014/main" id="{1077F9FB-E3B3-49B1-AAC0-767311CE7182}"/>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ChatGPT exercise: reason without outsourcing diagnosis</a:t>
            </a:r>
          </a:p>
        </p:txBody>
      </p:sp>
      <p:sp>
        <p:nvSpPr>
          <p:cNvPr id="4" name="">
            <a:extLst xmlns:a="http://schemas.openxmlformats.org/drawingml/2006/main">
              <a:ext uri="{FF2B5EF4-FFF2-40B4-BE49-F238E27FC236}">
                <a16:creationId xmlns:a16="http://schemas.microsoft.com/office/drawing/2014/main" id="{621728A7-1454-4814-9905-0D561324EB77}"/>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C43D10CF-24FD-4A6D-8B4A-C714EE77D0A8}"/>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5707ACEE-68F9-4ACA-8CDC-2D19945AE9FB}"/>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9FCEFFBE-F1E9-4F8C-B00D-A90E14367233}"/>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Full copy-ready prompt: Prompt Cards PDF</a:t>
            </a:r>
          </a:p>
        </p:txBody>
      </p:sp>
      <p:sp>
        <p:nvSpPr>
          <p:cNvPr id="8" name="">
            <a:extLst xmlns:a="http://schemas.openxmlformats.org/drawingml/2006/main">
              <a:ext uri="{FF2B5EF4-FFF2-40B4-BE49-F238E27FC236}">
                <a16:creationId xmlns:a16="http://schemas.microsoft.com/office/drawing/2014/main" id="{96AAE450-9B4A-4FB0-A85A-994958E3F9DA}"/>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B9C0B22B-C3DD-432F-9FBC-030B6FFBA2E7}"/>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37</a:t>
            </a:r>
          </a:p>
        </p:txBody>
      </p:sp>
      <p:sp>
        <p:nvSpPr>
          <p:cNvPr id="10" name="">
            <a:extLst xmlns:a="http://schemas.openxmlformats.org/drawingml/2006/main">
              <a:ext uri="{FF2B5EF4-FFF2-40B4-BE49-F238E27FC236}">
                <a16:creationId xmlns:a16="http://schemas.microsoft.com/office/drawing/2014/main" id="{4A1EB3AE-AD3E-4152-A3D9-C6FDED197BD5}"/>
              </a:ext>
            </a:extLst>
          </p:cNvPr>
          <p:cNvSpPr>
            <a:spLocks xmlns:a="http://schemas.openxmlformats.org/drawingml/2006/main" noGrp="1"/>
          </p:cNvSpPr>
          <p:nvPr/>
        </p:nvSpPr>
        <p:spPr>
          <a:xfrm xmlns:a="http://schemas.openxmlformats.org/drawingml/2006/main">
            <a:off x="609600" y="1714500"/>
            <a:ext cx="7029450" cy="4095750"/>
          </a:xfrm>
          <a:prstGeom xmlns:a="http://schemas.openxmlformats.org/drawingml/2006/main" prst="roundRect">
            <a:avLst>
              <a:gd name="adj" fmla="val 4651"/>
            </a:avLst>
          </a:prstGeom>
          <a:solidFill xmlns:a="http://schemas.openxmlformats.org/drawingml/2006/main">
            <a:srgbClr val="082638"/>
          </a:solidFill>
          <a:ln xmlns:a="http://schemas.openxmlformats.org/drawingml/2006/main" w="9525">
            <a:solidFill>
              <a:srgbClr val="082638"/>
            </a:solidFill>
            <a:prstDash val="solid"/>
          </a:ln>
        </p:spPr>
      </p:sp>
      <p:sp>
        <p:nvSpPr>
          <p:cNvPr id="11" name="">
            <a:extLst xmlns:a="http://schemas.openxmlformats.org/drawingml/2006/main">
              <a:ext uri="{FF2B5EF4-FFF2-40B4-BE49-F238E27FC236}">
                <a16:creationId xmlns:a16="http://schemas.microsoft.com/office/drawing/2014/main" id="{80145C7F-DE59-47F7-BDF3-DC92895E8446}"/>
              </a:ext>
            </a:extLst>
          </p:cNvPr>
          <p:cNvSpPr>
            <a:spLocks xmlns:a="http://schemas.openxmlformats.org/drawingml/2006/main" noGrp="1"/>
          </p:cNvSpPr>
          <p:nvPr/>
        </p:nvSpPr>
        <p:spPr>
          <a:xfrm xmlns:a="http://schemas.openxmlformats.org/drawingml/2006/main">
            <a:off x="838200" y="1924050"/>
            <a:ext cx="9906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PROMPT 2</a:t>
            </a:r>
          </a:p>
        </p:txBody>
      </p:sp>
      <p:sp>
        <p:nvSpPr>
          <p:cNvPr id="12" name="">
            <a:extLst xmlns:a="http://schemas.openxmlformats.org/drawingml/2006/main">
              <a:ext uri="{FF2B5EF4-FFF2-40B4-BE49-F238E27FC236}">
                <a16:creationId xmlns:a16="http://schemas.microsoft.com/office/drawing/2014/main" id="{21E6759E-9D20-4E6D-82E5-138F94EEA8A6}"/>
              </a:ext>
            </a:extLst>
          </p:cNvPr>
          <p:cNvSpPr>
            <a:spLocks xmlns:a="http://schemas.openxmlformats.org/drawingml/2006/main" noGrp="1"/>
          </p:cNvSpPr>
          <p:nvPr/>
        </p:nvSpPr>
        <p:spPr>
          <a:xfrm xmlns:a="http://schemas.openxmlformats.org/drawingml/2006/main">
            <a:off x="838200" y="2343150"/>
            <a:ext cx="6553200" cy="300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FFFFFF"/>
                </a:solidFill>
                <a:latin typeface="Aptos"/>
                <a:ea typeface="Aptos"/>
                <a:cs typeface="Aptos"/>
              </a:defRPr>
            </a:pPr>
            <a:r>
              <a:rPr sz="1275" b="0">
                <a:solidFill>
                  <a:srgbClr val="FFFFFF"/>
                </a:solidFill>
                <a:latin typeface="Aptos"/>
                <a:ea typeface="Aptos"/>
                <a:cs typeface="Aptos"/>
              </a:rPr>
              <a:t>Using only the synthetic case below: (1) write a one-sentence problem representation without declaring a diagnosis; (2) group hypotheses as common/likely, dangerous must-not-miss, and alternative explanations; (3) for each, list supporting information, contradictory information, missing information, red flags, time sensitivity and evidence that must be verified; (4) identify the five questions or observations most likely to change urgency; and (5) state what a licensed clinician must decide. Do not recommend treatment or invent probabilities. Case: [PASTE SYNTHETIC CASE]</a:t>
            </a:r>
          </a:p>
        </p:txBody>
      </p:sp>
      <p:sp>
        <p:nvSpPr>
          <p:cNvPr id="13" name="">
            <a:extLst xmlns:a="http://schemas.openxmlformats.org/drawingml/2006/main">
              <a:ext uri="{FF2B5EF4-FFF2-40B4-BE49-F238E27FC236}">
                <a16:creationId xmlns:a16="http://schemas.microsoft.com/office/drawing/2014/main" id="{81A503E2-21F4-473F-9E0A-7631519C007F}"/>
              </a:ext>
            </a:extLst>
          </p:cNvPr>
          <p:cNvSpPr>
            <a:spLocks xmlns:a="http://schemas.openxmlformats.org/drawingml/2006/main" noGrp="1"/>
          </p:cNvSpPr>
          <p:nvPr/>
        </p:nvSpPr>
        <p:spPr>
          <a:xfrm xmlns:a="http://schemas.openxmlformats.org/drawingml/2006/main">
            <a:off x="7924800" y="1714500"/>
            <a:ext cx="3371850" cy="1866900"/>
          </a:xfrm>
          <a:prstGeom xmlns:a="http://schemas.openxmlformats.org/drawingml/2006/main" prst="roundRect">
            <a:avLst>
              <a:gd name="adj" fmla="val 10204"/>
            </a:avLst>
          </a:prstGeom>
          <a:solidFill xmlns:a="http://schemas.openxmlformats.org/drawingml/2006/main">
            <a:srgbClr val="DDF2EE"/>
          </a:solidFill>
          <a:ln xmlns:a="http://schemas.openxmlformats.org/drawingml/2006/main" w="9525">
            <a:solidFill>
              <a:srgbClr val="087E78"/>
            </a:solidFill>
            <a:prstDash val="solid"/>
          </a:ln>
        </p:spPr>
      </p:sp>
      <p:sp>
        <p:nvSpPr>
          <p:cNvPr id="14" name="">
            <a:extLst xmlns:a="http://schemas.openxmlformats.org/drawingml/2006/main">
              <a:ext uri="{FF2B5EF4-FFF2-40B4-BE49-F238E27FC236}">
                <a16:creationId xmlns:a16="http://schemas.microsoft.com/office/drawing/2014/main" id="{B1D41239-3247-496F-8F7B-69F48F3CE7BA}"/>
              </a:ext>
            </a:extLst>
          </p:cNvPr>
          <p:cNvSpPr>
            <a:spLocks xmlns:a="http://schemas.openxmlformats.org/drawingml/2006/main" noGrp="1"/>
          </p:cNvSpPr>
          <p:nvPr/>
        </p:nvSpPr>
        <p:spPr>
          <a:xfrm xmlns:a="http://schemas.openxmlformats.org/drawingml/2006/main">
            <a:off x="8153400" y="19335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EXPECTED OUTPUT</a:t>
            </a:r>
          </a:p>
        </p:txBody>
      </p:sp>
      <p:sp>
        <p:nvSpPr>
          <p:cNvPr id="15" name="">
            <a:extLst xmlns:a="http://schemas.openxmlformats.org/drawingml/2006/main">
              <a:ext uri="{FF2B5EF4-FFF2-40B4-BE49-F238E27FC236}">
                <a16:creationId xmlns:a16="http://schemas.microsoft.com/office/drawing/2014/main" id="{B5A9A271-E32C-4306-8E7C-A94D5007A881}"/>
              </a:ext>
            </a:extLst>
          </p:cNvPr>
          <p:cNvSpPr>
            <a:spLocks xmlns:a="http://schemas.openxmlformats.org/drawingml/2006/main" noGrp="1"/>
          </p:cNvSpPr>
          <p:nvPr/>
        </p:nvSpPr>
        <p:spPr>
          <a:xfrm xmlns:a="http://schemas.openxmlformats.org/drawingml/2006/main">
            <a:off x="8153400" y="2305050"/>
            <a:ext cx="29146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Structured hypotheses and uncertainty map</a:t>
            </a:r>
          </a:p>
        </p:txBody>
      </p:sp>
      <p:sp>
        <p:nvSpPr>
          <p:cNvPr id="16" name="">
            <a:extLst xmlns:a="http://schemas.openxmlformats.org/drawingml/2006/main">
              <a:ext uri="{FF2B5EF4-FFF2-40B4-BE49-F238E27FC236}">
                <a16:creationId xmlns:a16="http://schemas.microsoft.com/office/drawing/2014/main" id="{5FAE30C6-2B8F-424D-92D7-2028E390ECEA}"/>
              </a:ext>
            </a:extLst>
          </p:cNvPr>
          <p:cNvSpPr>
            <a:spLocks xmlns:a="http://schemas.openxmlformats.org/drawingml/2006/main" noGrp="1"/>
          </p:cNvSpPr>
          <p:nvPr/>
        </p:nvSpPr>
        <p:spPr>
          <a:xfrm xmlns:a="http://schemas.openxmlformats.org/drawingml/2006/main">
            <a:off x="7924800" y="3762375"/>
            <a:ext cx="3371850" cy="2047875"/>
          </a:xfrm>
          <a:prstGeom xmlns:a="http://schemas.openxmlformats.org/drawingml/2006/main" prst="roundRect">
            <a:avLst>
              <a:gd name="adj" fmla="val 9302"/>
            </a:avLst>
          </a:prstGeom>
          <a:solidFill xmlns:a="http://schemas.openxmlformats.org/drawingml/2006/main">
            <a:srgbClr val="FBE7DF"/>
          </a:solidFill>
          <a:ln xmlns:a="http://schemas.openxmlformats.org/drawingml/2006/main" w="9525">
            <a:solidFill>
              <a:srgbClr val="E8694A"/>
            </a:solidFill>
            <a:prstDash val="solid"/>
          </a:ln>
        </p:spPr>
      </p:sp>
      <p:sp>
        <p:nvSpPr>
          <p:cNvPr id="17" name="">
            <a:extLst xmlns:a="http://schemas.openxmlformats.org/drawingml/2006/main">
              <a:ext uri="{FF2B5EF4-FFF2-40B4-BE49-F238E27FC236}">
                <a16:creationId xmlns:a16="http://schemas.microsoft.com/office/drawing/2014/main" id="{A26B6790-7268-4209-9D80-D4F0F35D6DAF}"/>
              </a:ext>
            </a:extLst>
          </p:cNvPr>
          <p:cNvSpPr>
            <a:spLocks xmlns:a="http://schemas.openxmlformats.org/drawingml/2006/main" noGrp="1"/>
          </p:cNvSpPr>
          <p:nvPr/>
        </p:nvSpPr>
        <p:spPr>
          <a:xfrm xmlns:a="http://schemas.openxmlformats.org/drawingml/2006/main">
            <a:off x="8153400" y="3971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B7433D"/>
                </a:solidFill>
                <a:latin typeface="Aptos"/>
                <a:ea typeface="Aptos"/>
                <a:cs typeface="Aptos"/>
              </a:defRPr>
            </a:pPr>
            <a:r>
              <a:rPr sz="1050" b="1">
                <a:solidFill>
                  <a:srgbClr val="B7433D"/>
                </a:solidFill>
                <a:latin typeface="Aptos"/>
                <a:ea typeface="Aptos"/>
                <a:cs typeface="Aptos"/>
              </a:rPr>
              <a:t>HUMAN CHECKPOINT</a:t>
            </a:r>
          </a:p>
        </p:txBody>
      </p:sp>
      <p:sp>
        <p:nvSpPr>
          <p:cNvPr id="18" name="">
            <a:extLst xmlns:a="http://schemas.openxmlformats.org/drawingml/2006/main">
              <a:ext uri="{FF2B5EF4-FFF2-40B4-BE49-F238E27FC236}">
                <a16:creationId xmlns:a16="http://schemas.microsoft.com/office/drawing/2014/main" id="{A87FBD74-BC68-4CC1-A434-CFB0383F4694}"/>
              </a:ext>
            </a:extLst>
          </p:cNvPr>
          <p:cNvSpPr>
            <a:spLocks xmlns:a="http://schemas.openxmlformats.org/drawingml/2006/main" noGrp="1"/>
          </p:cNvSpPr>
          <p:nvPr/>
        </p:nvSpPr>
        <p:spPr>
          <a:xfrm xmlns:a="http://schemas.openxmlformats.org/drawingml/2006/main">
            <a:off x="8153400" y="4343400"/>
            <a:ext cx="29146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Check urgent red flags, primary evidence, local protocol and patient context; clinician owns diagnosis and disposition.</a:t>
            </a:r>
          </a:p>
        </p:txBody>
      </p:sp>
    </p:spTree>
    <p:extLst>
      <p:ext uri="{BB962C8B-B14F-4D97-AF65-F5344CB8AC3E}">
        <p14:creationId xmlns:p14="http://schemas.microsoft.com/office/powerpoint/2010/main" val="1450908250"/>
      </p:ext>
    </p:extLst>
  </p:cSld>
</p:sld>
</file>

<file path=ppt/slides/slide38.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199F66-98E9-436B-8039-A311D51B37E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DF8DA9F1-60EB-40F0-B065-1AAA07F415E3}"/>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2 DEMO</a:t>
            </a:r>
          </a:p>
        </p:txBody>
      </p:sp>
      <p:sp>
        <p:nvSpPr>
          <p:cNvPr id="3" name="">
            <a:extLst xmlns:a="http://schemas.openxmlformats.org/drawingml/2006/main">
              <a:ext uri="{FF2B5EF4-FFF2-40B4-BE49-F238E27FC236}">
                <a16:creationId xmlns:a16="http://schemas.microsoft.com/office/drawing/2014/main" id="{EDC604CD-024F-4F82-B67D-73F891236754}"/>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Purpose-built comparison: same question, different constraints</a:t>
            </a:r>
          </a:p>
        </p:txBody>
      </p:sp>
      <p:sp>
        <p:nvSpPr>
          <p:cNvPr id="4" name="">
            <a:extLst xmlns:a="http://schemas.openxmlformats.org/drawingml/2006/main">
              <a:ext uri="{FF2B5EF4-FFF2-40B4-BE49-F238E27FC236}">
                <a16:creationId xmlns:a16="http://schemas.microsoft.com/office/drawing/2014/main" id="{BA860302-257B-432A-898A-4EAFCC7BFCCC}"/>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183A9FCF-C085-4A6A-90BE-010F98E5EF8C}"/>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47B3108A-9E48-43F6-B8C7-F32AF24D7400}"/>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3191377D-1B85-4AE6-8D25-BBEAAB741FF9}"/>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8" name="">
            <a:extLst xmlns:a="http://schemas.openxmlformats.org/drawingml/2006/main">
              <a:ext uri="{FF2B5EF4-FFF2-40B4-BE49-F238E27FC236}">
                <a16:creationId xmlns:a16="http://schemas.microsoft.com/office/drawing/2014/main" id="{70AC761E-F57A-4E42-9AAE-E40030BEF76D}"/>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38</a:t>
            </a:r>
          </a:p>
        </p:txBody>
      </p:sp>
      <p:sp>
        <p:nvSpPr>
          <p:cNvPr id="9" name="">
            <a:extLst xmlns:a="http://schemas.openxmlformats.org/drawingml/2006/main">
              <a:ext uri="{FF2B5EF4-FFF2-40B4-BE49-F238E27FC236}">
                <a16:creationId xmlns:a16="http://schemas.microsoft.com/office/drawing/2014/main" id="{EDED836C-76CA-48DA-91C4-FF0F63772116}"/>
              </a:ext>
            </a:extLst>
          </p:cNvPr>
          <p:cNvSpPr>
            <a:spLocks xmlns:a="http://schemas.openxmlformats.org/drawingml/2006/main" noGrp="1"/>
          </p:cNvSpPr>
          <p:nvPr/>
        </p:nvSpPr>
        <p:spPr>
          <a:xfrm xmlns:a="http://schemas.openxmlformats.org/drawingml/2006/main">
            <a:off x="609600" y="1762125"/>
            <a:ext cx="1809750" cy="4191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10" name="">
            <a:extLst xmlns:a="http://schemas.openxmlformats.org/drawingml/2006/main">
              <a:ext uri="{FF2B5EF4-FFF2-40B4-BE49-F238E27FC236}">
                <a16:creationId xmlns:a16="http://schemas.microsoft.com/office/drawing/2014/main" id="{0D065163-DE19-4E6B-BC57-A5BB5E1CF2F7}"/>
              </a:ext>
            </a:extLst>
          </p:cNvPr>
          <p:cNvSpPr>
            <a:spLocks xmlns:a="http://schemas.openxmlformats.org/drawingml/2006/main" noGrp="1"/>
          </p:cNvSpPr>
          <p:nvPr/>
        </p:nvSpPr>
        <p:spPr>
          <a:xfrm xmlns:a="http://schemas.openxmlformats.org/drawingml/2006/main">
            <a:off x="685800" y="1885950"/>
            <a:ext cx="1657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975" b="1">
                <a:solidFill>
                  <a:srgbClr val="FFFFFF"/>
                </a:solidFill>
                <a:latin typeface="Aptos"/>
                <a:ea typeface="Aptos"/>
                <a:cs typeface="Aptos"/>
              </a:defRPr>
            </a:pPr>
            <a:r>
              <a:rPr sz="975" b="1">
                <a:solidFill>
                  <a:srgbClr val="FFFFFF"/>
                </a:solidFill>
                <a:latin typeface="Aptos"/>
                <a:ea typeface="Aptos"/>
                <a:cs typeface="Aptos"/>
              </a:rPr>
              <a:t>TOOL</a:t>
            </a:r>
          </a:p>
        </p:txBody>
      </p:sp>
      <p:sp>
        <p:nvSpPr>
          <p:cNvPr id="11" name="">
            <a:extLst xmlns:a="http://schemas.openxmlformats.org/drawingml/2006/main">
              <a:ext uri="{FF2B5EF4-FFF2-40B4-BE49-F238E27FC236}">
                <a16:creationId xmlns:a16="http://schemas.microsoft.com/office/drawing/2014/main" id="{7929F975-DE53-4DAB-B71B-C0250F129B6C}"/>
              </a:ext>
            </a:extLst>
          </p:cNvPr>
          <p:cNvSpPr>
            <a:spLocks xmlns:a="http://schemas.openxmlformats.org/drawingml/2006/main" noGrp="1"/>
          </p:cNvSpPr>
          <p:nvPr/>
        </p:nvSpPr>
        <p:spPr>
          <a:xfrm xmlns:a="http://schemas.openxmlformats.org/drawingml/2006/main">
            <a:off x="2476500" y="1762125"/>
            <a:ext cx="1466850" cy="4191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12" name="">
            <a:extLst xmlns:a="http://schemas.openxmlformats.org/drawingml/2006/main">
              <a:ext uri="{FF2B5EF4-FFF2-40B4-BE49-F238E27FC236}">
                <a16:creationId xmlns:a16="http://schemas.microsoft.com/office/drawing/2014/main" id="{B7D1A992-C011-47D0-8C15-46B6EB9161BB}"/>
              </a:ext>
            </a:extLst>
          </p:cNvPr>
          <p:cNvSpPr>
            <a:spLocks xmlns:a="http://schemas.openxmlformats.org/drawingml/2006/main" noGrp="1"/>
          </p:cNvSpPr>
          <p:nvPr/>
        </p:nvSpPr>
        <p:spPr>
          <a:xfrm xmlns:a="http://schemas.openxmlformats.org/drawingml/2006/main">
            <a:off x="2552700" y="1885950"/>
            <a:ext cx="1314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975" b="1">
                <a:solidFill>
                  <a:srgbClr val="FFFFFF"/>
                </a:solidFill>
                <a:latin typeface="Aptos"/>
                <a:ea typeface="Aptos"/>
                <a:cs typeface="Aptos"/>
              </a:defRPr>
            </a:pPr>
            <a:r>
              <a:rPr sz="975" b="1">
                <a:solidFill>
                  <a:srgbClr val="FFFFFF"/>
                </a:solidFill>
                <a:latin typeface="Aptos"/>
                <a:ea typeface="Aptos"/>
                <a:cs typeface="Aptos"/>
              </a:rPr>
              <a:t>ACCESS</a:t>
            </a:r>
          </a:p>
        </p:txBody>
      </p:sp>
      <p:sp>
        <p:nvSpPr>
          <p:cNvPr id="13" name="">
            <a:extLst xmlns:a="http://schemas.openxmlformats.org/drawingml/2006/main">
              <a:ext uri="{FF2B5EF4-FFF2-40B4-BE49-F238E27FC236}">
                <a16:creationId xmlns:a16="http://schemas.microsoft.com/office/drawing/2014/main" id="{0A9B5602-EC1E-4D10-87B6-297FC7EA0049}"/>
              </a:ext>
            </a:extLst>
          </p:cNvPr>
          <p:cNvSpPr>
            <a:spLocks xmlns:a="http://schemas.openxmlformats.org/drawingml/2006/main" noGrp="1"/>
          </p:cNvSpPr>
          <p:nvPr/>
        </p:nvSpPr>
        <p:spPr>
          <a:xfrm xmlns:a="http://schemas.openxmlformats.org/drawingml/2006/main">
            <a:off x="4000500" y="1762125"/>
            <a:ext cx="2800350" cy="4191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14" name="">
            <a:extLst xmlns:a="http://schemas.openxmlformats.org/drawingml/2006/main">
              <a:ext uri="{FF2B5EF4-FFF2-40B4-BE49-F238E27FC236}">
                <a16:creationId xmlns:a16="http://schemas.microsoft.com/office/drawing/2014/main" id="{F24B8AF4-2289-465B-9D0B-50AF70107A22}"/>
              </a:ext>
            </a:extLst>
          </p:cNvPr>
          <p:cNvSpPr>
            <a:spLocks xmlns:a="http://schemas.openxmlformats.org/drawingml/2006/main" noGrp="1"/>
          </p:cNvSpPr>
          <p:nvPr/>
        </p:nvSpPr>
        <p:spPr>
          <a:xfrm xmlns:a="http://schemas.openxmlformats.org/drawingml/2006/main">
            <a:off x="4076700" y="1885950"/>
            <a:ext cx="264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975" b="1">
                <a:solidFill>
                  <a:srgbClr val="FFFFFF"/>
                </a:solidFill>
                <a:latin typeface="Aptos"/>
                <a:ea typeface="Aptos"/>
                <a:cs typeface="Aptos"/>
              </a:defRPr>
            </a:pPr>
            <a:r>
              <a:rPr sz="975" b="1">
                <a:solidFill>
                  <a:srgbClr val="FFFFFF"/>
                </a:solidFill>
                <a:latin typeface="Aptos"/>
                <a:ea typeface="Aptos"/>
                <a:cs typeface="Aptos"/>
              </a:rPr>
              <a:t>DEMO TASK</a:t>
            </a:r>
          </a:p>
        </p:txBody>
      </p:sp>
      <p:sp>
        <p:nvSpPr>
          <p:cNvPr id="15" name="">
            <a:extLst xmlns:a="http://schemas.openxmlformats.org/drawingml/2006/main">
              <a:ext uri="{FF2B5EF4-FFF2-40B4-BE49-F238E27FC236}">
                <a16:creationId xmlns:a16="http://schemas.microsoft.com/office/drawing/2014/main" id="{1074484A-D235-481B-8358-021948478FD7}"/>
              </a:ext>
            </a:extLst>
          </p:cNvPr>
          <p:cNvSpPr>
            <a:spLocks xmlns:a="http://schemas.openxmlformats.org/drawingml/2006/main" noGrp="1"/>
          </p:cNvSpPr>
          <p:nvPr/>
        </p:nvSpPr>
        <p:spPr>
          <a:xfrm xmlns:a="http://schemas.openxmlformats.org/drawingml/2006/main">
            <a:off x="6858000" y="1762125"/>
            <a:ext cx="4362450" cy="4191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16" name="">
            <a:extLst xmlns:a="http://schemas.openxmlformats.org/drawingml/2006/main">
              <a:ext uri="{FF2B5EF4-FFF2-40B4-BE49-F238E27FC236}">
                <a16:creationId xmlns:a16="http://schemas.microsoft.com/office/drawing/2014/main" id="{4FB0DBA6-27BE-4369-A379-5E89AFC273A0}"/>
              </a:ext>
            </a:extLst>
          </p:cNvPr>
          <p:cNvSpPr>
            <a:spLocks xmlns:a="http://schemas.openxmlformats.org/drawingml/2006/main" noGrp="1"/>
          </p:cNvSpPr>
          <p:nvPr/>
        </p:nvSpPr>
        <p:spPr>
          <a:xfrm xmlns:a="http://schemas.openxmlformats.org/drawingml/2006/main">
            <a:off x="6934200" y="1885950"/>
            <a:ext cx="421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975" b="1">
                <a:solidFill>
                  <a:srgbClr val="FFFFFF"/>
                </a:solidFill>
                <a:latin typeface="Aptos"/>
                <a:ea typeface="Aptos"/>
                <a:cs typeface="Aptos"/>
              </a:defRPr>
            </a:pPr>
            <a:r>
              <a:rPr sz="975" b="1">
                <a:solidFill>
                  <a:srgbClr val="FFFFFF"/>
                </a:solidFill>
                <a:latin typeface="Aptos"/>
                <a:ea typeface="Aptos"/>
                <a:cs typeface="Aptos"/>
              </a:rPr>
              <a:t>HUMAN CHECK</a:t>
            </a:r>
          </a:p>
        </p:txBody>
      </p:sp>
      <p:sp>
        <p:nvSpPr>
          <p:cNvPr id="17" name="">
            <a:extLst xmlns:a="http://schemas.openxmlformats.org/drawingml/2006/main">
              <a:ext uri="{FF2B5EF4-FFF2-40B4-BE49-F238E27FC236}">
                <a16:creationId xmlns:a16="http://schemas.microsoft.com/office/drawing/2014/main" id="{B5A4BF68-EAD9-4455-8432-4D1E4C3764E8}"/>
              </a:ext>
            </a:extLst>
          </p:cNvPr>
          <p:cNvSpPr>
            <a:spLocks xmlns:a="http://schemas.openxmlformats.org/drawingml/2006/main" noGrp="1"/>
          </p:cNvSpPr>
          <p:nvPr/>
        </p:nvSpPr>
        <p:spPr>
          <a:xfrm xmlns:a="http://schemas.openxmlformats.org/drawingml/2006/main">
            <a:off x="609600" y="2181225"/>
            <a:ext cx="1809750" cy="647700"/>
          </a:xfrm>
          <a:prstGeom xmlns:a="http://schemas.openxmlformats.org/drawingml/2006/main" prst="rect">
            <a:avLst/>
          </a:prstGeom>
          <a:solidFill xmlns:a="http://schemas.openxmlformats.org/drawingml/2006/main">
            <a:srgbClr val="DDF2EE"/>
          </a:solidFill>
          <a:ln xmlns:a="http://schemas.openxmlformats.org/drawingml/2006/main" w="9525">
            <a:solidFill>
              <a:srgbClr val="D3DDDE"/>
            </a:solidFill>
            <a:prstDash val="solid"/>
          </a:ln>
        </p:spPr>
      </p:sp>
      <p:sp>
        <p:nvSpPr>
          <p:cNvPr id="18" name="">
            <a:extLst xmlns:a="http://schemas.openxmlformats.org/drawingml/2006/main">
              <a:ext uri="{FF2B5EF4-FFF2-40B4-BE49-F238E27FC236}">
                <a16:creationId xmlns:a16="http://schemas.microsoft.com/office/drawing/2014/main" id="{460BCCCC-45B0-44E0-9231-AEC2AAD09656}"/>
              </a:ext>
            </a:extLst>
          </p:cNvPr>
          <p:cNvSpPr>
            <a:spLocks xmlns:a="http://schemas.openxmlformats.org/drawingml/2006/main" noGrp="1"/>
          </p:cNvSpPr>
          <p:nvPr/>
        </p:nvSpPr>
        <p:spPr>
          <a:xfrm xmlns:a="http://schemas.openxmlformats.org/drawingml/2006/main">
            <a:off x="704850" y="228600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275" b="1">
                <a:solidFill>
                  <a:srgbClr val="183340"/>
                </a:solidFill>
                <a:latin typeface="Aptos"/>
                <a:ea typeface="Aptos"/>
                <a:cs typeface="Aptos"/>
              </a:defRPr>
            </a:pPr>
            <a:r>
              <a:rPr sz="1275" b="1">
                <a:solidFill>
                  <a:srgbClr val="183340"/>
                </a:solidFill>
                <a:latin typeface="Aptos"/>
                <a:ea typeface="Aptos"/>
                <a:cs typeface="Aptos"/>
              </a:rPr>
              <a:t>DxGPT</a:t>
            </a:r>
          </a:p>
        </p:txBody>
      </p:sp>
      <p:sp>
        <p:nvSpPr>
          <p:cNvPr id="19" name="">
            <a:extLst xmlns:a="http://schemas.openxmlformats.org/drawingml/2006/main">
              <a:ext uri="{FF2B5EF4-FFF2-40B4-BE49-F238E27FC236}">
                <a16:creationId xmlns:a16="http://schemas.microsoft.com/office/drawing/2014/main" id="{B1BC3B8F-7081-46ED-9160-D3019F308D1C}"/>
              </a:ext>
            </a:extLst>
          </p:cNvPr>
          <p:cNvSpPr>
            <a:spLocks xmlns:a="http://schemas.openxmlformats.org/drawingml/2006/main" noGrp="1"/>
          </p:cNvSpPr>
          <p:nvPr/>
        </p:nvSpPr>
        <p:spPr>
          <a:xfrm xmlns:a="http://schemas.openxmlformats.org/drawingml/2006/main">
            <a:off x="2476500" y="2181225"/>
            <a:ext cx="1466850" cy="647700"/>
          </a:xfrm>
          <a:prstGeom xmlns:a="http://schemas.openxmlformats.org/drawingml/2006/main" prst="rect">
            <a:avLst/>
          </a:prstGeom>
          <a:solidFill xmlns:a="http://schemas.openxmlformats.org/drawingml/2006/main">
            <a:srgbClr val="DDF2EE"/>
          </a:solidFill>
          <a:ln xmlns:a="http://schemas.openxmlformats.org/drawingml/2006/main" w="9525">
            <a:solidFill>
              <a:srgbClr val="D3DDDE"/>
            </a:solidFill>
            <a:prstDash val="solid"/>
          </a:ln>
        </p:spPr>
      </p:sp>
      <p:sp>
        <p:nvSpPr>
          <p:cNvPr id="20" name="">
            <a:extLst xmlns:a="http://schemas.openxmlformats.org/drawingml/2006/main">
              <a:ext uri="{FF2B5EF4-FFF2-40B4-BE49-F238E27FC236}">
                <a16:creationId xmlns:a16="http://schemas.microsoft.com/office/drawing/2014/main" id="{C3D32E0A-1398-42EA-9D85-0C4A5A17F3BB}"/>
              </a:ext>
            </a:extLst>
          </p:cNvPr>
          <p:cNvSpPr>
            <a:spLocks xmlns:a="http://schemas.openxmlformats.org/drawingml/2006/main" noGrp="1"/>
          </p:cNvSpPr>
          <p:nvPr/>
        </p:nvSpPr>
        <p:spPr>
          <a:xfrm xmlns:a="http://schemas.openxmlformats.org/drawingml/2006/main">
            <a:off x="2571750" y="2286000"/>
            <a:ext cx="1276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125" b="0">
                <a:solidFill>
                  <a:srgbClr val="183340"/>
                </a:solidFill>
                <a:latin typeface="Aptos"/>
                <a:ea typeface="Aptos"/>
                <a:cs typeface="Aptos"/>
              </a:defRPr>
            </a:pPr>
            <a:r>
              <a:rPr sz="1125" b="0">
                <a:solidFill>
                  <a:srgbClr val="183340"/>
                </a:solidFill>
                <a:latin typeface="Aptos"/>
                <a:ea typeface="Aptos"/>
                <a:cs typeface="Aptos"/>
              </a:rPr>
              <a:t>Free</a:t>
            </a:r>
          </a:p>
        </p:txBody>
      </p:sp>
      <p:sp>
        <p:nvSpPr>
          <p:cNvPr id="21" name="">
            <a:extLst xmlns:a="http://schemas.openxmlformats.org/drawingml/2006/main">
              <a:ext uri="{FF2B5EF4-FFF2-40B4-BE49-F238E27FC236}">
                <a16:creationId xmlns:a16="http://schemas.microsoft.com/office/drawing/2014/main" id="{7D11AB14-2E20-4AFD-BA52-FB8C1DFABCCC}"/>
              </a:ext>
            </a:extLst>
          </p:cNvPr>
          <p:cNvSpPr>
            <a:spLocks xmlns:a="http://schemas.openxmlformats.org/drawingml/2006/main" noGrp="1"/>
          </p:cNvSpPr>
          <p:nvPr/>
        </p:nvSpPr>
        <p:spPr>
          <a:xfrm xmlns:a="http://schemas.openxmlformats.org/drawingml/2006/main">
            <a:off x="4000500" y="2181225"/>
            <a:ext cx="2800350" cy="647700"/>
          </a:xfrm>
          <a:prstGeom xmlns:a="http://schemas.openxmlformats.org/drawingml/2006/main" prst="rect">
            <a:avLst/>
          </a:prstGeom>
          <a:solidFill xmlns:a="http://schemas.openxmlformats.org/drawingml/2006/main">
            <a:srgbClr val="DDF2EE"/>
          </a:solidFill>
          <a:ln xmlns:a="http://schemas.openxmlformats.org/drawingml/2006/main" w="9525">
            <a:solidFill>
              <a:srgbClr val="D3DDDE"/>
            </a:solidFill>
            <a:prstDash val="solid"/>
          </a:ln>
        </p:spPr>
      </p:sp>
      <p:sp>
        <p:nvSpPr>
          <p:cNvPr id="22" name="">
            <a:extLst xmlns:a="http://schemas.openxmlformats.org/drawingml/2006/main">
              <a:ext uri="{FF2B5EF4-FFF2-40B4-BE49-F238E27FC236}">
                <a16:creationId xmlns:a16="http://schemas.microsoft.com/office/drawing/2014/main" id="{4CF51724-03FC-4C95-BD0F-ED9BD587AD64}"/>
              </a:ext>
            </a:extLst>
          </p:cNvPr>
          <p:cNvSpPr>
            <a:spLocks xmlns:a="http://schemas.openxmlformats.org/drawingml/2006/main" noGrp="1"/>
          </p:cNvSpPr>
          <p:nvPr/>
        </p:nvSpPr>
        <p:spPr>
          <a:xfrm xmlns:a="http://schemas.openxmlformats.org/drawingml/2006/main">
            <a:off x="4095750" y="2286000"/>
            <a:ext cx="2609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125" b="0">
                <a:solidFill>
                  <a:srgbClr val="183340"/>
                </a:solidFill>
                <a:latin typeface="Aptos"/>
                <a:ea typeface="Aptos"/>
                <a:cs typeface="Aptos"/>
              </a:defRPr>
            </a:pPr>
            <a:r>
              <a:rPr sz="1125" b="0">
                <a:solidFill>
                  <a:srgbClr val="183340"/>
                </a:solidFill>
                <a:latin typeface="Aptos"/>
                <a:ea typeface="Aptos"/>
                <a:cs typeface="Aptos"/>
              </a:rPr>
              <a:t>Differential + gaps</a:t>
            </a:r>
          </a:p>
        </p:txBody>
      </p:sp>
      <p:sp>
        <p:nvSpPr>
          <p:cNvPr id="23" name="">
            <a:extLst xmlns:a="http://schemas.openxmlformats.org/drawingml/2006/main">
              <a:ext uri="{FF2B5EF4-FFF2-40B4-BE49-F238E27FC236}">
                <a16:creationId xmlns:a16="http://schemas.microsoft.com/office/drawing/2014/main" id="{0A4B008E-666C-479C-9E2B-726CD277CEF6}"/>
              </a:ext>
            </a:extLst>
          </p:cNvPr>
          <p:cNvSpPr>
            <a:spLocks xmlns:a="http://schemas.openxmlformats.org/drawingml/2006/main" noGrp="1"/>
          </p:cNvSpPr>
          <p:nvPr/>
        </p:nvSpPr>
        <p:spPr>
          <a:xfrm xmlns:a="http://schemas.openxmlformats.org/drawingml/2006/main">
            <a:off x="6858000" y="2181225"/>
            <a:ext cx="4362450" cy="647700"/>
          </a:xfrm>
          <a:prstGeom xmlns:a="http://schemas.openxmlformats.org/drawingml/2006/main" prst="rect">
            <a:avLst/>
          </a:prstGeom>
          <a:solidFill xmlns:a="http://schemas.openxmlformats.org/drawingml/2006/main">
            <a:srgbClr val="DDF2EE"/>
          </a:solidFill>
          <a:ln xmlns:a="http://schemas.openxmlformats.org/drawingml/2006/main" w="9525">
            <a:solidFill>
              <a:srgbClr val="D3DDDE"/>
            </a:solidFill>
            <a:prstDash val="solid"/>
          </a:ln>
        </p:spPr>
      </p:sp>
      <p:sp>
        <p:nvSpPr>
          <p:cNvPr id="24" name="">
            <a:extLst xmlns:a="http://schemas.openxmlformats.org/drawingml/2006/main">
              <a:ext uri="{FF2B5EF4-FFF2-40B4-BE49-F238E27FC236}">
                <a16:creationId xmlns:a16="http://schemas.microsoft.com/office/drawing/2014/main" id="{881C5B9E-28E4-4542-B654-FACEC0E1C721}"/>
              </a:ext>
            </a:extLst>
          </p:cNvPr>
          <p:cNvSpPr>
            <a:spLocks xmlns:a="http://schemas.openxmlformats.org/drawingml/2006/main" noGrp="1"/>
          </p:cNvSpPr>
          <p:nvPr/>
        </p:nvSpPr>
        <p:spPr>
          <a:xfrm xmlns:a="http://schemas.openxmlformats.org/drawingml/2006/main">
            <a:off x="6953250" y="2286000"/>
            <a:ext cx="4171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125" b="1">
                <a:solidFill>
                  <a:srgbClr val="B7433D"/>
                </a:solidFill>
                <a:latin typeface="Aptos"/>
                <a:ea typeface="Aptos"/>
                <a:cs typeface="Aptos"/>
              </a:defRPr>
            </a:pPr>
            <a:r>
              <a:rPr sz="1125" b="1">
                <a:solidFill>
                  <a:srgbClr val="B7433D"/>
                </a:solidFill>
                <a:latin typeface="Aptos"/>
                <a:ea typeface="Aptos"/>
                <a:cs typeface="Aptos"/>
              </a:rPr>
              <a:t>Check omissions, urgency, intended use</a:t>
            </a:r>
          </a:p>
        </p:txBody>
      </p:sp>
      <p:sp>
        <p:nvSpPr>
          <p:cNvPr id="25" name="">
            <a:extLst xmlns:a="http://schemas.openxmlformats.org/drawingml/2006/main">
              <a:ext uri="{FF2B5EF4-FFF2-40B4-BE49-F238E27FC236}">
                <a16:creationId xmlns:a16="http://schemas.microsoft.com/office/drawing/2014/main" id="{A163A8F7-6B50-4731-A00F-0703365A802D}"/>
              </a:ext>
            </a:extLst>
          </p:cNvPr>
          <p:cNvSpPr>
            <a:spLocks xmlns:a="http://schemas.openxmlformats.org/drawingml/2006/main" noGrp="1"/>
          </p:cNvSpPr>
          <p:nvPr/>
        </p:nvSpPr>
        <p:spPr>
          <a:xfrm xmlns:a="http://schemas.openxmlformats.org/drawingml/2006/main">
            <a:off x="609600" y="2924175"/>
            <a:ext cx="1809750" cy="64770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26" name="">
            <a:extLst xmlns:a="http://schemas.openxmlformats.org/drawingml/2006/main">
              <a:ext uri="{FF2B5EF4-FFF2-40B4-BE49-F238E27FC236}">
                <a16:creationId xmlns:a16="http://schemas.microsoft.com/office/drawing/2014/main" id="{AD40AA28-D169-4E73-8F8D-1D1711EF070B}"/>
              </a:ext>
            </a:extLst>
          </p:cNvPr>
          <p:cNvSpPr>
            <a:spLocks xmlns:a="http://schemas.openxmlformats.org/drawingml/2006/main" noGrp="1"/>
          </p:cNvSpPr>
          <p:nvPr/>
        </p:nvSpPr>
        <p:spPr>
          <a:xfrm xmlns:a="http://schemas.openxmlformats.org/drawingml/2006/main">
            <a:off x="704850" y="30289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275" b="1">
                <a:solidFill>
                  <a:srgbClr val="183340"/>
                </a:solidFill>
                <a:latin typeface="Aptos"/>
                <a:ea typeface="Aptos"/>
                <a:cs typeface="Aptos"/>
              </a:defRPr>
            </a:pPr>
            <a:r>
              <a:rPr sz="1275" b="1">
                <a:solidFill>
                  <a:srgbClr val="183340"/>
                </a:solidFill>
                <a:latin typeface="Aptos"/>
                <a:ea typeface="Aptos"/>
                <a:cs typeface="Aptos"/>
              </a:rPr>
              <a:t>Medscape AI</a:t>
            </a:r>
          </a:p>
        </p:txBody>
      </p:sp>
      <p:sp>
        <p:nvSpPr>
          <p:cNvPr id="27" name="">
            <a:extLst xmlns:a="http://schemas.openxmlformats.org/drawingml/2006/main">
              <a:ext uri="{FF2B5EF4-FFF2-40B4-BE49-F238E27FC236}">
                <a16:creationId xmlns:a16="http://schemas.microsoft.com/office/drawing/2014/main" id="{E695E976-29A3-4485-A6E8-461A0BD919EA}"/>
              </a:ext>
            </a:extLst>
          </p:cNvPr>
          <p:cNvSpPr>
            <a:spLocks xmlns:a="http://schemas.openxmlformats.org/drawingml/2006/main" noGrp="1"/>
          </p:cNvSpPr>
          <p:nvPr/>
        </p:nvSpPr>
        <p:spPr>
          <a:xfrm xmlns:a="http://schemas.openxmlformats.org/drawingml/2006/main">
            <a:off x="2476500" y="2924175"/>
            <a:ext cx="1466850" cy="64770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28" name="">
            <a:extLst xmlns:a="http://schemas.openxmlformats.org/drawingml/2006/main">
              <a:ext uri="{FF2B5EF4-FFF2-40B4-BE49-F238E27FC236}">
                <a16:creationId xmlns:a16="http://schemas.microsoft.com/office/drawing/2014/main" id="{6CAD4519-857E-4EA1-8E8B-3DA8068FF2E3}"/>
              </a:ext>
            </a:extLst>
          </p:cNvPr>
          <p:cNvSpPr>
            <a:spLocks xmlns:a="http://schemas.openxmlformats.org/drawingml/2006/main" noGrp="1"/>
          </p:cNvSpPr>
          <p:nvPr/>
        </p:nvSpPr>
        <p:spPr>
          <a:xfrm xmlns:a="http://schemas.openxmlformats.org/drawingml/2006/main">
            <a:off x="2571750" y="3028950"/>
            <a:ext cx="1276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125" b="0">
                <a:solidFill>
                  <a:srgbClr val="183340"/>
                </a:solidFill>
                <a:latin typeface="Aptos"/>
                <a:ea typeface="Aptos"/>
                <a:cs typeface="Aptos"/>
              </a:defRPr>
            </a:pPr>
            <a:r>
              <a:rPr sz="1125" b="0">
                <a:solidFill>
                  <a:srgbClr val="183340"/>
                </a:solidFill>
                <a:latin typeface="Aptos"/>
                <a:ea typeface="Aptos"/>
                <a:cs typeface="Aptos"/>
              </a:rPr>
              <a:t>Free registered</a:t>
            </a:r>
          </a:p>
        </p:txBody>
      </p:sp>
      <p:sp>
        <p:nvSpPr>
          <p:cNvPr id="29" name="">
            <a:extLst xmlns:a="http://schemas.openxmlformats.org/drawingml/2006/main">
              <a:ext uri="{FF2B5EF4-FFF2-40B4-BE49-F238E27FC236}">
                <a16:creationId xmlns:a16="http://schemas.microsoft.com/office/drawing/2014/main" id="{106162DF-35AF-4AFF-AF17-0B1A96D6C79F}"/>
              </a:ext>
            </a:extLst>
          </p:cNvPr>
          <p:cNvSpPr>
            <a:spLocks xmlns:a="http://schemas.openxmlformats.org/drawingml/2006/main" noGrp="1"/>
          </p:cNvSpPr>
          <p:nvPr/>
        </p:nvSpPr>
        <p:spPr>
          <a:xfrm xmlns:a="http://schemas.openxmlformats.org/drawingml/2006/main">
            <a:off x="4000500" y="2924175"/>
            <a:ext cx="2800350" cy="64770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30" name="">
            <a:extLst xmlns:a="http://schemas.openxmlformats.org/drawingml/2006/main">
              <a:ext uri="{FF2B5EF4-FFF2-40B4-BE49-F238E27FC236}">
                <a16:creationId xmlns:a16="http://schemas.microsoft.com/office/drawing/2014/main" id="{254E84E2-4326-4C14-BB28-33240B04039A}"/>
              </a:ext>
            </a:extLst>
          </p:cNvPr>
          <p:cNvSpPr>
            <a:spLocks xmlns:a="http://schemas.openxmlformats.org/drawingml/2006/main" noGrp="1"/>
          </p:cNvSpPr>
          <p:nvPr/>
        </p:nvSpPr>
        <p:spPr>
          <a:xfrm xmlns:a="http://schemas.openxmlformats.org/drawingml/2006/main">
            <a:off x="4095750" y="3028950"/>
            <a:ext cx="2609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125" b="0">
                <a:solidFill>
                  <a:srgbClr val="183340"/>
                </a:solidFill>
                <a:latin typeface="Aptos"/>
                <a:ea typeface="Aptos"/>
                <a:cs typeface="Aptos"/>
              </a:defRPr>
            </a:pPr>
            <a:r>
              <a:rPr sz="1125" b="0">
                <a:solidFill>
                  <a:srgbClr val="183340"/>
                </a:solidFill>
                <a:latin typeface="Aptos"/>
                <a:ea typeface="Aptos"/>
                <a:cs typeface="Aptos"/>
              </a:rPr>
              <a:t>Evidence orientation</a:t>
            </a:r>
          </a:p>
        </p:txBody>
      </p:sp>
      <p:sp>
        <p:nvSpPr>
          <p:cNvPr id="31" name="">
            <a:extLst xmlns:a="http://schemas.openxmlformats.org/drawingml/2006/main">
              <a:ext uri="{FF2B5EF4-FFF2-40B4-BE49-F238E27FC236}">
                <a16:creationId xmlns:a16="http://schemas.microsoft.com/office/drawing/2014/main" id="{29BAE9B9-EA8E-45BE-A707-191693EEA000}"/>
              </a:ext>
            </a:extLst>
          </p:cNvPr>
          <p:cNvSpPr>
            <a:spLocks xmlns:a="http://schemas.openxmlformats.org/drawingml/2006/main" noGrp="1"/>
          </p:cNvSpPr>
          <p:nvPr/>
        </p:nvSpPr>
        <p:spPr>
          <a:xfrm xmlns:a="http://schemas.openxmlformats.org/drawingml/2006/main">
            <a:off x="6858000" y="2924175"/>
            <a:ext cx="4362450" cy="64770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32" name="">
            <a:extLst xmlns:a="http://schemas.openxmlformats.org/drawingml/2006/main">
              <a:ext uri="{FF2B5EF4-FFF2-40B4-BE49-F238E27FC236}">
                <a16:creationId xmlns:a16="http://schemas.microsoft.com/office/drawing/2014/main" id="{AA474E2C-BAF7-4900-AF89-3996FB4D3DED}"/>
              </a:ext>
            </a:extLst>
          </p:cNvPr>
          <p:cNvSpPr>
            <a:spLocks xmlns:a="http://schemas.openxmlformats.org/drawingml/2006/main" noGrp="1"/>
          </p:cNvSpPr>
          <p:nvPr/>
        </p:nvSpPr>
        <p:spPr>
          <a:xfrm xmlns:a="http://schemas.openxmlformats.org/drawingml/2006/main">
            <a:off x="6953250" y="3028950"/>
            <a:ext cx="4171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125" b="1">
                <a:solidFill>
                  <a:srgbClr val="B7433D"/>
                </a:solidFill>
                <a:latin typeface="Aptos"/>
                <a:ea typeface="Aptos"/>
                <a:cs typeface="Aptos"/>
              </a:defRPr>
            </a:pPr>
            <a:r>
              <a:rPr sz="1125" b="1">
                <a:solidFill>
                  <a:srgbClr val="B7433D"/>
                </a:solidFill>
                <a:latin typeface="Aptos"/>
                <a:ea typeface="Aptos"/>
                <a:cs typeface="Aptos"/>
              </a:rPr>
              <a:t>Open cited source; population + date</a:t>
            </a:r>
          </a:p>
        </p:txBody>
      </p:sp>
      <p:sp>
        <p:nvSpPr>
          <p:cNvPr id="33" name="">
            <a:extLst xmlns:a="http://schemas.openxmlformats.org/drawingml/2006/main">
              <a:ext uri="{FF2B5EF4-FFF2-40B4-BE49-F238E27FC236}">
                <a16:creationId xmlns:a16="http://schemas.microsoft.com/office/drawing/2014/main" id="{942B4D29-8EC9-426E-9432-D12F8A4D8644}"/>
              </a:ext>
            </a:extLst>
          </p:cNvPr>
          <p:cNvSpPr>
            <a:spLocks xmlns:a="http://schemas.openxmlformats.org/drawingml/2006/main" noGrp="1"/>
          </p:cNvSpPr>
          <p:nvPr/>
        </p:nvSpPr>
        <p:spPr>
          <a:xfrm xmlns:a="http://schemas.openxmlformats.org/drawingml/2006/main">
            <a:off x="609600" y="3667125"/>
            <a:ext cx="1809750" cy="647700"/>
          </a:xfrm>
          <a:prstGeom xmlns:a="http://schemas.openxmlformats.org/drawingml/2006/main" prst="rect">
            <a:avLst/>
          </a:prstGeom>
          <a:solidFill xmlns:a="http://schemas.openxmlformats.org/drawingml/2006/main">
            <a:srgbClr val="DDF2EE"/>
          </a:solidFill>
          <a:ln xmlns:a="http://schemas.openxmlformats.org/drawingml/2006/main" w="9525">
            <a:solidFill>
              <a:srgbClr val="D3DDDE"/>
            </a:solidFill>
            <a:prstDash val="solid"/>
          </a:ln>
        </p:spPr>
      </p:sp>
      <p:sp>
        <p:nvSpPr>
          <p:cNvPr id="34" name="">
            <a:extLst xmlns:a="http://schemas.openxmlformats.org/drawingml/2006/main">
              <a:ext uri="{FF2B5EF4-FFF2-40B4-BE49-F238E27FC236}">
                <a16:creationId xmlns:a16="http://schemas.microsoft.com/office/drawing/2014/main" id="{618A92B0-D2D0-400D-808E-A70178E75928}"/>
              </a:ext>
            </a:extLst>
          </p:cNvPr>
          <p:cNvSpPr>
            <a:spLocks xmlns:a="http://schemas.openxmlformats.org/drawingml/2006/main" noGrp="1"/>
          </p:cNvSpPr>
          <p:nvPr/>
        </p:nvSpPr>
        <p:spPr>
          <a:xfrm xmlns:a="http://schemas.openxmlformats.org/drawingml/2006/main">
            <a:off x="704850" y="377190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275" b="1">
                <a:solidFill>
                  <a:srgbClr val="183340"/>
                </a:solidFill>
                <a:latin typeface="Aptos"/>
                <a:ea typeface="Aptos"/>
                <a:cs typeface="Aptos"/>
              </a:defRPr>
            </a:pPr>
            <a:r>
              <a:rPr sz="1275" b="1">
                <a:solidFill>
                  <a:srgbClr val="183340"/>
                </a:solidFill>
                <a:latin typeface="Aptos"/>
                <a:ea typeface="Aptos"/>
                <a:cs typeface="Aptos"/>
              </a:rPr>
              <a:t>VisualDx</a:t>
            </a:r>
          </a:p>
        </p:txBody>
      </p:sp>
      <p:sp>
        <p:nvSpPr>
          <p:cNvPr id="35" name="">
            <a:extLst xmlns:a="http://schemas.openxmlformats.org/drawingml/2006/main">
              <a:ext uri="{FF2B5EF4-FFF2-40B4-BE49-F238E27FC236}">
                <a16:creationId xmlns:a16="http://schemas.microsoft.com/office/drawing/2014/main" id="{BE2F6D43-A0A2-4369-BBC3-1AD890298D6B}"/>
              </a:ext>
            </a:extLst>
          </p:cNvPr>
          <p:cNvSpPr>
            <a:spLocks xmlns:a="http://schemas.openxmlformats.org/drawingml/2006/main" noGrp="1"/>
          </p:cNvSpPr>
          <p:nvPr/>
        </p:nvSpPr>
        <p:spPr>
          <a:xfrm xmlns:a="http://schemas.openxmlformats.org/drawingml/2006/main">
            <a:off x="2476500" y="3667125"/>
            <a:ext cx="1466850" cy="647700"/>
          </a:xfrm>
          <a:prstGeom xmlns:a="http://schemas.openxmlformats.org/drawingml/2006/main" prst="rect">
            <a:avLst/>
          </a:prstGeom>
          <a:solidFill xmlns:a="http://schemas.openxmlformats.org/drawingml/2006/main">
            <a:srgbClr val="DDF2EE"/>
          </a:solidFill>
          <a:ln xmlns:a="http://schemas.openxmlformats.org/drawingml/2006/main" w="9525">
            <a:solidFill>
              <a:srgbClr val="D3DDDE"/>
            </a:solidFill>
            <a:prstDash val="solid"/>
          </a:ln>
        </p:spPr>
      </p:sp>
      <p:sp>
        <p:nvSpPr>
          <p:cNvPr id="36" name="">
            <a:extLst xmlns:a="http://schemas.openxmlformats.org/drawingml/2006/main">
              <a:ext uri="{FF2B5EF4-FFF2-40B4-BE49-F238E27FC236}">
                <a16:creationId xmlns:a16="http://schemas.microsoft.com/office/drawing/2014/main" id="{40D9989D-7AB3-47FA-86D1-C268F2F46F20}"/>
              </a:ext>
            </a:extLst>
          </p:cNvPr>
          <p:cNvSpPr>
            <a:spLocks xmlns:a="http://schemas.openxmlformats.org/drawingml/2006/main" noGrp="1"/>
          </p:cNvSpPr>
          <p:nvPr/>
        </p:nvSpPr>
        <p:spPr>
          <a:xfrm xmlns:a="http://schemas.openxmlformats.org/drawingml/2006/main">
            <a:off x="2571750" y="3771900"/>
            <a:ext cx="1276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125" b="0">
                <a:solidFill>
                  <a:srgbClr val="183340"/>
                </a:solidFill>
                <a:latin typeface="Aptos"/>
                <a:ea typeface="Aptos"/>
                <a:cs typeface="Aptos"/>
              </a:defRPr>
            </a:pPr>
            <a:r>
              <a:rPr sz="1125" b="0">
                <a:solidFill>
                  <a:srgbClr val="183340"/>
                </a:solidFill>
                <a:latin typeface="Aptos"/>
                <a:ea typeface="Aptos"/>
                <a:cs typeface="Aptos"/>
              </a:rPr>
              <a:t>Paid/trial</a:t>
            </a:r>
          </a:p>
        </p:txBody>
      </p:sp>
      <p:sp>
        <p:nvSpPr>
          <p:cNvPr id="37" name="">
            <a:extLst xmlns:a="http://schemas.openxmlformats.org/drawingml/2006/main">
              <a:ext uri="{FF2B5EF4-FFF2-40B4-BE49-F238E27FC236}">
                <a16:creationId xmlns:a16="http://schemas.microsoft.com/office/drawing/2014/main" id="{5AC4CE49-DCB6-49E8-9DA7-D0AE371DCA5D}"/>
              </a:ext>
            </a:extLst>
          </p:cNvPr>
          <p:cNvSpPr>
            <a:spLocks xmlns:a="http://schemas.openxmlformats.org/drawingml/2006/main" noGrp="1"/>
          </p:cNvSpPr>
          <p:nvPr/>
        </p:nvSpPr>
        <p:spPr>
          <a:xfrm xmlns:a="http://schemas.openxmlformats.org/drawingml/2006/main">
            <a:off x="4000500" y="3667125"/>
            <a:ext cx="2800350" cy="647700"/>
          </a:xfrm>
          <a:prstGeom xmlns:a="http://schemas.openxmlformats.org/drawingml/2006/main" prst="rect">
            <a:avLst/>
          </a:prstGeom>
          <a:solidFill xmlns:a="http://schemas.openxmlformats.org/drawingml/2006/main">
            <a:srgbClr val="DDF2EE"/>
          </a:solidFill>
          <a:ln xmlns:a="http://schemas.openxmlformats.org/drawingml/2006/main" w="9525">
            <a:solidFill>
              <a:srgbClr val="D3DDDE"/>
            </a:solidFill>
            <a:prstDash val="solid"/>
          </a:ln>
        </p:spPr>
      </p:sp>
      <p:sp>
        <p:nvSpPr>
          <p:cNvPr id="38" name="">
            <a:extLst xmlns:a="http://schemas.openxmlformats.org/drawingml/2006/main">
              <a:ext uri="{FF2B5EF4-FFF2-40B4-BE49-F238E27FC236}">
                <a16:creationId xmlns:a16="http://schemas.microsoft.com/office/drawing/2014/main" id="{C2BD5FA3-6D54-4BA7-BECA-5F97CF93E85C}"/>
              </a:ext>
            </a:extLst>
          </p:cNvPr>
          <p:cNvSpPr>
            <a:spLocks xmlns:a="http://schemas.openxmlformats.org/drawingml/2006/main" noGrp="1"/>
          </p:cNvSpPr>
          <p:nvPr/>
        </p:nvSpPr>
        <p:spPr>
          <a:xfrm xmlns:a="http://schemas.openxmlformats.org/drawingml/2006/main">
            <a:off x="4095750" y="3771900"/>
            <a:ext cx="2609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125" b="0">
                <a:solidFill>
                  <a:srgbClr val="183340"/>
                </a:solidFill>
                <a:latin typeface="Aptos"/>
                <a:ea typeface="Aptos"/>
                <a:cs typeface="Aptos"/>
              </a:defRPr>
            </a:pPr>
            <a:r>
              <a:rPr sz="1125" b="0">
                <a:solidFill>
                  <a:srgbClr val="183340"/>
                </a:solidFill>
                <a:latin typeface="Aptos"/>
                <a:ea typeface="Aptos"/>
                <a:cs typeface="Aptos"/>
              </a:rPr>
              <a:t>Visual differential</a:t>
            </a:r>
          </a:p>
        </p:txBody>
      </p:sp>
      <p:sp>
        <p:nvSpPr>
          <p:cNvPr id="39" name="">
            <a:extLst xmlns:a="http://schemas.openxmlformats.org/drawingml/2006/main">
              <a:ext uri="{FF2B5EF4-FFF2-40B4-BE49-F238E27FC236}">
                <a16:creationId xmlns:a16="http://schemas.microsoft.com/office/drawing/2014/main" id="{59F291A9-94B4-409D-BAA8-F23952AE117C}"/>
              </a:ext>
            </a:extLst>
          </p:cNvPr>
          <p:cNvSpPr>
            <a:spLocks xmlns:a="http://schemas.openxmlformats.org/drawingml/2006/main" noGrp="1"/>
          </p:cNvSpPr>
          <p:nvPr/>
        </p:nvSpPr>
        <p:spPr>
          <a:xfrm xmlns:a="http://schemas.openxmlformats.org/drawingml/2006/main">
            <a:off x="6858000" y="3667125"/>
            <a:ext cx="4362450" cy="647700"/>
          </a:xfrm>
          <a:prstGeom xmlns:a="http://schemas.openxmlformats.org/drawingml/2006/main" prst="rect">
            <a:avLst/>
          </a:prstGeom>
          <a:solidFill xmlns:a="http://schemas.openxmlformats.org/drawingml/2006/main">
            <a:srgbClr val="DDF2EE"/>
          </a:solidFill>
          <a:ln xmlns:a="http://schemas.openxmlformats.org/drawingml/2006/main" w="9525">
            <a:solidFill>
              <a:srgbClr val="D3DDDE"/>
            </a:solidFill>
            <a:prstDash val="solid"/>
          </a:ln>
        </p:spPr>
      </p:sp>
      <p:sp>
        <p:nvSpPr>
          <p:cNvPr id="40" name="">
            <a:extLst xmlns:a="http://schemas.openxmlformats.org/drawingml/2006/main">
              <a:ext uri="{FF2B5EF4-FFF2-40B4-BE49-F238E27FC236}">
                <a16:creationId xmlns:a16="http://schemas.microsoft.com/office/drawing/2014/main" id="{BD740D3B-BB06-42FF-A7C5-F4F788EAC7EE}"/>
              </a:ext>
            </a:extLst>
          </p:cNvPr>
          <p:cNvSpPr>
            <a:spLocks xmlns:a="http://schemas.openxmlformats.org/drawingml/2006/main" noGrp="1"/>
          </p:cNvSpPr>
          <p:nvPr/>
        </p:nvSpPr>
        <p:spPr>
          <a:xfrm xmlns:a="http://schemas.openxmlformats.org/drawingml/2006/main">
            <a:off x="6953250" y="3771900"/>
            <a:ext cx="4171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125" b="1">
                <a:solidFill>
                  <a:srgbClr val="B7433D"/>
                </a:solidFill>
                <a:latin typeface="Aptos"/>
                <a:ea typeface="Aptos"/>
                <a:cs typeface="Aptos"/>
              </a:defRPr>
            </a:pPr>
            <a:r>
              <a:rPr sz="1125" b="1">
                <a:solidFill>
                  <a:srgbClr val="B7433D"/>
                </a:solidFill>
                <a:latin typeface="Aptos"/>
                <a:ea typeface="Aptos"/>
                <a:cs typeface="Aptos"/>
              </a:rPr>
              <a:t>Never upload an identifiable image</a:t>
            </a:r>
          </a:p>
        </p:txBody>
      </p:sp>
      <p:sp>
        <p:nvSpPr>
          <p:cNvPr id="41" name="">
            <a:extLst xmlns:a="http://schemas.openxmlformats.org/drawingml/2006/main">
              <a:ext uri="{FF2B5EF4-FFF2-40B4-BE49-F238E27FC236}">
                <a16:creationId xmlns:a16="http://schemas.microsoft.com/office/drawing/2014/main" id="{EB1C79D6-1E47-4829-A09D-B93545E5E52F}"/>
              </a:ext>
            </a:extLst>
          </p:cNvPr>
          <p:cNvSpPr>
            <a:spLocks xmlns:a="http://schemas.openxmlformats.org/drawingml/2006/main" noGrp="1"/>
          </p:cNvSpPr>
          <p:nvPr/>
        </p:nvSpPr>
        <p:spPr>
          <a:xfrm xmlns:a="http://schemas.openxmlformats.org/drawingml/2006/main">
            <a:off x="609600" y="4410075"/>
            <a:ext cx="1809750" cy="64770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42" name="">
            <a:extLst xmlns:a="http://schemas.openxmlformats.org/drawingml/2006/main">
              <a:ext uri="{FF2B5EF4-FFF2-40B4-BE49-F238E27FC236}">
                <a16:creationId xmlns:a16="http://schemas.microsoft.com/office/drawing/2014/main" id="{4A44646A-5F47-4BD5-841A-D4502A1FE289}"/>
              </a:ext>
            </a:extLst>
          </p:cNvPr>
          <p:cNvSpPr>
            <a:spLocks xmlns:a="http://schemas.openxmlformats.org/drawingml/2006/main" noGrp="1"/>
          </p:cNvSpPr>
          <p:nvPr/>
        </p:nvSpPr>
        <p:spPr>
          <a:xfrm xmlns:a="http://schemas.openxmlformats.org/drawingml/2006/main">
            <a:off x="704850" y="45148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275" b="1">
                <a:solidFill>
                  <a:srgbClr val="183340"/>
                </a:solidFill>
                <a:latin typeface="Aptos"/>
                <a:ea typeface="Aptos"/>
                <a:cs typeface="Aptos"/>
              </a:defRPr>
            </a:pPr>
            <a:r>
              <a:rPr sz="1275" b="1">
                <a:solidFill>
                  <a:srgbClr val="183340"/>
                </a:solidFill>
                <a:latin typeface="Aptos"/>
                <a:ea typeface="Aptos"/>
                <a:cs typeface="Aptos"/>
              </a:rPr>
              <a:t>ClinicalKey AI</a:t>
            </a:r>
          </a:p>
        </p:txBody>
      </p:sp>
      <p:sp>
        <p:nvSpPr>
          <p:cNvPr id="43" name="">
            <a:extLst xmlns:a="http://schemas.openxmlformats.org/drawingml/2006/main">
              <a:ext uri="{FF2B5EF4-FFF2-40B4-BE49-F238E27FC236}">
                <a16:creationId xmlns:a16="http://schemas.microsoft.com/office/drawing/2014/main" id="{6B14C3FD-D687-4229-917F-E6B39584BFB0}"/>
              </a:ext>
            </a:extLst>
          </p:cNvPr>
          <p:cNvSpPr>
            <a:spLocks xmlns:a="http://schemas.openxmlformats.org/drawingml/2006/main" noGrp="1"/>
          </p:cNvSpPr>
          <p:nvPr/>
        </p:nvSpPr>
        <p:spPr>
          <a:xfrm xmlns:a="http://schemas.openxmlformats.org/drawingml/2006/main">
            <a:off x="2476500" y="4410075"/>
            <a:ext cx="1466850" cy="64770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44" name="">
            <a:extLst xmlns:a="http://schemas.openxmlformats.org/drawingml/2006/main">
              <a:ext uri="{FF2B5EF4-FFF2-40B4-BE49-F238E27FC236}">
                <a16:creationId xmlns:a16="http://schemas.microsoft.com/office/drawing/2014/main" id="{A4141F9F-C6F2-4CBE-B143-62DB2E5F2E41}"/>
              </a:ext>
            </a:extLst>
          </p:cNvPr>
          <p:cNvSpPr>
            <a:spLocks xmlns:a="http://schemas.openxmlformats.org/drawingml/2006/main" noGrp="1"/>
          </p:cNvSpPr>
          <p:nvPr/>
        </p:nvSpPr>
        <p:spPr>
          <a:xfrm xmlns:a="http://schemas.openxmlformats.org/drawingml/2006/main">
            <a:off x="2571750" y="4514850"/>
            <a:ext cx="1276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125" b="0">
                <a:solidFill>
                  <a:srgbClr val="183340"/>
                </a:solidFill>
                <a:latin typeface="Aptos"/>
                <a:ea typeface="Aptos"/>
                <a:cs typeface="Aptos"/>
              </a:defRPr>
            </a:pPr>
            <a:r>
              <a:rPr sz="1125" b="0">
                <a:solidFill>
                  <a:srgbClr val="183340"/>
                </a:solidFill>
                <a:latin typeface="Aptos"/>
                <a:ea typeface="Aptos"/>
                <a:cs typeface="Aptos"/>
              </a:rPr>
              <a:t>Institutional</a:t>
            </a:r>
          </a:p>
        </p:txBody>
      </p:sp>
      <p:sp>
        <p:nvSpPr>
          <p:cNvPr id="45" name="">
            <a:extLst xmlns:a="http://schemas.openxmlformats.org/drawingml/2006/main">
              <a:ext uri="{FF2B5EF4-FFF2-40B4-BE49-F238E27FC236}">
                <a16:creationId xmlns:a16="http://schemas.microsoft.com/office/drawing/2014/main" id="{0A7FEDCC-A60F-487A-A62C-20E6C96913F5}"/>
              </a:ext>
            </a:extLst>
          </p:cNvPr>
          <p:cNvSpPr>
            <a:spLocks xmlns:a="http://schemas.openxmlformats.org/drawingml/2006/main" noGrp="1"/>
          </p:cNvSpPr>
          <p:nvPr/>
        </p:nvSpPr>
        <p:spPr>
          <a:xfrm xmlns:a="http://schemas.openxmlformats.org/drawingml/2006/main">
            <a:off x="4000500" y="4410075"/>
            <a:ext cx="2800350" cy="64770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46" name="">
            <a:extLst xmlns:a="http://schemas.openxmlformats.org/drawingml/2006/main">
              <a:ext uri="{FF2B5EF4-FFF2-40B4-BE49-F238E27FC236}">
                <a16:creationId xmlns:a16="http://schemas.microsoft.com/office/drawing/2014/main" id="{2F5F58F3-AE6D-4EE4-B05A-35F345F16DDA}"/>
              </a:ext>
            </a:extLst>
          </p:cNvPr>
          <p:cNvSpPr>
            <a:spLocks xmlns:a="http://schemas.openxmlformats.org/drawingml/2006/main" noGrp="1"/>
          </p:cNvSpPr>
          <p:nvPr/>
        </p:nvSpPr>
        <p:spPr>
          <a:xfrm xmlns:a="http://schemas.openxmlformats.org/drawingml/2006/main">
            <a:off x="4095750" y="4514850"/>
            <a:ext cx="2609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125" b="0">
                <a:solidFill>
                  <a:srgbClr val="183340"/>
                </a:solidFill>
                <a:latin typeface="Aptos"/>
                <a:ea typeface="Aptos"/>
                <a:cs typeface="Aptos"/>
              </a:defRPr>
            </a:pPr>
            <a:r>
              <a:rPr sz="1125" b="0">
                <a:solidFill>
                  <a:srgbClr val="183340"/>
                </a:solidFill>
                <a:latin typeface="Aptos"/>
                <a:ea typeface="Aptos"/>
                <a:cs typeface="Aptos"/>
              </a:rPr>
              <a:t>Curated corpus</a:t>
            </a:r>
          </a:p>
        </p:txBody>
      </p:sp>
      <p:sp>
        <p:nvSpPr>
          <p:cNvPr id="47" name="">
            <a:extLst xmlns:a="http://schemas.openxmlformats.org/drawingml/2006/main">
              <a:ext uri="{FF2B5EF4-FFF2-40B4-BE49-F238E27FC236}">
                <a16:creationId xmlns:a16="http://schemas.microsoft.com/office/drawing/2014/main" id="{38FAC4C1-9D6F-4BD5-AF51-998A41114CF9}"/>
              </a:ext>
            </a:extLst>
          </p:cNvPr>
          <p:cNvSpPr>
            <a:spLocks xmlns:a="http://schemas.openxmlformats.org/drawingml/2006/main" noGrp="1"/>
          </p:cNvSpPr>
          <p:nvPr/>
        </p:nvSpPr>
        <p:spPr>
          <a:xfrm xmlns:a="http://schemas.openxmlformats.org/drawingml/2006/main">
            <a:off x="6858000" y="4410075"/>
            <a:ext cx="4362450" cy="64770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48" name="">
            <a:extLst xmlns:a="http://schemas.openxmlformats.org/drawingml/2006/main">
              <a:ext uri="{FF2B5EF4-FFF2-40B4-BE49-F238E27FC236}">
                <a16:creationId xmlns:a16="http://schemas.microsoft.com/office/drawing/2014/main" id="{8AA49CE3-012A-443D-851B-5D72B3E0470A}"/>
              </a:ext>
            </a:extLst>
          </p:cNvPr>
          <p:cNvSpPr>
            <a:spLocks xmlns:a="http://schemas.openxmlformats.org/drawingml/2006/main" noGrp="1"/>
          </p:cNvSpPr>
          <p:nvPr/>
        </p:nvSpPr>
        <p:spPr>
          <a:xfrm xmlns:a="http://schemas.openxmlformats.org/drawingml/2006/main">
            <a:off x="6953250" y="4514850"/>
            <a:ext cx="4171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125" b="1">
                <a:solidFill>
                  <a:srgbClr val="B7433D"/>
                </a:solidFill>
                <a:latin typeface="Aptos"/>
                <a:ea typeface="Aptos"/>
                <a:cs typeface="Aptos"/>
              </a:defRPr>
            </a:pPr>
            <a:r>
              <a:rPr sz="1125" b="1">
                <a:solidFill>
                  <a:srgbClr val="B7433D"/>
                </a:solidFill>
                <a:latin typeface="Aptos"/>
                <a:ea typeface="Aptos"/>
                <a:cs typeface="Aptos"/>
              </a:rPr>
              <a:t>Verify licensed content + local protocol</a:t>
            </a:r>
          </a:p>
        </p:txBody>
      </p:sp>
      <p:sp>
        <p:nvSpPr>
          <p:cNvPr id="49" name="">
            <a:extLst xmlns:a="http://schemas.openxmlformats.org/drawingml/2006/main">
              <a:ext uri="{FF2B5EF4-FFF2-40B4-BE49-F238E27FC236}">
                <a16:creationId xmlns:a16="http://schemas.microsoft.com/office/drawing/2014/main" id="{E714A06D-82E1-4AFE-BD82-64E15738E2CE}"/>
              </a:ext>
            </a:extLst>
          </p:cNvPr>
          <p:cNvSpPr>
            <a:spLocks xmlns:a="http://schemas.openxmlformats.org/drawingml/2006/main" noGrp="1"/>
          </p:cNvSpPr>
          <p:nvPr/>
        </p:nvSpPr>
        <p:spPr>
          <a:xfrm xmlns:a="http://schemas.openxmlformats.org/drawingml/2006/main">
            <a:off x="1333500" y="54102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650" b="1">
                <a:solidFill>
                  <a:srgbClr val="082638"/>
                </a:solidFill>
                <a:latin typeface="Aptos"/>
                <a:ea typeface="Aptos"/>
                <a:cs typeface="Aptos"/>
              </a:defRPr>
            </a:pPr>
            <a:r>
              <a:rPr sz="1650" b="1">
                <a:solidFill>
                  <a:srgbClr val="082638"/>
                </a:solidFill>
                <a:latin typeface="Aptos"/>
                <a:ea typeface="Aptos"/>
                <a:cs typeface="Aptos"/>
              </a:rPr>
              <a:t>Compare coverage and uncertainty—not which interface looks most confident.</a:t>
            </a:r>
          </a:p>
        </p:txBody>
      </p:sp>
    </p:spTree>
    <p:extLst>
      <p:ext uri="{BB962C8B-B14F-4D97-AF65-F5344CB8AC3E}">
        <p14:creationId xmlns:p14="http://schemas.microsoft.com/office/powerpoint/2010/main" val="618040146"/>
      </p:ext>
    </p:extLst>
  </p:cSld>
</p:sld>
</file>

<file path=ppt/slides/slide39.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7A93C9-848F-45AE-8842-4FB1FEC5027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8694A"/>
          </a:solidFill>
          <a:ln xmlns:a="http://schemas.openxmlformats.org/drawingml/2006/main" w="0">
            <a:solidFill>
              <a:srgbClr val="E8694A"/>
            </a:solidFill>
            <a:prstDash val="solid"/>
          </a:ln>
        </p:spPr>
      </p:sp>
      <p:sp>
        <p:nvSpPr>
          <p:cNvPr id="2" name="">
            <a:extLst xmlns:a="http://schemas.openxmlformats.org/drawingml/2006/main">
              <a:ext uri="{FF2B5EF4-FFF2-40B4-BE49-F238E27FC236}">
                <a16:creationId xmlns:a16="http://schemas.microsoft.com/office/drawing/2014/main" id="{EFD0CD9D-9701-44AD-AAF5-085B6F2D1C74}"/>
              </a:ext>
            </a:extLst>
          </p:cNvPr>
          <p:cNvSpPr>
            <a:spLocks xmlns:a="http://schemas.openxmlformats.org/drawingml/2006/main" noGrp="1"/>
          </p:cNvSpPr>
          <p:nvPr/>
        </p:nvSpPr>
        <p:spPr>
          <a:xfrm xmlns:a="http://schemas.openxmlformats.org/drawingml/2006/main">
            <a:off x="590550" y="285750"/>
            <a:ext cx="130302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93289"/>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2 MEDICINES</a:t>
            </a:r>
          </a:p>
        </p:txBody>
      </p:sp>
      <p:sp>
        <p:nvSpPr>
          <p:cNvPr id="3" name="">
            <a:extLst xmlns:a="http://schemas.openxmlformats.org/drawingml/2006/main">
              <a:ext uri="{FF2B5EF4-FFF2-40B4-BE49-F238E27FC236}">
                <a16:creationId xmlns:a16="http://schemas.microsoft.com/office/drawing/2014/main" id="{8BE90DE2-CA8C-4994-9420-944F39786D58}"/>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Medication reconciliation is a verification workflow</a:t>
            </a:r>
          </a:p>
        </p:txBody>
      </p:sp>
      <p:sp>
        <p:nvSpPr>
          <p:cNvPr id="4" name="">
            <a:extLst xmlns:a="http://schemas.openxmlformats.org/drawingml/2006/main">
              <a:ext uri="{FF2B5EF4-FFF2-40B4-BE49-F238E27FC236}">
                <a16:creationId xmlns:a16="http://schemas.microsoft.com/office/drawing/2014/main" id="{653A71FF-CDF2-49E2-9144-27C76970B61F}"/>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9C310455-0958-4C46-ABCD-6F895F073707}"/>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B2040DED-D189-4D1C-BC69-909FADA3FF26}"/>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CABA3B64-E842-4805-8941-AFF0869021CC}"/>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MDCalc • Epocrates • local formulary/protocol</a:t>
            </a:r>
          </a:p>
        </p:txBody>
      </p:sp>
      <p:sp>
        <p:nvSpPr>
          <p:cNvPr id="8" name="">
            <a:extLst xmlns:a="http://schemas.openxmlformats.org/drawingml/2006/main">
              <a:ext uri="{FF2B5EF4-FFF2-40B4-BE49-F238E27FC236}">
                <a16:creationId xmlns:a16="http://schemas.microsoft.com/office/drawing/2014/main" id="{B964A61C-A2B2-4D8C-961D-C84F174AA600}"/>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7E9083F7-BCB6-4E67-83EA-87A7342565B1}"/>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39</a:t>
            </a:r>
          </a:p>
        </p:txBody>
      </p:sp>
      <p:sp>
        <p:nvSpPr>
          <p:cNvPr id="10" name="">
            <a:extLst xmlns:a="http://schemas.openxmlformats.org/drawingml/2006/main">
              <a:ext uri="{FF2B5EF4-FFF2-40B4-BE49-F238E27FC236}">
                <a16:creationId xmlns:a16="http://schemas.microsoft.com/office/drawing/2014/main" id="{E009A5BC-3BFD-4B64-BB2C-07308254C738}"/>
              </a:ext>
            </a:extLst>
          </p:cNvPr>
          <p:cNvSpPr>
            <a:spLocks xmlns:a="http://schemas.openxmlformats.org/drawingml/2006/main" noGrp="1"/>
          </p:cNvSpPr>
          <p:nvPr/>
        </p:nvSpPr>
        <p:spPr>
          <a:xfrm xmlns:a="http://schemas.openxmlformats.org/drawingml/2006/main">
            <a:off x="609600" y="1762125"/>
            <a:ext cx="5143500" cy="3857625"/>
          </a:xfrm>
          <a:prstGeom xmlns:a="http://schemas.openxmlformats.org/drawingml/2006/main" prst="roundRect">
            <a:avLst>
              <a:gd name="adj" fmla="val 5432"/>
            </a:avLst>
          </a:prstGeom>
          <a:solidFill xmlns:a="http://schemas.openxmlformats.org/drawingml/2006/main">
            <a:srgbClr val="FFFDFC"/>
          </a:solidFill>
          <a:ln xmlns:a="http://schemas.openxmlformats.org/drawingml/2006/main" w="9525">
            <a:solidFill>
              <a:srgbClr val="E8694A"/>
            </a:solidFill>
            <a:prstDash val="solid"/>
          </a:ln>
        </p:spPr>
      </p:sp>
      <p:sp>
        <p:nvSpPr>
          <p:cNvPr id="11" name="">
            <a:extLst xmlns:a="http://schemas.openxmlformats.org/drawingml/2006/main">
              <a:ext uri="{FF2B5EF4-FFF2-40B4-BE49-F238E27FC236}">
                <a16:creationId xmlns:a16="http://schemas.microsoft.com/office/drawing/2014/main" id="{E6F51CFE-3527-45A9-9FF7-F90E091642C6}"/>
              </a:ext>
            </a:extLst>
          </p:cNvPr>
          <p:cNvSpPr>
            <a:spLocks xmlns:a="http://schemas.openxmlformats.org/drawingml/2006/main" noGrp="1"/>
          </p:cNvSpPr>
          <p:nvPr/>
        </p:nvSpPr>
        <p:spPr>
          <a:xfrm xmlns:a="http://schemas.openxmlformats.org/drawingml/2006/main">
            <a:off x="857250" y="19907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E8694A"/>
                </a:solidFill>
                <a:latin typeface="Aptos"/>
                <a:ea typeface="Aptos"/>
                <a:cs typeface="Aptos"/>
              </a:defRPr>
            </a:pPr>
            <a:r>
              <a:rPr sz="1050" b="1">
                <a:solidFill>
                  <a:srgbClr val="E8694A"/>
                </a:solidFill>
                <a:latin typeface="Aptos"/>
                <a:ea typeface="Aptos"/>
                <a:cs typeface="Aptos"/>
              </a:rPr>
              <a:t>PROMPT 3 OUTPUT</a:t>
            </a:r>
          </a:p>
        </p:txBody>
      </p:sp>
      <p:sp>
        <p:nvSpPr>
          <p:cNvPr id="12" name="">
            <a:extLst xmlns:a="http://schemas.openxmlformats.org/drawingml/2006/main">
              <a:ext uri="{FF2B5EF4-FFF2-40B4-BE49-F238E27FC236}">
                <a16:creationId xmlns:a16="http://schemas.microsoft.com/office/drawing/2014/main" id="{2C9EA25B-E9F2-4BFC-A954-1BA714A99158}"/>
              </a:ext>
            </a:extLst>
          </p:cNvPr>
          <p:cNvSpPr>
            <a:spLocks xmlns:a="http://schemas.openxmlformats.org/drawingml/2006/main" noGrp="1"/>
          </p:cNvSpPr>
          <p:nvPr/>
        </p:nvSpPr>
        <p:spPr>
          <a:xfrm xmlns:a="http://schemas.openxmlformats.org/drawingml/2006/main">
            <a:off x="876300" y="2476500"/>
            <a:ext cx="4381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Confirmed facts</a:t>
            </a:r>
          </a:p>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Potential issues to verify</a:t>
            </a:r>
          </a:p>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Missing name/strength/route/frequency</a:t>
            </a:r>
          </a:p>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Patient and prescriber/pharmacist questions</a:t>
            </a:r>
          </a:p>
          <a:p xmlns:a="http://schemas.openxmlformats.org/drawingml/2006/main">
            <a:pPr marL="22" indent="-10" algn="l">
              <a:lnSpc>
                <a:spcPct val="110000"/>
              </a:lnSpc>
              <a:buNone/>
              <a:defRPr sz="1425" b="0">
                <a:solidFill>
                  <a:srgbClr val="183340"/>
                </a:solidFill>
                <a:latin typeface="Aptos"/>
                <a:ea typeface="Aptos"/>
                <a:cs typeface="Aptos"/>
              </a:defRPr>
            </a:pPr>
            <a:r>
              <a:rPr sz="1425" b="0">
                <a:solidFill>
                  <a:srgbClr val="183340"/>
                </a:solidFill>
                <a:latin typeface="Aptos"/>
                <a:ea typeface="Aptos"/>
                <a:cs typeface="Aptos"/>
              </a:rPr>
              <a:t>Approved sources to check</a:t>
            </a:r>
          </a:p>
        </p:txBody>
      </p:sp>
      <p:sp>
        <p:nvSpPr>
          <p:cNvPr id="13" name="">
            <a:extLst xmlns:a="http://schemas.openxmlformats.org/drawingml/2006/main">
              <a:ext uri="{FF2B5EF4-FFF2-40B4-BE49-F238E27FC236}">
                <a16:creationId xmlns:a16="http://schemas.microsoft.com/office/drawing/2014/main" id="{BCD62446-6988-4357-95BB-5601E8959070}"/>
              </a:ext>
            </a:extLst>
          </p:cNvPr>
          <p:cNvSpPr>
            <a:spLocks xmlns:a="http://schemas.openxmlformats.org/drawingml/2006/main" noGrp="1"/>
          </p:cNvSpPr>
          <p:nvPr/>
        </p:nvSpPr>
        <p:spPr>
          <a:xfrm xmlns:a="http://schemas.openxmlformats.org/drawingml/2006/main">
            <a:off x="6115050" y="1762125"/>
            <a:ext cx="5162550" cy="3857625"/>
          </a:xfrm>
          <a:prstGeom xmlns:a="http://schemas.openxmlformats.org/drawingml/2006/main" prst="roundRect">
            <a:avLst>
              <a:gd name="adj" fmla="val 5432"/>
            </a:avLst>
          </a:prstGeom>
          <a:solidFill xmlns:a="http://schemas.openxmlformats.org/drawingml/2006/main">
            <a:srgbClr val="082638"/>
          </a:solidFill>
          <a:ln xmlns:a="http://schemas.openxmlformats.org/drawingml/2006/main" w="9525">
            <a:solidFill>
              <a:srgbClr val="082638"/>
            </a:solidFill>
            <a:prstDash val="solid"/>
          </a:ln>
        </p:spPr>
      </p:sp>
      <p:sp>
        <p:nvSpPr>
          <p:cNvPr id="14" name="">
            <a:extLst xmlns:a="http://schemas.openxmlformats.org/drawingml/2006/main">
              <a:ext uri="{FF2B5EF4-FFF2-40B4-BE49-F238E27FC236}">
                <a16:creationId xmlns:a16="http://schemas.microsoft.com/office/drawing/2014/main" id="{CA011F6E-3BAA-4CA1-93A0-763B01342976}"/>
              </a:ext>
            </a:extLst>
          </p:cNvPr>
          <p:cNvSpPr>
            <a:spLocks xmlns:a="http://schemas.openxmlformats.org/drawingml/2006/main" noGrp="1"/>
          </p:cNvSpPr>
          <p:nvPr/>
        </p:nvSpPr>
        <p:spPr>
          <a:xfrm xmlns:a="http://schemas.openxmlformats.org/drawingml/2006/main">
            <a:off x="6381750" y="20002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FBE7DF"/>
                </a:solidFill>
                <a:latin typeface="Aptos"/>
                <a:ea typeface="Aptos"/>
                <a:cs typeface="Aptos"/>
              </a:defRPr>
            </a:pPr>
            <a:r>
              <a:rPr sz="1050" b="1">
                <a:solidFill>
                  <a:srgbClr val="FBE7DF"/>
                </a:solidFill>
                <a:latin typeface="Aptos"/>
                <a:ea typeface="Aptos"/>
                <a:cs typeface="Aptos"/>
              </a:rPr>
              <a:t>DO NOT ASK CHATGPT TO</a:t>
            </a:r>
          </a:p>
        </p:txBody>
      </p:sp>
      <p:sp>
        <p:nvSpPr>
          <p:cNvPr id="15" name="">
            <a:extLst xmlns:a="http://schemas.openxmlformats.org/drawingml/2006/main">
              <a:ext uri="{FF2B5EF4-FFF2-40B4-BE49-F238E27FC236}">
                <a16:creationId xmlns:a16="http://schemas.microsoft.com/office/drawing/2014/main" id="{4F623FC9-7848-4577-AA67-599554F5D12D}"/>
              </a:ext>
            </a:extLst>
          </p:cNvPr>
          <p:cNvSpPr>
            <a:spLocks xmlns:a="http://schemas.openxmlformats.org/drawingml/2006/main" noGrp="1"/>
          </p:cNvSpPr>
          <p:nvPr/>
        </p:nvSpPr>
        <p:spPr>
          <a:xfrm xmlns:a="http://schemas.openxmlformats.org/drawingml/2006/main">
            <a:off x="6400800" y="2476500"/>
            <a:ext cx="4286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 indent="-10" algn="l">
              <a:lnSpc>
                <a:spcPct val="110000"/>
              </a:lnSpc>
              <a:buNone/>
              <a:defRPr sz="1425" b="0">
                <a:solidFill>
                  <a:srgbClr val="FFFFFF"/>
                </a:solidFill>
                <a:latin typeface="Aptos"/>
                <a:ea typeface="Aptos"/>
                <a:cs typeface="Aptos"/>
              </a:defRPr>
            </a:pPr>
            <a:r>
              <a:rPr sz="1425" b="0">
                <a:solidFill>
                  <a:srgbClr val="FFFFFF"/>
                </a:solidFill>
                <a:latin typeface="Aptos"/>
                <a:ea typeface="Aptos"/>
                <a:cs typeface="Aptos"/>
              </a:rPr>
              <a:t>Start, stop or change a medicine</a:t>
            </a:r>
          </a:p>
          <a:p xmlns:a="http://schemas.openxmlformats.org/drawingml/2006/main">
            <a:pPr marL="22" indent="-10" algn="l">
              <a:lnSpc>
                <a:spcPct val="110000"/>
              </a:lnSpc>
              <a:buNone/>
              <a:defRPr sz="1425" b="0">
                <a:solidFill>
                  <a:srgbClr val="FFFFFF"/>
                </a:solidFill>
                <a:latin typeface="Aptos"/>
                <a:ea typeface="Aptos"/>
                <a:cs typeface="Aptos"/>
              </a:defRPr>
            </a:pPr>
            <a:r>
              <a:rPr sz="1425" b="0">
                <a:solidFill>
                  <a:srgbClr val="FFFFFF"/>
                </a:solidFill>
                <a:latin typeface="Aptos"/>
                <a:ea typeface="Aptos"/>
                <a:cs typeface="Aptos"/>
              </a:rPr>
              <a:t>Invent an interaction or allergy</a:t>
            </a:r>
          </a:p>
          <a:p xmlns:a="http://schemas.openxmlformats.org/drawingml/2006/main">
            <a:pPr marL="22" indent="-10" algn="l">
              <a:lnSpc>
                <a:spcPct val="110000"/>
              </a:lnSpc>
              <a:buNone/>
              <a:defRPr sz="1425" b="0">
                <a:solidFill>
                  <a:srgbClr val="FFFFFF"/>
                </a:solidFill>
                <a:latin typeface="Aptos"/>
                <a:ea typeface="Aptos"/>
                <a:cs typeface="Aptos"/>
              </a:defRPr>
            </a:pPr>
            <a:r>
              <a:rPr sz="1425" b="0">
                <a:solidFill>
                  <a:srgbClr val="FFFFFF"/>
                </a:solidFill>
                <a:latin typeface="Aptos"/>
                <a:ea typeface="Aptos"/>
                <a:cs typeface="Aptos"/>
              </a:rPr>
              <a:t>Silently calculate with missing inputs</a:t>
            </a:r>
          </a:p>
          <a:p xmlns:a="http://schemas.openxmlformats.org/drawingml/2006/main">
            <a:pPr marL="22" indent="-10" algn="l">
              <a:lnSpc>
                <a:spcPct val="110000"/>
              </a:lnSpc>
              <a:buNone/>
              <a:defRPr sz="1425" b="0">
                <a:solidFill>
                  <a:srgbClr val="FFFFFF"/>
                </a:solidFill>
                <a:latin typeface="Aptos"/>
                <a:ea typeface="Aptos"/>
                <a:cs typeface="Aptos"/>
              </a:defRPr>
            </a:pPr>
            <a:r>
              <a:rPr sz="1425" b="0">
                <a:solidFill>
                  <a:srgbClr val="FFFFFF"/>
                </a:solidFill>
                <a:latin typeface="Aptos"/>
                <a:ea typeface="Aptos"/>
                <a:cs typeface="Aptos"/>
              </a:rPr>
              <a:t>Substitute for pharmacist/prescriber review</a:t>
            </a:r>
          </a:p>
          <a:p xmlns:a="http://schemas.openxmlformats.org/drawingml/2006/main">
            <a:pPr marL="22" indent="-10" algn="l">
              <a:lnSpc>
                <a:spcPct val="110000"/>
              </a:lnSpc>
              <a:buNone/>
              <a:defRPr sz="1425" b="0">
                <a:solidFill>
                  <a:srgbClr val="FFFFFF"/>
                </a:solidFill>
                <a:latin typeface="Aptos"/>
                <a:ea typeface="Aptos"/>
                <a:cs typeface="Aptos"/>
              </a:defRPr>
            </a:pPr>
            <a:r>
              <a:rPr sz="1425" b="0">
                <a:solidFill>
                  <a:srgbClr val="FFFFFF"/>
                </a:solidFill>
                <a:latin typeface="Aptos"/>
                <a:ea typeface="Aptos"/>
                <a:cs typeface="Aptos"/>
              </a:rPr>
              <a:t>Override local formulary or protocol</a:t>
            </a:r>
          </a:p>
        </p:txBody>
      </p:sp>
      <p:sp>
        <p:nvSpPr>
          <p:cNvPr id="16" name="">
            <a:extLst xmlns:a="http://schemas.openxmlformats.org/drawingml/2006/main">
              <a:ext uri="{FF2B5EF4-FFF2-40B4-BE49-F238E27FC236}">
                <a16:creationId xmlns:a16="http://schemas.microsoft.com/office/drawing/2014/main" id="{A66F2C8C-0990-4241-8130-AF10C46DBA68}"/>
              </a:ext>
            </a:extLst>
          </p:cNvPr>
          <p:cNvSpPr>
            <a:spLocks xmlns:a="http://schemas.openxmlformats.org/drawingml/2006/main" noGrp="1"/>
          </p:cNvSpPr>
          <p:nvPr/>
        </p:nvSpPr>
        <p:spPr>
          <a:xfrm xmlns:a="http://schemas.openxmlformats.org/drawingml/2006/main">
            <a:off x="1714500" y="5876925"/>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275" b="1">
                <a:solidFill>
                  <a:srgbClr val="E8694A"/>
                </a:solidFill>
                <a:latin typeface="Aptos"/>
                <a:ea typeface="Aptos"/>
                <a:cs typeface="Aptos"/>
              </a:defRPr>
            </a:pPr>
            <a:r>
              <a:rPr sz="1275" b="1">
                <a:solidFill>
                  <a:srgbClr val="E8694A"/>
                </a:solidFill>
                <a:latin typeface="Aptos"/>
                <a:ea typeface="Aptos"/>
                <a:cs typeface="Aptos"/>
              </a:rPr>
              <a:t>Full copy-ready medication prompt: Prompt Card 3</a:t>
            </a:r>
          </a:p>
        </p:txBody>
      </p:sp>
    </p:spTree>
    <p:extLst>
      <p:ext uri="{BB962C8B-B14F-4D97-AF65-F5344CB8AC3E}">
        <p14:creationId xmlns:p14="http://schemas.microsoft.com/office/powerpoint/2010/main" val="724526258"/>
      </p:ext>
    </p:extLst>
  </p:cSld>
</p:sld>
</file>

<file path=ppt/slides/slide40.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BE0559B-6607-4753-9956-4F981962C16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634CCDE6-791B-4533-8157-525A5CFFAE6E}"/>
              </a:ext>
            </a:extLst>
          </p:cNvPr>
          <p:cNvSpPr>
            <a:spLocks xmlns:a="http://schemas.openxmlformats.org/drawingml/2006/main" noGrp="1"/>
          </p:cNvSpPr>
          <p:nvPr/>
        </p:nvSpPr>
        <p:spPr>
          <a:xfrm xmlns:a="http://schemas.openxmlformats.org/drawingml/2006/main">
            <a:off x="590550" y="285750"/>
            <a:ext cx="150876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97096"/>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2 VERIFICATION</a:t>
            </a:r>
          </a:p>
        </p:txBody>
      </p:sp>
      <p:sp>
        <p:nvSpPr>
          <p:cNvPr id="3" name="">
            <a:extLst xmlns:a="http://schemas.openxmlformats.org/drawingml/2006/main">
              <a:ext uri="{FF2B5EF4-FFF2-40B4-BE49-F238E27FC236}">
                <a16:creationId xmlns:a16="http://schemas.microsoft.com/office/drawing/2014/main" id="{5CBF1C93-F753-4BA0-9133-0F2831A0023B}"/>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Triangulate: AI output × evidence × local context</a:t>
            </a:r>
          </a:p>
        </p:txBody>
      </p:sp>
      <p:sp>
        <p:nvSpPr>
          <p:cNvPr id="4" name="">
            <a:extLst xmlns:a="http://schemas.openxmlformats.org/drawingml/2006/main">
              <a:ext uri="{FF2B5EF4-FFF2-40B4-BE49-F238E27FC236}">
                <a16:creationId xmlns:a16="http://schemas.microsoft.com/office/drawing/2014/main" id="{FDB058F6-3966-4444-80B8-78CD10F6B579}"/>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44ACA78B-A46B-4763-AFF2-6BB8BE7FCEE9}"/>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872F590F-3347-4A95-ABCC-392C76CA34C2}"/>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9A25958C-9B42-4BFC-8EBE-88038A274FEC}"/>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8" name="">
            <a:extLst xmlns:a="http://schemas.openxmlformats.org/drawingml/2006/main">
              <a:ext uri="{FF2B5EF4-FFF2-40B4-BE49-F238E27FC236}">
                <a16:creationId xmlns:a16="http://schemas.microsoft.com/office/drawing/2014/main" id="{3840EE44-6478-4351-9FAB-16E5D11CB6A4}"/>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40</a:t>
            </a:r>
          </a:p>
        </p:txBody>
      </p:sp>
      <p:sp>
        <p:nvSpPr>
          <p:cNvPr id="9" name="">
            <a:extLst xmlns:a="http://schemas.openxmlformats.org/drawingml/2006/main">
              <a:ext uri="{FF2B5EF4-FFF2-40B4-BE49-F238E27FC236}">
                <a16:creationId xmlns:a16="http://schemas.microsoft.com/office/drawing/2014/main" id="{B525297E-F845-480A-8ABB-547868A3EE4F}"/>
              </a:ext>
            </a:extLst>
          </p:cNvPr>
          <p:cNvSpPr>
            <a:spLocks xmlns:a="http://schemas.openxmlformats.org/drawingml/2006/main" noGrp="1"/>
          </p:cNvSpPr>
          <p:nvPr/>
        </p:nvSpPr>
        <p:spPr>
          <a:xfrm xmlns:a="http://schemas.openxmlformats.org/drawingml/2006/main">
            <a:off x="1285875" y="2095500"/>
            <a:ext cx="2381250" cy="2000250"/>
          </a:xfrm>
          <a:prstGeom xmlns:a="http://schemas.openxmlformats.org/drawingml/2006/main" prst="ellipse">
            <a:avLst/>
          </a:prstGeom>
          <a:solidFill xmlns:a="http://schemas.openxmlformats.org/drawingml/2006/main">
            <a:srgbClr val="FFFDFC"/>
          </a:solidFill>
          <a:ln xmlns:a="http://schemas.openxmlformats.org/drawingml/2006/main" w="28575">
            <a:solidFill>
              <a:srgbClr val="087E78"/>
            </a:solidFill>
            <a:prstDash val="solid"/>
          </a:ln>
        </p:spPr>
      </p:sp>
      <p:sp>
        <p:nvSpPr>
          <p:cNvPr id="10" name="">
            <a:extLst xmlns:a="http://schemas.openxmlformats.org/drawingml/2006/main">
              <a:ext uri="{FF2B5EF4-FFF2-40B4-BE49-F238E27FC236}">
                <a16:creationId xmlns:a16="http://schemas.microsoft.com/office/drawing/2014/main" id="{769636CB-C9FD-4E29-A529-269D09B35BF6}"/>
              </a:ext>
            </a:extLst>
          </p:cNvPr>
          <p:cNvSpPr>
            <a:spLocks xmlns:a="http://schemas.openxmlformats.org/drawingml/2006/main" noGrp="1"/>
          </p:cNvSpPr>
          <p:nvPr/>
        </p:nvSpPr>
        <p:spPr>
          <a:xfrm xmlns:a="http://schemas.openxmlformats.org/drawingml/2006/main">
            <a:off x="1552575" y="2543175"/>
            <a:ext cx="1847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200" b="1">
                <a:solidFill>
                  <a:srgbClr val="087E78"/>
                </a:solidFill>
                <a:latin typeface="Aptos"/>
                <a:ea typeface="Aptos"/>
                <a:cs typeface="Aptos"/>
              </a:defRPr>
            </a:pPr>
            <a:r>
              <a:rPr sz="1200" b="1">
                <a:solidFill>
                  <a:srgbClr val="087E78"/>
                </a:solidFill>
                <a:latin typeface="Aptos"/>
                <a:ea typeface="Aptos"/>
                <a:cs typeface="Aptos"/>
              </a:rPr>
              <a:t>AI OUTPUT</a:t>
            </a:r>
          </a:p>
        </p:txBody>
      </p:sp>
      <p:sp>
        <p:nvSpPr>
          <p:cNvPr id="11" name="">
            <a:extLst xmlns:a="http://schemas.openxmlformats.org/drawingml/2006/main">
              <a:ext uri="{FF2B5EF4-FFF2-40B4-BE49-F238E27FC236}">
                <a16:creationId xmlns:a16="http://schemas.microsoft.com/office/drawing/2014/main" id="{35DD07BC-917A-414B-983F-03BD4E62E777}"/>
              </a:ext>
            </a:extLst>
          </p:cNvPr>
          <p:cNvSpPr>
            <a:spLocks xmlns:a="http://schemas.openxmlformats.org/drawingml/2006/main" noGrp="1"/>
          </p:cNvSpPr>
          <p:nvPr/>
        </p:nvSpPr>
        <p:spPr>
          <a:xfrm xmlns:a="http://schemas.openxmlformats.org/drawingml/2006/main">
            <a:off x="1619250" y="3038475"/>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What was proposed?</a:t>
            </a:r>
          </a:p>
        </p:txBody>
      </p:sp>
      <p:sp>
        <p:nvSpPr>
          <p:cNvPr id="12" name="">
            <a:extLst xmlns:a="http://schemas.openxmlformats.org/drawingml/2006/main">
              <a:ext uri="{FF2B5EF4-FFF2-40B4-BE49-F238E27FC236}">
                <a16:creationId xmlns:a16="http://schemas.microsoft.com/office/drawing/2014/main" id="{41E09F75-C601-43FC-BDF1-83F8EEDF1723}"/>
              </a:ext>
            </a:extLst>
          </p:cNvPr>
          <p:cNvSpPr>
            <a:spLocks xmlns:a="http://schemas.openxmlformats.org/drawingml/2006/main" noGrp="1"/>
          </p:cNvSpPr>
          <p:nvPr/>
        </p:nvSpPr>
        <p:spPr>
          <a:xfrm xmlns:a="http://schemas.openxmlformats.org/drawingml/2006/main">
            <a:off x="4905375" y="2095500"/>
            <a:ext cx="2381250" cy="2000250"/>
          </a:xfrm>
          <a:prstGeom xmlns:a="http://schemas.openxmlformats.org/drawingml/2006/main" prst="ellipse">
            <a:avLst/>
          </a:prstGeom>
          <a:solidFill xmlns:a="http://schemas.openxmlformats.org/drawingml/2006/main">
            <a:srgbClr val="FFFDFC"/>
          </a:solidFill>
          <a:ln xmlns:a="http://schemas.openxmlformats.org/drawingml/2006/main" w="28575">
            <a:solidFill>
              <a:srgbClr val="C59028"/>
            </a:solidFill>
            <a:prstDash val="solid"/>
          </a:ln>
        </p:spPr>
      </p:sp>
      <p:sp>
        <p:nvSpPr>
          <p:cNvPr id="13" name="">
            <a:extLst xmlns:a="http://schemas.openxmlformats.org/drawingml/2006/main">
              <a:ext uri="{FF2B5EF4-FFF2-40B4-BE49-F238E27FC236}">
                <a16:creationId xmlns:a16="http://schemas.microsoft.com/office/drawing/2014/main" id="{70B62679-E419-4EFC-AE4D-A1274F9F314C}"/>
              </a:ext>
            </a:extLst>
          </p:cNvPr>
          <p:cNvSpPr>
            <a:spLocks xmlns:a="http://schemas.openxmlformats.org/drawingml/2006/main" noGrp="1"/>
          </p:cNvSpPr>
          <p:nvPr/>
        </p:nvSpPr>
        <p:spPr>
          <a:xfrm xmlns:a="http://schemas.openxmlformats.org/drawingml/2006/main">
            <a:off x="5172075" y="2543175"/>
            <a:ext cx="1847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200" b="1">
                <a:solidFill>
                  <a:srgbClr val="C59028"/>
                </a:solidFill>
                <a:latin typeface="Aptos"/>
                <a:ea typeface="Aptos"/>
                <a:cs typeface="Aptos"/>
              </a:defRPr>
            </a:pPr>
            <a:r>
              <a:rPr sz="1200" b="1">
                <a:solidFill>
                  <a:srgbClr val="C59028"/>
                </a:solidFill>
                <a:latin typeface="Aptos"/>
                <a:ea typeface="Aptos"/>
                <a:cs typeface="Aptos"/>
              </a:rPr>
              <a:t>SOURCE</a:t>
            </a:r>
          </a:p>
        </p:txBody>
      </p:sp>
      <p:sp>
        <p:nvSpPr>
          <p:cNvPr id="14" name="">
            <a:extLst xmlns:a="http://schemas.openxmlformats.org/drawingml/2006/main">
              <a:ext uri="{FF2B5EF4-FFF2-40B4-BE49-F238E27FC236}">
                <a16:creationId xmlns:a16="http://schemas.microsoft.com/office/drawing/2014/main" id="{3A4CA794-FB8C-4BEA-AE12-FED26D71976A}"/>
              </a:ext>
            </a:extLst>
          </p:cNvPr>
          <p:cNvSpPr>
            <a:spLocks xmlns:a="http://schemas.openxmlformats.org/drawingml/2006/main" noGrp="1"/>
          </p:cNvSpPr>
          <p:nvPr/>
        </p:nvSpPr>
        <p:spPr>
          <a:xfrm xmlns:a="http://schemas.openxmlformats.org/drawingml/2006/main">
            <a:off x="5238750" y="3038475"/>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Does the original support it?</a:t>
            </a:r>
          </a:p>
        </p:txBody>
      </p:sp>
      <p:sp>
        <p:nvSpPr>
          <p:cNvPr id="15" name="">
            <a:extLst xmlns:a="http://schemas.openxmlformats.org/drawingml/2006/main">
              <a:ext uri="{FF2B5EF4-FFF2-40B4-BE49-F238E27FC236}">
                <a16:creationId xmlns:a16="http://schemas.microsoft.com/office/drawing/2014/main" id="{B4E422B8-EC6E-409E-9857-08BA7667014A}"/>
              </a:ext>
            </a:extLst>
          </p:cNvPr>
          <p:cNvSpPr>
            <a:spLocks xmlns:a="http://schemas.openxmlformats.org/drawingml/2006/main" noGrp="1"/>
          </p:cNvSpPr>
          <p:nvPr/>
        </p:nvSpPr>
        <p:spPr>
          <a:xfrm xmlns:a="http://schemas.openxmlformats.org/drawingml/2006/main">
            <a:off x="8524875" y="2095500"/>
            <a:ext cx="2381250" cy="2000250"/>
          </a:xfrm>
          <a:prstGeom xmlns:a="http://schemas.openxmlformats.org/drawingml/2006/main" prst="ellipse">
            <a:avLst/>
          </a:prstGeom>
          <a:solidFill xmlns:a="http://schemas.openxmlformats.org/drawingml/2006/main">
            <a:srgbClr val="FFFDFC"/>
          </a:solidFill>
          <a:ln xmlns:a="http://schemas.openxmlformats.org/drawingml/2006/main" w="28575">
            <a:solidFill>
              <a:srgbClr val="2F6F9F"/>
            </a:solidFill>
            <a:prstDash val="solid"/>
          </a:ln>
        </p:spPr>
      </p:sp>
      <p:sp>
        <p:nvSpPr>
          <p:cNvPr id="16" name="">
            <a:extLst xmlns:a="http://schemas.openxmlformats.org/drawingml/2006/main">
              <a:ext uri="{FF2B5EF4-FFF2-40B4-BE49-F238E27FC236}">
                <a16:creationId xmlns:a16="http://schemas.microsoft.com/office/drawing/2014/main" id="{81A71A49-AEA8-4751-8F99-87A40471F3E5}"/>
              </a:ext>
            </a:extLst>
          </p:cNvPr>
          <p:cNvSpPr>
            <a:spLocks xmlns:a="http://schemas.openxmlformats.org/drawingml/2006/main" noGrp="1"/>
          </p:cNvSpPr>
          <p:nvPr/>
        </p:nvSpPr>
        <p:spPr>
          <a:xfrm xmlns:a="http://schemas.openxmlformats.org/drawingml/2006/main">
            <a:off x="8791575" y="2543175"/>
            <a:ext cx="1847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200" b="1">
                <a:solidFill>
                  <a:srgbClr val="2F6F9F"/>
                </a:solidFill>
                <a:latin typeface="Aptos"/>
                <a:ea typeface="Aptos"/>
                <a:cs typeface="Aptos"/>
              </a:defRPr>
            </a:pPr>
            <a:r>
              <a:rPr sz="1200" b="1">
                <a:solidFill>
                  <a:srgbClr val="2F6F9F"/>
                </a:solidFill>
                <a:latin typeface="Aptos"/>
                <a:ea typeface="Aptos"/>
                <a:cs typeface="Aptos"/>
              </a:rPr>
              <a:t>LOCAL FIT</a:t>
            </a:r>
          </a:p>
        </p:txBody>
      </p:sp>
      <p:sp>
        <p:nvSpPr>
          <p:cNvPr id="17" name="">
            <a:extLst xmlns:a="http://schemas.openxmlformats.org/drawingml/2006/main">
              <a:ext uri="{FF2B5EF4-FFF2-40B4-BE49-F238E27FC236}">
                <a16:creationId xmlns:a16="http://schemas.microsoft.com/office/drawing/2014/main" id="{3CED277F-FC7C-4367-B9FD-9D9C66055F48}"/>
              </a:ext>
            </a:extLst>
          </p:cNvPr>
          <p:cNvSpPr>
            <a:spLocks xmlns:a="http://schemas.openxmlformats.org/drawingml/2006/main" noGrp="1"/>
          </p:cNvSpPr>
          <p:nvPr/>
        </p:nvSpPr>
        <p:spPr>
          <a:xfrm xmlns:a="http://schemas.openxmlformats.org/drawingml/2006/main">
            <a:off x="8858250" y="3038475"/>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Patient, protocol, formulary?</a:t>
            </a:r>
          </a:p>
        </p:txBody>
      </p:sp>
      <p:sp>
        <p:nvSpPr>
          <p:cNvPr id="18" name="">
            <a:extLst xmlns:a="http://schemas.openxmlformats.org/drawingml/2006/main">
              <a:ext uri="{FF2B5EF4-FFF2-40B4-BE49-F238E27FC236}">
                <a16:creationId xmlns:a16="http://schemas.microsoft.com/office/drawing/2014/main" id="{512E7A51-B820-4438-918D-82EE07476A40}"/>
              </a:ext>
            </a:extLst>
          </p:cNvPr>
          <p:cNvSpPr>
            <a:spLocks xmlns:a="http://schemas.openxmlformats.org/drawingml/2006/main" noGrp="1"/>
          </p:cNvSpPr>
          <p:nvPr/>
        </p:nvSpPr>
        <p:spPr>
          <a:xfrm xmlns:a="http://schemas.openxmlformats.org/drawingml/2006/main">
            <a:off x="3667125" y="3095625"/>
            <a:ext cx="1238250" cy="0"/>
          </a:xfrm>
          <a:prstGeom xmlns:a="http://schemas.openxmlformats.org/drawingml/2006/main" prst="line">
            <a:avLst/>
          </a:prstGeom>
          <a:noFill xmlns:a="http://schemas.openxmlformats.org/drawingml/2006/main"/>
          <a:ln xmlns:a="http://schemas.openxmlformats.org/drawingml/2006/main" w="38100">
            <a:solidFill>
              <a:srgbClr val="D3DDDE"/>
            </a:solidFill>
            <a:prstDash val="solid"/>
          </a:ln>
        </p:spPr>
      </p:sp>
      <p:sp>
        <p:nvSpPr>
          <p:cNvPr id="19" name="">
            <a:extLst xmlns:a="http://schemas.openxmlformats.org/drawingml/2006/main">
              <a:ext uri="{FF2B5EF4-FFF2-40B4-BE49-F238E27FC236}">
                <a16:creationId xmlns:a16="http://schemas.microsoft.com/office/drawing/2014/main" id="{E00424F6-D132-4903-AFCB-3B9E1CF83431}"/>
              </a:ext>
            </a:extLst>
          </p:cNvPr>
          <p:cNvSpPr>
            <a:spLocks xmlns:a="http://schemas.openxmlformats.org/drawingml/2006/main" noGrp="1"/>
          </p:cNvSpPr>
          <p:nvPr/>
        </p:nvSpPr>
        <p:spPr>
          <a:xfrm xmlns:a="http://schemas.openxmlformats.org/drawingml/2006/main">
            <a:off x="7286625" y="3095625"/>
            <a:ext cx="1238250" cy="0"/>
          </a:xfrm>
          <a:prstGeom xmlns:a="http://schemas.openxmlformats.org/drawingml/2006/main" prst="line">
            <a:avLst/>
          </a:prstGeom>
          <a:noFill xmlns:a="http://schemas.openxmlformats.org/drawingml/2006/main"/>
          <a:ln xmlns:a="http://schemas.openxmlformats.org/drawingml/2006/main" w="38100">
            <a:solidFill>
              <a:srgbClr val="D3DDDE"/>
            </a:solidFill>
            <a:prstDash val="solid"/>
          </a:ln>
        </p:spPr>
      </p:sp>
      <p:sp>
        <p:nvSpPr>
          <p:cNvPr id="20" name="">
            <a:extLst xmlns:a="http://schemas.openxmlformats.org/drawingml/2006/main">
              <a:ext uri="{FF2B5EF4-FFF2-40B4-BE49-F238E27FC236}">
                <a16:creationId xmlns:a16="http://schemas.microsoft.com/office/drawing/2014/main" id="{E6849DFE-D006-48DE-8A26-13C4812E4E21}"/>
              </a:ext>
            </a:extLst>
          </p:cNvPr>
          <p:cNvSpPr>
            <a:spLocks xmlns:a="http://schemas.openxmlformats.org/drawingml/2006/main" noGrp="1"/>
          </p:cNvSpPr>
          <p:nvPr/>
        </p:nvSpPr>
        <p:spPr>
          <a:xfrm xmlns:a="http://schemas.openxmlformats.org/drawingml/2006/main">
            <a:off x="2476500" y="4857750"/>
            <a:ext cx="7239000" cy="628650"/>
          </a:xfrm>
          <a:prstGeom xmlns:a="http://schemas.openxmlformats.org/drawingml/2006/main" prst="roundRect">
            <a:avLst>
              <a:gd name="adj" fmla="val 25758"/>
            </a:avLst>
          </a:prstGeom>
          <a:solidFill xmlns:a="http://schemas.openxmlformats.org/drawingml/2006/main">
            <a:srgbClr val="082638"/>
          </a:solidFill>
          <a:ln xmlns:a="http://schemas.openxmlformats.org/drawingml/2006/main" w="9525">
            <a:solidFill>
              <a:srgbClr val="082638"/>
            </a:solidFill>
            <a:prstDash val="solid"/>
          </a:ln>
        </p:spPr>
      </p:sp>
      <p:sp>
        <p:nvSpPr>
          <p:cNvPr id="21" name="">
            <a:extLst xmlns:a="http://schemas.openxmlformats.org/drawingml/2006/main">
              <a:ext uri="{FF2B5EF4-FFF2-40B4-BE49-F238E27FC236}">
                <a16:creationId xmlns:a16="http://schemas.microsoft.com/office/drawing/2014/main" id="{6487717D-294C-4F89-85F8-D0D2F10532F3}"/>
              </a:ext>
            </a:extLst>
          </p:cNvPr>
          <p:cNvSpPr>
            <a:spLocks xmlns:a="http://schemas.openxmlformats.org/drawingml/2006/main" noGrp="1"/>
          </p:cNvSpPr>
          <p:nvPr/>
        </p:nvSpPr>
        <p:spPr>
          <a:xfrm xmlns:a="http://schemas.openxmlformats.org/drawingml/2006/main">
            <a:off x="2724150" y="5010150"/>
            <a:ext cx="674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684"/>
          </a:bodyPr>
          <a:lstStyle xmlns:a="http://schemas.openxmlformats.org/drawingml/2006/main"/>
          <a:p xmlns:a="http://schemas.openxmlformats.org/drawingml/2006/main">
            <a:pPr algn="ctr">
              <a:lnSpc>
                <a:spcPct val="103000"/>
              </a:lnSpc>
              <a:buNone/>
              <a:defRPr sz="1650" b="1">
                <a:solidFill>
                  <a:srgbClr val="FFFFFF"/>
                </a:solidFill>
                <a:latin typeface="Aptos"/>
                <a:ea typeface="Aptos"/>
                <a:cs typeface="Aptos"/>
              </a:defRPr>
            </a:pPr>
            <a:r>
              <a:rPr sz="1650" b="1">
                <a:solidFill>
                  <a:srgbClr val="FFFFFF"/>
                </a:solidFill>
                <a:latin typeface="Aptos"/>
                <a:ea typeface="Aptos"/>
                <a:cs typeface="Aptos"/>
              </a:rPr>
              <a:t>Accept the supported overlap—and document the remaining uncertainty.</a:t>
            </a:r>
          </a:p>
        </p:txBody>
      </p:sp>
    </p:spTree>
    <p:extLst>
      <p:ext uri="{BB962C8B-B14F-4D97-AF65-F5344CB8AC3E}">
        <p14:creationId xmlns:p14="http://schemas.microsoft.com/office/powerpoint/2010/main" val="295423036"/>
      </p:ext>
    </p:extLst>
  </p:cSld>
</p:sld>
</file>

<file path=ppt/slides/slide4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900937-AC64-4C63-BFE5-254B6D21B2C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84E5695B-6732-4029-B356-B8F8B32DB341}"/>
              </a:ext>
            </a:extLst>
          </p:cNvPr>
          <p:cNvSpPr>
            <a:spLocks xmlns:a="http://schemas.openxmlformats.org/drawingml/2006/main" noGrp="1"/>
          </p:cNvSpPr>
          <p:nvPr/>
        </p:nvSpPr>
        <p:spPr>
          <a:xfrm xmlns:a="http://schemas.openxmlformats.org/drawingml/2006/main">
            <a:off x="590550" y="285750"/>
            <a:ext cx="13716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903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2 CHECKPOINT</a:t>
            </a:r>
          </a:p>
        </p:txBody>
      </p:sp>
      <p:sp>
        <p:nvSpPr>
          <p:cNvPr id="3" name="">
            <a:extLst xmlns:a="http://schemas.openxmlformats.org/drawingml/2006/main">
              <a:ext uri="{FF2B5EF4-FFF2-40B4-BE49-F238E27FC236}">
                <a16:creationId xmlns:a16="http://schemas.microsoft.com/office/drawing/2014/main" id="{A8C7E82E-2725-4CBE-A6BE-709B5D0A906C}"/>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Debrief: did the tools widen attention or create noise?</a:t>
            </a:r>
          </a:p>
        </p:txBody>
      </p:sp>
      <p:sp>
        <p:nvSpPr>
          <p:cNvPr id="4" name="">
            <a:extLst xmlns:a="http://schemas.openxmlformats.org/drawingml/2006/main">
              <a:ext uri="{FF2B5EF4-FFF2-40B4-BE49-F238E27FC236}">
                <a16:creationId xmlns:a16="http://schemas.microsoft.com/office/drawing/2014/main" id="{2702288E-69E7-41F6-A7F5-D3A8BEF51F07}"/>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F87E521C-3A92-436C-9FCA-9895BCBBA41D}"/>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BBD555E8-49F0-4F52-BF08-892368B02329}"/>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AC651917-E54B-4AAE-9489-DCA478EA46B1}"/>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8" name="">
            <a:extLst xmlns:a="http://schemas.openxmlformats.org/drawingml/2006/main">
              <a:ext uri="{FF2B5EF4-FFF2-40B4-BE49-F238E27FC236}">
                <a16:creationId xmlns:a16="http://schemas.microsoft.com/office/drawing/2014/main" id="{51F0694F-9988-4116-A916-D9543FF23ADF}"/>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41</a:t>
            </a:r>
          </a:p>
        </p:txBody>
      </p:sp>
      <p:sp>
        <p:nvSpPr>
          <p:cNvPr id="9" name="">
            <a:extLst xmlns:a="http://schemas.openxmlformats.org/drawingml/2006/main">
              <a:ext uri="{FF2B5EF4-FFF2-40B4-BE49-F238E27FC236}">
                <a16:creationId xmlns:a16="http://schemas.microsoft.com/office/drawing/2014/main" id="{0F78EEEA-D8A9-446B-A4AB-ABEB1B054B21}"/>
              </a:ext>
            </a:extLst>
          </p:cNvPr>
          <p:cNvSpPr>
            <a:spLocks xmlns:a="http://schemas.openxmlformats.org/drawingml/2006/main" noGrp="1"/>
          </p:cNvSpPr>
          <p:nvPr/>
        </p:nvSpPr>
        <p:spPr>
          <a:xfrm xmlns:a="http://schemas.openxmlformats.org/drawingml/2006/main">
            <a:off x="762000" y="1819275"/>
            <a:ext cx="3810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C805BA0C-F02A-4F8B-A06D-18422076882C}"/>
              </a:ext>
            </a:extLst>
          </p:cNvPr>
          <p:cNvSpPr>
            <a:spLocks xmlns:a="http://schemas.openxmlformats.org/drawingml/2006/main" noGrp="1"/>
          </p:cNvSpPr>
          <p:nvPr/>
        </p:nvSpPr>
        <p:spPr>
          <a:xfrm xmlns:a="http://schemas.openxmlformats.org/drawingml/2006/main">
            <a:off x="1381125" y="1819275"/>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75" b="1">
                <a:solidFill>
                  <a:srgbClr val="082638"/>
                </a:solidFill>
                <a:latin typeface="Aptos"/>
                <a:ea typeface="Aptos"/>
                <a:cs typeface="Aptos"/>
              </a:defRPr>
            </a:pPr>
            <a:r>
              <a:rPr sz="1575" b="1">
                <a:solidFill>
                  <a:srgbClr val="082638"/>
                </a:solidFill>
                <a:latin typeface="Aptos"/>
                <a:ea typeface="Aptos"/>
                <a:cs typeface="Aptos"/>
              </a:rPr>
              <a:t>What urgent feature was missed?</a:t>
            </a:r>
          </a:p>
        </p:txBody>
      </p:sp>
      <p:sp>
        <p:nvSpPr>
          <p:cNvPr id="11" name="">
            <a:extLst xmlns:a="http://schemas.openxmlformats.org/drawingml/2006/main">
              <a:ext uri="{FF2B5EF4-FFF2-40B4-BE49-F238E27FC236}">
                <a16:creationId xmlns:a16="http://schemas.microsoft.com/office/drawing/2014/main" id="{CE24487A-C7F6-44AE-AD37-BDEF01ACBE8A}"/>
              </a:ext>
            </a:extLst>
          </p:cNvPr>
          <p:cNvSpPr>
            <a:spLocks xmlns:a="http://schemas.openxmlformats.org/drawingml/2006/main" noGrp="1"/>
          </p:cNvSpPr>
          <p:nvPr/>
        </p:nvSpPr>
        <p:spPr>
          <a:xfrm xmlns:a="http://schemas.openxmlformats.org/drawingml/2006/main">
            <a:off x="762000" y="2314575"/>
            <a:ext cx="100012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12" name="">
            <a:extLst xmlns:a="http://schemas.openxmlformats.org/drawingml/2006/main">
              <a:ext uri="{FF2B5EF4-FFF2-40B4-BE49-F238E27FC236}">
                <a16:creationId xmlns:a16="http://schemas.microsoft.com/office/drawing/2014/main" id="{B6E71FA5-E96F-400B-822F-7C8A210979A1}"/>
              </a:ext>
            </a:extLst>
          </p:cNvPr>
          <p:cNvSpPr>
            <a:spLocks xmlns:a="http://schemas.openxmlformats.org/drawingml/2006/main" noGrp="1"/>
          </p:cNvSpPr>
          <p:nvPr/>
        </p:nvSpPr>
        <p:spPr>
          <a:xfrm xmlns:a="http://schemas.openxmlformats.org/drawingml/2006/main">
            <a:off x="762000" y="2562225"/>
            <a:ext cx="3810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F0D717B5-F623-4C08-9709-0A2CF7F93775}"/>
              </a:ext>
            </a:extLst>
          </p:cNvPr>
          <p:cNvSpPr>
            <a:spLocks xmlns:a="http://schemas.openxmlformats.org/drawingml/2006/main" noGrp="1"/>
          </p:cNvSpPr>
          <p:nvPr/>
        </p:nvSpPr>
        <p:spPr>
          <a:xfrm xmlns:a="http://schemas.openxmlformats.org/drawingml/2006/main">
            <a:off x="1381125" y="2562225"/>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75" b="1">
                <a:solidFill>
                  <a:srgbClr val="082638"/>
                </a:solidFill>
                <a:latin typeface="Aptos"/>
                <a:ea typeface="Aptos"/>
                <a:cs typeface="Aptos"/>
              </a:defRPr>
            </a:pPr>
            <a:r>
              <a:rPr sz="1575" b="1">
                <a:solidFill>
                  <a:srgbClr val="082638"/>
                </a:solidFill>
                <a:latin typeface="Aptos"/>
                <a:ea typeface="Aptos"/>
                <a:cs typeface="Aptos"/>
              </a:rPr>
              <a:t>Which claim lacked source support?</a:t>
            </a:r>
          </a:p>
        </p:txBody>
      </p:sp>
      <p:sp>
        <p:nvSpPr>
          <p:cNvPr id="14" name="">
            <a:extLst xmlns:a="http://schemas.openxmlformats.org/drawingml/2006/main">
              <a:ext uri="{FF2B5EF4-FFF2-40B4-BE49-F238E27FC236}">
                <a16:creationId xmlns:a16="http://schemas.microsoft.com/office/drawing/2014/main" id="{2A720EF8-43F4-44B1-8CC8-ED6354B6EC19}"/>
              </a:ext>
            </a:extLst>
          </p:cNvPr>
          <p:cNvSpPr>
            <a:spLocks xmlns:a="http://schemas.openxmlformats.org/drawingml/2006/main" noGrp="1"/>
          </p:cNvSpPr>
          <p:nvPr/>
        </p:nvSpPr>
        <p:spPr>
          <a:xfrm xmlns:a="http://schemas.openxmlformats.org/drawingml/2006/main">
            <a:off x="762000" y="3057525"/>
            <a:ext cx="100012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15" name="">
            <a:extLst xmlns:a="http://schemas.openxmlformats.org/drawingml/2006/main">
              <a:ext uri="{FF2B5EF4-FFF2-40B4-BE49-F238E27FC236}">
                <a16:creationId xmlns:a16="http://schemas.microsoft.com/office/drawing/2014/main" id="{D8DF7AA6-E3F6-4748-86D2-73747E17CA55}"/>
              </a:ext>
            </a:extLst>
          </p:cNvPr>
          <p:cNvSpPr>
            <a:spLocks xmlns:a="http://schemas.openxmlformats.org/drawingml/2006/main" noGrp="1"/>
          </p:cNvSpPr>
          <p:nvPr/>
        </p:nvSpPr>
        <p:spPr>
          <a:xfrm xmlns:a="http://schemas.openxmlformats.org/drawingml/2006/main">
            <a:off x="762000" y="3305175"/>
            <a:ext cx="3810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434661F6-1880-4D98-A2CF-F4E1F9F62A01}"/>
              </a:ext>
            </a:extLst>
          </p:cNvPr>
          <p:cNvSpPr>
            <a:spLocks xmlns:a="http://schemas.openxmlformats.org/drawingml/2006/main" noGrp="1"/>
          </p:cNvSpPr>
          <p:nvPr/>
        </p:nvSpPr>
        <p:spPr>
          <a:xfrm xmlns:a="http://schemas.openxmlformats.org/drawingml/2006/main">
            <a:off x="1381125" y="3305175"/>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75" b="1">
                <a:solidFill>
                  <a:srgbClr val="082638"/>
                </a:solidFill>
                <a:latin typeface="Aptos"/>
                <a:ea typeface="Aptos"/>
                <a:cs typeface="Aptos"/>
              </a:defRPr>
            </a:pPr>
            <a:r>
              <a:rPr sz="1575" b="1">
                <a:solidFill>
                  <a:srgbClr val="082638"/>
                </a:solidFill>
                <a:latin typeface="Aptos"/>
                <a:ea typeface="Aptos"/>
                <a:cs typeface="Aptos"/>
              </a:rPr>
              <a:t>Which input changed a score?</a:t>
            </a:r>
          </a:p>
        </p:txBody>
      </p:sp>
      <p:sp>
        <p:nvSpPr>
          <p:cNvPr id="17" name="">
            <a:extLst xmlns:a="http://schemas.openxmlformats.org/drawingml/2006/main">
              <a:ext uri="{FF2B5EF4-FFF2-40B4-BE49-F238E27FC236}">
                <a16:creationId xmlns:a16="http://schemas.microsoft.com/office/drawing/2014/main" id="{4A20964D-C5FE-41AF-BAC5-1E6D71F7B169}"/>
              </a:ext>
            </a:extLst>
          </p:cNvPr>
          <p:cNvSpPr>
            <a:spLocks xmlns:a="http://schemas.openxmlformats.org/drawingml/2006/main" noGrp="1"/>
          </p:cNvSpPr>
          <p:nvPr/>
        </p:nvSpPr>
        <p:spPr>
          <a:xfrm xmlns:a="http://schemas.openxmlformats.org/drawingml/2006/main">
            <a:off x="762000" y="3800475"/>
            <a:ext cx="100012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18" name="">
            <a:extLst xmlns:a="http://schemas.openxmlformats.org/drawingml/2006/main">
              <a:ext uri="{FF2B5EF4-FFF2-40B4-BE49-F238E27FC236}">
                <a16:creationId xmlns:a16="http://schemas.microsoft.com/office/drawing/2014/main" id="{357E20CD-DDB9-4407-ABE8-ABABA318A305}"/>
              </a:ext>
            </a:extLst>
          </p:cNvPr>
          <p:cNvSpPr>
            <a:spLocks xmlns:a="http://schemas.openxmlformats.org/drawingml/2006/main" noGrp="1"/>
          </p:cNvSpPr>
          <p:nvPr/>
        </p:nvSpPr>
        <p:spPr>
          <a:xfrm xmlns:a="http://schemas.openxmlformats.org/drawingml/2006/main">
            <a:off x="762000" y="4048125"/>
            <a:ext cx="3810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4</a:t>
            </a:r>
          </a:p>
        </p:txBody>
      </p:sp>
      <p:sp>
        <p:nvSpPr>
          <p:cNvPr id="19" name="">
            <a:extLst xmlns:a="http://schemas.openxmlformats.org/drawingml/2006/main">
              <a:ext uri="{FF2B5EF4-FFF2-40B4-BE49-F238E27FC236}">
                <a16:creationId xmlns:a16="http://schemas.microsoft.com/office/drawing/2014/main" id="{394E8351-D15A-498B-9205-36E1C40EE0F4}"/>
              </a:ext>
            </a:extLst>
          </p:cNvPr>
          <p:cNvSpPr>
            <a:spLocks xmlns:a="http://schemas.openxmlformats.org/drawingml/2006/main" noGrp="1"/>
          </p:cNvSpPr>
          <p:nvPr/>
        </p:nvSpPr>
        <p:spPr>
          <a:xfrm xmlns:a="http://schemas.openxmlformats.org/drawingml/2006/main">
            <a:off x="1381125" y="4048125"/>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75" b="1">
                <a:solidFill>
                  <a:srgbClr val="082638"/>
                </a:solidFill>
                <a:latin typeface="Aptos"/>
                <a:ea typeface="Aptos"/>
                <a:cs typeface="Aptos"/>
              </a:defRPr>
            </a:pPr>
            <a:r>
              <a:rPr sz="1575" b="1">
                <a:solidFill>
                  <a:srgbClr val="082638"/>
                </a:solidFill>
                <a:latin typeface="Aptos"/>
                <a:ea typeface="Aptos"/>
                <a:cs typeface="Aptos"/>
              </a:rPr>
              <a:t>What local protocol controlled the action?</a:t>
            </a:r>
          </a:p>
        </p:txBody>
      </p:sp>
      <p:sp>
        <p:nvSpPr>
          <p:cNvPr id="20" name="">
            <a:extLst xmlns:a="http://schemas.openxmlformats.org/drawingml/2006/main">
              <a:ext uri="{FF2B5EF4-FFF2-40B4-BE49-F238E27FC236}">
                <a16:creationId xmlns:a16="http://schemas.microsoft.com/office/drawing/2014/main" id="{33CA9132-19C5-4BE3-8876-7B5163494532}"/>
              </a:ext>
            </a:extLst>
          </p:cNvPr>
          <p:cNvSpPr>
            <a:spLocks xmlns:a="http://schemas.openxmlformats.org/drawingml/2006/main" noGrp="1"/>
          </p:cNvSpPr>
          <p:nvPr/>
        </p:nvSpPr>
        <p:spPr>
          <a:xfrm xmlns:a="http://schemas.openxmlformats.org/drawingml/2006/main">
            <a:off x="762000" y="4543425"/>
            <a:ext cx="100012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21" name="">
            <a:extLst xmlns:a="http://schemas.openxmlformats.org/drawingml/2006/main">
              <a:ext uri="{FF2B5EF4-FFF2-40B4-BE49-F238E27FC236}">
                <a16:creationId xmlns:a16="http://schemas.microsoft.com/office/drawing/2014/main" id="{28DA10E8-BE77-40E6-A361-DF359061B4EB}"/>
              </a:ext>
            </a:extLst>
          </p:cNvPr>
          <p:cNvSpPr>
            <a:spLocks xmlns:a="http://schemas.openxmlformats.org/drawingml/2006/main" noGrp="1"/>
          </p:cNvSpPr>
          <p:nvPr/>
        </p:nvSpPr>
        <p:spPr>
          <a:xfrm xmlns:a="http://schemas.openxmlformats.org/drawingml/2006/main">
            <a:off x="762000" y="4791075"/>
            <a:ext cx="3810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5</a:t>
            </a:r>
          </a:p>
        </p:txBody>
      </p:sp>
      <p:sp>
        <p:nvSpPr>
          <p:cNvPr id="22" name="">
            <a:extLst xmlns:a="http://schemas.openxmlformats.org/drawingml/2006/main">
              <a:ext uri="{FF2B5EF4-FFF2-40B4-BE49-F238E27FC236}">
                <a16:creationId xmlns:a16="http://schemas.microsoft.com/office/drawing/2014/main" id="{8B89E09D-0D1D-4359-8B9D-7A6B41C9469B}"/>
              </a:ext>
            </a:extLst>
          </p:cNvPr>
          <p:cNvSpPr>
            <a:spLocks xmlns:a="http://schemas.openxmlformats.org/drawingml/2006/main" noGrp="1"/>
          </p:cNvSpPr>
          <p:nvPr/>
        </p:nvSpPr>
        <p:spPr>
          <a:xfrm xmlns:a="http://schemas.openxmlformats.org/drawingml/2006/main">
            <a:off x="1381125" y="4791075"/>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75" b="1">
                <a:solidFill>
                  <a:srgbClr val="082638"/>
                </a:solidFill>
                <a:latin typeface="Aptos"/>
                <a:ea typeface="Aptos"/>
                <a:cs typeface="Aptos"/>
              </a:defRPr>
            </a:pPr>
            <a:r>
              <a:rPr sz="1575" b="1">
                <a:solidFill>
                  <a:srgbClr val="082638"/>
                </a:solidFill>
                <a:latin typeface="Aptos"/>
                <a:ea typeface="Aptos"/>
                <a:cs typeface="Aptos"/>
              </a:rPr>
              <a:t>What remained a licensed-clinician decision?</a:t>
            </a:r>
          </a:p>
        </p:txBody>
      </p:sp>
      <p:sp>
        <p:nvSpPr>
          <p:cNvPr id="23" name="">
            <a:extLst xmlns:a="http://schemas.openxmlformats.org/drawingml/2006/main">
              <a:ext uri="{FF2B5EF4-FFF2-40B4-BE49-F238E27FC236}">
                <a16:creationId xmlns:a16="http://schemas.microsoft.com/office/drawing/2014/main" id="{557AE5D3-6694-462F-8375-43FA68008E4A}"/>
              </a:ext>
            </a:extLst>
          </p:cNvPr>
          <p:cNvSpPr>
            <a:spLocks xmlns:a="http://schemas.openxmlformats.org/drawingml/2006/main" noGrp="1"/>
          </p:cNvSpPr>
          <p:nvPr/>
        </p:nvSpPr>
        <p:spPr>
          <a:xfrm xmlns:a="http://schemas.openxmlformats.org/drawingml/2006/main">
            <a:off x="762000" y="5286375"/>
            <a:ext cx="100012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Tree>
    <p:extLst>
      <p:ext uri="{BB962C8B-B14F-4D97-AF65-F5344CB8AC3E}">
        <p14:creationId xmlns:p14="http://schemas.microsoft.com/office/powerpoint/2010/main" val="1231311079"/>
      </p:ext>
    </p:extLst>
  </p:cSld>
</p:sld>
</file>

<file path=ppt/slides/slide42.xml><?xml version="1.0" encoding="utf-8"?>
<p:sld xmlns:p="http://schemas.openxmlformats.org/presentationml/2006/main">
  <p:cSld>
    <p:bg>
      <p:bgPr>
        <a:solidFill xmlns:a="http://schemas.openxmlformats.org/drawingml/2006/main">
          <a:srgbClr val="087E7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3A80AC8-BC2B-4E3E-89A1-2521F56021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4718EEDA-4F7B-4788-9F88-B676142C892F}"/>
              </a:ext>
            </a:extLst>
          </p:cNvPr>
          <p:cNvSpPr>
            <a:spLocks xmlns:a="http://schemas.openxmlformats.org/drawingml/2006/main" noGrp="1"/>
          </p:cNvSpPr>
          <p:nvPr/>
        </p:nvSpPr>
        <p:spPr>
          <a:xfrm xmlns:a="http://schemas.openxmlformats.org/drawingml/2006/main">
            <a:off x="666750" y="590550"/>
            <a:ext cx="18097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087E78"/>
                </a:solidFill>
                <a:latin typeface="Aptos"/>
                <a:ea typeface="Aptos"/>
                <a:cs typeface="Aptos"/>
              </a:defRPr>
            </a:pPr>
            <a:r>
              <a:rPr sz="863" b="1">
                <a:solidFill>
                  <a:srgbClr val="087E78"/>
                </a:solidFill>
                <a:latin typeface="Aptos"/>
                <a:ea typeface="Aptos"/>
                <a:cs typeface="Aptos"/>
              </a:rPr>
              <a:t>LAB STATION 3</a:t>
            </a:r>
          </a:p>
        </p:txBody>
      </p:sp>
      <p:sp>
        <p:nvSpPr>
          <p:cNvPr id="3" name="">
            <a:extLst xmlns:a="http://schemas.openxmlformats.org/drawingml/2006/main">
              <a:ext uri="{FF2B5EF4-FFF2-40B4-BE49-F238E27FC236}">
                <a16:creationId xmlns:a16="http://schemas.microsoft.com/office/drawing/2014/main" id="{64B564E3-E6B2-4C73-B477-8F6384D0337D}"/>
              </a:ext>
            </a:extLst>
          </p:cNvPr>
          <p:cNvSpPr>
            <a:spLocks xmlns:a="http://schemas.openxmlformats.org/drawingml/2006/main" noGrp="1"/>
          </p:cNvSpPr>
          <p:nvPr/>
        </p:nvSpPr>
        <p:spPr>
          <a:xfrm xmlns:a="http://schemas.openxmlformats.org/drawingml/2006/main">
            <a:off x="666750" y="1476375"/>
            <a:ext cx="10572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4050" b="1">
                <a:solidFill>
                  <a:srgbClr val="FFFFFF"/>
                </a:solidFill>
                <a:latin typeface="Aptos"/>
                <a:ea typeface="Aptos"/>
                <a:cs typeface="Aptos"/>
              </a:defRPr>
            </a:pPr>
            <a:r>
              <a:rPr sz="4050" b="1">
                <a:solidFill>
                  <a:srgbClr val="FFFFFF"/>
                </a:solidFill>
                <a:latin typeface="Aptos"/>
                <a:ea typeface="Aptos"/>
                <a:cs typeface="Aptos"/>
              </a:rPr>
              <a:t>Station 3: Patient + pharma communication</a:t>
            </a:r>
          </a:p>
        </p:txBody>
      </p:sp>
      <p:sp>
        <p:nvSpPr>
          <p:cNvPr id="4" name="">
            <a:extLst xmlns:a="http://schemas.openxmlformats.org/drawingml/2006/main">
              <a:ext uri="{FF2B5EF4-FFF2-40B4-BE49-F238E27FC236}">
                <a16:creationId xmlns:a16="http://schemas.microsoft.com/office/drawing/2014/main" id="{E2ECC52E-AC3D-4F3C-97D5-B0A61EF185FE}"/>
              </a:ext>
            </a:extLst>
          </p:cNvPr>
          <p:cNvSpPr>
            <a:spLocks xmlns:a="http://schemas.openxmlformats.org/drawingml/2006/main" noGrp="1"/>
          </p:cNvSpPr>
          <p:nvPr/>
        </p:nvSpPr>
        <p:spPr>
          <a:xfrm xmlns:a="http://schemas.openxmlformats.org/drawingml/2006/main">
            <a:off x="704850" y="321945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0">
                <a:solidFill>
                  <a:srgbClr val="FFFFFF"/>
                </a:solidFill>
                <a:latin typeface="Aptos"/>
                <a:ea typeface="Aptos"/>
                <a:cs typeface="Aptos"/>
              </a:defRPr>
            </a:pPr>
            <a:r>
              <a:rPr sz="1950" b="0">
                <a:solidFill>
                  <a:srgbClr val="FFFFFF"/>
                </a:solidFill>
                <a:latin typeface="Aptos"/>
                <a:ea typeface="Aptos"/>
                <a:cs typeface="Aptos"/>
              </a:rPr>
              <a:t>Create an evidence-bounded patient handout, triage a medical-information interaction and build ethical professional visibility.</a:t>
            </a:r>
          </a:p>
        </p:txBody>
      </p:sp>
      <p:sp>
        <p:nvSpPr>
          <p:cNvPr id="5" name="">
            <a:extLst xmlns:a="http://schemas.openxmlformats.org/drawingml/2006/main">
              <a:ext uri="{FF2B5EF4-FFF2-40B4-BE49-F238E27FC236}">
                <a16:creationId xmlns:a16="http://schemas.microsoft.com/office/drawing/2014/main" id="{1DEF6394-179D-4EC8-A31D-460DA2C74227}"/>
              </a:ext>
            </a:extLst>
          </p:cNvPr>
          <p:cNvSpPr>
            <a:spLocks xmlns:a="http://schemas.openxmlformats.org/drawingml/2006/main" noGrp="1"/>
          </p:cNvSpPr>
          <p:nvPr/>
        </p:nvSpPr>
        <p:spPr>
          <a:xfrm xmlns:a="http://schemas.openxmlformats.org/drawingml/2006/main">
            <a:off x="704850" y="4495800"/>
            <a:ext cx="66675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2E53FEFF-9A53-458F-9D34-EAFF8B7F50B9}"/>
              </a:ext>
            </a:extLst>
          </p:cNvPr>
          <p:cNvSpPr>
            <a:spLocks xmlns:a="http://schemas.openxmlformats.org/drawingml/2006/main" noGrp="1"/>
          </p:cNvSpPr>
          <p:nvPr/>
        </p:nvSpPr>
        <p:spPr>
          <a:xfrm xmlns:a="http://schemas.openxmlformats.org/drawingml/2006/main">
            <a:off x="704850" y="4762500"/>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FFFFFF"/>
                </a:solidFill>
                <a:latin typeface="Aptos"/>
                <a:ea typeface="Aptos"/>
                <a:cs typeface="Aptos"/>
              </a:defRPr>
            </a:pPr>
            <a:r>
              <a:rPr sz="1500" b="1">
                <a:solidFill>
                  <a:srgbClr val="FFFFFF"/>
                </a:solidFill>
                <a:latin typeface="Aptos"/>
                <a:ea typeface="Aptos"/>
                <a:cs typeface="Aptos"/>
              </a:rPr>
              <a:t>AI assists  •  Professionals decide  •  Patients remain the purpose</a:t>
            </a:r>
          </a:p>
        </p:txBody>
      </p:sp>
      <p:sp>
        <p:nvSpPr>
          <p:cNvPr id="7" name="">
            <a:extLst xmlns:a="http://schemas.openxmlformats.org/drawingml/2006/main">
              <a:ext uri="{FF2B5EF4-FFF2-40B4-BE49-F238E27FC236}">
                <a16:creationId xmlns:a16="http://schemas.microsoft.com/office/drawing/2014/main" id="{A641E5E7-6DF1-4E7B-9803-9BAA9C6D7199}"/>
              </a:ext>
            </a:extLst>
          </p:cNvPr>
          <p:cNvSpPr>
            <a:spLocks xmlns:a="http://schemas.openxmlformats.org/drawingml/2006/main" noGrp="1"/>
          </p:cNvSpPr>
          <p:nvPr/>
        </p:nvSpPr>
        <p:spPr>
          <a:xfrm xmlns:a="http://schemas.openxmlformats.org/drawingml/2006/main">
            <a:off x="11049000" y="62103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75" b="1">
                <a:solidFill>
                  <a:srgbClr val="FFFFFF"/>
                </a:solidFill>
                <a:latin typeface="Aptos"/>
                <a:ea typeface="Aptos"/>
                <a:cs typeface="Aptos"/>
              </a:defRPr>
            </a:pPr>
            <a:r>
              <a:rPr sz="975" b="1">
                <a:solidFill>
                  <a:srgbClr val="FFFFFF"/>
                </a:solidFill>
                <a:latin typeface="Aptos"/>
                <a:ea typeface="Aptos"/>
                <a:cs typeface="Aptos"/>
              </a:rPr>
              <a:t>42</a:t>
            </a:r>
          </a:p>
        </p:txBody>
      </p:sp>
    </p:spTree>
    <p:extLst>
      <p:ext uri="{BB962C8B-B14F-4D97-AF65-F5344CB8AC3E}">
        <p14:creationId xmlns:p14="http://schemas.microsoft.com/office/powerpoint/2010/main" val="1607169549"/>
      </p:ext>
    </p:extLst>
  </p:cSld>
</p:sld>
</file>

<file path=ppt/slides/slide4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DDF91F9-6CD2-4CC3-ABB4-6638C9140D82}"/>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E73747E5-189D-47BE-9DF0-10F58C64FDCA}"/>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9016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3 TOOL MAP</a:t>
            </a:r>
          </a:p>
        </p:txBody>
      </p:sp>
      <p:sp>
        <p:nvSpPr>
          <p:cNvPr id="3" name="">
            <a:extLst xmlns:a="http://schemas.openxmlformats.org/drawingml/2006/main">
              <a:ext uri="{FF2B5EF4-FFF2-40B4-BE49-F238E27FC236}">
                <a16:creationId xmlns:a16="http://schemas.microsoft.com/office/drawing/2014/main" id="{0C90C2CC-FAAA-46DF-85D3-C71CAACC6AF7}"/>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9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Communication stack: content, design, language and governance</a:t>
            </a:r>
          </a:p>
        </p:txBody>
      </p:sp>
      <p:sp>
        <p:nvSpPr>
          <p:cNvPr id="4" name="">
            <a:extLst xmlns:a="http://schemas.openxmlformats.org/drawingml/2006/main">
              <a:ext uri="{FF2B5EF4-FFF2-40B4-BE49-F238E27FC236}">
                <a16:creationId xmlns:a16="http://schemas.microsoft.com/office/drawing/2014/main" id="{39346EE4-963F-46A4-8525-458D63A687FB}"/>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5841D225-D164-4AFE-A670-8579B6B3FC9B}"/>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D4859963-52B9-45CB-8B6A-C4513130BC9A}"/>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3D50FFF7-5329-43A0-9490-085B1C8E08A1}"/>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Official product pages; organisational SOPs control release</a:t>
            </a:r>
          </a:p>
        </p:txBody>
      </p:sp>
      <p:sp>
        <p:nvSpPr>
          <p:cNvPr id="8" name="">
            <a:extLst xmlns:a="http://schemas.openxmlformats.org/drawingml/2006/main">
              <a:ext uri="{FF2B5EF4-FFF2-40B4-BE49-F238E27FC236}">
                <a16:creationId xmlns:a16="http://schemas.microsoft.com/office/drawing/2014/main" id="{612E565D-58F0-4FC6-8A3A-3AF58E490E67}"/>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7BE5A481-CF5E-4018-B349-1D060A4635BA}"/>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43</a:t>
            </a:r>
          </a:p>
        </p:txBody>
      </p:sp>
      <p:sp>
        <p:nvSpPr>
          <p:cNvPr id="10" name="">
            <a:extLst xmlns:a="http://schemas.openxmlformats.org/drawingml/2006/main">
              <a:ext uri="{FF2B5EF4-FFF2-40B4-BE49-F238E27FC236}">
                <a16:creationId xmlns:a16="http://schemas.microsoft.com/office/drawing/2014/main" id="{345F86F6-0B8D-41E9-AD30-9F81F8D1D82A}"/>
              </a:ext>
            </a:extLst>
          </p:cNvPr>
          <p:cNvSpPr>
            <a:spLocks xmlns:a="http://schemas.openxmlformats.org/drawingml/2006/main" noGrp="1"/>
          </p:cNvSpPr>
          <p:nvPr/>
        </p:nvSpPr>
        <p:spPr>
          <a:xfrm xmlns:a="http://schemas.openxmlformats.org/drawingml/2006/main">
            <a:off x="6096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087E7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C5110A0-263D-43B9-840B-D716E5B47CB3}"/>
              </a:ext>
            </a:extLst>
          </p:cNvPr>
          <p:cNvSpPr>
            <a:spLocks xmlns:a="http://schemas.openxmlformats.org/drawingml/2006/main" noGrp="1"/>
          </p:cNvSpPr>
          <p:nvPr/>
        </p:nvSpPr>
        <p:spPr>
          <a:xfrm xmlns:a="http://schemas.openxmlformats.org/drawingml/2006/main">
            <a:off x="762000" y="1905000"/>
            <a:ext cx="8191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CONTENT</a:t>
            </a:r>
          </a:p>
        </p:txBody>
      </p:sp>
      <p:sp>
        <p:nvSpPr>
          <p:cNvPr id="12" name="">
            <a:extLst xmlns:a="http://schemas.openxmlformats.org/drawingml/2006/main">
              <a:ext uri="{FF2B5EF4-FFF2-40B4-BE49-F238E27FC236}">
                <a16:creationId xmlns:a16="http://schemas.microsoft.com/office/drawing/2014/main" id="{7102B708-8E99-4BA2-9227-9B3008A13C63}"/>
              </a:ext>
            </a:extLst>
          </p:cNvPr>
          <p:cNvSpPr>
            <a:spLocks xmlns:a="http://schemas.openxmlformats.org/drawingml/2006/main" noGrp="1"/>
          </p:cNvSpPr>
          <p:nvPr/>
        </p:nvSpPr>
        <p:spPr>
          <a:xfrm xmlns:a="http://schemas.openxmlformats.org/drawingml/2006/main">
            <a:off x="7810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ChatGPT</a:t>
            </a:r>
          </a:p>
        </p:txBody>
      </p:sp>
      <p:sp>
        <p:nvSpPr>
          <p:cNvPr id="13" name="">
            <a:extLst xmlns:a="http://schemas.openxmlformats.org/drawingml/2006/main">
              <a:ext uri="{FF2B5EF4-FFF2-40B4-BE49-F238E27FC236}">
                <a16:creationId xmlns:a16="http://schemas.microsoft.com/office/drawing/2014/main" id="{C2D4C69D-4E78-4B05-AB26-24600BA09673}"/>
              </a:ext>
            </a:extLst>
          </p:cNvPr>
          <p:cNvSpPr>
            <a:spLocks xmlns:a="http://schemas.openxmlformats.org/drawingml/2006/main" noGrp="1"/>
          </p:cNvSpPr>
          <p:nvPr/>
        </p:nvSpPr>
        <p:spPr>
          <a:xfrm xmlns:a="http://schemas.openxmlformats.org/drawingml/2006/main">
            <a:off x="7810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Draft from approved evidence; mark unsupported claims and reviewer gates.</a:t>
            </a:r>
          </a:p>
        </p:txBody>
      </p:sp>
      <p:sp>
        <p:nvSpPr>
          <p:cNvPr id="14" name="">
            <a:extLst xmlns:a="http://schemas.openxmlformats.org/drawingml/2006/main">
              <a:ext uri="{FF2B5EF4-FFF2-40B4-BE49-F238E27FC236}">
                <a16:creationId xmlns:a16="http://schemas.microsoft.com/office/drawing/2014/main" id="{F0CA2EFA-9900-4400-BAD9-286BAC19E7B3}"/>
              </a:ext>
            </a:extLst>
          </p:cNvPr>
          <p:cNvSpPr>
            <a:spLocks xmlns:a="http://schemas.openxmlformats.org/drawingml/2006/main" noGrp="1"/>
          </p:cNvSpPr>
          <p:nvPr/>
        </p:nvSpPr>
        <p:spPr>
          <a:xfrm xmlns:a="http://schemas.openxmlformats.org/drawingml/2006/main">
            <a:off x="433705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2F6F9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E4BF2A86-B96C-4ACB-A233-3BE06A38BEB9}"/>
              </a:ext>
            </a:extLst>
          </p:cNvPr>
          <p:cNvSpPr>
            <a:spLocks xmlns:a="http://schemas.openxmlformats.org/drawingml/2006/main" noGrp="1"/>
          </p:cNvSpPr>
          <p:nvPr/>
        </p:nvSpPr>
        <p:spPr>
          <a:xfrm xmlns:a="http://schemas.openxmlformats.org/drawingml/2006/main">
            <a:off x="4489450" y="1905000"/>
            <a:ext cx="8191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DESIGN</a:t>
            </a:r>
          </a:p>
        </p:txBody>
      </p:sp>
      <p:sp>
        <p:nvSpPr>
          <p:cNvPr id="16" name="">
            <a:extLst xmlns:a="http://schemas.openxmlformats.org/drawingml/2006/main">
              <a:ext uri="{FF2B5EF4-FFF2-40B4-BE49-F238E27FC236}">
                <a16:creationId xmlns:a16="http://schemas.microsoft.com/office/drawing/2014/main" id="{FACB49CA-4D79-4D1E-88E1-5E67A0EE6471}"/>
              </a:ext>
            </a:extLst>
          </p:cNvPr>
          <p:cNvSpPr>
            <a:spLocks xmlns:a="http://schemas.openxmlformats.org/drawingml/2006/main" noGrp="1"/>
          </p:cNvSpPr>
          <p:nvPr/>
        </p:nvSpPr>
        <p:spPr>
          <a:xfrm xmlns:a="http://schemas.openxmlformats.org/drawingml/2006/main">
            <a:off x="450850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Canva / Gamma</a:t>
            </a:r>
          </a:p>
        </p:txBody>
      </p:sp>
      <p:sp>
        <p:nvSpPr>
          <p:cNvPr id="17" name="">
            <a:extLst xmlns:a="http://schemas.openxmlformats.org/drawingml/2006/main">
              <a:ext uri="{FF2B5EF4-FFF2-40B4-BE49-F238E27FC236}">
                <a16:creationId xmlns:a16="http://schemas.microsoft.com/office/drawing/2014/main" id="{78CF8A21-D5ED-4B57-BC75-F0125E38206E}"/>
              </a:ext>
            </a:extLst>
          </p:cNvPr>
          <p:cNvSpPr>
            <a:spLocks xmlns:a="http://schemas.openxmlformats.org/drawingml/2006/main" noGrp="1"/>
          </p:cNvSpPr>
          <p:nvPr/>
        </p:nvSpPr>
        <p:spPr>
          <a:xfrm xmlns:a="http://schemas.openxmlformats.org/drawingml/2006/main">
            <a:off x="450850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Free-tier + paid; convert approved content into an accessible visual asset.</a:t>
            </a:r>
          </a:p>
        </p:txBody>
      </p:sp>
      <p:sp>
        <p:nvSpPr>
          <p:cNvPr id="18" name="">
            <a:extLst xmlns:a="http://schemas.openxmlformats.org/drawingml/2006/main">
              <a:ext uri="{FF2B5EF4-FFF2-40B4-BE49-F238E27FC236}">
                <a16:creationId xmlns:a16="http://schemas.microsoft.com/office/drawing/2014/main" id="{DA7CEBE6-07D0-4E9A-AA98-FC24765E7D79}"/>
              </a:ext>
            </a:extLst>
          </p:cNvPr>
          <p:cNvSpPr>
            <a:spLocks xmlns:a="http://schemas.openxmlformats.org/drawingml/2006/main" noGrp="1"/>
          </p:cNvSpPr>
          <p:nvPr/>
        </p:nvSpPr>
        <p:spPr>
          <a:xfrm xmlns:a="http://schemas.openxmlformats.org/drawingml/2006/main">
            <a:off x="80645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C5902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AF8F9687-38ED-4780-8939-168B1CBDDA04}"/>
              </a:ext>
            </a:extLst>
          </p:cNvPr>
          <p:cNvSpPr>
            <a:spLocks xmlns:a="http://schemas.openxmlformats.org/drawingml/2006/main" noGrp="1"/>
          </p:cNvSpPr>
          <p:nvPr/>
        </p:nvSpPr>
        <p:spPr>
          <a:xfrm xmlns:a="http://schemas.openxmlformats.org/drawingml/2006/main">
            <a:off x="8216900" y="1905000"/>
            <a:ext cx="8191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LANGUAGE</a:t>
            </a:r>
          </a:p>
        </p:txBody>
      </p:sp>
      <p:sp>
        <p:nvSpPr>
          <p:cNvPr id="20" name="">
            <a:extLst xmlns:a="http://schemas.openxmlformats.org/drawingml/2006/main">
              <a:ext uri="{FF2B5EF4-FFF2-40B4-BE49-F238E27FC236}">
                <a16:creationId xmlns:a16="http://schemas.microsoft.com/office/drawing/2014/main" id="{A752FE05-2973-41EE-9AA9-E0341159EFA8}"/>
              </a:ext>
            </a:extLst>
          </p:cNvPr>
          <p:cNvSpPr>
            <a:spLocks xmlns:a="http://schemas.openxmlformats.org/drawingml/2006/main" noGrp="1"/>
          </p:cNvSpPr>
          <p:nvPr/>
        </p:nvSpPr>
        <p:spPr>
          <a:xfrm xmlns:a="http://schemas.openxmlformats.org/drawingml/2006/main">
            <a:off x="82359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Bhashini</a:t>
            </a:r>
          </a:p>
        </p:txBody>
      </p:sp>
      <p:sp>
        <p:nvSpPr>
          <p:cNvPr id="21" name="">
            <a:extLst xmlns:a="http://schemas.openxmlformats.org/drawingml/2006/main">
              <a:ext uri="{FF2B5EF4-FFF2-40B4-BE49-F238E27FC236}">
                <a16:creationId xmlns:a16="http://schemas.microsoft.com/office/drawing/2014/main" id="{F57CC247-97CA-4EB3-BD54-9CA4C03E621E}"/>
              </a:ext>
            </a:extLst>
          </p:cNvPr>
          <p:cNvSpPr>
            <a:spLocks xmlns:a="http://schemas.openxmlformats.org/drawingml/2006/main" noGrp="1"/>
          </p:cNvSpPr>
          <p:nvPr/>
        </p:nvSpPr>
        <p:spPr>
          <a:xfrm xmlns:a="http://schemas.openxmlformats.org/drawingml/2006/main">
            <a:off x="82359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India language enablement; clinical meaning still needs bilingual review.</a:t>
            </a:r>
          </a:p>
        </p:txBody>
      </p:sp>
      <p:sp>
        <p:nvSpPr>
          <p:cNvPr id="22" name="">
            <a:extLst xmlns:a="http://schemas.openxmlformats.org/drawingml/2006/main">
              <a:ext uri="{FF2B5EF4-FFF2-40B4-BE49-F238E27FC236}">
                <a16:creationId xmlns:a16="http://schemas.microsoft.com/office/drawing/2014/main" id="{88C0F7C9-92F3-4297-BEA5-C6AFC07EB707}"/>
              </a:ext>
            </a:extLst>
          </p:cNvPr>
          <p:cNvSpPr>
            <a:spLocks xmlns:a="http://schemas.openxmlformats.org/drawingml/2006/main" noGrp="1"/>
          </p:cNvSpPr>
          <p:nvPr/>
        </p:nvSpPr>
        <p:spPr>
          <a:xfrm xmlns:a="http://schemas.openxmlformats.org/drawingml/2006/main">
            <a:off x="609600" y="3333750"/>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E869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B9D144A3-8401-40EA-BB01-A04CCE13B451}"/>
              </a:ext>
            </a:extLst>
          </p:cNvPr>
          <p:cNvSpPr>
            <a:spLocks xmlns:a="http://schemas.openxmlformats.org/drawingml/2006/main" noGrp="1"/>
          </p:cNvSpPr>
          <p:nvPr/>
        </p:nvSpPr>
        <p:spPr>
          <a:xfrm xmlns:a="http://schemas.openxmlformats.org/drawingml/2006/main">
            <a:off x="762000" y="3476625"/>
            <a:ext cx="8191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PHARMA</a:t>
            </a:r>
          </a:p>
        </p:txBody>
      </p:sp>
      <p:sp>
        <p:nvSpPr>
          <p:cNvPr id="24" name="">
            <a:extLst xmlns:a="http://schemas.openxmlformats.org/drawingml/2006/main">
              <a:ext uri="{FF2B5EF4-FFF2-40B4-BE49-F238E27FC236}">
                <a16:creationId xmlns:a16="http://schemas.microsoft.com/office/drawing/2014/main" id="{B844E957-C656-4828-97FE-7AB59F9A14DB}"/>
              </a:ext>
            </a:extLst>
          </p:cNvPr>
          <p:cNvSpPr>
            <a:spLocks xmlns:a="http://schemas.openxmlformats.org/drawingml/2006/main" noGrp="1"/>
          </p:cNvSpPr>
          <p:nvPr/>
        </p:nvSpPr>
        <p:spPr>
          <a:xfrm xmlns:a="http://schemas.openxmlformats.org/drawingml/2006/main">
            <a:off x="781050" y="3829050"/>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Approved MI/PV systems</a:t>
            </a:r>
          </a:p>
        </p:txBody>
      </p:sp>
      <p:sp>
        <p:nvSpPr>
          <p:cNvPr id="25" name="">
            <a:extLst xmlns:a="http://schemas.openxmlformats.org/drawingml/2006/main">
              <a:ext uri="{FF2B5EF4-FFF2-40B4-BE49-F238E27FC236}">
                <a16:creationId xmlns:a16="http://schemas.microsoft.com/office/drawing/2014/main" id="{8CBAF0C2-7A97-4038-A849-BBC587DCB73C}"/>
              </a:ext>
            </a:extLst>
          </p:cNvPr>
          <p:cNvSpPr>
            <a:spLocks xmlns:a="http://schemas.openxmlformats.org/drawingml/2006/main" noGrp="1"/>
          </p:cNvSpPr>
          <p:nvPr/>
        </p:nvSpPr>
        <p:spPr>
          <a:xfrm xmlns:a="http://schemas.openxmlformats.org/drawingml/2006/main">
            <a:off x="781050" y="4200525"/>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Institutional SOPs control medical response, adverse events and product quality.</a:t>
            </a:r>
          </a:p>
        </p:txBody>
      </p:sp>
    </p:spTree>
    <p:extLst>
      <p:ext uri="{BB962C8B-B14F-4D97-AF65-F5344CB8AC3E}">
        <p14:creationId xmlns:p14="http://schemas.microsoft.com/office/powerpoint/2010/main" val="1350494861"/>
      </p:ext>
    </p:extLst>
  </p:cSld>
</p:sld>
</file>

<file path=ppt/slides/slide44.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51A7BF4-FCED-4A84-A457-F0831C8B355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8694A"/>
          </a:solidFill>
          <a:ln xmlns:a="http://schemas.openxmlformats.org/drawingml/2006/main" w="0">
            <a:solidFill>
              <a:srgbClr val="E8694A"/>
            </a:solidFill>
            <a:prstDash val="solid"/>
          </a:ln>
        </p:spPr>
      </p:sp>
      <p:sp>
        <p:nvSpPr>
          <p:cNvPr id="2" name="">
            <a:extLst xmlns:a="http://schemas.openxmlformats.org/drawingml/2006/main">
              <a:ext uri="{FF2B5EF4-FFF2-40B4-BE49-F238E27FC236}">
                <a16:creationId xmlns:a16="http://schemas.microsoft.com/office/drawing/2014/main" id="{355AF687-F4C6-4433-B52F-0F2179D8AFDE}"/>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9560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CHATGPT EXERCISE</a:t>
            </a:r>
          </a:p>
        </p:txBody>
      </p:sp>
      <p:sp>
        <p:nvSpPr>
          <p:cNvPr id="3" name="">
            <a:extLst xmlns:a="http://schemas.openxmlformats.org/drawingml/2006/main">
              <a:ext uri="{FF2B5EF4-FFF2-40B4-BE49-F238E27FC236}">
                <a16:creationId xmlns:a16="http://schemas.microsoft.com/office/drawing/2014/main" id="{3F410276-2F85-4BE6-AD0A-A67D0B6C487C}"/>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Build a patient handout from approved evidence only</a:t>
            </a:r>
          </a:p>
        </p:txBody>
      </p:sp>
      <p:sp>
        <p:nvSpPr>
          <p:cNvPr id="4" name="">
            <a:extLst xmlns:a="http://schemas.openxmlformats.org/drawingml/2006/main">
              <a:ext uri="{FF2B5EF4-FFF2-40B4-BE49-F238E27FC236}">
                <a16:creationId xmlns:a16="http://schemas.microsoft.com/office/drawing/2014/main" id="{88997258-485E-4637-BA94-BE6DA04B4200}"/>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0AFF36EB-BDE2-449E-9E2A-9EC44D427BE5}"/>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853DC452-B771-4541-AAEB-6ED22A08CCE9}"/>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6AC3E0C9-048F-470B-9FD7-9A3965ED4583}"/>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Full copy-ready prompt: Prompt Cards PDF</a:t>
            </a:r>
          </a:p>
        </p:txBody>
      </p:sp>
      <p:sp>
        <p:nvSpPr>
          <p:cNvPr id="8" name="">
            <a:extLst xmlns:a="http://schemas.openxmlformats.org/drawingml/2006/main">
              <a:ext uri="{FF2B5EF4-FFF2-40B4-BE49-F238E27FC236}">
                <a16:creationId xmlns:a16="http://schemas.microsoft.com/office/drawing/2014/main" id="{CA2FC857-F2D1-4AA8-ADD8-A2B6FF179D42}"/>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64BC8467-10B3-4514-BB86-BEC66CB46A26}"/>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44</a:t>
            </a:r>
          </a:p>
        </p:txBody>
      </p:sp>
      <p:sp>
        <p:nvSpPr>
          <p:cNvPr id="10" name="">
            <a:extLst xmlns:a="http://schemas.openxmlformats.org/drawingml/2006/main">
              <a:ext uri="{FF2B5EF4-FFF2-40B4-BE49-F238E27FC236}">
                <a16:creationId xmlns:a16="http://schemas.microsoft.com/office/drawing/2014/main" id="{3B30CF5E-54AD-48F8-B35A-99EBB214C2F6}"/>
              </a:ext>
            </a:extLst>
          </p:cNvPr>
          <p:cNvSpPr>
            <a:spLocks xmlns:a="http://schemas.openxmlformats.org/drawingml/2006/main" noGrp="1"/>
          </p:cNvSpPr>
          <p:nvPr/>
        </p:nvSpPr>
        <p:spPr>
          <a:xfrm xmlns:a="http://schemas.openxmlformats.org/drawingml/2006/main">
            <a:off x="609600" y="1714500"/>
            <a:ext cx="7029450" cy="4095750"/>
          </a:xfrm>
          <a:prstGeom xmlns:a="http://schemas.openxmlformats.org/drawingml/2006/main" prst="roundRect">
            <a:avLst>
              <a:gd name="adj" fmla="val 4651"/>
            </a:avLst>
          </a:prstGeom>
          <a:solidFill xmlns:a="http://schemas.openxmlformats.org/drawingml/2006/main">
            <a:srgbClr val="082638"/>
          </a:solidFill>
          <a:ln xmlns:a="http://schemas.openxmlformats.org/drawingml/2006/main" w="9525">
            <a:solidFill>
              <a:srgbClr val="082638"/>
            </a:solidFill>
            <a:prstDash val="solid"/>
          </a:ln>
        </p:spPr>
      </p:sp>
      <p:sp>
        <p:nvSpPr>
          <p:cNvPr id="11" name="">
            <a:extLst xmlns:a="http://schemas.openxmlformats.org/drawingml/2006/main">
              <a:ext uri="{FF2B5EF4-FFF2-40B4-BE49-F238E27FC236}">
                <a16:creationId xmlns:a16="http://schemas.microsoft.com/office/drawing/2014/main" id="{C2004E6E-9E37-40AD-A23F-A93D6C232571}"/>
              </a:ext>
            </a:extLst>
          </p:cNvPr>
          <p:cNvSpPr>
            <a:spLocks xmlns:a="http://schemas.openxmlformats.org/drawingml/2006/main" noGrp="1"/>
          </p:cNvSpPr>
          <p:nvPr/>
        </p:nvSpPr>
        <p:spPr>
          <a:xfrm xmlns:a="http://schemas.openxmlformats.org/drawingml/2006/main">
            <a:off x="838200" y="1924050"/>
            <a:ext cx="9906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PROMPT 4</a:t>
            </a:r>
          </a:p>
        </p:txBody>
      </p:sp>
      <p:sp>
        <p:nvSpPr>
          <p:cNvPr id="12" name="">
            <a:extLst xmlns:a="http://schemas.openxmlformats.org/drawingml/2006/main">
              <a:ext uri="{FF2B5EF4-FFF2-40B4-BE49-F238E27FC236}">
                <a16:creationId xmlns:a16="http://schemas.microsoft.com/office/drawing/2014/main" id="{706A63AB-EBB7-41AB-8F74-51DD55F51217}"/>
              </a:ext>
            </a:extLst>
          </p:cNvPr>
          <p:cNvSpPr>
            <a:spLocks xmlns:a="http://schemas.openxmlformats.org/drawingml/2006/main" noGrp="1"/>
          </p:cNvSpPr>
          <p:nvPr/>
        </p:nvSpPr>
        <p:spPr>
          <a:xfrm xmlns:a="http://schemas.openxmlformats.org/drawingml/2006/main">
            <a:off x="838200" y="2343150"/>
            <a:ext cx="6553200" cy="300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FFFFFF"/>
                </a:solidFill>
                <a:latin typeface="Aptos"/>
                <a:ea typeface="Aptos"/>
                <a:cs typeface="Aptos"/>
              </a:defRPr>
            </a:pPr>
            <a:r>
              <a:rPr sz="1275" b="0">
                <a:solidFill>
                  <a:srgbClr val="FFFFFF"/>
                </a:solidFill>
                <a:latin typeface="Aptos"/>
                <a:ea typeface="Aptos"/>
                <a:cs typeface="Aptos"/>
              </a:rPr>
              <a:t>Using only the approved source excerpt below, draft a one-page patient handout for [AUDIENCE] at class 6–8 reading level. Include a short title, five practical actions, medicine-taking reminders without products or doses, monitoring, routine follow-up, three urgent red flags, three teach-back questions, source, review date, reviewer placeholder and AI-assistance disclosure. Mark unsupported statements [REVIEW]. Provide a draft Hindi version, marking medical terms for bilingual professional review. Do not invent statistics, guarantees or clinical advice outside the source. Source: [PASTE APPROVED SOURCE]</a:t>
            </a:r>
          </a:p>
        </p:txBody>
      </p:sp>
      <p:sp>
        <p:nvSpPr>
          <p:cNvPr id="13" name="">
            <a:extLst xmlns:a="http://schemas.openxmlformats.org/drawingml/2006/main">
              <a:ext uri="{FF2B5EF4-FFF2-40B4-BE49-F238E27FC236}">
                <a16:creationId xmlns:a16="http://schemas.microsoft.com/office/drawing/2014/main" id="{A1A73024-519B-4B4C-BB40-C491BE8A77AA}"/>
              </a:ext>
            </a:extLst>
          </p:cNvPr>
          <p:cNvSpPr>
            <a:spLocks xmlns:a="http://schemas.openxmlformats.org/drawingml/2006/main" noGrp="1"/>
          </p:cNvSpPr>
          <p:nvPr/>
        </p:nvSpPr>
        <p:spPr>
          <a:xfrm xmlns:a="http://schemas.openxmlformats.org/drawingml/2006/main">
            <a:off x="7924800" y="1714500"/>
            <a:ext cx="3371850" cy="1866900"/>
          </a:xfrm>
          <a:prstGeom xmlns:a="http://schemas.openxmlformats.org/drawingml/2006/main" prst="roundRect">
            <a:avLst>
              <a:gd name="adj" fmla="val 10204"/>
            </a:avLst>
          </a:prstGeom>
          <a:solidFill xmlns:a="http://schemas.openxmlformats.org/drawingml/2006/main">
            <a:srgbClr val="DDF2EE"/>
          </a:solidFill>
          <a:ln xmlns:a="http://schemas.openxmlformats.org/drawingml/2006/main" w="9525">
            <a:solidFill>
              <a:srgbClr val="087E78"/>
            </a:solidFill>
            <a:prstDash val="solid"/>
          </a:ln>
        </p:spPr>
      </p:sp>
      <p:sp>
        <p:nvSpPr>
          <p:cNvPr id="14" name="">
            <a:extLst xmlns:a="http://schemas.openxmlformats.org/drawingml/2006/main">
              <a:ext uri="{FF2B5EF4-FFF2-40B4-BE49-F238E27FC236}">
                <a16:creationId xmlns:a16="http://schemas.microsoft.com/office/drawing/2014/main" id="{C74FC536-8849-4DDE-ADC1-98B2E9290ED5}"/>
              </a:ext>
            </a:extLst>
          </p:cNvPr>
          <p:cNvSpPr>
            <a:spLocks xmlns:a="http://schemas.openxmlformats.org/drawingml/2006/main" noGrp="1"/>
          </p:cNvSpPr>
          <p:nvPr/>
        </p:nvSpPr>
        <p:spPr>
          <a:xfrm xmlns:a="http://schemas.openxmlformats.org/drawingml/2006/main">
            <a:off x="8153400" y="19335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EXPECTED OUTPUT</a:t>
            </a:r>
          </a:p>
        </p:txBody>
      </p:sp>
      <p:sp>
        <p:nvSpPr>
          <p:cNvPr id="15" name="">
            <a:extLst xmlns:a="http://schemas.openxmlformats.org/drawingml/2006/main">
              <a:ext uri="{FF2B5EF4-FFF2-40B4-BE49-F238E27FC236}">
                <a16:creationId xmlns:a16="http://schemas.microsoft.com/office/drawing/2014/main" id="{36D7BDF3-28A8-45F4-A874-EB094C8BA163}"/>
              </a:ext>
            </a:extLst>
          </p:cNvPr>
          <p:cNvSpPr>
            <a:spLocks xmlns:a="http://schemas.openxmlformats.org/drawingml/2006/main" noGrp="1"/>
          </p:cNvSpPr>
          <p:nvPr/>
        </p:nvSpPr>
        <p:spPr>
          <a:xfrm xmlns:a="http://schemas.openxmlformats.org/drawingml/2006/main">
            <a:off x="8153400" y="2305050"/>
            <a:ext cx="29146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Plain-language handout with red flags and teach-back</a:t>
            </a:r>
          </a:p>
        </p:txBody>
      </p:sp>
      <p:sp>
        <p:nvSpPr>
          <p:cNvPr id="16" name="">
            <a:extLst xmlns:a="http://schemas.openxmlformats.org/drawingml/2006/main">
              <a:ext uri="{FF2B5EF4-FFF2-40B4-BE49-F238E27FC236}">
                <a16:creationId xmlns:a16="http://schemas.microsoft.com/office/drawing/2014/main" id="{967AF27D-43A4-4179-A592-11E6E3D2B3FA}"/>
              </a:ext>
            </a:extLst>
          </p:cNvPr>
          <p:cNvSpPr>
            <a:spLocks xmlns:a="http://schemas.openxmlformats.org/drawingml/2006/main" noGrp="1"/>
          </p:cNvSpPr>
          <p:nvPr/>
        </p:nvSpPr>
        <p:spPr>
          <a:xfrm xmlns:a="http://schemas.openxmlformats.org/drawingml/2006/main">
            <a:off x="7924800" y="3762375"/>
            <a:ext cx="3371850" cy="2047875"/>
          </a:xfrm>
          <a:prstGeom xmlns:a="http://schemas.openxmlformats.org/drawingml/2006/main" prst="roundRect">
            <a:avLst>
              <a:gd name="adj" fmla="val 9302"/>
            </a:avLst>
          </a:prstGeom>
          <a:solidFill xmlns:a="http://schemas.openxmlformats.org/drawingml/2006/main">
            <a:srgbClr val="FBE7DF"/>
          </a:solidFill>
          <a:ln xmlns:a="http://schemas.openxmlformats.org/drawingml/2006/main" w="9525">
            <a:solidFill>
              <a:srgbClr val="E8694A"/>
            </a:solidFill>
            <a:prstDash val="solid"/>
          </a:ln>
        </p:spPr>
      </p:sp>
      <p:sp>
        <p:nvSpPr>
          <p:cNvPr id="17" name="">
            <a:extLst xmlns:a="http://schemas.openxmlformats.org/drawingml/2006/main">
              <a:ext uri="{FF2B5EF4-FFF2-40B4-BE49-F238E27FC236}">
                <a16:creationId xmlns:a16="http://schemas.microsoft.com/office/drawing/2014/main" id="{23ECC076-14F8-4F20-8D04-56465D6E3D03}"/>
              </a:ext>
            </a:extLst>
          </p:cNvPr>
          <p:cNvSpPr>
            <a:spLocks xmlns:a="http://schemas.openxmlformats.org/drawingml/2006/main" noGrp="1"/>
          </p:cNvSpPr>
          <p:nvPr/>
        </p:nvSpPr>
        <p:spPr>
          <a:xfrm xmlns:a="http://schemas.openxmlformats.org/drawingml/2006/main">
            <a:off x="8153400" y="3971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B7433D"/>
                </a:solidFill>
                <a:latin typeface="Aptos"/>
                <a:ea typeface="Aptos"/>
                <a:cs typeface="Aptos"/>
              </a:defRPr>
            </a:pPr>
            <a:r>
              <a:rPr sz="1050" b="1">
                <a:solidFill>
                  <a:srgbClr val="B7433D"/>
                </a:solidFill>
                <a:latin typeface="Aptos"/>
                <a:ea typeface="Aptos"/>
                <a:cs typeface="Aptos"/>
              </a:rPr>
              <a:t>HUMAN CHECKPOINT</a:t>
            </a:r>
          </a:p>
        </p:txBody>
      </p:sp>
      <p:sp>
        <p:nvSpPr>
          <p:cNvPr id="18" name="">
            <a:extLst xmlns:a="http://schemas.openxmlformats.org/drawingml/2006/main">
              <a:ext uri="{FF2B5EF4-FFF2-40B4-BE49-F238E27FC236}">
                <a16:creationId xmlns:a16="http://schemas.microsoft.com/office/drawing/2014/main" id="{7B5D53EC-650A-485C-979C-92C6FAF9BEAC}"/>
              </a:ext>
            </a:extLst>
          </p:cNvPr>
          <p:cNvSpPr>
            <a:spLocks xmlns:a="http://schemas.openxmlformats.org/drawingml/2006/main" noGrp="1"/>
          </p:cNvSpPr>
          <p:nvPr/>
        </p:nvSpPr>
        <p:spPr>
          <a:xfrm xmlns:a="http://schemas.openxmlformats.org/drawingml/2006/main">
            <a:off x="8153400" y="4343400"/>
            <a:ext cx="29146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Clinical meaning, translation, accessibility, source, version and reviewer approval.</a:t>
            </a:r>
          </a:p>
        </p:txBody>
      </p:sp>
    </p:spTree>
    <p:extLst>
      <p:ext uri="{BB962C8B-B14F-4D97-AF65-F5344CB8AC3E}">
        <p14:creationId xmlns:p14="http://schemas.microsoft.com/office/powerpoint/2010/main" val="1822495941"/>
      </p:ext>
    </p:extLst>
  </p:cSld>
</p:sld>
</file>

<file path=ppt/slides/slide45.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6E97F5-5B0B-4F44-9AF8-95247A863AD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8694A"/>
          </a:solidFill>
          <a:ln xmlns:a="http://schemas.openxmlformats.org/drawingml/2006/main" w="0">
            <a:solidFill>
              <a:srgbClr val="E8694A"/>
            </a:solidFill>
            <a:prstDash val="solid"/>
          </a:ln>
        </p:spPr>
      </p:sp>
      <p:sp>
        <p:nvSpPr>
          <p:cNvPr id="2" name="">
            <a:extLst xmlns:a="http://schemas.openxmlformats.org/drawingml/2006/main">
              <a:ext uri="{FF2B5EF4-FFF2-40B4-BE49-F238E27FC236}">
                <a16:creationId xmlns:a16="http://schemas.microsoft.com/office/drawing/2014/main" id="{305B283E-F87F-4543-A64C-5B0196D2DFD2}"/>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9560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CHATGPT EXERCISE</a:t>
            </a:r>
          </a:p>
        </p:txBody>
      </p:sp>
      <p:sp>
        <p:nvSpPr>
          <p:cNvPr id="3" name="">
            <a:extLst xmlns:a="http://schemas.openxmlformats.org/drawingml/2006/main">
              <a:ext uri="{FF2B5EF4-FFF2-40B4-BE49-F238E27FC236}">
                <a16:creationId xmlns:a16="http://schemas.microsoft.com/office/drawing/2014/main" id="{7F3690F2-EEA0-4267-A7E6-542A19A0C27B}"/>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Pharma exercise: medical information + safety triage</a:t>
            </a:r>
          </a:p>
        </p:txBody>
      </p:sp>
      <p:sp>
        <p:nvSpPr>
          <p:cNvPr id="4" name="">
            <a:extLst xmlns:a="http://schemas.openxmlformats.org/drawingml/2006/main">
              <a:ext uri="{FF2B5EF4-FFF2-40B4-BE49-F238E27FC236}">
                <a16:creationId xmlns:a16="http://schemas.microsoft.com/office/drawing/2014/main" id="{953BC80C-E910-4ED8-9E90-FAAC5716F6FA}"/>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F54462BA-3FE8-4447-B904-6CC197191E5D}"/>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3AFD9347-2D2B-46AA-B7D0-EE2F284CFD42}"/>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003A4BF2-CECB-4BC5-A08B-C971E6D975D7}"/>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Full copy-ready prompt: Prompt Cards PDF</a:t>
            </a:r>
          </a:p>
        </p:txBody>
      </p:sp>
      <p:sp>
        <p:nvSpPr>
          <p:cNvPr id="8" name="">
            <a:extLst xmlns:a="http://schemas.openxmlformats.org/drawingml/2006/main">
              <a:ext uri="{FF2B5EF4-FFF2-40B4-BE49-F238E27FC236}">
                <a16:creationId xmlns:a16="http://schemas.microsoft.com/office/drawing/2014/main" id="{6770E15F-D73D-4FF4-A5F8-F8B18EB1BA99}"/>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39EC783A-1AAA-4EA3-ABD0-84CA73C13AA3}"/>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45</a:t>
            </a:r>
          </a:p>
        </p:txBody>
      </p:sp>
      <p:sp>
        <p:nvSpPr>
          <p:cNvPr id="10" name="">
            <a:extLst xmlns:a="http://schemas.openxmlformats.org/drawingml/2006/main">
              <a:ext uri="{FF2B5EF4-FFF2-40B4-BE49-F238E27FC236}">
                <a16:creationId xmlns:a16="http://schemas.microsoft.com/office/drawing/2014/main" id="{C3D1EF25-70B9-4DC3-BB60-A035FA0F07B2}"/>
              </a:ext>
            </a:extLst>
          </p:cNvPr>
          <p:cNvSpPr>
            <a:spLocks xmlns:a="http://schemas.openxmlformats.org/drawingml/2006/main" noGrp="1"/>
          </p:cNvSpPr>
          <p:nvPr/>
        </p:nvSpPr>
        <p:spPr>
          <a:xfrm xmlns:a="http://schemas.openxmlformats.org/drawingml/2006/main">
            <a:off x="609600" y="1714500"/>
            <a:ext cx="7029450" cy="4095750"/>
          </a:xfrm>
          <a:prstGeom xmlns:a="http://schemas.openxmlformats.org/drawingml/2006/main" prst="roundRect">
            <a:avLst>
              <a:gd name="adj" fmla="val 4651"/>
            </a:avLst>
          </a:prstGeom>
          <a:solidFill xmlns:a="http://schemas.openxmlformats.org/drawingml/2006/main">
            <a:srgbClr val="082638"/>
          </a:solidFill>
          <a:ln xmlns:a="http://schemas.openxmlformats.org/drawingml/2006/main" w="9525">
            <a:solidFill>
              <a:srgbClr val="082638"/>
            </a:solidFill>
            <a:prstDash val="solid"/>
          </a:ln>
        </p:spPr>
      </p:sp>
      <p:sp>
        <p:nvSpPr>
          <p:cNvPr id="11" name="">
            <a:extLst xmlns:a="http://schemas.openxmlformats.org/drawingml/2006/main">
              <a:ext uri="{FF2B5EF4-FFF2-40B4-BE49-F238E27FC236}">
                <a16:creationId xmlns:a16="http://schemas.microsoft.com/office/drawing/2014/main" id="{3C7B1B7F-3CDB-452A-AB01-E53877AB5820}"/>
              </a:ext>
            </a:extLst>
          </p:cNvPr>
          <p:cNvSpPr>
            <a:spLocks xmlns:a="http://schemas.openxmlformats.org/drawingml/2006/main" noGrp="1"/>
          </p:cNvSpPr>
          <p:nvPr/>
        </p:nvSpPr>
        <p:spPr>
          <a:xfrm xmlns:a="http://schemas.openxmlformats.org/drawingml/2006/main">
            <a:off x="838200" y="1924050"/>
            <a:ext cx="9906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PROMPT 7</a:t>
            </a:r>
          </a:p>
        </p:txBody>
      </p:sp>
      <p:sp>
        <p:nvSpPr>
          <p:cNvPr id="12" name="">
            <a:extLst xmlns:a="http://schemas.openxmlformats.org/drawingml/2006/main">
              <a:ext uri="{FF2B5EF4-FFF2-40B4-BE49-F238E27FC236}">
                <a16:creationId xmlns:a16="http://schemas.microsoft.com/office/drawing/2014/main" id="{D3CEF668-C427-4482-B02D-A54960EBB671}"/>
              </a:ext>
            </a:extLst>
          </p:cNvPr>
          <p:cNvSpPr>
            <a:spLocks xmlns:a="http://schemas.openxmlformats.org/drawingml/2006/main" noGrp="1"/>
          </p:cNvSpPr>
          <p:nvPr/>
        </p:nvSpPr>
        <p:spPr>
          <a:xfrm xmlns:a="http://schemas.openxmlformats.org/drawingml/2006/main">
            <a:off x="838200" y="2343150"/>
            <a:ext cx="6553200" cy="300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FFFFFF"/>
                </a:solidFill>
                <a:latin typeface="Aptos"/>
                <a:ea typeface="Aptos"/>
                <a:cs typeface="Aptos"/>
              </a:defRPr>
            </a:pPr>
            <a:r>
              <a:rPr sz="1275" b="0">
                <a:solidFill>
                  <a:srgbClr val="FFFFFF"/>
                </a:solidFill>
                <a:latin typeface="Aptos"/>
                <a:ea typeface="Aptos"/>
                <a:cs typeface="Aptos"/>
              </a:rPr>
              <a:t>Analyse the synthetic medical-information interaction. Create: the exact unsolicited scientific question; minimum information needed; approved sources; a neutral response outline; statements requiring medical/legal/regulatory review; possible off-label elements requiring medical-information handling; possible adverse-event or product-quality information requiring immediate escalation; follow-up commitments; and documentation requirements. Do not create promotional claims, assess causality, minimise an event or delay escalation. Interaction: [PASTE SYNTHETIC INTERACTION]</a:t>
            </a:r>
          </a:p>
        </p:txBody>
      </p:sp>
      <p:sp>
        <p:nvSpPr>
          <p:cNvPr id="13" name="">
            <a:extLst xmlns:a="http://schemas.openxmlformats.org/drawingml/2006/main">
              <a:ext uri="{FF2B5EF4-FFF2-40B4-BE49-F238E27FC236}">
                <a16:creationId xmlns:a16="http://schemas.microsoft.com/office/drawing/2014/main" id="{6A9F42A7-E6F7-4DE8-901A-623523237F32}"/>
              </a:ext>
            </a:extLst>
          </p:cNvPr>
          <p:cNvSpPr>
            <a:spLocks xmlns:a="http://schemas.openxmlformats.org/drawingml/2006/main" noGrp="1"/>
          </p:cNvSpPr>
          <p:nvPr/>
        </p:nvSpPr>
        <p:spPr>
          <a:xfrm xmlns:a="http://schemas.openxmlformats.org/drawingml/2006/main">
            <a:off x="7924800" y="1714500"/>
            <a:ext cx="3371850" cy="1866900"/>
          </a:xfrm>
          <a:prstGeom xmlns:a="http://schemas.openxmlformats.org/drawingml/2006/main" prst="roundRect">
            <a:avLst>
              <a:gd name="adj" fmla="val 10204"/>
            </a:avLst>
          </a:prstGeom>
          <a:solidFill xmlns:a="http://schemas.openxmlformats.org/drawingml/2006/main">
            <a:srgbClr val="DDF2EE"/>
          </a:solidFill>
          <a:ln xmlns:a="http://schemas.openxmlformats.org/drawingml/2006/main" w="9525">
            <a:solidFill>
              <a:srgbClr val="087E78"/>
            </a:solidFill>
            <a:prstDash val="solid"/>
          </a:ln>
        </p:spPr>
      </p:sp>
      <p:sp>
        <p:nvSpPr>
          <p:cNvPr id="14" name="">
            <a:extLst xmlns:a="http://schemas.openxmlformats.org/drawingml/2006/main">
              <a:ext uri="{FF2B5EF4-FFF2-40B4-BE49-F238E27FC236}">
                <a16:creationId xmlns:a16="http://schemas.microsoft.com/office/drawing/2014/main" id="{F223D10A-2C08-496A-BDC1-B55BA5754D71}"/>
              </a:ext>
            </a:extLst>
          </p:cNvPr>
          <p:cNvSpPr>
            <a:spLocks xmlns:a="http://schemas.openxmlformats.org/drawingml/2006/main" noGrp="1"/>
          </p:cNvSpPr>
          <p:nvPr/>
        </p:nvSpPr>
        <p:spPr>
          <a:xfrm xmlns:a="http://schemas.openxmlformats.org/drawingml/2006/main">
            <a:off x="8153400" y="19335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EXPECTED OUTPUT</a:t>
            </a:r>
          </a:p>
        </p:txBody>
      </p:sp>
      <p:sp>
        <p:nvSpPr>
          <p:cNvPr id="15" name="">
            <a:extLst xmlns:a="http://schemas.openxmlformats.org/drawingml/2006/main">
              <a:ext uri="{FF2B5EF4-FFF2-40B4-BE49-F238E27FC236}">
                <a16:creationId xmlns:a16="http://schemas.microsoft.com/office/drawing/2014/main" id="{A05353EF-E942-415C-8D12-C981EB82D6F3}"/>
              </a:ext>
            </a:extLst>
          </p:cNvPr>
          <p:cNvSpPr>
            <a:spLocks xmlns:a="http://schemas.openxmlformats.org/drawingml/2006/main" noGrp="1"/>
          </p:cNvSpPr>
          <p:nvPr/>
        </p:nvSpPr>
        <p:spPr>
          <a:xfrm xmlns:a="http://schemas.openxmlformats.org/drawingml/2006/main">
            <a:off x="8153400" y="2305050"/>
            <a:ext cx="29146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Neutral inquiry plan plus explicit safety/PQC escalation flags</a:t>
            </a:r>
          </a:p>
        </p:txBody>
      </p:sp>
      <p:sp>
        <p:nvSpPr>
          <p:cNvPr id="16" name="">
            <a:extLst xmlns:a="http://schemas.openxmlformats.org/drawingml/2006/main">
              <a:ext uri="{FF2B5EF4-FFF2-40B4-BE49-F238E27FC236}">
                <a16:creationId xmlns:a16="http://schemas.microsoft.com/office/drawing/2014/main" id="{6CD1E15D-0E21-4EE9-93C7-4AD1B6FD855A}"/>
              </a:ext>
            </a:extLst>
          </p:cNvPr>
          <p:cNvSpPr>
            <a:spLocks xmlns:a="http://schemas.openxmlformats.org/drawingml/2006/main" noGrp="1"/>
          </p:cNvSpPr>
          <p:nvPr/>
        </p:nvSpPr>
        <p:spPr>
          <a:xfrm xmlns:a="http://schemas.openxmlformats.org/drawingml/2006/main">
            <a:off x="7924800" y="3762375"/>
            <a:ext cx="3371850" cy="2047875"/>
          </a:xfrm>
          <a:prstGeom xmlns:a="http://schemas.openxmlformats.org/drawingml/2006/main" prst="roundRect">
            <a:avLst>
              <a:gd name="adj" fmla="val 9302"/>
            </a:avLst>
          </a:prstGeom>
          <a:solidFill xmlns:a="http://schemas.openxmlformats.org/drawingml/2006/main">
            <a:srgbClr val="FBE7DF"/>
          </a:solidFill>
          <a:ln xmlns:a="http://schemas.openxmlformats.org/drawingml/2006/main" w="9525">
            <a:solidFill>
              <a:srgbClr val="E8694A"/>
            </a:solidFill>
            <a:prstDash val="solid"/>
          </a:ln>
        </p:spPr>
      </p:sp>
      <p:sp>
        <p:nvSpPr>
          <p:cNvPr id="17" name="">
            <a:extLst xmlns:a="http://schemas.openxmlformats.org/drawingml/2006/main">
              <a:ext uri="{FF2B5EF4-FFF2-40B4-BE49-F238E27FC236}">
                <a16:creationId xmlns:a16="http://schemas.microsoft.com/office/drawing/2014/main" id="{3FB5B87B-3EAE-463D-8C38-2811C43A7FE1}"/>
              </a:ext>
            </a:extLst>
          </p:cNvPr>
          <p:cNvSpPr>
            <a:spLocks xmlns:a="http://schemas.openxmlformats.org/drawingml/2006/main" noGrp="1"/>
          </p:cNvSpPr>
          <p:nvPr/>
        </p:nvSpPr>
        <p:spPr>
          <a:xfrm xmlns:a="http://schemas.openxmlformats.org/drawingml/2006/main">
            <a:off x="8153400" y="3971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B7433D"/>
                </a:solidFill>
                <a:latin typeface="Aptos"/>
                <a:ea typeface="Aptos"/>
                <a:cs typeface="Aptos"/>
              </a:defRPr>
            </a:pPr>
            <a:r>
              <a:rPr sz="1050" b="1">
                <a:solidFill>
                  <a:srgbClr val="B7433D"/>
                </a:solidFill>
                <a:latin typeface="Aptos"/>
                <a:ea typeface="Aptos"/>
                <a:cs typeface="Aptos"/>
              </a:rPr>
              <a:t>HUMAN CHECKPOINT</a:t>
            </a:r>
          </a:p>
        </p:txBody>
      </p:sp>
      <p:sp>
        <p:nvSpPr>
          <p:cNvPr id="18" name="">
            <a:extLst xmlns:a="http://schemas.openxmlformats.org/drawingml/2006/main">
              <a:ext uri="{FF2B5EF4-FFF2-40B4-BE49-F238E27FC236}">
                <a16:creationId xmlns:a16="http://schemas.microsoft.com/office/drawing/2014/main" id="{60F78EEF-EA3E-4B5D-BA41-7567EE0E3972}"/>
              </a:ext>
            </a:extLst>
          </p:cNvPr>
          <p:cNvSpPr>
            <a:spLocks xmlns:a="http://schemas.openxmlformats.org/drawingml/2006/main" noGrp="1"/>
          </p:cNvSpPr>
          <p:nvPr/>
        </p:nvSpPr>
        <p:spPr>
          <a:xfrm xmlns:a="http://schemas.openxmlformats.org/drawingml/2006/main">
            <a:off x="8153400" y="4343400"/>
            <a:ext cx="29146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Medical information, pharmacovigilance and MLR follow the approved SOP; safety escalation is immediate.</a:t>
            </a:r>
          </a:p>
        </p:txBody>
      </p:sp>
    </p:spTree>
    <p:extLst>
      <p:ext uri="{BB962C8B-B14F-4D97-AF65-F5344CB8AC3E}">
        <p14:creationId xmlns:p14="http://schemas.microsoft.com/office/powerpoint/2010/main" val="1389495771"/>
      </p:ext>
    </p:extLst>
  </p:cSld>
</p:sld>
</file>

<file path=ppt/slides/slide46.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33DE58-5AE7-4065-9F5E-978669AE1A7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F6F9F"/>
          </a:solidFill>
          <a:ln xmlns:a="http://schemas.openxmlformats.org/drawingml/2006/main" w="0">
            <a:solidFill>
              <a:srgbClr val="2F6F9F"/>
            </a:solidFill>
            <a:prstDash val="solid"/>
          </a:ln>
        </p:spPr>
      </p:sp>
      <p:sp>
        <p:nvSpPr>
          <p:cNvPr id="2" name="">
            <a:extLst xmlns:a="http://schemas.openxmlformats.org/drawingml/2006/main">
              <a:ext uri="{FF2B5EF4-FFF2-40B4-BE49-F238E27FC236}">
                <a16:creationId xmlns:a16="http://schemas.microsoft.com/office/drawing/2014/main" id="{5398F9BE-2869-4092-A37A-3AA46B3778A5}"/>
              </a:ext>
            </a:extLst>
          </p:cNvPr>
          <p:cNvSpPr>
            <a:spLocks xmlns:a="http://schemas.openxmlformats.org/drawingml/2006/main" noGrp="1"/>
          </p:cNvSpPr>
          <p:nvPr/>
        </p:nvSpPr>
        <p:spPr>
          <a:xfrm xmlns:a="http://schemas.openxmlformats.org/drawingml/2006/main">
            <a:off x="590550" y="285750"/>
            <a:ext cx="198882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94645"/>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3 PROFESSIONAL IMPACT</a:t>
            </a:r>
          </a:p>
        </p:txBody>
      </p:sp>
      <p:sp>
        <p:nvSpPr>
          <p:cNvPr id="3" name="">
            <a:extLst xmlns:a="http://schemas.openxmlformats.org/drawingml/2006/main">
              <a:ext uri="{FF2B5EF4-FFF2-40B4-BE49-F238E27FC236}">
                <a16:creationId xmlns:a16="http://schemas.microsoft.com/office/drawing/2014/main" id="{CE435388-B394-4B4C-8E54-4C5B0FE922B2}"/>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Own projection: build trust without crossing into promotion</a:t>
            </a:r>
          </a:p>
        </p:txBody>
      </p:sp>
      <p:sp>
        <p:nvSpPr>
          <p:cNvPr id="4" name="">
            <a:extLst xmlns:a="http://schemas.openxmlformats.org/drawingml/2006/main">
              <a:ext uri="{FF2B5EF4-FFF2-40B4-BE49-F238E27FC236}">
                <a16:creationId xmlns:a16="http://schemas.microsoft.com/office/drawing/2014/main" id="{8AA7820E-80A9-4326-B5B7-DE818AD0B932}"/>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3BAAC158-3DF9-4BAA-BC3D-DDE9234C704F}"/>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6B81EB90-2CC3-4308-9022-8CC0223E9267}"/>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DAA0B922-0685-4BF4-8996-6C666084EDD4}"/>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Prompt Card 10</a:t>
            </a:r>
          </a:p>
        </p:txBody>
      </p:sp>
      <p:sp>
        <p:nvSpPr>
          <p:cNvPr id="8" name="">
            <a:extLst xmlns:a="http://schemas.openxmlformats.org/drawingml/2006/main">
              <a:ext uri="{FF2B5EF4-FFF2-40B4-BE49-F238E27FC236}">
                <a16:creationId xmlns:a16="http://schemas.microsoft.com/office/drawing/2014/main" id="{41609FDF-1CA2-4721-8ACB-B2EB7BC0AAE3}"/>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338E8078-CC67-4E03-91A2-EF081F6EAC9D}"/>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46</a:t>
            </a:r>
          </a:p>
        </p:txBody>
      </p:sp>
      <p:sp>
        <p:nvSpPr>
          <p:cNvPr id="10" name="">
            <a:extLst xmlns:a="http://schemas.openxmlformats.org/drawingml/2006/main">
              <a:ext uri="{FF2B5EF4-FFF2-40B4-BE49-F238E27FC236}">
                <a16:creationId xmlns:a16="http://schemas.microsoft.com/office/drawing/2014/main" id="{911FD110-8AE7-4BE6-B6E6-E202DD3821FA}"/>
              </a:ext>
            </a:extLst>
          </p:cNvPr>
          <p:cNvSpPr>
            <a:spLocks xmlns:a="http://schemas.openxmlformats.org/drawingml/2006/main" noGrp="1"/>
          </p:cNvSpPr>
          <p:nvPr/>
        </p:nvSpPr>
        <p:spPr>
          <a:xfrm xmlns:a="http://schemas.openxmlformats.org/drawingml/2006/main">
            <a:off x="609600" y="1762125"/>
            <a:ext cx="6724650" cy="3857625"/>
          </a:xfrm>
          <a:prstGeom xmlns:a="http://schemas.openxmlformats.org/drawingml/2006/main" prst="roundRect">
            <a:avLst>
              <a:gd name="adj" fmla="val 5432"/>
            </a:avLst>
          </a:prstGeom>
          <a:solidFill xmlns:a="http://schemas.openxmlformats.org/drawingml/2006/main">
            <a:srgbClr val="082638"/>
          </a:solidFill>
          <a:ln xmlns:a="http://schemas.openxmlformats.org/drawingml/2006/main" w="9525">
            <a:solidFill>
              <a:srgbClr val="082638"/>
            </a:solidFill>
            <a:prstDash val="solid"/>
          </a:ln>
        </p:spPr>
      </p:sp>
      <p:sp>
        <p:nvSpPr>
          <p:cNvPr id="11" name="">
            <a:extLst xmlns:a="http://schemas.openxmlformats.org/drawingml/2006/main">
              <a:ext uri="{FF2B5EF4-FFF2-40B4-BE49-F238E27FC236}">
                <a16:creationId xmlns:a16="http://schemas.microsoft.com/office/drawing/2014/main" id="{B59212CB-454B-4E88-B5F8-647265111A4A}"/>
              </a:ext>
            </a:extLst>
          </p:cNvPr>
          <p:cNvSpPr>
            <a:spLocks xmlns:a="http://schemas.openxmlformats.org/drawingml/2006/main" noGrp="1"/>
          </p:cNvSpPr>
          <p:nvPr/>
        </p:nvSpPr>
        <p:spPr>
          <a:xfrm xmlns:a="http://schemas.openxmlformats.org/drawingml/2006/main">
            <a:off x="857250" y="1990725"/>
            <a:ext cx="10477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PROMPT 10</a:t>
            </a:r>
          </a:p>
        </p:txBody>
      </p:sp>
      <p:sp>
        <p:nvSpPr>
          <p:cNvPr id="12" name="">
            <a:extLst xmlns:a="http://schemas.openxmlformats.org/drawingml/2006/main">
              <a:ext uri="{FF2B5EF4-FFF2-40B4-BE49-F238E27FC236}">
                <a16:creationId xmlns:a16="http://schemas.microsoft.com/office/drawing/2014/main" id="{6E211F1C-9C80-4162-BD82-2F118E3F860E}"/>
              </a:ext>
            </a:extLst>
          </p:cNvPr>
          <p:cNvSpPr>
            <a:spLocks xmlns:a="http://schemas.openxmlformats.org/drawingml/2006/main" noGrp="1"/>
          </p:cNvSpPr>
          <p:nvPr/>
        </p:nvSpPr>
        <p:spPr>
          <a:xfrm xmlns:a="http://schemas.openxmlformats.org/drawingml/2006/main">
            <a:off x="857250" y="2419350"/>
            <a:ext cx="6210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13" b="0">
                <a:solidFill>
                  <a:srgbClr val="FFFFFF"/>
                </a:solidFill>
                <a:latin typeface="Aptos"/>
                <a:ea typeface="Aptos"/>
                <a:cs typeface="Aptos"/>
              </a:defRPr>
            </a:pPr>
            <a:r>
              <a:rPr sz="1313" b="0">
                <a:solidFill>
                  <a:srgbClr val="FFFFFF"/>
                </a:solidFill>
                <a:latin typeface="Aptos"/>
                <a:ea typeface="Aptos"/>
                <a:cs typeface="Aptos"/>
              </a:rPr>
              <a:t>Using only the approved evidence below, draft a 150–200 word professional post for [DOCTOR / MEDICAL-AFFAIRS PROFESSIONAL] to [EDUCATE PATIENTS / EDUCATE PEERS / DISCUSS AN EVIDENCE GAP]. Include one evidence-based message, one practical implication, one limitation, a visible source, AI-assistance disclosure and an invitation to professional discussion—not individual treatment advice. Do not add product promotion, off-label claims, exaggerated certainty or authority beyond the stated role. Evidence: [PASTE]</a:t>
            </a:r>
          </a:p>
        </p:txBody>
      </p:sp>
      <p:sp>
        <p:nvSpPr>
          <p:cNvPr id="13" name="">
            <a:extLst xmlns:a="http://schemas.openxmlformats.org/drawingml/2006/main">
              <a:ext uri="{FF2B5EF4-FFF2-40B4-BE49-F238E27FC236}">
                <a16:creationId xmlns:a16="http://schemas.microsoft.com/office/drawing/2014/main" id="{C961E33A-492E-4CE0-9197-815EB28394B1}"/>
              </a:ext>
            </a:extLst>
          </p:cNvPr>
          <p:cNvSpPr>
            <a:spLocks xmlns:a="http://schemas.openxmlformats.org/drawingml/2006/main" noGrp="1"/>
          </p:cNvSpPr>
          <p:nvPr/>
        </p:nvSpPr>
        <p:spPr>
          <a:xfrm xmlns:a="http://schemas.openxmlformats.org/drawingml/2006/main">
            <a:off x="7715250" y="1762125"/>
            <a:ext cx="3562350" cy="1809750"/>
          </a:xfrm>
          <a:prstGeom xmlns:a="http://schemas.openxmlformats.org/drawingml/2006/main" prst="roundRect">
            <a:avLst>
              <a:gd name="adj" fmla="val 10526"/>
            </a:avLst>
          </a:prstGeom>
          <a:solidFill xmlns:a="http://schemas.openxmlformats.org/drawingml/2006/main">
            <a:srgbClr val="E2EEF7"/>
          </a:solidFill>
          <a:ln xmlns:a="http://schemas.openxmlformats.org/drawingml/2006/main" w="9525">
            <a:solidFill>
              <a:srgbClr val="2F6F9F"/>
            </a:solidFill>
            <a:prstDash val="solid"/>
          </a:ln>
        </p:spPr>
      </p:sp>
      <p:sp>
        <p:nvSpPr>
          <p:cNvPr id="14" name="">
            <a:extLst xmlns:a="http://schemas.openxmlformats.org/drawingml/2006/main">
              <a:ext uri="{FF2B5EF4-FFF2-40B4-BE49-F238E27FC236}">
                <a16:creationId xmlns:a16="http://schemas.microsoft.com/office/drawing/2014/main" id="{D98A1C12-8531-462E-942D-51367FEFDFA9}"/>
              </a:ext>
            </a:extLst>
          </p:cNvPr>
          <p:cNvSpPr>
            <a:spLocks xmlns:a="http://schemas.openxmlformats.org/drawingml/2006/main" noGrp="1"/>
          </p:cNvSpPr>
          <p:nvPr/>
        </p:nvSpPr>
        <p:spPr>
          <a:xfrm xmlns:a="http://schemas.openxmlformats.org/drawingml/2006/main">
            <a:off x="7962900" y="19812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2F6F9F"/>
                </a:solidFill>
                <a:latin typeface="Aptos"/>
                <a:ea typeface="Aptos"/>
                <a:cs typeface="Aptos"/>
              </a:defRPr>
            </a:pPr>
            <a:r>
              <a:rPr sz="1050" b="1">
                <a:solidFill>
                  <a:srgbClr val="2F6F9F"/>
                </a:solidFill>
                <a:latin typeface="Aptos"/>
                <a:ea typeface="Aptos"/>
                <a:cs typeface="Aptos"/>
              </a:rPr>
              <a:t>OUTPUT</a:t>
            </a:r>
          </a:p>
        </p:txBody>
      </p:sp>
      <p:sp>
        <p:nvSpPr>
          <p:cNvPr id="15" name="">
            <a:extLst xmlns:a="http://schemas.openxmlformats.org/drawingml/2006/main">
              <a:ext uri="{FF2B5EF4-FFF2-40B4-BE49-F238E27FC236}">
                <a16:creationId xmlns:a16="http://schemas.microsoft.com/office/drawing/2014/main" id="{17AE4736-E695-4A2E-95D7-9DF9D00EF207}"/>
              </a:ext>
            </a:extLst>
          </p:cNvPr>
          <p:cNvSpPr>
            <a:spLocks xmlns:a="http://schemas.openxmlformats.org/drawingml/2006/main" noGrp="1"/>
          </p:cNvSpPr>
          <p:nvPr/>
        </p:nvSpPr>
        <p:spPr>
          <a:xfrm xmlns:a="http://schemas.openxmlformats.org/drawingml/2006/main">
            <a:off x="7962900" y="2371725"/>
            <a:ext cx="30670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Concise, sourced and bounded professional post</a:t>
            </a:r>
          </a:p>
        </p:txBody>
      </p:sp>
      <p:sp>
        <p:nvSpPr>
          <p:cNvPr id="16" name="">
            <a:extLst xmlns:a="http://schemas.openxmlformats.org/drawingml/2006/main">
              <a:ext uri="{FF2B5EF4-FFF2-40B4-BE49-F238E27FC236}">
                <a16:creationId xmlns:a16="http://schemas.microsoft.com/office/drawing/2014/main" id="{DAD3227C-769D-451B-8266-4472BFC948F1}"/>
              </a:ext>
            </a:extLst>
          </p:cNvPr>
          <p:cNvSpPr>
            <a:spLocks xmlns:a="http://schemas.openxmlformats.org/drawingml/2006/main" noGrp="1"/>
          </p:cNvSpPr>
          <p:nvPr/>
        </p:nvSpPr>
        <p:spPr>
          <a:xfrm xmlns:a="http://schemas.openxmlformats.org/drawingml/2006/main">
            <a:off x="7715250" y="3790950"/>
            <a:ext cx="3562350" cy="1828800"/>
          </a:xfrm>
          <a:prstGeom xmlns:a="http://schemas.openxmlformats.org/drawingml/2006/main" prst="roundRect">
            <a:avLst>
              <a:gd name="adj" fmla="val 10417"/>
            </a:avLst>
          </a:prstGeom>
          <a:solidFill xmlns:a="http://schemas.openxmlformats.org/drawingml/2006/main">
            <a:srgbClr val="FBE7DF"/>
          </a:solidFill>
          <a:ln xmlns:a="http://schemas.openxmlformats.org/drawingml/2006/main" w="9525">
            <a:solidFill>
              <a:srgbClr val="E8694A"/>
            </a:solidFill>
            <a:prstDash val="solid"/>
          </a:ln>
        </p:spPr>
      </p:sp>
      <p:sp>
        <p:nvSpPr>
          <p:cNvPr id="17" name="">
            <a:extLst xmlns:a="http://schemas.openxmlformats.org/drawingml/2006/main">
              <a:ext uri="{FF2B5EF4-FFF2-40B4-BE49-F238E27FC236}">
                <a16:creationId xmlns:a16="http://schemas.microsoft.com/office/drawing/2014/main" id="{99A9CCB9-063C-4693-8ADD-98F57097BE1B}"/>
              </a:ext>
            </a:extLst>
          </p:cNvPr>
          <p:cNvSpPr>
            <a:spLocks xmlns:a="http://schemas.openxmlformats.org/drawingml/2006/main" noGrp="1"/>
          </p:cNvSpPr>
          <p:nvPr/>
        </p:nvSpPr>
        <p:spPr>
          <a:xfrm xmlns:a="http://schemas.openxmlformats.org/drawingml/2006/main">
            <a:off x="7962900" y="401002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B7433D"/>
                </a:solidFill>
                <a:latin typeface="Aptos"/>
                <a:ea typeface="Aptos"/>
                <a:cs typeface="Aptos"/>
              </a:defRPr>
            </a:pPr>
            <a:r>
              <a:rPr sz="1050" b="1">
                <a:solidFill>
                  <a:srgbClr val="B7433D"/>
                </a:solidFill>
                <a:latin typeface="Aptos"/>
                <a:ea typeface="Aptos"/>
                <a:cs typeface="Aptos"/>
              </a:rPr>
              <a:t>RELEASE GATE</a:t>
            </a:r>
          </a:p>
        </p:txBody>
      </p:sp>
      <p:sp>
        <p:nvSpPr>
          <p:cNvPr id="18" name="">
            <a:extLst xmlns:a="http://schemas.openxmlformats.org/drawingml/2006/main">
              <a:ext uri="{FF2B5EF4-FFF2-40B4-BE49-F238E27FC236}">
                <a16:creationId xmlns:a16="http://schemas.microsoft.com/office/drawing/2014/main" id="{E70AEA7D-CE00-4D8E-B625-0F6864850D03}"/>
              </a:ext>
            </a:extLst>
          </p:cNvPr>
          <p:cNvSpPr>
            <a:spLocks xmlns:a="http://schemas.openxmlformats.org/drawingml/2006/main" noGrp="1"/>
          </p:cNvSpPr>
          <p:nvPr/>
        </p:nvSpPr>
        <p:spPr>
          <a:xfrm xmlns:a="http://schemas.openxmlformats.org/drawingml/2006/main">
            <a:off x="7962900" y="4381500"/>
            <a:ext cx="3067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Clinical/MLR review, citation, disclosure, version owner and publication approval.</a:t>
            </a:r>
          </a:p>
        </p:txBody>
      </p:sp>
    </p:spTree>
    <p:extLst>
      <p:ext uri="{BB962C8B-B14F-4D97-AF65-F5344CB8AC3E}">
        <p14:creationId xmlns:p14="http://schemas.microsoft.com/office/powerpoint/2010/main" val="740804900"/>
      </p:ext>
    </p:extLst>
  </p:cSld>
</p:sld>
</file>

<file path=ppt/slides/slide47.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A0FC89A-CBC0-4443-8429-96843EB117E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8694A"/>
          </a:solidFill>
          <a:ln xmlns:a="http://schemas.openxmlformats.org/drawingml/2006/main" w="0">
            <a:solidFill>
              <a:srgbClr val="E8694A"/>
            </a:solidFill>
            <a:prstDash val="solid"/>
          </a:ln>
        </p:spPr>
      </p:sp>
      <p:sp>
        <p:nvSpPr>
          <p:cNvPr id="2" name="">
            <a:extLst xmlns:a="http://schemas.openxmlformats.org/drawingml/2006/main">
              <a:ext uri="{FF2B5EF4-FFF2-40B4-BE49-F238E27FC236}">
                <a16:creationId xmlns:a16="http://schemas.microsoft.com/office/drawing/2014/main" id="{7BF9A836-E82B-4B1E-AABA-98A69F6A014A}"/>
              </a:ext>
            </a:extLst>
          </p:cNvPr>
          <p:cNvSpPr>
            <a:spLocks xmlns:a="http://schemas.openxmlformats.org/drawingml/2006/main" noGrp="1"/>
          </p:cNvSpPr>
          <p:nvPr/>
        </p:nvSpPr>
        <p:spPr>
          <a:xfrm xmlns:a="http://schemas.openxmlformats.org/drawingml/2006/main">
            <a:off x="590550" y="285750"/>
            <a:ext cx="13716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903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3 CHECKPOINT</a:t>
            </a:r>
          </a:p>
        </p:txBody>
      </p:sp>
      <p:sp>
        <p:nvSpPr>
          <p:cNvPr id="3" name="">
            <a:extLst xmlns:a="http://schemas.openxmlformats.org/drawingml/2006/main">
              <a:ext uri="{FF2B5EF4-FFF2-40B4-BE49-F238E27FC236}">
                <a16:creationId xmlns:a16="http://schemas.microsoft.com/office/drawing/2014/main" id="{5E9CD15A-AC8E-49F6-A7D9-BC791BC789F2}"/>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One review gate prevents three classes of harm</a:t>
            </a:r>
          </a:p>
        </p:txBody>
      </p:sp>
      <p:sp>
        <p:nvSpPr>
          <p:cNvPr id="4" name="">
            <a:extLst xmlns:a="http://schemas.openxmlformats.org/drawingml/2006/main">
              <a:ext uri="{FF2B5EF4-FFF2-40B4-BE49-F238E27FC236}">
                <a16:creationId xmlns:a16="http://schemas.microsoft.com/office/drawing/2014/main" id="{D8B83EEC-2FAA-41BC-855C-88E67B7EE51D}"/>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8049C7A9-8183-4AF3-AF84-AB462A8003BF}"/>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592818E7-0326-42D4-A5A4-F389CEFB17D3}"/>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966EE3CC-927C-4D34-8992-183885E003AF}"/>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8" name="">
            <a:extLst xmlns:a="http://schemas.openxmlformats.org/drawingml/2006/main">
              <a:ext uri="{FF2B5EF4-FFF2-40B4-BE49-F238E27FC236}">
                <a16:creationId xmlns:a16="http://schemas.microsoft.com/office/drawing/2014/main" id="{280AD40F-C541-4616-AA27-130ED711A88B}"/>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47</a:t>
            </a:r>
          </a:p>
        </p:txBody>
      </p:sp>
      <p:sp>
        <p:nvSpPr>
          <p:cNvPr id="9" name="">
            <a:extLst xmlns:a="http://schemas.openxmlformats.org/drawingml/2006/main">
              <a:ext uri="{FF2B5EF4-FFF2-40B4-BE49-F238E27FC236}">
                <a16:creationId xmlns:a16="http://schemas.microsoft.com/office/drawing/2014/main" id="{684B4512-F29D-40D8-8E32-9AEF961234A7}"/>
              </a:ext>
            </a:extLst>
          </p:cNvPr>
          <p:cNvSpPr>
            <a:spLocks xmlns:a="http://schemas.openxmlformats.org/drawingml/2006/main" noGrp="1"/>
          </p:cNvSpPr>
          <p:nvPr/>
        </p:nvSpPr>
        <p:spPr>
          <a:xfrm xmlns:a="http://schemas.openxmlformats.org/drawingml/2006/main">
            <a:off x="609600" y="2000250"/>
            <a:ext cx="3498850" cy="2095500"/>
          </a:xfrm>
          <a:prstGeom xmlns:a="http://schemas.openxmlformats.org/drawingml/2006/main" prst="roundRect">
            <a:avLst>
              <a:gd name="adj" fmla="val 8182"/>
            </a:avLst>
          </a:prstGeom>
          <a:solidFill xmlns:a="http://schemas.openxmlformats.org/drawingml/2006/main">
            <a:srgbClr val="FFFDFC"/>
          </a:solidFill>
          <a:ln xmlns:a="http://schemas.openxmlformats.org/drawingml/2006/main" w="9525">
            <a:solidFill>
              <a:srgbClr val="087E7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5CEE8C8-4456-4ED4-9B9D-11EE7CA2C36F}"/>
              </a:ext>
            </a:extLst>
          </p:cNvPr>
          <p:cNvSpPr>
            <a:spLocks xmlns:a="http://schemas.openxmlformats.org/drawingml/2006/main" noGrp="1"/>
          </p:cNvSpPr>
          <p:nvPr/>
        </p:nvSpPr>
        <p:spPr>
          <a:xfrm xmlns:a="http://schemas.openxmlformats.org/drawingml/2006/main">
            <a:off x="762000" y="2143125"/>
            <a:ext cx="8191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CLINICAL</a:t>
            </a:r>
          </a:p>
        </p:txBody>
      </p:sp>
      <p:sp>
        <p:nvSpPr>
          <p:cNvPr id="11" name="">
            <a:extLst xmlns:a="http://schemas.openxmlformats.org/drawingml/2006/main">
              <a:ext uri="{FF2B5EF4-FFF2-40B4-BE49-F238E27FC236}">
                <a16:creationId xmlns:a16="http://schemas.microsoft.com/office/drawing/2014/main" id="{9C263E6A-E33D-4299-A18A-59485CC8C8F3}"/>
              </a:ext>
            </a:extLst>
          </p:cNvPr>
          <p:cNvSpPr>
            <a:spLocks xmlns:a="http://schemas.openxmlformats.org/drawingml/2006/main" noGrp="1"/>
          </p:cNvSpPr>
          <p:nvPr/>
        </p:nvSpPr>
        <p:spPr>
          <a:xfrm xmlns:a="http://schemas.openxmlformats.org/drawingml/2006/main">
            <a:off x="781050" y="2495550"/>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Meaning</a:t>
            </a:r>
          </a:p>
        </p:txBody>
      </p:sp>
      <p:sp>
        <p:nvSpPr>
          <p:cNvPr id="12" name="">
            <a:extLst xmlns:a="http://schemas.openxmlformats.org/drawingml/2006/main">
              <a:ext uri="{FF2B5EF4-FFF2-40B4-BE49-F238E27FC236}">
                <a16:creationId xmlns:a16="http://schemas.microsoft.com/office/drawing/2014/main" id="{58553E16-8078-4E57-9F88-402CE81549FC}"/>
              </a:ext>
            </a:extLst>
          </p:cNvPr>
          <p:cNvSpPr>
            <a:spLocks xmlns:a="http://schemas.openxmlformats.org/drawingml/2006/main" noGrp="1"/>
          </p:cNvSpPr>
          <p:nvPr/>
        </p:nvSpPr>
        <p:spPr>
          <a:xfrm xmlns:a="http://schemas.openxmlformats.org/drawingml/2006/main">
            <a:off x="781050" y="2867025"/>
            <a:ext cx="31559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Accurate, actionable, red flags separated, teach-back possible.</a:t>
            </a:r>
          </a:p>
        </p:txBody>
      </p:sp>
      <p:sp>
        <p:nvSpPr>
          <p:cNvPr id="13" name="">
            <a:extLst xmlns:a="http://schemas.openxmlformats.org/drawingml/2006/main">
              <a:ext uri="{FF2B5EF4-FFF2-40B4-BE49-F238E27FC236}">
                <a16:creationId xmlns:a16="http://schemas.microsoft.com/office/drawing/2014/main" id="{B0254961-276C-4C68-968F-A5FC9A594E5C}"/>
              </a:ext>
            </a:extLst>
          </p:cNvPr>
          <p:cNvSpPr>
            <a:spLocks xmlns:a="http://schemas.openxmlformats.org/drawingml/2006/main" noGrp="1"/>
          </p:cNvSpPr>
          <p:nvPr/>
        </p:nvSpPr>
        <p:spPr>
          <a:xfrm xmlns:a="http://schemas.openxmlformats.org/drawingml/2006/main">
            <a:off x="4337050" y="2000250"/>
            <a:ext cx="3498850" cy="2095500"/>
          </a:xfrm>
          <a:prstGeom xmlns:a="http://schemas.openxmlformats.org/drawingml/2006/main" prst="roundRect">
            <a:avLst>
              <a:gd name="adj" fmla="val 8182"/>
            </a:avLst>
          </a:prstGeom>
          <a:solidFill xmlns:a="http://schemas.openxmlformats.org/drawingml/2006/main">
            <a:srgbClr val="FFFDFC"/>
          </a:solidFill>
          <a:ln xmlns:a="http://schemas.openxmlformats.org/drawingml/2006/main" w="9525">
            <a:solidFill>
              <a:srgbClr val="E869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4D94CE82-94CA-4773-A4E6-062A192C1763}"/>
              </a:ext>
            </a:extLst>
          </p:cNvPr>
          <p:cNvSpPr>
            <a:spLocks xmlns:a="http://schemas.openxmlformats.org/drawingml/2006/main" noGrp="1"/>
          </p:cNvSpPr>
          <p:nvPr/>
        </p:nvSpPr>
        <p:spPr>
          <a:xfrm xmlns:a="http://schemas.openxmlformats.org/drawingml/2006/main">
            <a:off x="4489450" y="2143125"/>
            <a:ext cx="8191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8419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REGULATORY</a:t>
            </a:r>
          </a:p>
        </p:txBody>
      </p:sp>
      <p:sp>
        <p:nvSpPr>
          <p:cNvPr id="15" name="">
            <a:extLst xmlns:a="http://schemas.openxmlformats.org/drawingml/2006/main">
              <a:ext uri="{FF2B5EF4-FFF2-40B4-BE49-F238E27FC236}">
                <a16:creationId xmlns:a16="http://schemas.microsoft.com/office/drawing/2014/main" id="{04132B38-C9BC-4794-B743-B992F77ECCDD}"/>
              </a:ext>
            </a:extLst>
          </p:cNvPr>
          <p:cNvSpPr>
            <a:spLocks xmlns:a="http://schemas.openxmlformats.org/drawingml/2006/main" noGrp="1"/>
          </p:cNvSpPr>
          <p:nvPr/>
        </p:nvSpPr>
        <p:spPr>
          <a:xfrm xmlns:a="http://schemas.openxmlformats.org/drawingml/2006/main">
            <a:off x="4508500" y="2495550"/>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Boundary</a:t>
            </a:r>
          </a:p>
        </p:txBody>
      </p:sp>
      <p:sp>
        <p:nvSpPr>
          <p:cNvPr id="16" name="">
            <a:extLst xmlns:a="http://schemas.openxmlformats.org/drawingml/2006/main">
              <a:ext uri="{FF2B5EF4-FFF2-40B4-BE49-F238E27FC236}">
                <a16:creationId xmlns:a16="http://schemas.microsoft.com/office/drawing/2014/main" id="{64AAFD04-8BBA-4164-BEB3-3A6B75AC4063}"/>
              </a:ext>
            </a:extLst>
          </p:cNvPr>
          <p:cNvSpPr>
            <a:spLocks xmlns:a="http://schemas.openxmlformats.org/drawingml/2006/main" noGrp="1"/>
          </p:cNvSpPr>
          <p:nvPr/>
        </p:nvSpPr>
        <p:spPr>
          <a:xfrm xmlns:a="http://schemas.openxmlformats.org/drawingml/2006/main">
            <a:off x="4508500" y="2867025"/>
            <a:ext cx="31559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No promotion, unsupported claim, off-label drift or delayed PV/PQC escalation.</a:t>
            </a:r>
          </a:p>
        </p:txBody>
      </p:sp>
      <p:sp>
        <p:nvSpPr>
          <p:cNvPr id="17" name="">
            <a:extLst xmlns:a="http://schemas.openxmlformats.org/drawingml/2006/main">
              <a:ext uri="{FF2B5EF4-FFF2-40B4-BE49-F238E27FC236}">
                <a16:creationId xmlns:a16="http://schemas.microsoft.com/office/drawing/2014/main" id="{3FC96E02-57F8-4524-B618-EBA5D8A8C7E4}"/>
              </a:ext>
            </a:extLst>
          </p:cNvPr>
          <p:cNvSpPr>
            <a:spLocks xmlns:a="http://schemas.openxmlformats.org/drawingml/2006/main" noGrp="1"/>
          </p:cNvSpPr>
          <p:nvPr/>
        </p:nvSpPr>
        <p:spPr>
          <a:xfrm xmlns:a="http://schemas.openxmlformats.org/drawingml/2006/main">
            <a:off x="8064500" y="2000250"/>
            <a:ext cx="3498850" cy="2095500"/>
          </a:xfrm>
          <a:prstGeom xmlns:a="http://schemas.openxmlformats.org/drawingml/2006/main" prst="roundRect">
            <a:avLst>
              <a:gd name="adj" fmla="val 8182"/>
            </a:avLst>
          </a:prstGeom>
          <a:solidFill xmlns:a="http://schemas.openxmlformats.org/drawingml/2006/main">
            <a:srgbClr val="FFFDFC"/>
          </a:solidFill>
          <a:ln xmlns:a="http://schemas.openxmlformats.org/drawingml/2006/main" w="9525">
            <a:solidFill>
              <a:srgbClr val="C5902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33BBEDC2-B67B-49DA-9146-A979B9FE82E3}"/>
              </a:ext>
            </a:extLst>
          </p:cNvPr>
          <p:cNvSpPr>
            <a:spLocks xmlns:a="http://schemas.openxmlformats.org/drawingml/2006/main" noGrp="1"/>
          </p:cNvSpPr>
          <p:nvPr/>
        </p:nvSpPr>
        <p:spPr>
          <a:xfrm xmlns:a="http://schemas.openxmlformats.org/drawingml/2006/main">
            <a:off x="8216900" y="2143125"/>
            <a:ext cx="8191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ACCESS</a:t>
            </a:r>
          </a:p>
        </p:txBody>
      </p:sp>
      <p:sp>
        <p:nvSpPr>
          <p:cNvPr id="19" name="">
            <a:extLst xmlns:a="http://schemas.openxmlformats.org/drawingml/2006/main">
              <a:ext uri="{FF2B5EF4-FFF2-40B4-BE49-F238E27FC236}">
                <a16:creationId xmlns:a16="http://schemas.microsoft.com/office/drawing/2014/main" id="{1FDBE4CA-A7A2-4213-B698-D2146A141876}"/>
              </a:ext>
            </a:extLst>
          </p:cNvPr>
          <p:cNvSpPr>
            <a:spLocks xmlns:a="http://schemas.openxmlformats.org/drawingml/2006/main" noGrp="1"/>
          </p:cNvSpPr>
          <p:nvPr/>
        </p:nvSpPr>
        <p:spPr>
          <a:xfrm xmlns:a="http://schemas.openxmlformats.org/drawingml/2006/main">
            <a:off x="8235950" y="2495550"/>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Language + format</a:t>
            </a:r>
          </a:p>
        </p:txBody>
      </p:sp>
      <p:sp>
        <p:nvSpPr>
          <p:cNvPr id="20" name="">
            <a:extLst xmlns:a="http://schemas.openxmlformats.org/drawingml/2006/main">
              <a:ext uri="{FF2B5EF4-FFF2-40B4-BE49-F238E27FC236}">
                <a16:creationId xmlns:a16="http://schemas.microsoft.com/office/drawing/2014/main" id="{B5E0EDED-A67B-4ACF-A117-B2BB06CDD2CB}"/>
              </a:ext>
            </a:extLst>
          </p:cNvPr>
          <p:cNvSpPr>
            <a:spLocks xmlns:a="http://schemas.openxmlformats.org/drawingml/2006/main" noGrp="1"/>
          </p:cNvSpPr>
          <p:nvPr/>
        </p:nvSpPr>
        <p:spPr>
          <a:xfrm xmlns:a="http://schemas.openxmlformats.org/drawingml/2006/main">
            <a:off x="8235950" y="2867025"/>
            <a:ext cx="31559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Readable, culturally appropriate, bilingual-reviewed and accessible.</a:t>
            </a:r>
          </a:p>
        </p:txBody>
      </p:sp>
      <p:sp>
        <p:nvSpPr>
          <p:cNvPr id="21" name="">
            <a:extLst xmlns:a="http://schemas.openxmlformats.org/drawingml/2006/main">
              <a:ext uri="{FF2B5EF4-FFF2-40B4-BE49-F238E27FC236}">
                <a16:creationId xmlns:a16="http://schemas.microsoft.com/office/drawing/2014/main" id="{0B6E8B76-7FFF-4F8A-95A4-55627B404748}"/>
              </a:ext>
            </a:extLst>
          </p:cNvPr>
          <p:cNvSpPr>
            <a:spLocks xmlns:a="http://schemas.openxmlformats.org/drawingml/2006/main" noGrp="1"/>
          </p:cNvSpPr>
          <p:nvPr/>
        </p:nvSpPr>
        <p:spPr>
          <a:xfrm xmlns:a="http://schemas.openxmlformats.org/drawingml/2006/main">
            <a:off x="1238250" y="495300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725" b="1">
                <a:solidFill>
                  <a:srgbClr val="082638"/>
                </a:solidFill>
                <a:latin typeface="Aptos"/>
                <a:ea typeface="Aptos"/>
                <a:cs typeface="Aptos"/>
              </a:defRPr>
            </a:pPr>
            <a:r>
              <a:rPr sz="1725" b="1">
                <a:solidFill>
                  <a:srgbClr val="082638"/>
                </a:solidFill>
                <a:latin typeface="Aptos"/>
                <a:ea typeface="Aptos"/>
                <a:cs typeface="Aptos"/>
              </a:rPr>
              <a:t>Nothing reaches a patient or external audience until the named reviewer approves it.</a:t>
            </a:r>
          </a:p>
        </p:txBody>
      </p:sp>
    </p:spTree>
    <p:extLst>
      <p:ext uri="{BB962C8B-B14F-4D97-AF65-F5344CB8AC3E}">
        <p14:creationId xmlns:p14="http://schemas.microsoft.com/office/powerpoint/2010/main" val="2015414796"/>
      </p:ext>
    </p:extLst>
  </p:cSld>
</p:sld>
</file>

<file path=ppt/slides/slide48.xml><?xml version="1.0" encoding="utf-8"?>
<p:sld xmlns:p="http://schemas.openxmlformats.org/presentationml/2006/main">
  <p:cSld>
    <p:bg>
      <p:bgPr>
        <a:solidFill xmlns:a="http://schemas.openxmlformats.org/drawingml/2006/main">
          <a:srgbClr val="087E7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0FC729-2BF6-44FE-BF18-E8FB82157F2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32FE14CC-423D-43EE-B438-64C9A74AD9B8}"/>
              </a:ext>
            </a:extLst>
          </p:cNvPr>
          <p:cNvSpPr>
            <a:spLocks xmlns:a="http://schemas.openxmlformats.org/drawingml/2006/main" noGrp="1"/>
          </p:cNvSpPr>
          <p:nvPr/>
        </p:nvSpPr>
        <p:spPr>
          <a:xfrm xmlns:a="http://schemas.openxmlformats.org/drawingml/2006/main">
            <a:off x="666750" y="590550"/>
            <a:ext cx="18097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087E78"/>
                </a:solidFill>
                <a:latin typeface="Aptos"/>
                <a:ea typeface="Aptos"/>
                <a:cs typeface="Aptos"/>
              </a:defRPr>
            </a:pPr>
            <a:r>
              <a:rPr sz="863" b="1">
                <a:solidFill>
                  <a:srgbClr val="087E78"/>
                </a:solidFill>
                <a:latin typeface="Aptos"/>
                <a:ea typeface="Aptos"/>
                <a:cs typeface="Aptos"/>
              </a:rPr>
              <a:t>LAB STATION 4</a:t>
            </a:r>
          </a:p>
        </p:txBody>
      </p:sp>
      <p:sp>
        <p:nvSpPr>
          <p:cNvPr id="3" name="">
            <a:extLst xmlns:a="http://schemas.openxmlformats.org/drawingml/2006/main">
              <a:ext uri="{FF2B5EF4-FFF2-40B4-BE49-F238E27FC236}">
                <a16:creationId xmlns:a16="http://schemas.microsoft.com/office/drawing/2014/main" id="{2A8F3A08-6D08-43CD-B52C-34DC5EB942C3}"/>
              </a:ext>
            </a:extLst>
          </p:cNvPr>
          <p:cNvSpPr>
            <a:spLocks xmlns:a="http://schemas.openxmlformats.org/drawingml/2006/main" noGrp="1"/>
          </p:cNvSpPr>
          <p:nvPr/>
        </p:nvSpPr>
        <p:spPr>
          <a:xfrm xmlns:a="http://schemas.openxmlformats.org/drawingml/2006/main">
            <a:off x="666750" y="1476375"/>
            <a:ext cx="10572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4050" b="1">
                <a:solidFill>
                  <a:srgbClr val="FFFFFF"/>
                </a:solidFill>
                <a:latin typeface="Aptos"/>
                <a:ea typeface="Aptos"/>
                <a:cs typeface="Aptos"/>
              </a:defRPr>
            </a:pPr>
            <a:r>
              <a:rPr sz="4050" b="1">
                <a:solidFill>
                  <a:srgbClr val="FFFFFF"/>
                </a:solidFill>
                <a:latin typeface="Aptos"/>
                <a:ea typeface="Aptos"/>
                <a:cs typeface="Aptos"/>
              </a:rPr>
              <a:t>Station 4: Research + teaching</a:t>
            </a:r>
          </a:p>
        </p:txBody>
      </p:sp>
      <p:sp>
        <p:nvSpPr>
          <p:cNvPr id="4" name="">
            <a:extLst xmlns:a="http://schemas.openxmlformats.org/drawingml/2006/main">
              <a:ext uri="{FF2B5EF4-FFF2-40B4-BE49-F238E27FC236}">
                <a16:creationId xmlns:a16="http://schemas.microsoft.com/office/drawing/2014/main" id="{8A662E18-CE5B-4347-AF8C-84F7663B9B49}"/>
              </a:ext>
            </a:extLst>
          </p:cNvPr>
          <p:cNvSpPr>
            <a:spLocks xmlns:a="http://schemas.openxmlformats.org/drawingml/2006/main" noGrp="1"/>
          </p:cNvSpPr>
          <p:nvPr/>
        </p:nvSpPr>
        <p:spPr>
          <a:xfrm xmlns:a="http://schemas.openxmlformats.org/drawingml/2006/main">
            <a:off x="704850" y="321945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0">
                <a:solidFill>
                  <a:srgbClr val="FFFFFF"/>
                </a:solidFill>
                <a:latin typeface="Aptos"/>
                <a:ea typeface="Aptos"/>
                <a:cs typeface="Aptos"/>
              </a:defRPr>
            </a:pPr>
            <a:r>
              <a:rPr sz="1950" b="0">
                <a:solidFill>
                  <a:srgbClr val="FFFFFF"/>
                </a:solidFill>
                <a:latin typeface="Aptos"/>
                <a:ea typeface="Aptos"/>
                <a:cs typeface="Aptos"/>
              </a:rPr>
              <a:t>Use a transparent evidence stack, then turn it into a Socratic discussion—not an answer generator.</a:t>
            </a:r>
          </a:p>
        </p:txBody>
      </p:sp>
      <p:sp>
        <p:nvSpPr>
          <p:cNvPr id="5" name="">
            <a:extLst xmlns:a="http://schemas.openxmlformats.org/drawingml/2006/main">
              <a:ext uri="{FF2B5EF4-FFF2-40B4-BE49-F238E27FC236}">
                <a16:creationId xmlns:a16="http://schemas.microsoft.com/office/drawing/2014/main" id="{9D5B9360-89B8-4ED3-9FAC-DCAF1B3BB343}"/>
              </a:ext>
            </a:extLst>
          </p:cNvPr>
          <p:cNvSpPr>
            <a:spLocks xmlns:a="http://schemas.openxmlformats.org/drawingml/2006/main" noGrp="1"/>
          </p:cNvSpPr>
          <p:nvPr/>
        </p:nvSpPr>
        <p:spPr>
          <a:xfrm xmlns:a="http://schemas.openxmlformats.org/drawingml/2006/main">
            <a:off x="704850" y="4495800"/>
            <a:ext cx="66675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1CFD1DEF-4870-4E63-B735-1B6A133D4B1F}"/>
              </a:ext>
            </a:extLst>
          </p:cNvPr>
          <p:cNvSpPr>
            <a:spLocks xmlns:a="http://schemas.openxmlformats.org/drawingml/2006/main" noGrp="1"/>
          </p:cNvSpPr>
          <p:nvPr/>
        </p:nvSpPr>
        <p:spPr>
          <a:xfrm xmlns:a="http://schemas.openxmlformats.org/drawingml/2006/main">
            <a:off x="704850" y="4762500"/>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FFFFFF"/>
                </a:solidFill>
                <a:latin typeface="Aptos"/>
                <a:ea typeface="Aptos"/>
                <a:cs typeface="Aptos"/>
              </a:defRPr>
            </a:pPr>
            <a:r>
              <a:rPr sz="1500" b="1">
                <a:solidFill>
                  <a:srgbClr val="FFFFFF"/>
                </a:solidFill>
                <a:latin typeface="Aptos"/>
                <a:ea typeface="Aptos"/>
                <a:cs typeface="Aptos"/>
              </a:rPr>
              <a:t>AI assists  •  Professionals decide  •  Patients remain the purpose</a:t>
            </a:r>
          </a:p>
        </p:txBody>
      </p:sp>
      <p:sp>
        <p:nvSpPr>
          <p:cNvPr id="7" name="">
            <a:extLst xmlns:a="http://schemas.openxmlformats.org/drawingml/2006/main">
              <a:ext uri="{FF2B5EF4-FFF2-40B4-BE49-F238E27FC236}">
                <a16:creationId xmlns:a16="http://schemas.microsoft.com/office/drawing/2014/main" id="{5EE59DAF-BDB2-401D-A594-F3AB842C9F1E}"/>
              </a:ext>
            </a:extLst>
          </p:cNvPr>
          <p:cNvSpPr>
            <a:spLocks xmlns:a="http://schemas.openxmlformats.org/drawingml/2006/main" noGrp="1"/>
          </p:cNvSpPr>
          <p:nvPr/>
        </p:nvSpPr>
        <p:spPr>
          <a:xfrm xmlns:a="http://schemas.openxmlformats.org/drawingml/2006/main">
            <a:off x="11049000" y="62103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75" b="1">
                <a:solidFill>
                  <a:srgbClr val="FFFFFF"/>
                </a:solidFill>
                <a:latin typeface="Aptos"/>
                <a:ea typeface="Aptos"/>
                <a:cs typeface="Aptos"/>
              </a:defRPr>
            </a:pPr>
            <a:r>
              <a:rPr sz="975" b="1">
                <a:solidFill>
                  <a:srgbClr val="FFFFFF"/>
                </a:solidFill>
                <a:latin typeface="Aptos"/>
                <a:ea typeface="Aptos"/>
                <a:cs typeface="Aptos"/>
              </a:rPr>
              <a:t>48</a:t>
            </a:r>
          </a:p>
        </p:txBody>
      </p:sp>
    </p:spTree>
    <p:extLst>
      <p:ext uri="{BB962C8B-B14F-4D97-AF65-F5344CB8AC3E}">
        <p14:creationId xmlns:p14="http://schemas.microsoft.com/office/powerpoint/2010/main" val="920183749"/>
      </p:ext>
    </p:extLst>
  </p:cSld>
</p:sld>
</file>

<file path=ppt/slides/slide49.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51EA00-9948-4069-B8F7-051A4E8EA6F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79DE3762-B21F-40FD-BD26-9A473898D28E}"/>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9016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4 TOOL MAP</a:t>
            </a:r>
          </a:p>
        </p:txBody>
      </p:sp>
      <p:sp>
        <p:nvSpPr>
          <p:cNvPr id="3" name="">
            <a:extLst xmlns:a="http://schemas.openxmlformats.org/drawingml/2006/main">
              <a:ext uri="{FF2B5EF4-FFF2-40B4-BE49-F238E27FC236}">
                <a16:creationId xmlns:a16="http://schemas.microsoft.com/office/drawing/2014/main" id="{2A6206BC-5B2A-4B71-A8DF-8B4412023B3D}"/>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A research stack is a sequence of checks</a:t>
            </a:r>
          </a:p>
        </p:txBody>
      </p:sp>
      <p:sp>
        <p:nvSpPr>
          <p:cNvPr id="4" name="">
            <a:extLst xmlns:a="http://schemas.openxmlformats.org/drawingml/2006/main">
              <a:ext uri="{FF2B5EF4-FFF2-40B4-BE49-F238E27FC236}">
                <a16:creationId xmlns:a16="http://schemas.microsoft.com/office/drawing/2014/main" id="{807EAA18-95DB-4EA6-BE01-032C498014E0}"/>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DB499C2C-7A23-4066-AB18-8A0B7EF7708D}"/>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89EA50F5-4C05-41E7-8709-3A5169A5FF49}"/>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7637F100-26C0-490A-998D-1148CA2DA670}"/>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PubMed • Elicit • ResearchRabbit • Scite official pages</a:t>
            </a:r>
          </a:p>
        </p:txBody>
      </p:sp>
      <p:sp>
        <p:nvSpPr>
          <p:cNvPr id="8" name="">
            <a:extLst xmlns:a="http://schemas.openxmlformats.org/drawingml/2006/main">
              <a:ext uri="{FF2B5EF4-FFF2-40B4-BE49-F238E27FC236}">
                <a16:creationId xmlns:a16="http://schemas.microsoft.com/office/drawing/2014/main" id="{86C33C01-E5AB-49E5-B532-4E61718F00FD}"/>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9363B0A7-81C3-4FC2-BBBB-C7E90A6C90CE}"/>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49</a:t>
            </a:r>
          </a:p>
        </p:txBody>
      </p:sp>
      <p:sp>
        <p:nvSpPr>
          <p:cNvPr id="10" name="">
            <a:extLst xmlns:a="http://schemas.openxmlformats.org/drawingml/2006/main">
              <a:ext uri="{FF2B5EF4-FFF2-40B4-BE49-F238E27FC236}">
                <a16:creationId xmlns:a16="http://schemas.microsoft.com/office/drawing/2014/main" id="{75E98224-8DAE-4E13-A85A-FAA819E06874}"/>
              </a:ext>
            </a:extLst>
          </p:cNvPr>
          <p:cNvSpPr>
            <a:spLocks xmlns:a="http://schemas.openxmlformats.org/drawingml/2006/main" noGrp="1"/>
          </p:cNvSpPr>
          <p:nvPr/>
        </p:nvSpPr>
        <p:spPr>
          <a:xfrm xmlns:a="http://schemas.openxmlformats.org/drawingml/2006/main">
            <a:off x="6096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36805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9DC92C49-798F-4474-896B-3F7C49C42436}"/>
              </a:ext>
            </a:extLst>
          </p:cNvPr>
          <p:cNvSpPr>
            <a:spLocks xmlns:a="http://schemas.openxmlformats.org/drawingml/2006/main" noGrp="1"/>
          </p:cNvSpPr>
          <p:nvPr/>
        </p:nvSpPr>
        <p:spPr>
          <a:xfrm xmlns:a="http://schemas.openxmlformats.org/drawingml/2006/main">
            <a:off x="762000" y="1905000"/>
            <a:ext cx="819150" cy="266700"/>
          </a:xfrm>
          <a:prstGeom xmlns:a="http://schemas.openxmlformats.org/drawingml/2006/main" prst="roundRect">
            <a:avLst>
              <a:gd name="adj" fmla="val 50000"/>
            </a:avLst>
          </a:prstGeom>
          <a:solidFill xmlns:a="http://schemas.openxmlformats.org/drawingml/2006/main">
            <a:srgbClr val="36805F"/>
          </a:solidFill>
          <a:ln xmlns:a="http://schemas.openxmlformats.org/drawingml/2006/main" w="9525">
            <a:solidFill>
              <a:srgbClr val="36805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DISCOVER</a:t>
            </a:r>
          </a:p>
        </p:txBody>
      </p:sp>
      <p:sp>
        <p:nvSpPr>
          <p:cNvPr id="12" name="">
            <a:extLst xmlns:a="http://schemas.openxmlformats.org/drawingml/2006/main">
              <a:ext uri="{FF2B5EF4-FFF2-40B4-BE49-F238E27FC236}">
                <a16:creationId xmlns:a16="http://schemas.microsoft.com/office/drawing/2014/main" id="{044FF0B0-C824-49B0-A3E2-8B79681631F8}"/>
              </a:ext>
            </a:extLst>
          </p:cNvPr>
          <p:cNvSpPr>
            <a:spLocks xmlns:a="http://schemas.openxmlformats.org/drawingml/2006/main" noGrp="1"/>
          </p:cNvSpPr>
          <p:nvPr/>
        </p:nvSpPr>
        <p:spPr>
          <a:xfrm xmlns:a="http://schemas.openxmlformats.org/drawingml/2006/main">
            <a:off x="7810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PubMed + Elicit</a:t>
            </a:r>
          </a:p>
        </p:txBody>
      </p:sp>
      <p:sp>
        <p:nvSpPr>
          <p:cNvPr id="13" name="">
            <a:extLst xmlns:a="http://schemas.openxmlformats.org/drawingml/2006/main">
              <a:ext uri="{FF2B5EF4-FFF2-40B4-BE49-F238E27FC236}">
                <a16:creationId xmlns:a16="http://schemas.microsoft.com/office/drawing/2014/main" id="{46AAFCAF-42EB-480E-A4FE-D7CE45E85570}"/>
              </a:ext>
            </a:extLst>
          </p:cNvPr>
          <p:cNvSpPr>
            <a:spLocks xmlns:a="http://schemas.openxmlformats.org/drawingml/2006/main" noGrp="1"/>
          </p:cNvSpPr>
          <p:nvPr/>
        </p:nvSpPr>
        <p:spPr>
          <a:xfrm xmlns:a="http://schemas.openxmlformats.org/drawingml/2006/main">
            <a:off x="7810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Free search plus free-tier synthesis; inspect query, inclusion and source records.</a:t>
            </a:r>
          </a:p>
        </p:txBody>
      </p:sp>
      <p:sp>
        <p:nvSpPr>
          <p:cNvPr id="14" name="">
            <a:extLst xmlns:a="http://schemas.openxmlformats.org/drawingml/2006/main">
              <a:ext uri="{FF2B5EF4-FFF2-40B4-BE49-F238E27FC236}">
                <a16:creationId xmlns:a16="http://schemas.microsoft.com/office/drawing/2014/main" id="{BE099F25-7F59-4F91-9E98-344B6A839037}"/>
              </a:ext>
            </a:extLst>
          </p:cNvPr>
          <p:cNvSpPr>
            <a:spLocks xmlns:a="http://schemas.openxmlformats.org/drawingml/2006/main" noGrp="1"/>
          </p:cNvSpPr>
          <p:nvPr/>
        </p:nvSpPr>
        <p:spPr>
          <a:xfrm xmlns:a="http://schemas.openxmlformats.org/drawingml/2006/main">
            <a:off x="433705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087E7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3C7F4437-DB24-4BAF-990F-BE0AC34D0882}"/>
              </a:ext>
            </a:extLst>
          </p:cNvPr>
          <p:cNvSpPr>
            <a:spLocks xmlns:a="http://schemas.openxmlformats.org/drawingml/2006/main" noGrp="1"/>
          </p:cNvSpPr>
          <p:nvPr/>
        </p:nvSpPr>
        <p:spPr>
          <a:xfrm xmlns:a="http://schemas.openxmlformats.org/drawingml/2006/main">
            <a:off x="4489450" y="1905000"/>
            <a:ext cx="8191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MAP</a:t>
            </a:r>
          </a:p>
        </p:txBody>
      </p:sp>
      <p:sp>
        <p:nvSpPr>
          <p:cNvPr id="16" name="">
            <a:extLst xmlns:a="http://schemas.openxmlformats.org/drawingml/2006/main">
              <a:ext uri="{FF2B5EF4-FFF2-40B4-BE49-F238E27FC236}">
                <a16:creationId xmlns:a16="http://schemas.microsoft.com/office/drawing/2014/main" id="{AAEDB32B-6576-4677-9694-53A966BCFB4E}"/>
              </a:ext>
            </a:extLst>
          </p:cNvPr>
          <p:cNvSpPr>
            <a:spLocks xmlns:a="http://schemas.openxmlformats.org/drawingml/2006/main" noGrp="1"/>
          </p:cNvSpPr>
          <p:nvPr/>
        </p:nvSpPr>
        <p:spPr>
          <a:xfrm xmlns:a="http://schemas.openxmlformats.org/drawingml/2006/main">
            <a:off x="450850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ResearchRabbit</a:t>
            </a:r>
          </a:p>
        </p:txBody>
      </p:sp>
      <p:sp>
        <p:nvSpPr>
          <p:cNvPr id="17" name="">
            <a:extLst xmlns:a="http://schemas.openxmlformats.org/drawingml/2006/main">
              <a:ext uri="{FF2B5EF4-FFF2-40B4-BE49-F238E27FC236}">
                <a16:creationId xmlns:a16="http://schemas.microsoft.com/office/drawing/2014/main" id="{48CBA87A-A661-4738-B6B3-74C05802A2DA}"/>
              </a:ext>
            </a:extLst>
          </p:cNvPr>
          <p:cNvSpPr>
            <a:spLocks xmlns:a="http://schemas.openxmlformats.org/drawingml/2006/main" noGrp="1"/>
          </p:cNvSpPr>
          <p:nvPr/>
        </p:nvSpPr>
        <p:spPr>
          <a:xfrm xmlns:a="http://schemas.openxmlformats.org/drawingml/2006/main">
            <a:off x="450850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Free core; follow citation and author networks without confusing proximity with quality.</a:t>
            </a:r>
          </a:p>
        </p:txBody>
      </p:sp>
      <p:sp>
        <p:nvSpPr>
          <p:cNvPr id="18" name="">
            <a:extLst xmlns:a="http://schemas.openxmlformats.org/drawingml/2006/main">
              <a:ext uri="{FF2B5EF4-FFF2-40B4-BE49-F238E27FC236}">
                <a16:creationId xmlns:a16="http://schemas.microsoft.com/office/drawing/2014/main" id="{CEC8408B-C2CD-4AD6-ADA9-ECBB413E1EDA}"/>
              </a:ext>
            </a:extLst>
          </p:cNvPr>
          <p:cNvSpPr>
            <a:spLocks xmlns:a="http://schemas.openxmlformats.org/drawingml/2006/main" noGrp="1"/>
          </p:cNvSpPr>
          <p:nvPr/>
        </p:nvSpPr>
        <p:spPr>
          <a:xfrm xmlns:a="http://schemas.openxmlformats.org/drawingml/2006/main">
            <a:off x="8064500" y="1762125"/>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C5902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CE0B2627-C95B-4DF7-BC62-76027543839D}"/>
              </a:ext>
            </a:extLst>
          </p:cNvPr>
          <p:cNvSpPr>
            <a:spLocks xmlns:a="http://schemas.openxmlformats.org/drawingml/2006/main" noGrp="1"/>
          </p:cNvSpPr>
          <p:nvPr/>
        </p:nvSpPr>
        <p:spPr>
          <a:xfrm xmlns:a="http://schemas.openxmlformats.org/drawingml/2006/main">
            <a:off x="8216900" y="1905000"/>
            <a:ext cx="8191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CHECK</a:t>
            </a:r>
          </a:p>
        </p:txBody>
      </p:sp>
      <p:sp>
        <p:nvSpPr>
          <p:cNvPr id="20" name="">
            <a:extLst xmlns:a="http://schemas.openxmlformats.org/drawingml/2006/main">
              <a:ext uri="{FF2B5EF4-FFF2-40B4-BE49-F238E27FC236}">
                <a16:creationId xmlns:a16="http://schemas.microsoft.com/office/drawing/2014/main" id="{91C5DC13-5805-4CDD-B378-D9A7F8478B38}"/>
              </a:ext>
            </a:extLst>
          </p:cNvPr>
          <p:cNvSpPr>
            <a:spLocks xmlns:a="http://schemas.openxmlformats.org/drawingml/2006/main" noGrp="1"/>
          </p:cNvSpPr>
          <p:nvPr/>
        </p:nvSpPr>
        <p:spPr>
          <a:xfrm xmlns:a="http://schemas.openxmlformats.org/drawingml/2006/main">
            <a:off x="8235950" y="2257425"/>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Scite</a:t>
            </a:r>
          </a:p>
        </p:txBody>
      </p:sp>
      <p:sp>
        <p:nvSpPr>
          <p:cNvPr id="21" name="">
            <a:extLst xmlns:a="http://schemas.openxmlformats.org/drawingml/2006/main">
              <a:ext uri="{FF2B5EF4-FFF2-40B4-BE49-F238E27FC236}">
                <a16:creationId xmlns:a16="http://schemas.microsoft.com/office/drawing/2014/main" id="{A583DA5F-DDF7-4E25-BD8B-5A4ED86DADD4}"/>
              </a:ext>
            </a:extLst>
          </p:cNvPr>
          <p:cNvSpPr>
            <a:spLocks xmlns:a="http://schemas.openxmlformats.org/drawingml/2006/main" noGrp="1"/>
          </p:cNvSpPr>
          <p:nvPr/>
        </p:nvSpPr>
        <p:spPr>
          <a:xfrm xmlns:a="http://schemas.openxmlformats.org/drawingml/2006/main">
            <a:off x="8235950" y="2628900"/>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Limited free + paid; inspect citation context, then open the original study.</a:t>
            </a:r>
          </a:p>
        </p:txBody>
      </p:sp>
      <p:sp>
        <p:nvSpPr>
          <p:cNvPr id="22" name="">
            <a:extLst xmlns:a="http://schemas.openxmlformats.org/drawingml/2006/main">
              <a:ext uri="{FF2B5EF4-FFF2-40B4-BE49-F238E27FC236}">
                <a16:creationId xmlns:a16="http://schemas.microsoft.com/office/drawing/2014/main" id="{C3E06352-1A99-42D0-8549-FE62D058DEF0}"/>
              </a:ext>
            </a:extLst>
          </p:cNvPr>
          <p:cNvSpPr>
            <a:spLocks xmlns:a="http://schemas.openxmlformats.org/drawingml/2006/main" noGrp="1"/>
          </p:cNvSpPr>
          <p:nvPr/>
        </p:nvSpPr>
        <p:spPr>
          <a:xfrm xmlns:a="http://schemas.openxmlformats.org/drawingml/2006/main">
            <a:off x="609600" y="3333750"/>
            <a:ext cx="3498850" cy="1381125"/>
          </a:xfrm>
          <a:prstGeom xmlns:a="http://schemas.openxmlformats.org/drawingml/2006/main" prst="roundRect">
            <a:avLst>
              <a:gd name="adj" fmla="val 12414"/>
            </a:avLst>
          </a:prstGeom>
          <a:solidFill xmlns:a="http://schemas.openxmlformats.org/drawingml/2006/main">
            <a:srgbClr val="FFFDFC"/>
          </a:solidFill>
          <a:ln xmlns:a="http://schemas.openxmlformats.org/drawingml/2006/main" w="9525">
            <a:solidFill>
              <a:srgbClr val="E869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0DC53679-C02C-4F57-B6D2-A5808089E879}"/>
              </a:ext>
            </a:extLst>
          </p:cNvPr>
          <p:cNvSpPr>
            <a:spLocks xmlns:a="http://schemas.openxmlformats.org/drawingml/2006/main" noGrp="1"/>
          </p:cNvSpPr>
          <p:nvPr/>
        </p:nvSpPr>
        <p:spPr>
          <a:xfrm xmlns:a="http://schemas.openxmlformats.org/drawingml/2006/main">
            <a:off x="762000" y="3476625"/>
            <a:ext cx="8191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DISCUSS</a:t>
            </a:r>
          </a:p>
        </p:txBody>
      </p:sp>
      <p:sp>
        <p:nvSpPr>
          <p:cNvPr id="24" name="">
            <a:extLst xmlns:a="http://schemas.openxmlformats.org/drawingml/2006/main">
              <a:ext uri="{FF2B5EF4-FFF2-40B4-BE49-F238E27FC236}">
                <a16:creationId xmlns:a16="http://schemas.microsoft.com/office/drawing/2014/main" id="{35310136-ED63-491B-B3E5-319F97C248BE}"/>
              </a:ext>
            </a:extLst>
          </p:cNvPr>
          <p:cNvSpPr>
            <a:spLocks xmlns:a="http://schemas.openxmlformats.org/drawingml/2006/main" noGrp="1"/>
          </p:cNvSpPr>
          <p:nvPr/>
        </p:nvSpPr>
        <p:spPr>
          <a:xfrm xmlns:a="http://schemas.openxmlformats.org/drawingml/2006/main">
            <a:off x="781050" y="3829050"/>
            <a:ext cx="315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ChatGPT</a:t>
            </a:r>
          </a:p>
        </p:txBody>
      </p:sp>
      <p:sp>
        <p:nvSpPr>
          <p:cNvPr id="25" name="">
            <a:extLst xmlns:a="http://schemas.openxmlformats.org/drawingml/2006/main">
              <a:ext uri="{FF2B5EF4-FFF2-40B4-BE49-F238E27FC236}">
                <a16:creationId xmlns:a16="http://schemas.microsoft.com/office/drawing/2014/main" id="{3A3FF1DC-17D6-4102-8D2D-52F4973F6181}"/>
              </a:ext>
            </a:extLst>
          </p:cNvPr>
          <p:cNvSpPr>
            <a:spLocks xmlns:a="http://schemas.openxmlformats.org/drawingml/2006/main" noGrp="1"/>
          </p:cNvSpPr>
          <p:nvPr/>
        </p:nvSpPr>
        <p:spPr>
          <a:xfrm xmlns:a="http://schemas.openxmlformats.org/drawingml/2006/main">
            <a:off x="781050" y="4200525"/>
            <a:ext cx="3155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63" b="0">
                <a:solidFill>
                  <a:srgbClr val="183340"/>
                </a:solidFill>
                <a:latin typeface="Aptos"/>
                <a:ea typeface="Aptos"/>
                <a:cs typeface="Aptos"/>
              </a:defRPr>
            </a:pPr>
            <a:r>
              <a:rPr sz="1163" b="0">
                <a:solidFill>
                  <a:srgbClr val="183340"/>
                </a:solidFill>
                <a:latin typeface="Aptos"/>
                <a:ea typeface="Aptos"/>
                <a:cs typeface="Aptos"/>
              </a:rPr>
              <a:t>Structure PICO, appraisal, uncertainty and Socratic learning using supplied sources.</a:t>
            </a:r>
          </a:p>
        </p:txBody>
      </p:sp>
    </p:spTree>
    <p:extLst>
      <p:ext uri="{BB962C8B-B14F-4D97-AF65-F5344CB8AC3E}">
        <p14:creationId xmlns:p14="http://schemas.microsoft.com/office/powerpoint/2010/main" val="537235421"/>
      </p:ext>
    </p:extLst>
  </p:cSld>
</p:sld>
</file>

<file path=ppt/slides/slide50.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78A79EA-9CD7-4A47-AF28-E70BD822B19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C59028"/>
          </a:solidFill>
          <a:ln xmlns:a="http://schemas.openxmlformats.org/drawingml/2006/main" w="0">
            <a:solidFill>
              <a:srgbClr val="C59028"/>
            </a:solidFill>
            <a:prstDash val="solid"/>
          </a:ln>
        </p:spPr>
      </p:sp>
      <p:sp>
        <p:nvSpPr>
          <p:cNvPr id="2" name="">
            <a:extLst xmlns:a="http://schemas.openxmlformats.org/drawingml/2006/main">
              <a:ext uri="{FF2B5EF4-FFF2-40B4-BE49-F238E27FC236}">
                <a16:creationId xmlns:a16="http://schemas.microsoft.com/office/drawing/2014/main" id="{A34218FD-DCBA-408F-930F-2EE1E07F111F}"/>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4 PICO</a:t>
            </a:r>
          </a:p>
        </p:txBody>
      </p:sp>
      <p:sp>
        <p:nvSpPr>
          <p:cNvPr id="3" name="">
            <a:extLst xmlns:a="http://schemas.openxmlformats.org/drawingml/2006/main">
              <a:ext uri="{FF2B5EF4-FFF2-40B4-BE49-F238E27FC236}">
                <a16:creationId xmlns:a16="http://schemas.microsoft.com/office/drawing/2014/main" id="{91A934C7-4D74-4BFE-BABB-82F0F97EDA5C}"/>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Start with a decision-shaped question</a:t>
            </a:r>
          </a:p>
        </p:txBody>
      </p:sp>
      <p:sp>
        <p:nvSpPr>
          <p:cNvPr id="4" name="">
            <a:extLst xmlns:a="http://schemas.openxmlformats.org/drawingml/2006/main">
              <a:ext uri="{FF2B5EF4-FFF2-40B4-BE49-F238E27FC236}">
                <a16:creationId xmlns:a16="http://schemas.microsoft.com/office/drawing/2014/main" id="{D2B9184E-2804-41F6-A0B5-DDE430F1BFEB}"/>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E3D96443-8D29-4A67-A539-8A5D8027F05F}"/>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804ADC96-9C0E-43F5-8CEC-267B262DDA0D}"/>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F5D0C3FB-DC5C-49FF-A02C-A65B2270C7DD}"/>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8" name="">
            <a:extLst xmlns:a="http://schemas.openxmlformats.org/drawingml/2006/main">
              <a:ext uri="{FF2B5EF4-FFF2-40B4-BE49-F238E27FC236}">
                <a16:creationId xmlns:a16="http://schemas.microsoft.com/office/drawing/2014/main" id="{EA683F86-C8E8-4557-87D1-C9F10DACF917}"/>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50</a:t>
            </a:r>
          </a:p>
        </p:txBody>
      </p:sp>
      <p:sp>
        <p:nvSpPr>
          <p:cNvPr id="9" name="">
            <a:extLst xmlns:a="http://schemas.openxmlformats.org/drawingml/2006/main">
              <a:ext uri="{FF2B5EF4-FFF2-40B4-BE49-F238E27FC236}">
                <a16:creationId xmlns:a16="http://schemas.microsoft.com/office/drawing/2014/main" id="{40F13274-33B6-42F0-AFD1-72E7927B62AA}"/>
              </a:ext>
            </a:extLst>
          </p:cNvPr>
          <p:cNvSpPr>
            <a:spLocks xmlns:a="http://schemas.openxmlformats.org/drawingml/2006/main" noGrp="1"/>
          </p:cNvSpPr>
          <p:nvPr/>
        </p:nvSpPr>
        <p:spPr>
          <a:xfrm xmlns:a="http://schemas.openxmlformats.org/drawingml/2006/main">
            <a:off x="619125" y="2047875"/>
            <a:ext cx="2476500" cy="2476500"/>
          </a:xfrm>
          <a:prstGeom xmlns:a="http://schemas.openxmlformats.org/drawingml/2006/main" prst="roundRect">
            <a:avLst>
              <a:gd name="adj" fmla="val 7692"/>
            </a:avLst>
          </a:prstGeom>
          <a:solidFill xmlns:a="http://schemas.openxmlformats.org/drawingml/2006/main">
            <a:srgbClr val="FFFDFC"/>
          </a:solidFill>
          <a:ln xmlns:a="http://schemas.openxmlformats.org/drawingml/2006/main" w="9525">
            <a:solidFill>
              <a:srgbClr val="C59028"/>
            </a:solidFill>
            <a:prstDash val="solid"/>
          </a:ln>
        </p:spPr>
      </p:sp>
      <p:sp>
        <p:nvSpPr>
          <p:cNvPr id="10" name="">
            <a:extLst xmlns:a="http://schemas.openxmlformats.org/drawingml/2006/main">
              <a:ext uri="{FF2B5EF4-FFF2-40B4-BE49-F238E27FC236}">
                <a16:creationId xmlns:a16="http://schemas.microsoft.com/office/drawing/2014/main" id="{2D5CD691-E2AD-4373-AF33-B3E8679B893F}"/>
              </a:ext>
            </a:extLst>
          </p:cNvPr>
          <p:cNvSpPr>
            <a:spLocks xmlns:a="http://schemas.openxmlformats.org/drawingml/2006/main" noGrp="1"/>
          </p:cNvSpPr>
          <p:nvPr/>
        </p:nvSpPr>
        <p:spPr>
          <a:xfrm xmlns:a="http://schemas.openxmlformats.org/drawingml/2006/main">
            <a:off x="828675" y="2238375"/>
            <a:ext cx="457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2550" b="1">
                <a:solidFill>
                  <a:srgbClr val="C59028"/>
                </a:solidFill>
                <a:latin typeface="Aptos"/>
                <a:ea typeface="Aptos"/>
                <a:cs typeface="Aptos"/>
              </a:defRPr>
            </a:pPr>
            <a:r>
              <a:rPr sz="2550" b="1">
                <a:solidFill>
                  <a:srgbClr val="C59028"/>
                </a:solidFill>
                <a:latin typeface="Aptos"/>
                <a:ea typeface="Aptos"/>
                <a:cs typeface="Aptos"/>
              </a:rPr>
              <a:t>P</a:t>
            </a:r>
          </a:p>
        </p:txBody>
      </p:sp>
      <p:sp>
        <p:nvSpPr>
          <p:cNvPr id="11" name="">
            <a:extLst xmlns:a="http://schemas.openxmlformats.org/drawingml/2006/main">
              <a:ext uri="{FF2B5EF4-FFF2-40B4-BE49-F238E27FC236}">
                <a16:creationId xmlns:a16="http://schemas.microsoft.com/office/drawing/2014/main" id="{852A83A5-8EA6-4016-A54D-9B627D35FD1B}"/>
              </a:ext>
            </a:extLst>
          </p:cNvPr>
          <p:cNvSpPr>
            <a:spLocks xmlns:a="http://schemas.openxmlformats.org/drawingml/2006/main" noGrp="1"/>
          </p:cNvSpPr>
          <p:nvPr/>
        </p:nvSpPr>
        <p:spPr>
          <a:xfrm xmlns:a="http://schemas.openxmlformats.org/drawingml/2006/main">
            <a:off x="1381125" y="2333625"/>
            <a:ext cx="1476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Population</a:t>
            </a:r>
          </a:p>
        </p:txBody>
      </p:sp>
      <p:sp>
        <p:nvSpPr>
          <p:cNvPr id="12" name="">
            <a:extLst xmlns:a="http://schemas.openxmlformats.org/drawingml/2006/main">
              <a:ext uri="{FF2B5EF4-FFF2-40B4-BE49-F238E27FC236}">
                <a16:creationId xmlns:a16="http://schemas.microsoft.com/office/drawing/2014/main" id="{C5BB7426-B1E5-4368-B07B-E4665985A4C6}"/>
              </a:ext>
            </a:extLst>
          </p:cNvPr>
          <p:cNvSpPr>
            <a:spLocks xmlns:a="http://schemas.openxmlformats.org/drawingml/2006/main" noGrp="1"/>
          </p:cNvSpPr>
          <p:nvPr/>
        </p:nvSpPr>
        <p:spPr>
          <a:xfrm xmlns:a="http://schemas.openxmlformats.org/drawingml/2006/main">
            <a:off x="847725" y="3086100"/>
            <a:ext cx="2019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575" b="1">
                <a:solidFill>
                  <a:srgbClr val="183340"/>
                </a:solidFill>
                <a:latin typeface="Aptos"/>
                <a:ea typeface="Aptos"/>
                <a:cs typeface="Aptos"/>
              </a:defRPr>
            </a:pPr>
            <a:r>
              <a:rPr sz="1575" b="1">
                <a:solidFill>
                  <a:srgbClr val="183340"/>
                </a:solidFill>
                <a:latin typeface="Aptos"/>
                <a:ea typeface="Aptos"/>
                <a:cs typeface="Aptos"/>
              </a:rPr>
              <a:t>Which patients or professionals?</a:t>
            </a:r>
          </a:p>
        </p:txBody>
      </p:sp>
      <p:sp>
        <p:nvSpPr>
          <p:cNvPr id="13" name="">
            <a:extLst xmlns:a="http://schemas.openxmlformats.org/drawingml/2006/main">
              <a:ext uri="{FF2B5EF4-FFF2-40B4-BE49-F238E27FC236}">
                <a16:creationId xmlns:a16="http://schemas.microsoft.com/office/drawing/2014/main" id="{60FD7DF2-E89F-4206-A457-A8AB0BDC51D8}"/>
              </a:ext>
            </a:extLst>
          </p:cNvPr>
          <p:cNvSpPr>
            <a:spLocks xmlns:a="http://schemas.openxmlformats.org/drawingml/2006/main" noGrp="1"/>
          </p:cNvSpPr>
          <p:nvPr/>
        </p:nvSpPr>
        <p:spPr>
          <a:xfrm xmlns:a="http://schemas.openxmlformats.org/drawingml/2006/main">
            <a:off x="3400425" y="2047875"/>
            <a:ext cx="2476500" cy="2476500"/>
          </a:xfrm>
          <a:prstGeom xmlns:a="http://schemas.openxmlformats.org/drawingml/2006/main" prst="roundRect">
            <a:avLst>
              <a:gd name="adj" fmla="val 7692"/>
            </a:avLst>
          </a:prstGeom>
          <a:solidFill xmlns:a="http://schemas.openxmlformats.org/drawingml/2006/main">
            <a:srgbClr val="FFFDFC"/>
          </a:solidFill>
          <a:ln xmlns:a="http://schemas.openxmlformats.org/drawingml/2006/main" w="9525">
            <a:solidFill>
              <a:srgbClr val="C59028"/>
            </a:solidFill>
            <a:prstDash val="solid"/>
          </a:ln>
        </p:spPr>
      </p:sp>
      <p:sp>
        <p:nvSpPr>
          <p:cNvPr id="14" name="">
            <a:extLst xmlns:a="http://schemas.openxmlformats.org/drawingml/2006/main">
              <a:ext uri="{FF2B5EF4-FFF2-40B4-BE49-F238E27FC236}">
                <a16:creationId xmlns:a16="http://schemas.microsoft.com/office/drawing/2014/main" id="{E37447B1-D0EE-4A5A-82ED-CC5556C0C4DB}"/>
              </a:ext>
            </a:extLst>
          </p:cNvPr>
          <p:cNvSpPr>
            <a:spLocks xmlns:a="http://schemas.openxmlformats.org/drawingml/2006/main" noGrp="1"/>
          </p:cNvSpPr>
          <p:nvPr/>
        </p:nvSpPr>
        <p:spPr>
          <a:xfrm xmlns:a="http://schemas.openxmlformats.org/drawingml/2006/main">
            <a:off x="3609975" y="2238375"/>
            <a:ext cx="457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2550" b="1">
                <a:solidFill>
                  <a:srgbClr val="C59028"/>
                </a:solidFill>
                <a:latin typeface="Aptos"/>
                <a:ea typeface="Aptos"/>
                <a:cs typeface="Aptos"/>
              </a:defRPr>
            </a:pPr>
            <a:r>
              <a:rPr sz="2550" b="1">
                <a:solidFill>
                  <a:srgbClr val="C59028"/>
                </a:solidFill>
                <a:latin typeface="Aptos"/>
                <a:ea typeface="Aptos"/>
                <a:cs typeface="Aptos"/>
              </a:rPr>
              <a:t>I</a:t>
            </a:r>
          </a:p>
        </p:txBody>
      </p:sp>
      <p:sp>
        <p:nvSpPr>
          <p:cNvPr id="15" name="">
            <a:extLst xmlns:a="http://schemas.openxmlformats.org/drawingml/2006/main">
              <a:ext uri="{FF2B5EF4-FFF2-40B4-BE49-F238E27FC236}">
                <a16:creationId xmlns:a16="http://schemas.microsoft.com/office/drawing/2014/main" id="{6CCCE0BF-518C-490B-8375-B99689BFB35E}"/>
              </a:ext>
            </a:extLst>
          </p:cNvPr>
          <p:cNvSpPr>
            <a:spLocks xmlns:a="http://schemas.openxmlformats.org/drawingml/2006/main" noGrp="1"/>
          </p:cNvSpPr>
          <p:nvPr/>
        </p:nvSpPr>
        <p:spPr>
          <a:xfrm xmlns:a="http://schemas.openxmlformats.org/drawingml/2006/main">
            <a:off x="4162425" y="2333625"/>
            <a:ext cx="1476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Intervention</a:t>
            </a:r>
          </a:p>
        </p:txBody>
      </p:sp>
      <p:sp>
        <p:nvSpPr>
          <p:cNvPr id="16" name="">
            <a:extLst xmlns:a="http://schemas.openxmlformats.org/drawingml/2006/main">
              <a:ext uri="{FF2B5EF4-FFF2-40B4-BE49-F238E27FC236}">
                <a16:creationId xmlns:a16="http://schemas.microsoft.com/office/drawing/2014/main" id="{D4233ECA-EB3B-4BDC-A9AD-C6BAA6B82C4F}"/>
              </a:ext>
            </a:extLst>
          </p:cNvPr>
          <p:cNvSpPr>
            <a:spLocks xmlns:a="http://schemas.openxmlformats.org/drawingml/2006/main" noGrp="1"/>
          </p:cNvSpPr>
          <p:nvPr/>
        </p:nvSpPr>
        <p:spPr>
          <a:xfrm xmlns:a="http://schemas.openxmlformats.org/drawingml/2006/main">
            <a:off x="3629025" y="3086100"/>
            <a:ext cx="2019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575" b="1">
                <a:solidFill>
                  <a:srgbClr val="183340"/>
                </a:solidFill>
                <a:latin typeface="Aptos"/>
                <a:ea typeface="Aptos"/>
                <a:cs typeface="Aptos"/>
              </a:defRPr>
            </a:pPr>
            <a:r>
              <a:rPr sz="1575" b="1">
                <a:solidFill>
                  <a:srgbClr val="183340"/>
                </a:solidFill>
                <a:latin typeface="Aptos"/>
                <a:ea typeface="Aptos"/>
                <a:cs typeface="Aptos"/>
              </a:rPr>
              <a:t>What AI-enabled workflow?</a:t>
            </a:r>
          </a:p>
        </p:txBody>
      </p:sp>
      <p:sp>
        <p:nvSpPr>
          <p:cNvPr id="17" name="">
            <a:extLst xmlns:a="http://schemas.openxmlformats.org/drawingml/2006/main">
              <a:ext uri="{FF2B5EF4-FFF2-40B4-BE49-F238E27FC236}">
                <a16:creationId xmlns:a16="http://schemas.microsoft.com/office/drawing/2014/main" id="{2F3FB44F-7865-4EA0-96E8-99CF27D53314}"/>
              </a:ext>
            </a:extLst>
          </p:cNvPr>
          <p:cNvSpPr>
            <a:spLocks xmlns:a="http://schemas.openxmlformats.org/drawingml/2006/main" noGrp="1"/>
          </p:cNvSpPr>
          <p:nvPr/>
        </p:nvSpPr>
        <p:spPr>
          <a:xfrm xmlns:a="http://schemas.openxmlformats.org/drawingml/2006/main">
            <a:off x="6181725" y="2047875"/>
            <a:ext cx="2476500" cy="2476500"/>
          </a:xfrm>
          <a:prstGeom xmlns:a="http://schemas.openxmlformats.org/drawingml/2006/main" prst="roundRect">
            <a:avLst>
              <a:gd name="adj" fmla="val 7692"/>
            </a:avLst>
          </a:prstGeom>
          <a:solidFill xmlns:a="http://schemas.openxmlformats.org/drawingml/2006/main">
            <a:srgbClr val="FFFDFC"/>
          </a:solidFill>
          <a:ln xmlns:a="http://schemas.openxmlformats.org/drawingml/2006/main" w="9525">
            <a:solidFill>
              <a:srgbClr val="C59028"/>
            </a:solidFill>
            <a:prstDash val="solid"/>
          </a:ln>
        </p:spPr>
      </p:sp>
      <p:sp>
        <p:nvSpPr>
          <p:cNvPr id="18" name="">
            <a:extLst xmlns:a="http://schemas.openxmlformats.org/drawingml/2006/main">
              <a:ext uri="{FF2B5EF4-FFF2-40B4-BE49-F238E27FC236}">
                <a16:creationId xmlns:a16="http://schemas.microsoft.com/office/drawing/2014/main" id="{BB6E4395-3471-416B-9966-A6E2ED49D6AC}"/>
              </a:ext>
            </a:extLst>
          </p:cNvPr>
          <p:cNvSpPr>
            <a:spLocks xmlns:a="http://schemas.openxmlformats.org/drawingml/2006/main" noGrp="1"/>
          </p:cNvSpPr>
          <p:nvPr/>
        </p:nvSpPr>
        <p:spPr>
          <a:xfrm xmlns:a="http://schemas.openxmlformats.org/drawingml/2006/main">
            <a:off x="6391275" y="2238375"/>
            <a:ext cx="457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2550" b="1">
                <a:solidFill>
                  <a:srgbClr val="C59028"/>
                </a:solidFill>
                <a:latin typeface="Aptos"/>
                <a:ea typeface="Aptos"/>
                <a:cs typeface="Aptos"/>
              </a:defRPr>
            </a:pPr>
            <a:r>
              <a:rPr sz="2550" b="1">
                <a:solidFill>
                  <a:srgbClr val="C59028"/>
                </a:solidFill>
                <a:latin typeface="Aptos"/>
                <a:ea typeface="Aptos"/>
                <a:cs typeface="Aptos"/>
              </a:rPr>
              <a:t>C</a:t>
            </a:r>
          </a:p>
        </p:txBody>
      </p:sp>
      <p:sp>
        <p:nvSpPr>
          <p:cNvPr id="19" name="">
            <a:extLst xmlns:a="http://schemas.openxmlformats.org/drawingml/2006/main">
              <a:ext uri="{FF2B5EF4-FFF2-40B4-BE49-F238E27FC236}">
                <a16:creationId xmlns:a16="http://schemas.microsoft.com/office/drawing/2014/main" id="{B80354F3-8A2F-4687-961F-BC44803E979B}"/>
              </a:ext>
            </a:extLst>
          </p:cNvPr>
          <p:cNvSpPr>
            <a:spLocks xmlns:a="http://schemas.openxmlformats.org/drawingml/2006/main" noGrp="1"/>
          </p:cNvSpPr>
          <p:nvPr/>
        </p:nvSpPr>
        <p:spPr>
          <a:xfrm xmlns:a="http://schemas.openxmlformats.org/drawingml/2006/main">
            <a:off x="6943725" y="2333625"/>
            <a:ext cx="1476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Comparator</a:t>
            </a:r>
          </a:p>
        </p:txBody>
      </p:sp>
      <p:sp>
        <p:nvSpPr>
          <p:cNvPr id="20" name="">
            <a:extLst xmlns:a="http://schemas.openxmlformats.org/drawingml/2006/main">
              <a:ext uri="{FF2B5EF4-FFF2-40B4-BE49-F238E27FC236}">
                <a16:creationId xmlns:a16="http://schemas.microsoft.com/office/drawing/2014/main" id="{C1E183DE-84E4-4192-AD67-3FBC9F84867E}"/>
              </a:ext>
            </a:extLst>
          </p:cNvPr>
          <p:cNvSpPr>
            <a:spLocks xmlns:a="http://schemas.openxmlformats.org/drawingml/2006/main" noGrp="1"/>
          </p:cNvSpPr>
          <p:nvPr/>
        </p:nvSpPr>
        <p:spPr>
          <a:xfrm xmlns:a="http://schemas.openxmlformats.org/drawingml/2006/main">
            <a:off x="6410325" y="3086100"/>
            <a:ext cx="2019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575" b="1">
                <a:solidFill>
                  <a:srgbClr val="183340"/>
                </a:solidFill>
                <a:latin typeface="Aptos"/>
                <a:ea typeface="Aptos"/>
                <a:cs typeface="Aptos"/>
              </a:defRPr>
            </a:pPr>
            <a:r>
              <a:rPr sz="1575" b="1">
                <a:solidFill>
                  <a:srgbClr val="183340"/>
                </a:solidFill>
                <a:latin typeface="Aptos"/>
                <a:ea typeface="Aptos"/>
                <a:cs typeface="Aptos"/>
              </a:rPr>
              <a:t>Usual care or alternative?</a:t>
            </a:r>
          </a:p>
        </p:txBody>
      </p:sp>
      <p:sp>
        <p:nvSpPr>
          <p:cNvPr id="21" name="">
            <a:extLst xmlns:a="http://schemas.openxmlformats.org/drawingml/2006/main">
              <a:ext uri="{FF2B5EF4-FFF2-40B4-BE49-F238E27FC236}">
                <a16:creationId xmlns:a16="http://schemas.microsoft.com/office/drawing/2014/main" id="{B104B8F1-B351-4CAC-A6A9-E227E373AA98}"/>
              </a:ext>
            </a:extLst>
          </p:cNvPr>
          <p:cNvSpPr>
            <a:spLocks xmlns:a="http://schemas.openxmlformats.org/drawingml/2006/main" noGrp="1"/>
          </p:cNvSpPr>
          <p:nvPr/>
        </p:nvSpPr>
        <p:spPr>
          <a:xfrm xmlns:a="http://schemas.openxmlformats.org/drawingml/2006/main">
            <a:off x="8963025" y="2047875"/>
            <a:ext cx="2476500" cy="2476500"/>
          </a:xfrm>
          <a:prstGeom xmlns:a="http://schemas.openxmlformats.org/drawingml/2006/main" prst="roundRect">
            <a:avLst>
              <a:gd name="adj" fmla="val 7692"/>
            </a:avLst>
          </a:prstGeom>
          <a:solidFill xmlns:a="http://schemas.openxmlformats.org/drawingml/2006/main">
            <a:srgbClr val="FFFDFC"/>
          </a:solidFill>
          <a:ln xmlns:a="http://schemas.openxmlformats.org/drawingml/2006/main" w="9525">
            <a:solidFill>
              <a:srgbClr val="C59028"/>
            </a:solidFill>
            <a:prstDash val="solid"/>
          </a:ln>
        </p:spPr>
      </p:sp>
      <p:sp>
        <p:nvSpPr>
          <p:cNvPr id="22" name="">
            <a:extLst xmlns:a="http://schemas.openxmlformats.org/drawingml/2006/main">
              <a:ext uri="{FF2B5EF4-FFF2-40B4-BE49-F238E27FC236}">
                <a16:creationId xmlns:a16="http://schemas.microsoft.com/office/drawing/2014/main" id="{354F8739-782E-4654-B19D-605365CF2789}"/>
              </a:ext>
            </a:extLst>
          </p:cNvPr>
          <p:cNvSpPr>
            <a:spLocks xmlns:a="http://schemas.openxmlformats.org/drawingml/2006/main" noGrp="1"/>
          </p:cNvSpPr>
          <p:nvPr/>
        </p:nvSpPr>
        <p:spPr>
          <a:xfrm xmlns:a="http://schemas.openxmlformats.org/drawingml/2006/main">
            <a:off x="9172575" y="2238375"/>
            <a:ext cx="457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2550" b="1">
                <a:solidFill>
                  <a:srgbClr val="C59028"/>
                </a:solidFill>
                <a:latin typeface="Aptos"/>
                <a:ea typeface="Aptos"/>
                <a:cs typeface="Aptos"/>
              </a:defRPr>
            </a:pPr>
            <a:r>
              <a:rPr sz="2550" b="1">
                <a:solidFill>
                  <a:srgbClr val="C59028"/>
                </a:solidFill>
                <a:latin typeface="Aptos"/>
                <a:ea typeface="Aptos"/>
                <a:cs typeface="Aptos"/>
              </a:rPr>
              <a:t>O</a:t>
            </a:r>
          </a:p>
        </p:txBody>
      </p:sp>
      <p:sp>
        <p:nvSpPr>
          <p:cNvPr id="23" name="">
            <a:extLst xmlns:a="http://schemas.openxmlformats.org/drawingml/2006/main">
              <a:ext uri="{FF2B5EF4-FFF2-40B4-BE49-F238E27FC236}">
                <a16:creationId xmlns:a16="http://schemas.microsoft.com/office/drawing/2014/main" id="{69DC5A0E-2A99-43BB-B8E4-8E6D0CD445D1}"/>
              </a:ext>
            </a:extLst>
          </p:cNvPr>
          <p:cNvSpPr>
            <a:spLocks xmlns:a="http://schemas.openxmlformats.org/drawingml/2006/main" noGrp="1"/>
          </p:cNvSpPr>
          <p:nvPr/>
        </p:nvSpPr>
        <p:spPr>
          <a:xfrm xmlns:a="http://schemas.openxmlformats.org/drawingml/2006/main">
            <a:off x="9725025" y="2333625"/>
            <a:ext cx="1476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Outcome</a:t>
            </a:r>
          </a:p>
        </p:txBody>
      </p:sp>
      <p:sp>
        <p:nvSpPr>
          <p:cNvPr id="24" name="">
            <a:extLst xmlns:a="http://schemas.openxmlformats.org/drawingml/2006/main">
              <a:ext uri="{FF2B5EF4-FFF2-40B4-BE49-F238E27FC236}">
                <a16:creationId xmlns:a16="http://schemas.microsoft.com/office/drawing/2014/main" id="{80789DDF-25B7-4181-8DDE-BC2CD95194B1}"/>
              </a:ext>
            </a:extLst>
          </p:cNvPr>
          <p:cNvSpPr>
            <a:spLocks xmlns:a="http://schemas.openxmlformats.org/drawingml/2006/main" noGrp="1"/>
          </p:cNvSpPr>
          <p:nvPr/>
        </p:nvSpPr>
        <p:spPr>
          <a:xfrm xmlns:a="http://schemas.openxmlformats.org/drawingml/2006/main">
            <a:off x="9191625" y="3086100"/>
            <a:ext cx="2019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575" b="1">
                <a:solidFill>
                  <a:srgbClr val="183340"/>
                </a:solidFill>
                <a:latin typeface="Aptos"/>
                <a:ea typeface="Aptos"/>
                <a:cs typeface="Aptos"/>
              </a:defRPr>
            </a:pPr>
            <a:r>
              <a:rPr sz="1575" b="1">
                <a:solidFill>
                  <a:srgbClr val="183340"/>
                </a:solidFill>
                <a:latin typeface="Aptos"/>
                <a:ea typeface="Aptos"/>
                <a:cs typeface="Aptos"/>
              </a:rPr>
              <a:t>Patient, safety, time, equity or cost?</a:t>
            </a:r>
          </a:p>
        </p:txBody>
      </p:sp>
      <p:sp>
        <p:nvSpPr>
          <p:cNvPr id="25" name="">
            <a:extLst xmlns:a="http://schemas.openxmlformats.org/drawingml/2006/main">
              <a:ext uri="{FF2B5EF4-FFF2-40B4-BE49-F238E27FC236}">
                <a16:creationId xmlns:a16="http://schemas.microsoft.com/office/drawing/2014/main" id="{E5A28731-A8A9-4243-8E7E-D2EBB71DA6E9}"/>
              </a:ext>
            </a:extLst>
          </p:cNvPr>
          <p:cNvSpPr>
            <a:spLocks xmlns:a="http://schemas.openxmlformats.org/drawingml/2006/main" noGrp="1"/>
          </p:cNvSpPr>
          <p:nvPr/>
        </p:nvSpPr>
        <p:spPr>
          <a:xfrm xmlns:a="http://schemas.openxmlformats.org/drawingml/2006/main">
            <a:off x="1428750" y="5019675"/>
            <a:ext cx="9334500" cy="581025"/>
          </a:xfrm>
          <a:prstGeom xmlns:a="http://schemas.openxmlformats.org/drawingml/2006/main" prst="roundRect">
            <a:avLst>
              <a:gd name="adj" fmla="val 27869"/>
            </a:avLst>
          </a:prstGeom>
          <a:solidFill xmlns:a="http://schemas.openxmlformats.org/drawingml/2006/main">
            <a:srgbClr val="F5EACD"/>
          </a:solidFill>
          <a:ln xmlns:a="http://schemas.openxmlformats.org/drawingml/2006/main" w="9525">
            <a:solidFill>
              <a:srgbClr val="C59028"/>
            </a:solidFill>
            <a:prstDash val="solid"/>
          </a:ln>
        </p:spPr>
      </p:sp>
      <p:sp>
        <p:nvSpPr>
          <p:cNvPr id="26" name="">
            <a:extLst xmlns:a="http://schemas.openxmlformats.org/drawingml/2006/main">
              <a:ext uri="{FF2B5EF4-FFF2-40B4-BE49-F238E27FC236}">
                <a16:creationId xmlns:a16="http://schemas.microsoft.com/office/drawing/2014/main" id="{DFFB89A7-680F-4B19-A4B4-45861BAB2215}"/>
              </a:ext>
            </a:extLst>
          </p:cNvPr>
          <p:cNvSpPr>
            <a:spLocks xmlns:a="http://schemas.openxmlformats.org/drawingml/2006/main" noGrp="1"/>
          </p:cNvSpPr>
          <p:nvPr/>
        </p:nvSpPr>
        <p:spPr>
          <a:xfrm xmlns:a="http://schemas.openxmlformats.org/drawingml/2006/main">
            <a:off x="1676400" y="5153025"/>
            <a:ext cx="883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325"/>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Example: ambient documentation versus usual documentation → after-hours EHR time + note errors + patient experience</a:t>
            </a:r>
          </a:p>
        </p:txBody>
      </p:sp>
    </p:spTree>
    <p:extLst>
      <p:ext uri="{BB962C8B-B14F-4D97-AF65-F5344CB8AC3E}">
        <p14:creationId xmlns:p14="http://schemas.microsoft.com/office/powerpoint/2010/main" val="1074733741"/>
      </p:ext>
    </p:extLst>
  </p:cSld>
</p:sld>
</file>

<file path=ppt/slides/slide5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B25898A-0B60-413D-AEE8-F3348363454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C59028"/>
          </a:solidFill>
          <a:ln xmlns:a="http://schemas.openxmlformats.org/drawingml/2006/main" w="0">
            <a:solidFill>
              <a:srgbClr val="C59028"/>
            </a:solidFill>
            <a:prstDash val="solid"/>
          </a:ln>
        </p:spPr>
      </p:sp>
      <p:sp>
        <p:nvSpPr>
          <p:cNvPr id="2" name="">
            <a:extLst xmlns:a="http://schemas.openxmlformats.org/drawingml/2006/main">
              <a:ext uri="{FF2B5EF4-FFF2-40B4-BE49-F238E27FC236}">
                <a16:creationId xmlns:a16="http://schemas.microsoft.com/office/drawing/2014/main" id="{4A69E8CA-F500-465E-9124-A3BFD80DB62A}"/>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9560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CHATGPT EXERCISE</a:t>
            </a:r>
          </a:p>
        </p:txBody>
      </p:sp>
      <p:sp>
        <p:nvSpPr>
          <p:cNvPr id="3" name="">
            <a:extLst xmlns:a="http://schemas.openxmlformats.org/drawingml/2006/main">
              <a:ext uri="{FF2B5EF4-FFF2-40B4-BE49-F238E27FC236}">
                <a16:creationId xmlns:a16="http://schemas.microsoft.com/office/drawing/2014/main" id="{C2CFD236-0034-42D4-B3B3-B3837F6EE843}"/>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ChatGPT exercise: rapid evidence map with transparent limits</a:t>
            </a:r>
          </a:p>
        </p:txBody>
      </p:sp>
      <p:sp>
        <p:nvSpPr>
          <p:cNvPr id="4" name="">
            <a:extLst xmlns:a="http://schemas.openxmlformats.org/drawingml/2006/main">
              <a:ext uri="{FF2B5EF4-FFF2-40B4-BE49-F238E27FC236}">
                <a16:creationId xmlns:a16="http://schemas.microsoft.com/office/drawing/2014/main" id="{8E78A56D-92F0-4B0F-98BC-DB0751DDC53B}"/>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FA31C145-184C-433F-BC0E-CE00A62E4FDC}"/>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FB1ADAF7-B7CD-4C8B-AFB1-15D2FFB6A3D4}"/>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7ADB509F-063A-4F6C-8260-7DD24163D553}"/>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Full copy-ready prompt: Prompt Cards PDF</a:t>
            </a:r>
          </a:p>
        </p:txBody>
      </p:sp>
      <p:sp>
        <p:nvSpPr>
          <p:cNvPr id="8" name="">
            <a:extLst xmlns:a="http://schemas.openxmlformats.org/drawingml/2006/main">
              <a:ext uri="{FF2B5EF4-FFF2-40B4-BE49-F238E27FC236}">
                <a16:creationId xmlns:a16="http://schemas.microsoft.com/office/drawing/2014/main" id="{A107BF2C-E639-4FB5-908D-F512FBC2C9A1}"/>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1147DCEE-AD04-4D64-8735-B645CF449353}"/>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51</a:t>
            </a:r>
          </a:p>
        </p:txBody>
      </p:sp>
      <p:sp>
        <p:nvSpPr>
          <p:cNvPr id="10" name="">
            <a:extLst xmlns:a="http://schemas.openxmlformats.org/drawingml/2006/main">
              <a:ext uri="{FF2B5EF4-FFF2-40B4-BE49-F238E27FC236}">
                <a16:creationId xmlns:a16="http://schemas.microsoft.com/office/drawing/2014/main" id="{47D93ED3-7FE5-4B45-8B51-ADD8FF1A5A40}"/>
              </a:ext>
            </a:extLst>
          </p:cNvPr>
          <p:cNvSpPr>
            <a:spLocks xmlns:a="http://schemas.openxmlformats.org/drawingml/2006/main" noGrp="1"/>
          </p:cNvSpPr>
          <p:nvPr/>
        </p:nvSpPr>
        <p:spPr>
          <a:xfrm xmlns:a="http://schemas.openxmlformats.org/drawingml/2006/main">
            <a:off x="609600" y="1714500"/>
            <a:ext cx="7029450" cy="4095750"/>
          </a:xfrm>
          <a:prstGeom xmlns:a="http://schemas.openxmlformats.org/drawingml/2006/main" prst="roundRect">
            <a:avLst>
              <a:gd name="adj" fmla="val 4651"/>
            </a:avLst>
          </a:prstGeom>
          <a:solidFill xmlns:a="http://schemas.openxmlformats.org/drawingml/2006/main">
            <a:srgbClr val="082638"/>
          </a:solidFill>
          <a:ln xmlns:a="http://schemas.openxmlformats.org/drawingml/2006/main" w="9525">
            <a:solidFill>
              <a:srgbClr val="082638"/>
            </a:solidFill>
            <a:prstDash val="solid"/>
          </a:ln>
        </p:spPr>
      </p:sp>
      <p:sp>
        <p:nvSpPr>
          <p:cNvPr id="11" name="">
            <a:extLst xmlns:a="http://schemas.openxmlformats.org/drawingml/2006/main">
              <a:ext uri="{FF2B5EF4-FFF2-40B4-BE49-F238E27FC236}">
                <a16:creationId xmlns:a16="http://schemas.microsoft.com/office/drawing/2014/main" id="{5A311A7E-0F9A-4FEE-87B1-363EC38E004A}"/>
              </a:ext>
            </a:extLst>
          </p:cNvPr>
          <p:cNvSpPr>
            <a:spLocks xmlns:a="http://schemas.openxmlformats.org/drawingml/2006/main" noGrp="1"/>
          </p:cNvSpPr>
          <p:nvPr/>
        </p:nvSpPr>
        <p:spPr>
          <a:xfrm xmlns:a="http://schemas.openxmlformats.org/drawingml/2006/main">
            <a:off x="838200" y="1924050"/>
            <a:ext cx="9906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PROMPT 11</a:t>
            </a:r>
          </a:p>
        </p:txBody>
      </p:sp>
      <p:sp>
        <p:nvSpPr>
          <p:cNvPr id="12" name="">
            <a:extLst xmlns:a="http://schemas.openxmlformats.org/drawingml/2006/main">
              <a:ext uri="{FF2B5EF4-FFF2-40B4-BE49-F238E27FC236}">
                <a16:creationId xmlns:a16="http://schemas.microsoft.com/office/drawing/2014/main" id="{356BC31C-C2A7-48C6-9B19-0A317BD7B541}"/>
              </a:ext>
            </a:extLst>
          </p:cNvPr>
          <p:cNvSpPr>
            <a:spLocks xmlns:a="http://schemas.openxmlformats.org/drawingml/2006/main" noGrp="1"/>
          </p:cNvSpPr>
          <p:nvPr/>
        </p:nvSpPr>
        <p:spPr>
          <a:xfrm xmlns:a="http://schemas.openxmlformats.org/drawingml/2006/main">
            <a:off x="838200" y="2343150"/>
            <a:ext cx="6553200" cy="300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FFFFFF"/>
                </a:solidFill>
                <a:latin typeface="Aptos"/>
                <a:ea typeface="Aptos"/>
                <a:cs typeface="Aptos"/>
              </a:defRPr>
            </a:pPr>
            <a:r>
              <a:rPr sz="1275" b="0">
                <a:solidFill>
                  <a:srgbClr val="FFFFFF"/>
                </a:solidFill>
                <a:latin typeface="Aptos"/>
                <a:ea typeface="Aptos"/>
                <a:cs typeface="Aptos"/>
              </a:rPr>
              <a:t>Convert the question into a transparent rapid-research workflow. Produce PICO; concepts and synonyms; a draft PubMed Boolean query; inclusion and exclusion criteria; evidence-extraction fields; citation-verification checklist; bias/applicability questions; uncertainty log; and a statement of what this rapid review cannot conclude. Do not invent citations. Label every citation [UNVERIFIED] until located in PubMed, a registry or the original publication. Question: [PASTE]</a:t>
            </a:r>
          </a:p>
        </p:txBody>
      </p:sp>
      <p:sp>
        <p:nvSpPr>
          <p:cNvPr id="13" name="">
            <a:extLst xmlns:a="http://schemas.openxmlformats.org/drawingml/2006/main">
              <a:ext uri="{FF2B5EF4-FFF2-40B4-BE49-F238E27FC236}">
                <a16:creationId xmlns:a16="http://schemas.microsoft.com/office/drawing/2014/main" id="{CE148B58-E12D-489D-96BF-481C54C3AEFA}"/>
              </a:ext>
            </a:extLst>
          </p:cNvPr>
          <p:cNvSpPr>
            <a:spLocks xmlns:a="http://schemas.openxmlformats.org/drawingml/2006/main" noGrp="1"/>
          </p:cNvSpPr>
          <p:nvPr/>
        </p:nvSpPr>
        <p:spPr>
          <a:xfrm xmlns:a="http://schemas.openxmlformats.org/drawingml/2006/main">
            <a:off x="7924800" y="1714500"/>
            <a:ext cx="3371850" cy="1866900"/>
          </a:xfrm>
          <a:prstGeom xmlns:a="http://schemas.openxmlformats.org/drawingml/2006/main" prst="roundRect">
            <a:avLst>
              <a:gd name="adj" fmla="val 10204"/>
            </a:avLst>
          </a:prstGeom>
          <a:solidFill xmlns:a="http://schemas.openxmlformats.org/drawingml/2006/main">
            <a:srgbClr val="DDF2EE"/>
          </a:solidFill>
          <a:ln xmlns:a="http://schemas.openxmlformats.org/drawingml/2006/main" w="9525">
            <a:solidFill>
              <a:srgbClr val="087E78"/>
            </a:solidFill>
            <a:prstDash val="solid"/>
          </a:ln>
        </p:spPr>
      </p:sp>
      <p:sp>
        <p:nvSpPr>
          <p:cNvPr id="14" name="">
            <a:extLst xmlns:a="http://schemas.openxmlformats.org/drawingml/2006/main">
              <a:ext uri="{FF2B5EF4-FFF2-40B4-BE49-F238E27FC236}">
                <a16:creationId xmlns:a16="http://schemas.microsoft.com/office/drawing/2014/main" id="{D3C4AC88-4645-4974-B3C2-13B3828BD7B2}"/>
              </a:ext>
            </a:extLst>
          </p:cNvPr>
          <p:cNvSpPr>
            <a:spLocks xmlns:a="http://schemas.openxmlformats.org/drawingml/2006/main" noGrp="1"/>
          </p:cNvSpPr>
          <p:nvPr/>
        </p:nvSpPr>
        <p:spPr>
          <a:xfrm xmlns:a="http://schemas.openxmlformats.org/drawingml/2006/main">
            <a:off x="8153400" y="19335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EXPECTED OUTPUT</a:t>
            </a:r>
          </a:p>
        </p:txBody>
      </p:sp>
      <p:sp>
        <p:nvSpPr>
          <p:cNvPr id="15" name="">
            <a:extLst xmlns:a="http://schemas.openxmlformats.org/drawingml/2006/main">
              <a:ext uri="{FF2B5EF4-FFF2-40B4-BE49-F238E27FC236}">
                <a16:creationId xmlns:a16="http://schemas.microsoft.com/office/drawing/2014/main" id="{C105F99E-16FB-4ED6-BFB4-36BB7590FD22}"/>
              </a:ext>
            </a:extLst>
          </p:cNvPr>
          <p:cNvSpPr>
            <a:spLocks xmlns:a="http://schemas.openxmlformats.org/drawingml/2006/main" noGrp="1"/>
          </p:cNvSpPr>
          <p:nvPr/>
        </p:nvSpPr>
        <p:spPr>
          <a:xfrm xmlns:a="http://schemas.openxmlformats.org/drawingml/2006/main">
            <a:off x="8153400" y="2305050"/>
            <a:ext cx="29146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Search strategy, extraction frame and uncertainty log</a:t>
            </a:r>
          </a:p>
        </p:txBody>
      </p:sp>
      <p:sp>
        <p:nvSpPr>
          <p:cNvPr id="16" name="">
            <a:extLst xmlns:a="http://schemas.openxmlformats.org/drawingml/2006/main">
              <a:ext uri="{FF2B5EF4-FFF2-40B4-BE49-F238E27FC236}">
                <a16:creationId xmlns:a16="http://schemas.microsoft.com/office/drawing/2014/main" id="{FCF4A847-AFFB-4470-8799-FBB51AD5BD08}"/>
              </a:ext>
            </a:extLst>
          </p:cNvPr>
          <p:cNvSpPr>
            <a:spLocks xmlns:a="http://schemas.openxmlformats.org/drawingml/2006/main" noGrp="1"/>
          </p:cNvSpPr>
          <p:nvPr/>
        </p:nvSpPr>
        <p:spPr>
          <a:xfrm xmlns:a="http://schemas.openxmlformats.org/drawingml/2006/main">
            <a:off x="7924800" y="3762375"/>
            <a:ext cx="3371850" cy="2047875"/>
          </a:xfrm>
          <a:prstGeom xmlns:a="http://schemas.openxmlformats.org/drawingml/2006/main" prst="roundRect">
            <a:avLst>
              <a:gd name="adj" fmla="val 9302"/>
            </a:avLst>
          </a:prstGeom>
          <a:solidFill xmlns:a="http://schemas.openxmlformats.org/drawingml/2006/main">
            <a:srgbClr val="FBE7DF"/>
          </a:solidFill>
          <a:ln xmlns:a="http://schemas.openxmlformats.org/drawingml/2006/main" w="9525">
            <a:solidFill>
              <a:srgbClr val="E8694A"/>
            </a:solidFill>
            <a:prstDash val="solid"/>
          </a:ln>
        </p:spPr>
      </p:sp>
      <p:sp>
        <p:nvSpPr>
          <p:cNvPr id="17" name="">
            <a:extLst xmlns:a="http://schemas.openxmlformats.org/drawingml/2006/main">
              <a:ext uri="{FF2B5EF4-FFF2-40B4-BE49-F238E27FC236}">
                <a16:creationId xmlns:a16="http://schemas.microsoft.com/office/drawing/2014/main" id="{AC69C0A6-F8BD-42AB-BC5A-1E840ED34C86}"/>
              </a:ext>
            </a:extLst>
          </p:cNvPr>
          <p:cNvSpPr>
            <a:spLocks xmlns:a="http://schemas.openxmlformats.org/drawingml/2006/main" noGrp="1"/>
          </p:cNvSpPr>
          <p:nvPr/>
        </p:nvSpPr>
        <p:spPr>
          <a:xfrm xmlns:a="http://schemas.openxmlformats.org/drawingml/2006/main">
            <a:off x="8153400" y="3971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B7433D"/>
                </a:solidFill>
                <a:latin typeface="Aptos"/>
                <a:ea typeface="Aptos"/>
                <a:cs typeface="Aptos"/>
              </a:defRPr>
            </a:pPr>
            <a:r>
              <a:rPr sz="1050" b="1">
                <a:solidFill>
                  <a:srgbClr val="B7433D"/>
                </a:solidFill>
                <a:latin typeface="Aptos"/>
                <a:ea typeface="Aptos"/>
                <a:cs typeface="Aptos"/>
              </a:rPr>
              <a:t>HUMAN CHECKPOINT</a:t>
            </a:r>
          </a:p>
        </p:txBody>
      </p:sp>
      <p:sp>
        <p:nvSpPr>
          <p:cNvPr id="18" name="">
            <a:extLst xmlns:a="http://schemas.openxmlformats.org/drawingml/2006/main">
              <a:ext uri="{FF2B5EF4-FFF2-40B4-BE49-F238E27FC236}">
                <a16:creationId xmlns:a16="http://schemas.microsoft.com/office/drawing/2014/main" id="{F5F33F36-9762-4C34-90B0-8DA7CE64C2B9}"/>
              </a:ext>
            </a:extLst>
          </p:cNvPr>
          <p:cNvSpPr>
            <a:spLocks xmlns:a="http://schemas.openxmlformats.org/drawingml/2006/main" noGrp="1"/>
          </p:cNvSpPr>
          <p:nvPr/>
        </p:nvSpPr>
        <p:spPr>
          <a:xfrm xmlns:a="http://schemas.openxmlformats.org/drawingml/2006/main">
            <a:off x="8153400" y="4343400"/>
            <a:ext cx="29146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Every citation and extracted field is verified in the original source; methods and limitations are documented.</a:t>
            </a:r>
          </a:p>
        </p:txBody>
      </p:sp>
    </p:spTree>
    <p:extLst>
      <p:ext uri="{BB962C8B-B14F-4D97-AF65-F5344CB8AC3E}">
        <p14:creationId xmlns:p14="http://schemas.microsoft.com/office/powerpoint/2010/main" val="25257155"/>
      </p:ext>
    </p:extLst>
  </p:cSld>
</p:sld>
</file>

<file path=ppt/slides/slide5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7B2E182-57B4-4BAC-934A-0313409651C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C59028"/>
          </a:solidFill>
          <a:ln xmlns:a="http://schemas.openxmlformats.org/drawingml/2006/main" w="0">
            <a:solidFill>
              <a:srgbClr val="C59028"/>
            </a:solidFill>
            <a:prstDash val="solid"/>
          </a:ln>
        </p:spPr>
      </p:sp>
      <p:sp>
        <p:nvSpPr>
          <p:cNvPr id="2" name="">
            <a:extLst xmlns:a="http://schemas.openxmlformats.org/drawingml/2006/main">
              <a:ext uri="{FF2B5EF4-FFF2-40B4-BE49-F238E27FC236}">
                <a16:creationId xmlns:a16="http://schemas.microsoft.com/office/drawing/2014/main" id="{878C52CD-2F19-49EF-AA16-A20B5646B0C7}"/>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95601"/>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CHATGPT EXERCISE</a:t>
            </a:r>
          </a:p>
        </p:txBody>
      </p:sp>
      <p:sp>
        <p:nvSpPr>
          <p:cNvPr id="3" name="">
            <a:extLst xmlns:a="http://schemas.openxmlformats.org/drawingml/2006/main">
              <a:ext uri="{FF2B5EF4-FFF2-40B4-BE49-F238E27FC236}">
                <a16:creationId xmlns:a16="http://schemas.microsoft.com/office/drawing/2014/main" id="{4438EA9C-4862-4EBA-A9B8-5FF4362299FB}"/>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Teaching exercise: ask, challenge, revise—then answer</a:t>
            </a:r>
          </a:p>
        </p:txBody>
      </p:sp>
      <p:sp>
        <p:nvSpPr>
          <p:cNvPr id="4" name="">
            <a:extLst xmlns:a="http://schemas.openxmlformats.org/drawingml/2006/main">
              <a:ext uri="{FF2B5EF4-FFF2-40B4-BE49-F238E27FC236}">
                <a16:creationId xmlns:a16="http://schemas.microsoft.com/office/drawing/2014/main" id="{2B35FCA1-0B73-45E0-9034-A3C0A0CACAD7}"/>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593205EE-86E6-4C98-B974-8A0A093210E9}"/>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454B76DC-0C6C-48D7-B0F4-A4CF6C5DCE26}"/>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C7BE3815-EAE3-4C18-9154-7F55C4B3C68B}"/>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Full copy-ready prompt: Prompt Cards PDF</a:t>
            </a:r>
          </a:p>
        </p:txBody>
      </p:sp>
      <p:sp>
        <p:nvSpPr>
          <p:cNvPr id="8" name="">
            <a:extLst xmlns:a="http://schemas.openxmlformats.org/drawingml/2006/main">
              <a:ext uri="{FF2B5EF4-FFF2-40B4-BE49-F238E27FC236}">
                <a16:creationId xmlns:a16="http://schemas.microsoft.com/office/drawing/2014/main" id="{4F0C5891-2F70-431E-89B6-91D49BDF08A2}"/>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9" name="">
            <a:extLst xmlns:a="http://schemas.openxmlformats.org/drawingml/2006/main">
              <a:ext uri="{FF2B5EF4-FFF2-40B4-BE49-F238E27FC236}">
                <a16:creationId xmlns:a16="http://schemas.microsoft.com/office/drawing/2014/main" id="{80477A76-C9D6-4615-9497-598416215B30}"/>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52</a:t>
            </a:r>
          </a:p>
        </p:txBody>
      </p:sp>
      <p:sp>
        <p:nvSpPr>
          <p:cNvPr id="10" name="">
            <a:extLst xmlns:a="http://schemas.openxmlformats.org/drawingml/2006/main">
              <a:ext uri="{FF2B5EF4-FFF2-40B4-BE49-F238E27FC236}">
                <a16:creationId xmlns:a16="http://schemas.microsoft.com/office/drawing/2014/main" id="{84E901EF-0F59-456A-938F-2F0CD56DB2DF}"/>
              </a:ext>
            </a:extLst>
          </p:cNvPr>
          <p:cNvSpPr>
            <a:spLocks xmlns:a="http://schemas.openxmlformats.org/drawingml/2006/main" noGrp="1"/>
          </p:cNvSpPr>
          <p:nvPr/>
        </p:nvSpPr>
        <p:spPr>
          <a:xfrm xmlns:a="http://schemas.openxmlformats.org/drawingml/2006/main">
            <a:off x="609600" y="1714500"/>
            <a:ext cx="7029450" cy="4095750"/>
          </a:xfrm>
          <a:prstGeom xmlns:a="http://schemas.openxmlformats.org/drawingml/2006/main" prst="roundRect">
            <a:avLst>
              <a:gd name="adj" fmla="val 4651"/>
            </a:avLst>
          </a:prstGeom>
          <a:solidFill xmlns:a="http://schemas.openxmlformats.org/drawingml/2006/main">
            <a:srgbClr val="082638"/>
          </a:solidFill>
          <a:ln xmlns:a="http://schemas.openxmlformats.org/drawingml/2006/main" w="9525">
            <a:solidFill>
              <a:srgbClr val="082638"/>
            </a:solidFill>
            <a:prstDash val="solid"/>
          </a:ln>
        </p:spPr>
      </p:sp>
      <p:sp>
        <p:nvSpPr>
          <p:cNvPr id="11" name="">
            <a:extLst xmlns:a="http://schemas.openxmlformats.org/drawingml/2006/main">
              <a:ext uri="{FF2B5EF4-FFF2-40B4-BE49-F238E27FC236}">
                <a16:creationId xmlns:a16="http://schemas.microsoft.com/office/drawing/2014/main" id="{FF4BBC95-D074-4BEE-A8D6-BD35E9990259}"/>
              </a:ext>
            </a:extLst>
          </p:cNvPr>
          <p:cNvSpPr>
            <a:spLocks xmlns:a="http://schemas.openxmlformats.org/drawingml/2006/main" noGrp="1"/>
          </p:cNvSpPr>
          <p:nvPr/>
        </p:nvSpPr>
        <p:spPr>
          <a:xfrm xmlns:a="http://schemas.openxmlformats.org/drawingml/2006/main">
            <a:off x="838200" y="1924050"/>
            <a:ext cx="9906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PROMPT 9</a:t>
            </a:r>
          </a:p>
        </p:txBody>
      </p:sp>
      <p:sp>
        <p:nvSpPr>
          <p:cNvPr id="12" name="">
            <a:extLst xmlns:a="http://schemas.openxmlformats.org/drawingml/2006/main">
              <a:ext uri="{FF2B5EF4-FFF2-40B4-BE49-F238E27FC236}">
                <a16:creationId xmlns:a16="http://schemas.microsoft.com/office/drawing/2014/main" id="{FCE9C303-A7C3-4C46-97D1-773D7CFD9197}"/>
              </a:ext>
            </a:extLst>
          </p:cNvPr>
          <p:cNvSpPr>
            <a:spLocks xmlns:a="http://schemas.openxmlformats.org/drawingml/2006/main" noGrp="1"/>
          </p:cNvSpPr>
          <p:nvPr/>
        </p:nvSpPr>
        <p:spPr>
          <a:xfrm xmlns:a="http://schemas.openxmlformats.org/drawingml/2006/main">
            <a:off x="838200" y="2343150"/>
            <a:ext cx="6553200" cy="300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FFFFFF"/>
                </a:solidFill>
                <a:latin typeface="Aptos"/>
                <a:ea typeface="Aptos"/>
                <a:cs typeface="Aptos"/>
              </a:defRPr>
            </a:pPr>
            <a:r>
              <a:rPr sz="1275" b="0">
                <a:solidFill>
                  <a:srgbClr val="FFFFFF"/>
                </a:solidFill>
                <a:latin typeface="Aptos"/>
                <a:ea typeface="Aptos"/>
                <a:cs typeface="Aptos"/>
              </a:rPr>
              <a:t>Act as a Socratic facilitator for the synthetic case. Do not reveal the answer immediately. Ask the learner to create a problem representation; propose common, dangerous and alternative hypotheses; identify evidence for/against; identify missing information and urgency; challenge one assumption; introduce one verified source; ask the learner to revise; then provide feedback with a transparent rubric and identify unsupported AI-generated information. Case: [PASTE]</a:t>
            </a:r>
          </a:p>
        </p:txBody>
      </p:sp>
      <p:sp>
        <p:nvSpPr>
          <p:cNvPr id="13" name="">
            <a:extLst xmlns:a="http://schemas.openxmlformats.org/drawingml/2006/main">
              <a:ext uri="{FF2B5EF4-FFF2-40B4-BE49-F238E27FC236}">
                <a16:creationId xmlns:a16="http://schemas.microsoft.com/office/drawing/2014/main" id="{2750E855-2066-4C17-8776-7C7D80E0CB54}"/>
              </a:ext>
            </a:extLst>
          </p:cNvPr>
          <p:cNvSpPr>
            <a:spLocks xmlns:a="http://schemas.openxmlformats.org/drawingml/2006/main" noGrp="1"/>
          </p:cNvSpPr>
          <p:nvPr/>
        </p:nvSpPr>
        <p:spPr>
          <a:xfrm xmlns:a="http://schemas.openxmlformats.org/drawingml/2006/main">
            <a:off x="7924800" y="1714500"/>
            <a:ext cx="3371850" cy="1866900"/>
          </a:xfrm>
          <a:prstGeom xmlns:a="http://schemas.openxmlformats.org/drawingml/2006/main" prst="roundRect">
            <a:avLst>
              <a:gd name="adj" fmla="val 10204"/>
            </a:avLst>
          </a:prstGeom>
          <a:solidFill xmlns:a="http://schemas.openxmlformats.org/drawingml/2006/main">
            <a:srgbClr val="DDF2EE"/>
          </a:solidFill>
          <a:ln xmlns:a="http://schemas.openxmlformats.org/drawingml/2006/main" w="9525">
            <a:solidFill>
              <a:srgbClr val="087E78"/>
            </a:solidFill>
            <a:prstDash val="solid"/>
          </a:ln>
        </p:spPr>
      </p:sp>
      <p:sp>
        <p:nvSpPr>
          <p:cNvPr id="14" name="">
            <a:extLst xmlns:a="http://schemas.openxmlformats.org/drawingml/2006/main">
              <a:ext uri="{FF2B5EF4-FFF2-40B4-BE49-F238E27FC236}">
                <a16:creationId xmlns:a16="http://schemas.microsoft.com/office/drawing/2014/main" id="{010B9412-05F4-4B9A-9FFD-DA6AD54CD32E}"/>
              </a:ext>
            </a:extLst>
          </p:cNvPr>
          <p:cNvSpPr>
            <a:spLocks xmlns:a="http://schemas.openxmlformats.org/drawingml/2006/main" noGrp="1"/>
          </p:cNvSpPr>
          <p:nvPr/>
        </p:nvSpPr>
        <p:spPr>
          <a:xfrm xmlns:a="http://schemas.openxmlformats.org/drawingml/2006/main">
            <a:off x="8153400" y="19335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087E78"/>
                </a:solidFill>
                <a:latin typeface="Aptos"/>
                <a:ea typeface="Aptos"/>
                <a:cs typeface="Aptos"/>
              </a:defRPr>
            </a:pPr>
            <a:r>
              <a:rPr sz="1050" b="1">
                <a:solidFill>
                  <a:srgbClr val="087E78"/>
                </a:solidFill>
                <a:latin typeface="Aptos"/>
                <a:ea typeface="Aptos"/>
                <a:cs typeface="Aptos"/>
              </a:rPr>
              <a:t>EXPECTED OUTPUT</a:t>
            </a:r>
          </a:p>
        </p:txBody>
      </p:sp>
      <p:sp>
        <p:nvSpPr>
          <p:cNvPr id="15" name="">
            <a:extLst xmlns:a="http://schemas.openxmlformats.org/drawingml/2006/main">
              <a:ext uri="{FF2B5EF4-FFF2-40B4-BE49-F238E27FC236}">
                <a16:creationId xmlns:a16="http://schemas.microsoft.com/office/drawing/2014/main" id="{5D02CC34-1EDD-4733-906E-06A45B179E8E}"/>
              </a:ext>
            </a:extLst>
          </p:cNvPr>
          <p:cNvSpPr>
            <a:spLocks xmlns:a="http://schemas.openxmlformats.org/drawingml/2006/main" noGrp="1"/>
          </p:cNvSpPr>
          <p:nvPr/>
        </p:nvSpPr>
        <p:spPr>
          <a:xfrm xmlns:a="http://schemas.openxmlformats.org/drawingml/2006/main">
            <a:off x="8153400" y="2305050"/>
            <a:ext cx="29146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425" b="1">
                <a:solidFill>
                  <a:srgbClr val="082638"/>
                </a:solidFill>
                <a:latin typeface="Aptos"/>
                <a:ea typeface="Aptos"/>
                <a:cs typeface="Aptos"/>
              </a:defRPr>
            </a:pPr>
            <a:r>
              <a:rPr sz="1425" b="1">
                <a:solidFill>
                  <a:srgbClr val="082638"/>
                </a:solidFill>
                <a:latin typeface="Aptos"/>
                <a:ea typeface="Aptos"/>
                <a:cs typeface="Aptos"/>
              </a:rPr>
              <a:t>Staged questions, revised reasoning and rubric feedback</a:t>
            </a:r>
          </a:p>
        </p:txBody>
      </p:sp>
      <p:sp>
        <p:nvSpPr>
          <p:cNvPr id="16" name="">
            <a:extLst xmlns:a="http://schemas.openxmlformats.org/drawingml/2006/main">
              <a:ext uri="{FF2B5EF4-FFF2-40B4-BE49-F238E27FC236}">
                <a16:creationId xmlns:a16="http://schemas.microsoft.com/office/drawing/2014/main" id="{94FFFABC-C3D0-48FB-9141-CE376D85A2A1}"/>
              </a:ext>
            </a:extLst>
          </p:cNvPr>
          <p:cNvSpPr>
            <a:spLocks xmlns:a="http://schemas.openxmlformats.org/drawingml/2006/main" noGrp="1"/>
          </p:cNvSpPr>
          <p:nvPr/>
        </p:nvSpPr>
        <p:spPr>
          <a:xfrm xmlns:a="http://schemas.openxmlformats.org/drawingml/2006/main">
            <a:off x="7924800" y="3762375"/>
            <a:ext cx="3371850" cy="2047875"/>
          </a:xfrm>
          <a:prstGeom xmlns:a="http://schemas.openxmlformats.org/drawingml/2006/main" prst="roundRect">
            <a:avLst>
              <a:gd name="adj" fmla="val 9302"/>
            </a:avLst>
          </a:prstGeom>
          <a:solidFill xmlns:a="http://schemas.openxmlformats.org/drawingml/2006/main">
            <a:srgbClr val="FBE7DF"/>
          </a:solidFill>
          <a:ln xmlns:a="http://schemas.openxmlformats.org/drawingml/2006/main" w="9525">
            <a:solidFill>
              <a:srgbClr val="E8694A"/>
            </a:solidFill>
            <a:prstDash val="solid"/>
          </a:ln>
        </p:spPr>
      </p:sp>
      <p:sp>
        <p:nvSpPr>
          <p:cNvPr id="17" name="">
            <a:extLst xmlns:a="http://schemas.openxmlformats.org/drawingml/2006/main">
              <a:ext uri="{FF2B5EF4-FFF2-40B4-BE49-F238E27FC236}">
                <a16:creationId xmlns:a16="http://schemas.microsoft.com/office/drawing/2014/main" id="{5E7EDEC0-3D6D-4208-AFEB-0BA66C96D794}"/>
              </a:ext>
            </a:extLst>
          </p:cNvPr>
          <p:cNvSpPr>
            <a:spLocks xmlns:a="http://schemas.openxmlformats.org/drawingml/2006/main" noGrp="1"/>
          </p:cNvSpPr>
          <p:nvPr/>
        </p:nvSpPr>
        <p:spPr>
          <a:xfrm xmlns:a="http://schemas.openxmlformats.org/drawingml/2006/main">
            <a:off x="8153400" y="3971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1">
                <a:solidFill>
                  <a:srgbClr val="B7433D"/>
                </a:solidFill>
                <a:latin typeface="Aptos"/>
                <a:ea typeface="Aptos"/>
                <a:cs typeface="Aptos"/>
              </a:defRPr>
            </a:pPr>
            <a:r>
              <a:rPr sz="1050" b="1">
                <a:solidFill>
                  <a:srgbClr val="B7433D"/>
                </a:solidFill>
                <a:latin typeface="Aptos"/>
                <a:ea typeface="Aptos"/>
                <a:cs typeface="Aptos"/>
              </a:rPr>
              <a:t>HUMAN CHECKPOINT</a:t>
            </a:r>
          </a:p>
        </p:txBody>
      </p:sp>
      <p:sp>
        <p:nvSpPr>
          <p:cNvPr id="18" name="">
            <a:extLst xmlns:a="http://schemas.openxmlformats.org/drawingml/2006/main">
              <a:ext uri="{FF2B5EF4-FFF2-40B4-BE49-F238E27FC236}">
                <a16:creationId xmlns:a16="http://schemas.microsoft.com/office/drawing/2014/main" id="{1CE25334-708A-4863-9A57-EE36AEAD526F}"/>
              </a:ext>
            </a:extLst>
          </p:cNvPr>
          <p:cNvSpPr>
            <a:spLocks xmlns:a="http://schemas.openxmlformats.org/drawingml/2006/main" noGrp="1"/>
          </p:cNvSpPr>
          <p:nvPr/>
        </p:nvSpPr>
        <p:spPr>
          <a:xfrm xmlns:a="http://schemas.openxmlformats.org/drawingml/2006/main">
            <a:off x="8153400" y="4343400"/>
            <a:ext cx="29146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082638"/>
                </a:solidFill>
                <a:latin typeface="Aptos"/>
                <a:ea typeface="Aptos"/>
                <a:cs typeface="Aptos"/>
              </a:defRPr>
            </a:pPr>
            <a:r>
              <a:rPr sz="1275" b="1">
                <a:solidFill>
                  <a:srgbClr val="082638"/>
                </a:solidFill>
                <a:latin typeface="Aptos"/>
                <a:ea typeface="Aptos"/>
                <a:cs typeface="Aptos"/>
              </a:rPr>
              <a:t>Faculty verifies content and preserves learner effort, dialogue and originality.</a:t>
            </a:r>
          </a:p>
        </p:txBody>
      </p:sp>
    </p:spTree>
    <p:extLst>
      <p:ext uri="{BB962C8B-B14F-4D97-AF65-F5344CB8AC3E}">
        <p14:creationId xmlns:p14="http://schemas.microsoft.com/office/powerpoint/2010/main" val="1609202748"/>
      </p:ext>
    </p:extLst>
  </p:cSld>
</p:sld>
</file>

<file path=ppt/slides/slide5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2CFD5B0-ADAA-4CC7-BECD-5E631772A6A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C59028"/>
          </a:solidFill>
          <a:ln xmlns:a="http://schemas.openxmlformats.org/drawingml/2006/main" w="0">
            <a:solidFill>
              <a:srgbClr val="C59028"/>
            </a:solidFill>
            <a:prstDash val="solid"/>
          </a:ln>
        </p:spPr>
      </p:sp>
      <p:sp>
        <p:nvSpPr>
          <p:cNvPr id="2" name="">
            <a:extLst xmlns:a="http://schemas.openxmlformats.org/drawingml/2006/main">
              <a:ext uri="{FF2B5EF4-FFF2-40B4-BE49-F238E27FC236}">
                <a16:creationId xmlns:a16="http://schemas.microsoft.com/office/drawing/2014/main" id="{80402C3A-BAFF-41EA-BFE3-FD6910198337}"/>
              </a:ext>
            </a:extLst>
          </p:cNvPr>
          <p:cNvSpPr>
            <a:spLocks xmlns:a="http://schemas.openxmlformats.org/drawingml/2006/main" noGrp="1"/>
          </p:cNvSpPr>
          <p:nvPr/>
        </p:nvSpPr>
        <p:spPr>
          <a:xfrm xmlns:a="http://schemas.openxmlformats.org/drawingml/2006/main">
            <a:off x="590550" y="285750"/>
            <a:ext cx="1371600" cy="266700"/>
          </a:xfrm>
          <a:prstGeom xmlns:a="http://schemas.openxmlformats.org/drawingml/2006/main" prst="roundRect">
            <a:avLst>
              <a:gd name="adj" fmla="val 50000"/>
            </a:avLst>
          </a:prstGeom>
          <a:solidFill xmlns:a="http://schemas.openxmlformats.org/drawingml/2006/main">
            <a:srgbClr val="C59028"/>
          </a:solidFill>
          <a:ln xmlns:a="http://schemas.openxmlformats.org/drawingml/2006/main" w="9525">
            <a:solidFill>
              <a:srgbClr val="C59028"/>
            </a:solidFill>
            <a:prstDash val="solid"/>
          </a:ln>
        </p:spPr>
        <p:txBody>
          <a:bodyPr xmlns:a="http://schemas.openxmlformats.org/drawingml/2006/main" lIns="47625" tIns="19050" rIns="47625" bIns="19050" anchor="ctr">
            <a:normAutofit fontScale="903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STATION 4 CHECKPOINT</a:t>
            </a:r>
          </a:p>
        </p:txBody>
      </p:sp>
      <p:sp>
        <p:nvSpPr>
          <p:cNvPr id="3" name="">
            <a:extLst xmlns:a="http://schemas.openxmlformats.org/drawingml/2006/main">
              <a:ext uri="{FF2B5EF4-FFF2-40B4-BE49-F238E27FC236}">
                <a16:creationId xmlns:a16="http://schemas.microsoft.com/office/drawing/2014/main" id="{C27FAB21-E711-4032-BAD1-2030CC979429}"/>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Research integrity is a chain of custody</a:t>
            </a:r>
          </a:p>
        </p:txBody>
      </p:sp>
      <p:sp>
        <p:nvSpPr>
          <p:cNvPr id="4" name="">
            <a:extLst xmlns:a="http://schemas.openxmlformats.org/drawingml/2006/main">
              <a:ext uri="{FF2B5EF4-FFF2-40B4-BE49-F238E27FC236}">
                <a16:creationId xmlns:a16="http://schemas.microsoft.com/office/drawing/2014/main" id="{8FBA09F0-9D09-471F-92DF-7DA6528CA8CD}"/>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F4CDCA74-DABB-4E26-9214-8E3B49645C59}"/>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D9F13A2D-AB6A-4A5E-84F8-5DC8E680DC4C}"/>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68D3A93A-4133-4629-A831-68B339F2ACDB}"/>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8" name="">
            <a:extLst xmlns:a="http://schemas.openxmlformats.org/drawingml/2006/main">
              <a:ext uri="{FF2B5EF4-FFF2-40B4-BE49-F238E27FC236}">
                <a16:creationId xmlns:a16="http://schemas.microsoft.com/office/drawing/2014/main" id="{2EBA3E1E-F507-46F9-ABB6-8E88AD088BA2}"/>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53</a:t>
            </a:r>
          </a:p>
        </p:txBody>
      </p:sp>
      <p:sp>
        <p:nvSpPr>
          <p:cNvPr id="9" name="">
            <a:extLst xmlns:a="http://schemas.openxmlformats.org/drawingml/2006/main">
              <a:ext uri="{FF2B5EF4-FFF2-40B4-BE49-F238E27FC236}">
                <a16:creationId xmlns:a16="http://schemas.microsoft.com/office/drawing/2014/main" id="{7C6D51DF-D48D-41AD-BA1A-2F72424569B4}"/>
              </a:ext>
            </a:extLst>
          </p:cNvPr>
          <p:cNvSpPr>
            <a:spLocks xmlns:a="http://schemas.openxmlformats.org/drawingml/2006/main" noGrp="1"/>
          </p:cNvSpPr>
          <p:nvPr/>
        </p:nvSpPr>
        <p:spPr>
          <a:xfrm xmlns:a="http://schemas.openxmlformats.org/drawingml/2006/main">
            <a:off x="457200" y="2047875"/>
            <a:ext cx="1657350" cy="2095500"/>
          </a:xfrm>
          <a:prstGeom xmlns:a="http://schemas.openxmlformats.org/drawingml/2006/main" prst="roundRect">
            <a:avLst>
              <a:gd name="adj" fmla="val 10345"/>
            </a:avLst>
          </a:prstGeom>
          <a:solidFill xmlns:a="http://schemas.openxmlformats.org/drawingml/2006/main">
            <a:srgbClr val="FFFDFC"/>
          </a:solidFill>
          <a:ln xmlns:a="http://schemas.openxmlformats.org/drawingml/2006/main" w="9525">
            <a:solidFill>
              <a:srgbClr val="C59028"/>
            </a:solidFill>
            <a:prstDash val="solid"/>
          </a:ln>
        </p:spPr>
      </p:sp>
      <p:sp>
        <p:nvSpPr>
          <p:cNvPr id="10" name="">
            <a:extLst xmlns:a="http://schemas.openxmlformats.org/drawingml/2006/main">
              <a:ext uri="{FF2B5EF4-FFF2-40B4-BE49-F238E27FC236}">
                <a16:creationId xmlns:a16="http://schemas.microsoft.com/office/drawing/2014/main" id="{28154C7A-BC80-448D-B0AB-87F944521CDF}"/>
              </a:ext>
            </a:extLst>
          </p:cNvPr>
          <p:cNvSpPr>
            <a:spLocks xmlns:a="http://schemas.openxmlformats.org/drawingml/2006/main" noGrp="1"/>
          </p:cNvSpPr>
          <p:nvPr/>
        </p:nvSpPr>
        <p:spPr>
          <a:xfrm xmlns:a="http://schemas.openxmlformats.org/drawingml/2006/main">
            <a:off x="590550" y="220980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C59028"/>
                </a:solidFill>
                <a:latin typeface="Aptos"/>
                <a:ea typeface="Aptos"/>
                <a:cs typeface="Aptos"/>
              </a:defRPr>
            </a:pPr>
            <a:r>
              <a:rPr sz="1350" b="1">
                <a:solidFill>
                  <a:srgbClr val="C59028"/>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5A929707-E3F2-4B53-844F-4EE11EF3DDDB}"/>
              </a:ext>
            </a:extLst>
          </p:cNvPr>
          <p:cNvSpPr>
            <a:spLocks xmlns:a="http://schemas.openxmlformats.org/drawingml/2006/main" noGrp="1"/>
          </p:cNvSpPr>
          <p:nvPr/>
        </p:nvSpPr>
        <p:spPr>
          <a:xfrm xmlns:a="http://schemas.openxmlformats.org/drawingml/2006/main">
            <a:off x="904875" y="2247900"/>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975" b="1">
                <a:solidFill>
                  <a:srgbClr val="082638"/>
                </a:solidFill>
                <a:latin typeface="Aptos"/>
                <a:ea typeface="Aptos"/>
                <a:cs typeface="Aptos"/>
              </a:defRPr>
            </a:pPr>
            <a:r>
              <a:rPr sz="975" b="1">
                <a:solidFill>
                  <a:srgbClr val="082638"/>
                </a:solidFill>
                <a:latin typeface="Aptos"/>
                <a:ea typeface="Aptos"/>
                <a:cs typeface="Aptos"/>
              </a:rPr>
              <a:t>QUESTION</a:t>
            </a:r>
          </a:p>
        </p:txBody>
      </p:sp>
      <p:sp>
        <p:nvSpPr>
          <p:cNvPr id="12" name="">
            <a:extLst xmlns:a="http://schemas.openxmlformats.org/drawingml/2006/main">
              <a:ext uri="{FF2B5EF4-FFF2-40B4-BE49-F238E27FC236}">
                <a16:creationId xmlns:a16="http://schemas.microsoft.com/office/drawing/2014/main" id="{B5B757D4-C0BC-4102-AED8-12B04D56C778}"/>
              </a:ext>
            </a:extLst>
          </p:cNvPr>
          <p:cNvSpPr>
            <a:spLocks xmlns:a="http://schemas.openxmlformats.org/drawingml/2006/main" noGrp="1"/>
          </p:cNvSpPr>
          <p:nvPr/>
        </p:nvSpPr>
        <p:spPr>
          <a:xfrm xmlns:a="http://schemas.openxmlformats.org/drawingml/2006/main">
            <a:off x="647700" y="2952750"/>
            <a:ext cx="1276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183340"/>
                </a:solidFill>
                <a:latin typeface="Aptos"/>
                <a:ea typeface="Aptos"/>
                <a:cs typeface="Aptos"/>
              </a:defRPr>
            </a:pPr>
            <a:r>
              <a:rPr sz="1350" b="1">
                <a:solidFill>
                  <a:srgbClr val="183340"/>
                </a:solidFill>
                <a:latin typeface="Aptos"/>
                <a:ea typeface="Aptos"/>
                <a:cs typeface="Aptos"/>
              </a:rPr>
              <a:t>PICO + decision</a:t>
            </a:r>
          </a:p>
        </p:txBody>
      </p:sp>
      <p:sp>
        <p:nvSpPr>
          <p:cNvPr id="13" name="">
            <a:extLst xmlns:a="http://schemas.openxmlformats.org/drawingml/2006/main">
              <a:ext uri="{FF2B5EF4-FFF2-40B4-BE49-F238E27FC236}">
                <a16:creationId xmlns:a16="http://schemas.microsoft.com/office/drawing/2014/main" id="{A4F1599B-9CF7-4574-9362-85EDD4DD2F73}"/>
              </a:ext>
            </a:extLst>
          </p:cNvPr>
          <p:cNvSpPr>
            <a:spLocks xmlns:a="http://schemas.openxmlformats.org/drawingml/2006/main" noGrp="1"/>
          </p:cNvSpPr>
          <p:nvPr/>
        </p:nvSpPr>
        <p:spPr>
          <a:xfrm xmlns:a="http://schemas.openxmlformats.org/drawingml/2006/main">
            <a:off x="2381250" y="2047875"/>
            <a:ext cx="1657350" cy="2095500"/>
          </a:xfrm>
          <a:prstGeom xmlns:a="http://schemas.openxmlformats.org/drawingml/2006/main" prst="roundRect">
            <a:avLst>
              <a:gd name="adj" fmla="val 10345"/>
            </a:avLst>
          </a:prstGeom>
          <a:solidFill xmlns:a="http://schemas.openxmlformats.org/drawingml/2006/main">
            <a:srgbClr val="FFFDFC"/>
          </a:solidFill>
          <a:ln xmlns:a="http://schemas.openxmlformats.org/drawingml/2006/main" w="9525">
            <a:solidFill>
              <a:srgbClr val="C59028"/>
            </a:solidFill>
            <a:prstDash val="solid"/>
          </a:ln>
        </p:spPr>
      </p:sp>
      <p:sp>
        <p:nvSpPr>
          <p:cNvPr id="14" name="">
            <a:extLst xmlns:a="http://schemas.openxmlformats.org/drawingml/2006/main">
              <a:ext uri="{FF2B5EF4-FFF2-40B4-BE49-F238E27FC236}">
                <a16:creationId xmlns:a16="http://schemas.microsoft.com/office/drawing/2014/main" id="{B205ADE0-00FB-41F4-942C-64AC454CB58A}"/>
              </a:ext>
            </a:extLst>
          </p:cNvPr>
          <p:cNvSpPr>
            <a:spLocks xmlns:a="http://schemas.openxmlformats.org/drawingml/2006/main" noGrp="1"/>
          </p:cNvSpPr>
          <p:nvPr/>
        </p:nvSpPr>
        <p:spPr>
          <a:xfrm xmlns:a="http://schemas.openxmlformats.org/drawingml/2006/main">
            <a:off x="2514600" y="220980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C59028"/>
                </a:solidFill>
                <a:latin typeface="Aptos"/>
                <a:ea typeface="Aptos"/>
                <a:cs typeface="Aptos"/>
              </a:defRPr>
            </a:pPr>
            <a:r>
              <a:rPr sz="1350" b="1">
                <a:solidFill>
                  <a:srgbClr val="C59028"/>
                </a:solidFill>
                <a:latin typeface="Aptos"/>
                <a:ea typeface="Aptos"/>
                <a:cs typeface="Aptos"/>
              </a:rPr>
              <a:t>2</a:t>
            </a:r>
          </a:p>
        </p:txBody>
      </p:sp>
      <p:sp>
        <p:nvSpPr>
          <p:cNvPr id="15" name="">
            <a:extLst xmlns:a="http://schemas.openxmlformats.org/drawingml/2006/main">
              <a:ext uri="{FF2B5EF4-FFF2-40B4-BE49-F238E27FC236}">
                <a16:creationId xmlns:a16="http://schemas.microsoft.com/office/drawing/2014/main" id="{5CE91371-E7AA-4BA3-8560-4BE9AFE8CD51}"/>
              </a:ext>
            </a:extLst>
          </p:cNvPr>
          <p:cNvSpPr>
            <a:spLocks xmlns:a="http://schemas.openxmlformats.org/drawingml/2006/main" noGrp="1"/>
          </p:cNvSpPr>
          <p:nvPr/>
        </p:nvSpPr>
        <p:spPr>
          <a:xfrm xmlns:a="http://schemas.openxmlformats.org/drawingml/2006/main">
            <a:off x="2828925" y="2247900"/>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975" b="1">
                <a:solidFill>
                  <a:srgbClr val="082638"/>
                </a:solidFill>
                <a:latin typeface="Aptos"/>
                <a:ea typeface="Aptos"/>
                <a:cs typeface="Aptos"/>
              </a:defRPr>
            </a:pPr>
            <a:r>
              <a:rPr sz="975" b="1">
                <a:solidFill>
                  <a:srgbClr val="082638"/>
                </a:solidFill>
                <a:latin typeface="Aptos"/>
                <a:ea typeface="Aptos"/>
                <a:cs typeface="Aptos"/>
              </a:rPr>
              <a:t>SEARCH</a:t>
            </a:r>
          </a:p>
        </p:txBody>
      </p:sp>
      <p:sp>
        <p:nvSpPr>
          <p:cNvPr id="16" name="">
            <a:extLst xmlns:a="http://schemas.openxmlformats.org/drawingml/2006/main">
              <a:ext uri="{FF2B5EF4-FFF2-40B4-BE49-F238E27FC236}">
                <a16:creationId xmlns:a16="http://schemas.microsoft.com/office/drawing/2014/main" id="{CA89BE88-98F7-4CD8-A31F-12804BAF451D}"/>
              </a:ext>
            </a:extLst>
          </p:cNvPr>
          <p:cNvSpPr>
            <a:spLocks xmlns:a="http://schemas.openxmlformats.org/drawingml/2006/main" noGrp="1"/>
          </p:cNvSpPr>
          <p:nvPr/>
        </p:nvSpPr>
        <p:spPr>
          <a:xfrm xmlns:a="http://schemas.openxmlformats.org/drawingml/2006/main">
            <a:off x="2571750" y="2952750"/>
            <a:ext cx="1276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183340"/>
                </a:solidFill>
                <a:latin typeface="Aptos"/>
                <a:ea typeface="Aptos"/>
                <a:cs typeface="Aptos"/>
              </a:defRPr>
            </a:pPr>
            <a:r>
              <a:rPr sz="1350" b="1">
                <a:solidFill>
                  <a:srgbClr val="183340"/>
                </a:solidFill>
                <a:latin typeface="Aptos"/>
                <a:ea typeface="Aptos"/>
                <a:cs typeface="Aptos"/>
              </a:rPr>
              <a:t>Recorded query/date</a:t>
            </a:r>
          </a:p>
        </p:txBody>
      </p:sp>
      <p:sp>
        <p:nvSpPr>
          <p:cNvPr id="17" name="">
            <a:extLst xmlns:a="http://schemas.openxmlformats.org/drawingml/2006/main">
              <a:ext uri="{FF2B5EF4-FFF2-40B4-BE49-F238E27FC236}">
                <a16:creationId xmlns:a16="http://schemas.microsoft.com/office/drawing/2014/main" id="{E6490243-DE04-4AA2-B7AD-82A40C02D09A}"/>
              </a:ext>
            </a:extLst>
          </p:cNvPr>
          <p:cNvSpPr>
            <a:spLocks xmlns:a="http://schemas.openxmlformats.org/drawingml/2006/main" noGrp="1"/>
          </p:cNvSpPr>
          <p:nvPr/>
        </p:nvSpPr>
        <p:spPr>
          <a:xfrm xmlns:a="http://schemas.openxmlformats.org/drawingml/2006/main">
            <a:off x="4305300" y="2047875"/>
            <a:ext cx="1657350" cy="2095500"/>
          </a:xfrm>
          <a:prstGeom xmlns:a="http://schemas.openxmlformats.org/drawingml/2006/main" prst="roundRect">
            <a:avLst>
              <a:gd name="adj" fmla="val 10345"/>
            </a:avLst>
          </a:prstGeom>
          <a:solidFill xmlns:a="http://schemas.openxmlformats.org/drawingml/2006/main">
            <a:srgbClr val="FFFDFC"/>
          </a:solidFill>
          <a:ln xmlns:a="http://schemas.openxmlformats.org/drawingml/2006/main" w="9525">
            <a:solidFill>
              <a:srgbClr val="C59028"/>
            </a:solidFill>
            <a:prstDash val="solid"/>
          </a:ln>
        </p:spPr>
      </p:sp>
      <p:sp>
        <p:nvSpPr>
          <p:cNvPr id="18" name="">
            <a:extLst xmlns:a="http://schemas.openxmlformats.org/drawingml/2006/main">
              <a:ext uri="{FF2B5EF4-FFF2-40B4-BE49-F238E27FC236}">
                <a16:creationId xmlns:a16="http://schemas.microsoft.com/office/drawing/2014/main" id="{DF0D079B-F630-47B8-AFF4-9F75A7F3F83E}"/>
              </a:ext>
            </a:extLst>
          </p:cNvPr>
          <p:cNvSpPr>
            <a:spLocks xmlns:a="http://schemas.openxmlformats.org/drawingml/2006/main" noGrp="1"/>
          </p:cNvSpPr>
          <p:nvPr/>
        </p:nvSpPr>
        <p:spPr>
          <a:xfrm xmlns:a="http://schemas.openxmlformats.org/drawingml/2006/main">
            <a:off x="4438650" y="220980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C59028"/>
                </a:solidFill>
                <a:latin typeface="Aptos"/>
                <a:ea typeface="Aptos"/>
                <a:cs typeface="Aptos"/>
              </a:defRPr>
            </a:pPr>
            <a:r>
              <a:rPr sz="1350" b="1">
                <a:solidFill>
                  <a:srgbClr val="C59028"/>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07FA40CA-410A-4117-A948-FF6B5D3EE9BF}"/>
              </a:ext>
            </a:extLst>
          </p:cNvPr>
          <p:cNvSpPr>
            <a:spLocks xmlns:a="http://schemas.openxmlformats.org/drawingml/2006/main" noGrp="1"/>
          </p:cNvSpPr>
          <p:nvPr/>
        </p:nvSpPr>
        <p:spPr>
          <a:xfrm xmlns:a="http://schemas.openxmlformats.org/drawingml/2006/main">
            <a:off x="4752975" y="2247900"/>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975" b="1">
                <a:solidFill>
                  <a:srgbClr val="082638"/>
                </a:solidFill>
                <a:latin typeface="Aptos"/>
                <a:ea typeface="Aptos"/>
                <a:cs typeface="Aptos"/>
              </a:defRPr>
            </a:pPr>
            <a:r>
              <a:rPr sz="975" b="1">
                <a:solidFill>
                  <a:srgbClr val="082638"/>
                </a:solidFill>
                <a:latin typeface="Aptos"/>
                <a:ea typeface="Aptos"/>
                <a:cs typeface="Aptos"/>
              </a:rPr>
              <a:t>SELECT</a:t>
            </a:r>
          </a:p>
        </p:txBody>
      </p:sp>
      <p:sp>
        <p:nvSpPr>
          <p:cNvPr id="20" name="">
            <a:extLst xmlns:a="http://schemas.openxmlformats.org/drawingml/2006/main">
              <a:ext uri="{FF2B5EF4-FFF2-40B4-BE49-F238E27FC236}">
                <a16:creationId xmlns:a16="http://schemas.microsoft.com/office/drawing/2014/main" id="{52B5290E-1004-4824-B8C3-206413768FE4}"/>
              </a:ext>
            </a:extLst>
          </p:cNvPr>
          <p:cNvSpPr>
            <a:spLocks xmlns:a="http://schemas.openxmlformats.org/drawingml/2006/main" noGrp="1"/>
          </p:cNvSpPr>
          <p:nvPr/>
        </p:nvSpPr>
        <p:spPr>
          <a:xfrm xmlns:a="http://schemas.openxmlformats.org/drawingml/2006/main">
            <a:off x="4495800" y="2952750"/>
            <a:ext cx="1276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183340"/>
                </a:solidFill>
                <a:latin typeface="Aptos"/>
                <a:ea typeface="Aptos"/>
                <a:cs typeface="Aptos"/>
              </a:defRPr>
            </a:pPr>
            <a:r>
              <a:rPr sz="1350" b="1">
                <a:solidFill>
                  <a:srgbClr val="183340"/>
                </a:solidFill>
                <a:latin typeface="Aptos"/>
                <a:ea typeface="Aptos"/>
                <a:cs typeface="Aptos"/>
              </a:rPr>
              <a:t>Explicit inclusion</a:t>
            </a:r>
          </a:p>
        </p:txBody>
      </p:sp>
      <p:sp>
        <p:nvSpPr>
          <p:cNvPr id="21" name="">
            <a:extLst xmlns:a="http://schemas.openxmlformats.org/drawingml/2006/main">
              <a:ext uri="{FF2B5EF4-FFF2-40B4-BE49-F238E27FC236}">
                <a16:creationId xmlns:a16="http://schemas.microsoft.com/office/drawing/2014/main" id="{282C93E3-0117-4E33-B3C1-403901E6E343}"/>
              </a:ext>
            </a:extLst>
          </p:cNvPr>
          <p:cNvSpPr>
            <a:spLocks xmlns:a="http://schemas.openxmlformats.org/drawingml/2006/main" noGrp="1"/>
          </p:cNvSpPr>
          <p:nvPr/>
        </p:nvSpPr>
        <p:spPr>
          <a:xfrm xmlns:a="http://schemas.openxmlformats.org/drawingml/2006/main">
            <a:off x="6229350" y="2047875"/>
            <a:ext cx="1657350" cy="2095500"/>
          </a:xfrm>
          <a:prstGeom xmlns:a="http://schemas.openxmlformats.org/drawingml/2006/main" prst="roundRect">
            <a:avLst>
              <a:gd name="adj" fmla="val 10345"/>
            </a:avLst>
          </a:prstGeom>
          <a:solidFill xmlns:a="http://schemas.openxmlformats.org/drawingml/2006/main">
            <a:srgbClr val="FFFDFC"/>
          </a:solidFill>
          <a:ln xmlns:a="http://schemas.openxmlformats.org/drawingml/2006/main" w="9525">
            <a:solidFill>
              <a:srgbClr val="C59028"/>
            </a:solidFill>
            <a:prstDash val="solid"/>
          </a:ln>
        </p:spPr>
      </p:sp>
      <p:sp>
        <p:nvSpPr>
          <p:cNvPr id="22" name="">
            <a:extLst xmlns:a="http://schemas.openxmlformats.org/drawingml/2006/main">
              <a:ext uri="{FF2B5EF4-FFF2-40B4-BE49-F238E27FC236}">
                <a16:creationId xmlns:a16="http://schemas.microsoft.com/office/drawing/2014/main" id="{FAB3560B-3B90-4553-9E66-41C8CBD9EBB1}"/>
              </a:ext>
            </a:extLst>
          </p:cNvPr>
          <p:cNvSpPr>
            <a:spLocks xmlns:a="http://schemas.openxmlformats.org/drawingml/2006/main" noGrp="1"/>
          </p:cNvSpPr>
          <p:nvPr/>
        </p:nvSpPr>
        <p:spPr>
          <a:xfrm xmlns:a="http://schemas.openxmlformats.org/drawingml/2006/main">
            <a:off x="6362700" y="220980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C59028"/>
                </a:solidFill>
                <a:latin typeface="Aptos"/>
                <a:ea typeface="Aptos"/>
                <a:cs typeface="Aptos"/>
              </a:defRPr>
            </a:pPr>
            <a:r>
              <a:rPr sz="1350" b="1">
                <a:solidFill>
                  <a:srgbClr val="C59028"/>
                </a:solidFill>
                <a:latin typeface="Aptos"/>
                <a:ea typeface="Aptos"/>
                <a:cs typeface="Aptos"/>
              </a:rPr>
              <a:t>4</a:t>
            </a:r>
          </a:p>
        </p:txBody>
      </p:sp>
      <p:sp>
        <p:nvSpPr>
          <p:cNvPr id="23" name="">
            <a:extLst xmlns:a="http://schemas.openxmlformats.org/drawingml/2006/main">
              <a:ext uri="{FF2B5EF4-FFF2-40B4-BE49-F238E27FC236}">
                <a16:creationId xmlns:a16="http://schemas.microsoft.com/office/drawing/2014/main" id="{1D4D2123-82F8-4021-A1B9-A13A013DEF14}"/>
              </a:ext>
            </a:extLst>
          </p:cNvPr>
          <p:cNvSpPr>
            <a:spLocks xmlns:a="http://schemas.openxmlformats.org/drawingml/2006/main" noGrp="1"/>
          </p:cNvSpPr>
          <p:nvPr/>
        </p:nvSpPr>
        <p:spPr>
          <a:xfrm xmlns:a="http://schemas.openxmlformats.org/drawingml/2006/main">
            <a:off x="6677025" y="2247900"/>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975" b="1">
                <a:solidFill>
                  <a:srgbClr val="082638"/>
                </a:solidFill>
                <a:latin typeface="Aptos"/>
                <a:ea typeface="Aptos"/>
                <a:cs typeface="Aptos"/>
              </a:defRPr>
            </a:pPr>
            <a:r>
              <a:rPr sz="975" b="1">
                <a:solidFill>
                  <a:srgbClr val="082638"/>
                </a:solidFill>
                <a:latin typeface="Aptos"/>
                <a:ea typeface="Aptos"/>
                <a:cs typeface="Aptos"/>
              </a:rPr>
              <a:t>APPRAISE</a:t>
            </a:r>
          </a:p>
        </p:txBody>
      </p:sp>
      <p:sp>
        <p:nvSpPr>
          <p:cNvPr id="24" name="">
            <a:extLst xmlns:a="http://schemas.openxmlformats.org/drawingml/2006/main">
              <a:ext uri="{FF2B5EF4-FFF2-40B4-BE49-F238E27FC236}">
                <a16:creationId xmlns:a16="http://schemas.microsoft.com/office/drawing/2014/main" id="{6D6072CB-7F83-4E60-AB0E-E2027DFC2005}"/>
              </a:ext>
            </a:extLst>
          </p:cNvPr>
          <p:cNvSpPr>
            <a:spLocks xmlns:a="http://schemas.openxmlformats.org/drawingml/2006/main" noGrp="1"/>
          </p:cNvSpPr>
          <p:nvPr/>
        </p:nvSpPr>
        <p:spPr>
          <a:xfrm xmlns:a="http://schemas.openxmlformats.org/drawingml/2006/main">
            <a:off x="6419850" y="2952750"/>
            <a:ext cx="1276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183340"/>
                </a:solidFill>
                <a:latin typeface="Aptos"/>
                <a:ea typeface="Aptos"/>
                <a:cs typeface="Aptos"/>
              </a:defRPr>
            </a:pPr>
            <a:r>
              <a:rPr sz="1350" b="1">
                <a:solidFill>
                  <a:srgbClr val="183340"/>
                </a:solidFill>
                <a:latin typeface="Aptos"/>
                <a:ea typeface="Aptos"/>
                <a:cs typeface="Aptos"/>
              </a:rPr>
              <a:t>Design + bias + effect</a:t>
            </a:r>
          </a:p>
        </p:txBody>
      </p:sp>
      <p:sp>
        <p:nvSpPr>
          <p:cNvPr id="25" name="">
            <a:extLst xmlns:a="http://schemas.openxmlformats.org/drawingml/2006/main">
              <a:ext uri="{FF2B5EF4-FFF2-40B4-BE49-F238E27FC236}">
                <a16:creationId xmlns:a16="http://schemas.microsoft.com/office/drawing/2014/main" id="{BCD8BDF6-5C44-4DEE-A27E-15768567E47A}"/>
              </a:ext>
            </a:extLst>
          </p:cNvPr>
          <p:cNvSpPr>
            <a:spLocks xmlns:a="http://schemas.openxmlformats.org/drawingml/2006/main" noGrp="1"/>
          </p:cNvSpPr>
          <p:nvPr/>
        </p:nvSpPr>
        <p:spPr>
          <a:xfrm xmlns:a="http://schemas.openxmlformats.org/drawingml/2006/main">
            <a:off x="8153400" y="2047875"/>
            <a:ext cx="1657350" cy="2095500"/>
          </a:xfrm>
          <a:prstGeom xmlns:a="http://schemas.openxmlformats.org/drawingml/2006/main" prst="roundRect">
            <a:avLst>
              <a:gd name="adj" fmla="val 10345"/>
            </a:avLst>
          </a:prstGeom>
          <a:solidFill xmlns:a="http://schemas.openxmlformats.org/drawingml/2006/main">
            <a:srgbClr val="FFFDFC"/>
          </a:solidFill>
          <a:ln xmlns:a="http://schemas.openxmlformats.org/drawingml/2006/main" w="9525">
            <a:solidFill>
              <a:srgbClr val="C59028"/>
            </a:solidFill>
            <a:prstDash val="solid"/>
          </a:ln>
        </p:spPr>
      </p:sp>
      <p:sp>
        <p:nvSpPr>
          <p:cNvPr id="26" name="">
            <a:extLst xmlns:a="http://schemas.openxmlformats.org/drawingml/2006/main">
              <a:ext uri="{FF2B5EF4-FFF2-40B4-BE49-F238E27FC236}">
                <a16:creationId xmlns:a16="http://schemas.microsoft.com/office/drawing/2014/main" id="{3BF02642-267C-40AA-A5A0-34BAF17442C2}"/>
              </a:ext>
            </a:extLst>
          </p:cNvPr>
          <p:cNvSpPr>
            <a:spLocks xmlns:a="http://schemas.openxmlformats.org/drawingml/2006/main" noGrp="1"/>
          </p:cNvSpPr>
          <p:nvPr/>
        </p:nvSpPr>
        <p:spPr>
          <a:xfrm xmlns:a="http://schemas.openxmlformats.org/drawingml/2006/main">
            <a:off x="8286750" y="220980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C59028"/>
                </a:solidFill>
                <a:latin typeface="Aptos"/>
                <a:ea typeface="Aptos"/>
                <a:cs typeface="Aptos"/>
              </a:defRPr>
            </a:pPr>
            <a:r>
              <a:rPr sz="1350" b="1">
                <a:solidFill>
                  <a:srgbClr val="C59028"/>
                </a:solidFill>
                <a:latin typeface="Aptos"/>
                <a:ea typeface="Aptos"/>
                <a:cs typeface="Aptos"/>
              </a:rPr>
              <a:t>5</a:t>
            </a:r>
          </a:p>
        </p:txBody>
      </p:sp>
      <p:sp>
        <p:nvSpPr>
          <p:cNvPr id="27" name="">
            <a:extLst xmlns:a="http://schemas.openxmlformats.org/drawingml/2006/main">
              <a:ext uri="{FF2B5EF4-FFF2-40B4-BE49-F238E27FC236}">
                <a16:creationId xmlns:a16="http://schemas.microsoft.com/office/drawing/2014/main" id="{125C1B8E-67DC-44D4-9245-FCB16118CC60}"/>
              </a:ext>
            </a:extLst>
          </p:cNvPr>
          <p:cNvSpPr>
            <a:spLocks xmlns:a="http://schemas.openxmlformats.org/drawingml/2006/main" noGrp="1"/>
          </p:cNvSpPr>
          <p:nvPr/>
        </p:nvSpPr>
        <p:spPr>
          <a:xfrm xmlns:a="http://schemas.openxmlformats.org/drawingml/2006/main">
            <a:off x="8601075" y="2247900"/>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975" b="1">
                <a:solidFill>
                  <a:srgbClr val="082638"/>
                </a:solidFill>
                <a:latin typeface="Aptos"/>
                <a:ea typeface="Aptos"/>
                <a:cs typeface="Aptos"/>
              </a:defRPr>
            </a:pPr>
            <a:r>
              <a:rPr sz="975" b="1">
                <a:solidFill>
                  <a:srgbClr val="082638"/>
                </a:solidFill>
                <a:latin typeface="Aptos"/>
                <a:ea typeface="Aptos"/>
                <a:cs typeface="Aptos"/>
              </a:rPr>
              <a:t>SYNTHESISE</a:t>
            </a:r>
          </a:p>
        </p:txBody>
      </p:sp>
      <p:sp>
        <p:nvSpPr>
          <p:cNvPr id="28" name="">
            <a:extLst xmlns:a="http://schemas.openxmlformats.org/drawingml/2006/main">
              <a:ext uri="{FF2B5EF4-FFF2-40B4-BE49-F238E27FC236}">
                <a16:creationId xmlns:a16="http://schemas.microsoft.com/office/drawing/2014/main" id="{72EE0465-3C8B-4CAE-B9DC-2357442F2C67}"/>
              </a:ext>
            </a:extLst>
          </p:cNvPr>
          <p:cNvSpPr>
            <a:spLocks xmlns:a="http://schemas.openxmlformats.org/drawingml/2006/main" noGrp="1"/>
          </p:cNvSpPr>
          <p:nvPr/>
        </p:nvSpPr>
        <p:spPr>
          <a:xfrm xmlns:a="http://schemas.openxmlformats.org/drawingml/2006/main">
            <a:off x="8343900" y="2952750"/>
            <a:ext cx="1276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183340"/>
                </a:solidFill>
                <a:latin typeface="Aptos"/>
                <a:ea typeface="Aptos"/>
                <a:cs typeface="Aptos"/>
              </a:defRPr>
            </a:pPr>
            <a:r>
              <a:rPr sz="1350" b="1">
                <a:solidFill>
                  <a:srgbClr val="183340"/>
                </a:solidFill>
                <a:latin typeface="Aptos"/>
                <a:ea typeface="Aptos"/>
                <a:cs typeface="Aptos"/>
              </a:rPr>
              <a:t>Evidence + limits</a:t>
            </a:r>
          </a:p>
        </p:txBody>
      </p:sp>
      <p:sp>
        <p:nvSpPr>
          <p:cNvPr id="29" name="">
            <a:extLst xmlns:a="http://schemas.openxmlformats.org/drawingml/2006/main">
              <a:ext uri="{FF2B5EF4-FFF2-40B4-BE49-F238E27FC236}">
                <a16:creationId xmlns:a16="http://schemas.microsoft.com/office/drawing/2014/main" id="{D0C96F2A-F2F9-400D-9726-45876DC62F84}"/>
              </a:ext>
            </a:extLst>
          </p:cNvPr>
          <p:cNvSpPr>
            <a:spLocks xmlns:a="http://schemas.openxmlformats.org/drawingml/2006/main" noGrp="1"/>
          </p:cNvSpPr>
          <p:nvPr/>
        </p:nvSpPr>
        <p:spPr>
          <a:xfrm xmlns:a="http://schemas.openxmlformats.org/drawingml/2006/main">
            <a:off x="10077450" y="2047875"/>
            <a:ext cx="1657350" cy="2095500"/>
          </a:xfrm>
          <a:prstGeom xmlns:a="http://schemas.openxmlformats.org/drawingml/2006/main" prst="roundRect">
            <a:avLst>
              <a:gd name="adj" fmla="val 10345"/>
            </a:avLst>
          </a:prstGeom>
          <a:solidFill xmlns:a="http://schemas.openxmlformats.org/drawingml/2006/main">
            <a:srgbClr val="082638"/>
          </a:solidFill>
          <a:ln xmlns:a="http://schemas.openxmlformats.org/drawingml/2006/main" w="9525">
            <a:solidFill>
              <a:srgbClr val="082638"/>
            </a:solidFill>
            <a:prstDash val="solid"/>
          </a:ln>
        </p:spPr>
      </p:sp>
      <p:sp>
        <p:nvSpPr>
          <p:cNvPr id="30" name="">
            <a:extLst xmlns:a="http://schemas.openxmlformats.org/drawingml/2006/main">
              <a:ext uri="{FF2B5EF4-FFF2-40B4-BE49-F238E27FC236}">
                <a16:creationId xmlns:a16="http://schemas.microsoft.com/office/drawing/2014/main" id="{BDF5B4A9-E751-446F-BEAC-DBE83CA95776}"/>
              </a:ext>
            </a:extLst>
          </p:cNvPr>
          <p:cNvSpPr>
            <a:spLocks xmlns:a="http://schemas.openxmlformats.org/drawingml/2006/main" noGrp="1"/>
          </p:cNvSpPr>
          <p:nvPr/>
        </p:nvSpPr>
        <p:spPr>
          <a:xfrm xmlns:a="http://schemas.openxmlformats.org/drawingml/2006/main">
            <a:off x="10210800" y="220980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FFFFFF"/>
                </a:solidFill>
                <a:latin typeface="Aptos"/>
                <a:ea typeface="Aptos"/>
                <a:cs typeface="Aptos"/>
              </a:defRPr>
            </a:pPr>
            <a:r>
              <a:rPr sz="1350" b="1">
                <a:solidFill>
                  <a:srgbClr val="FFFFFF"/>
                </a:solidFill>
                <a:latin typeface="Aptos"/>
                <a:ea typeface="Aptos"/>
                <a:cs typeface="Aptos"/>
              </a:rPr>
              <a:t>6</a:t>
            </a:r>
          </a:p>
        </p:txBody>
      </p:sp>
      <p:sp>
        <p:nvSpPr>
          <p:cNvPr id="31" name="">
            <a:extLst xmlns:a="http://schemas.openxmlformats.org/drawingml/2006/main">
              <a:ext uri="{FF2B5EF4-FFF2-40B4-BE49-F238E27FC236}">
                <a16:creationId xmlns:a16="http://schemas.microsoft.com/office/drawing/2014/main" id="{626D283A-E89F-4861-A659-FE09227DCD8C}"/>
              </a:ext>
            </a:extLst>
          </p:cNvPr>
          <p:cNvSpPr>
            <a:spLocks xmlns:a="http://schemas.openxmlformats.org/drawingml/2006/main" noGrp="1"/>
          </p:cNvSpPr>
          <p:nvPr/>
        </p:nvSpPr>
        <p:spPr>
          <a:xfrm xmlns:a="http://schemas.openxmlformats.org/drawingml/2006/main">
            <a:off x="10525125" y="2247900"/>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975" b="1">
                <a:solidFill>
                  <a:srgbClr val="FFFFFF"/>
                </a:solidFill>
                <a:latin typeface="Aptos"/>
                <a:ea typeface="Aptos"/>
                <a:cs typeface="Aptos"/>
              </a:defRPr>
            </a:pPr>
            <a:r>
              <a:rPr sz="975" b="1">
                <a:solidFill>
                  <a:srgbClr val="FFFFFF"/>
                </a:solidFill>
                <a:latin typeface="Aptos"/>
                <a:ea typeface="Aptos"/>
                <a:cs typeface="Aptos"/>
              </a:rPr>
              <a:t>DECIDE</a:t>
            </a:r>
          </a:p>
        </p:txBody>
      </p:sp>
      <p:sp>
        <p:nvSpPr>
          <p:cNvPr id="32" name="">
            <a:extLst xmlns:a="http://schemas.openxmlformats.org/drawingml/2006/main">
              <a:ext uri="{FF2B5EF4-FFF2-40B4-BE49-F238E27FC236}">
                <a16:creationId xmlns:a16="http://schemas.microsoft.com/office/drawing/2014/main" id="{00664E22-8412-4F95-868E-8131F542872E}"/>
              </a:ext>
            </a:extLst>
          </p:cNvPr>
          <p:cNvSpPr>
            <a:spLocks xmlns:a="http://schemas.openxmlformats.org/drawingml/2006/main" noGrp="1"/>
          </p:cNvSpPr>
          <p:nvPr/>
        </p:nvSpPr>
        <p:spPr>
          <a:xfrm xmlns:a="http://schemas.openxmlformats.org/drawingml/2006/main">
            <a:off x="10267950" y="2952750"/>
            <a:ext cx="1276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FFFFFF"/>
                </a:solidFill>
                <a:latin typeface="Aptos"/>
                <a:ea typeface="Aptos"/>
                <a:cs typeface="Aptos"/>
              </a:defRPr>
            </a:pPr>
            <a:r>
              <a:rPr sz="1350" b="1">
                <a:solidFill>
                  <a:srgbClr val="FFFFFF"/>
                </a:solidFill>
                <a:latin typeface="Aptos"/>
                <a:ea typeface="Aptos"/>
                <a:cs typeface="Aptos"/>
              </a:rPr>
              <a:t>Human application</a:t>
            </a:r>
          </a:p>
        </p:txBody>
      </p:sp>
      <p:sp>
        <p:nvSpPr>
          <p:cNvPr id="33" name="">
            <a:extLst xmlns:a="http://schemas.openxmlformats.org/drawingml/2006/main">
              <a:ext uri="{FF2B5EF4-FFF2-40B4-BE49-F238E27FC236}">
                <a16:creationId xmlns:a16="http://schemas.microsoft.com/office/drawing/2014/main" id="{27BC10A5-F4E7-4C17-9337-C7F02E6ECB85}"/>
              </a:ext>
            </a:extLst>
          </p:cNvPr>
          <p:cNvSpPr>
            <a:spLocks xmlns:a="http://schemas.openxmlformats.org/drawingml/2006/main" noGrp="1"/>
          </p:cNvSpPr>
          <p:nvPr/>
        </p:nvSpPr>
        <p:spPr>
          <a:xfrm xmlns:a="http://schemas.openxmlformats.org/drawingml/2006/main">
            <a:off x="1809750" y="4800600"/>
            <a:ext cx="8572500" cy="714375"/>
          </a:xfrm>
          <a:prstGeom xmlns:a="http://schemas.openxmlformats.org/drawingml/2006/main" prst="roundRect">
            <a:avLst>
              <a:gd name="adj" fmla="val 24000"/>
            </a:avLst>
          </a:prstGeom>
          <a:solidFill xmlns:a="http://schemas.openxmlformats.org/drawingml/2006/main">
            <a:srgbClr val="FBE7DF"/>
          </a:solidFill>
          <a:ln xmlns:a="http://schemas.openxmlformats.org/drawingml/2006/main" w="9525">
            <a:solidFill>
              <a:srgbClr val="E8694A"/>
            </a:solidFill>
            <a:prstDash val="solid"/>
          </a:ln>
        </p:spPr>
      </p:sp>
      <p:sp>
        <p:nvSpPr>
          <p:cNvPr id="34" name="">
            <a:extLst xmlns:a="http://schemas.openxmlformats.org/drawingml/2006/main">
              <a:ext uri="{FF2B5EF4-FFF2-40B4-BE49-F238E27FC236}">
                <a16:creationId xmlns:a16="http://schemas.microsoft.com/office/drawing/2014/main" id="{9EA4F98E-4715-4B8A-BE50-C715431CE6BC}"/>
              </a:ext>
            </a:extLst>
          </p:cNvPr>
          <p:cNvSpPr>
            <a:spLocks xmlns:a="http://schemas.openxmlformats.org/drawingml/2006/main" noGrp="1"/>
          </p:cNvSpPr>
          <p:nvPr/>
        </p:nvSpPr>
        <p:spPr>
          <a:xfrm xmlns:a="http://schemas.openxmlformats.org/drawingml/2006/main">
            <a:off x="2095500" y="4972050"/>
            <a:ext cx="800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002"/>
          </a:bodyPr>
          <a:lstStyle xmlns:a="http://schemas.openxmlformats.org/drawingml/2006/main"/>
          <a:p xmlns:a="http://schemas.openxmlformats.org/drawingml/2006/main">
            <a:pPr algn="ctr">
              <a:lnSpc>
                <a:spcPct val="103000"/>
              </a:lnSpc>
              <a:buNone/>
              <a:defRPr sz="1575" b="1">
                <a:solidFill>
                  <a:srgbClr val="B7433D"/>
                </a:solidFill>
                <a:latin typeface="Aptos"/>
                <a:ea typeface="Aptos"/>
                <a:cs typeface="Aptos"/>
              </a:defRPr>
            </a:pPr>
            <a:r>
              <a:rPr sz="1575" b="1">
                <a:solidFill>
                  <a:srgbClr val="B7433D"/>
                </a:solidFill>
                <a:latin typeface="Aptos"/>
                <a:ea typeface="Aptos"/>
                <a:cs typeface="Aptos"/>
              </a:rPr>
              <a:t>Stop if a citation cannot be opened, the design is mislabelled, or an AI summary outruns the source.</a:t>
            </a:r>
          </a:p>
        </p:txBody>
      </p:sp>
    </p:spTree>
    <p:extLst>
      <p:ext uri="{BB962C8B-B14F-4D97-AF65-F5344CB8AC3E}">
        <p14:creationId xmlns:p14="http://schemas.microsoft.com/office/powerpoint/2010/main" val="1563995141"/>
      </p:ext>
    </p:extLst>
  </p:cSld>
</p:sld>
</file>

<file path=ppt/slides/slide54.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206AA4-FDF2-43E8-AE91-A6B10D0B048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
            <a:extLst xmlns:a="http://schemas.openxmlformats.org/drawingml/2006/main">
              <a:ext uri="{FF2B5EF4-FFF2-40B4-BE49-F238E27FC236}">
                <a16:creationId xmlns:a16="http://schemas.microsoft.com/office/drawing/2014/main" id="{44F14261-F3ED-4860-9FCF-3C142F60CBED}"/>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8134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WORKSHOP SYNTHESIS</a:t>
            </a:r>
          </a:p>
        </p:txBody>
      </p:sp>
      <p:sp>
        <p:nvSpPr>
          <p:cNvPr id="3" name="">
            <a:extLst xmlns:a="http://schemas.openxmlformats.org/drawingml/2006/main">
              <a:ext uri="{FF2B5EF4-FFF2-40B4-BE49-F238E27FC236}">
                <a16:creationId xmlns:a16="http://schemas.microsoft.com/office/drawing/2014/main" id="{5D3844A5-CC70-4386-8303-F5053BEE8817}"/>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Use one scorecard for every tool</a:t>
            </a:r>
          </a:p>
        </p:txBody>
      </p:sp>
      <p:sp>
        <p:nvSpPr>
          <p:cNvPr id="4" name="">
            <a:extLst xmlns:a="http://schemas.openxmlformats.org/drawingml/2006/main">
              <a:ext uri="{FF2B5EF4-FFF2-40B4-BE49-F238E27FC236}">
                <a16:creationId xmlns:a16="http://schemas.microsoft.com/office/drawing/2014/main" id="{AECDF4F0-A1AA-44A6-9F3B-8AA87A7ACA86}"/>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4DEE5FA7-5537-4B44-811C-B587942E7005}"/>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948031E0-A83F-4BB0-AEF7-E83729D9A017}"/>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71EB71CB-B23D-458D-B06A-0B4DCB84509A}"/>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8" name="">
            <a:extLst xmlns:a="http://schemas.openxmlformats.org/drawingml/2006/main">
              <a:ext uri="{FF2B5EF4-FFF2-40B4-BE49-F238E27FC236}">
                <a16:creationId xmlns:a16="http://schemas.microsoft.com/office/drawing/2014/main" id="{2D78347D-D5FF-4266-A2AB-14814939611F}"/>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54</a:t>
            </a:r>
          </a:p>
        </p:txBody>
      </p:sp>
      <p:sp>
        <p:nvSpPr>
          <p:cNvPr id="9" name="">
            <a:extLst xmlns:a="http://schemas.openxmlformats.org/drawingml/2006/main">
              <a:ext uri="{FF2B5EF4-FFF2-40B4-BE49-F238E27FC236}">
                <a16:creationId xmlns:a16="http://schemas.microsoft.com/office/drawing/2014/main" id="{6FD3C442-A630-4898-BEC5-53DF25A3C217}"/>
              </a:ext>
            </a:extLst>
          </p:cNvPr>
          <p:cNvSpPr>
            <a:spLocks xmlns:a="http://schemas.openxmlformats.org/drawingml/2006/main" noGrp="1"/>
          </p:cNvSpPr>
          <p:nvPr/>
        </p:nvSpPr>
        <p:spPr>
          <a:xfrm xmlns:a="http://schemas.openxmlformats.org/drawingml/2006/main">
            <a:off x="628650" y="1752600"/>
            <a:ext cx="5048250" cy="1028700"/>
          </a:xfrm>
          <a:prstGeom xmlns:a="http://schemas.openxmlformats.org/drawingml/2006/main" prst="roundRect">
            <a:avLst>
              <a:gd name="adj" fmla="val 16667"/>
            </a:avLst>
          </a:prstGeom>
          <a:solidFill xmlns:a="http://schemas.openxmlformats.org/drawingml/2006/main">
            <a:srgbClr val="FFFDFC"/>
          </a:solidFill>
          <a:ln xmlns:a="http://schemas.openxmlformats.org/drawingml/2006/main" w="9525">
            <a:solidFill>
              <a:srgbClr val="087E78"/>
            </a:solidFill>
            <a:prstDash val="solid"/>
          </a:ln>
        </p:spPr>
      </p:sp>
      <p:sp>
        <p:nvSpPr>
          <p:cNvPr id="10" name="">
            <a:extLst xmlns:a="http://schemas.openxmlformats.org/drawingml/2006/main">
              <a:ext uri="{FF2B5EF4-FFF2-40B4-BE49-F238E27FC236}">
                <a16:creationId xmlns:a16="http://schemas.microsoft.com/office/drawing/2014/main" id="{11F48B1C-A2AA-47E9-A853-40084378D108}"/>
              </a:ext>
            </a:extLst>
          </p:cNvPr>
          <p:cNvSpPr>
            <a:spLocks xmlns:a="http://schemas.openxmlformats.org/drawingml/2006/main" noGrp="1"/>
          </p:cNvSpPr>
          <p:nvPr/>
        </p:nvSpPr>
        <p:spPr>
          <a:xfrm xmlns:a="http://schemas.openxmlformats.org/drawingml/2006/main">
            <a:off x="800100" y="19907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2325" b="1">
                <a:solidFill>
                  <a:srgbClr val="087E78"/>
                </a:solidFill>
                <a:latin typeface="Aptos"/>
                <a:ea typeface="Aptos"/>
                <a:cs typeface="Aptos"/>
              </a:defRPr>
            </a:pPr>
            <a:r>
              <a:rPr sz="2325" b="1">
                <a:solidFill>
                  <a:srgbClr val="087E78"/>
                </a:solidFill>
                <a:latin typeface="Aptos"/>
                <a:ea typeface="Aptos"/>
                <a:cs typeface="Aptos"/>
              </a:rPr>
              <a:t>P</a:t>
            </a:r>
          </a:p>
        </p:txBody>
      </p:sp>
      <p:sp>
        <p:nvSpPr>
          <p:cNvPr id="11" name="">
            <a:extLst xmlns:a="http://schemas.openxmlformats.org/drawingml/2006/main">
              <a:ext uri="{FF2B5EF4-FFF2-40B4-BE49-F238E27FC236}">
                <a16:creationId xmlns:a16="http://schemas.microsoft.com/office/drawing/2014/main" id="{8B5B90C6-6D91-4E34-B13B-AE226C81B298}"/>
              </a:ext>
            </a:extLst>
          </p:cNvPr>
          <p:cNvSpPr>
            <a:spLocks xmlns:a="http://schemas.openxmlformats.org/drawingml/2006/main" noGrp="1"/>
          </p:cNvSpPr>
          <p:nvPr/>
        </p:nvSpPr>
        <p:spPr>
          <a:xfrm xmlns:a="http://schemas.openxmlformats.org/drawingml/2006/main">
            <a:off x="1352550" y="19431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25" b="1">
                <a:solidFill>
                  <a:srgbClr val="082638"/>
                </a:solidFill>
                <a:latin typeface="Aptos"/>
                <a:ea typeface="Aptos"/>
                <a:cs typeface="Aptos"/>
              </a:defRPr>
            </a:pPr>
            <a:r>
              <a:rPr sz="1125" b="1">
                <a:solidFill>
                  <a:srgbClr val="082638"/>
                </a:solidFill>
                <a:latin typeface="Aptos"/>
                <a:ea typeface="Aptos"/>
                <a:cs typeface="Aptos"/>
              </a:rPr>
              <a:t>PATIENT VALUE</a:t>
            </a:r>
          </a:p>
        </p:txBody>
      </p:sp>
      <p:sp>
        <p:nvSpPr>
          <p:cNvPr id="12" name="">
            <a:extLst xmlns:a="http://schemas.openxmlformats.org/drawingml/2006/main">
              <a:ext uri="{FF2B5EF4-FFF2-40B4-BE49-F238E27FC236}">
                <a16:creationId xmlns:a16="http://schemas.microsoft.com/office/drawing/2014/main" id="{1F5ABF13-6872-47F7-9030-B89EDB783896}"/>
              </a:ext>
            </a:extLst>
          </p:cNvPr>
          <p:cNvSpPr>
            <a:spLocks xmlns:a="http://schemas.openxmlformats.org/drawingml/2006/main" noGrp="1"/>
          </p:cNvSpPr>
          <p:nvPr/>
        </p:nvSpPr>
        <p:spPr>
          <a:xfrm xmlns:a="http://schemas.openxmlformats.org/drawingml/2006/main">
            <a:off x="1352550" y="2266950"/>
            <a:ext cx="4000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38" b="0">
                <a:solidFill>
                  <a:srgbClr val="183340"/>
                </a:solidFill>
                <a:latin typeface="Aptos"/>
                <a:ea typeface="Aptos"/>
                <a:cs typeface="Aptos"/>
              </a:defRPr>
            </a:pPr>
            <a:r>
              <a:rPr sz="1238" b="0">
                <a:solidFill>
                  <a:srgbClr val="183340"/>
                </a:solidFill>
                <a:latin typeface="Aptos"/>
                <a:ea typeface="Aptos"/>
                <a:cs typeface="Aptos"/>
              </a:rPr>
              <a:t>Attention, understanding, access or safety</a:t>
            </a:r>
          </a:p>
        </p:txBody>
      </p:sp>
      <p:sp>
        <p:nvSpPr>
          <p:cNvPr id="13" name="">
            <a:extLst xmlns:a="http://schemas.openxmlformats.org/drawingml/2006/main">
              <a:ext uri="{FF2B5EF4-FFF2-40B4-BE49-F238E27FC236}">
                <a16:creationId xmlns:a16="http://schemas.microsoft.com/office/drawing/2014/main" id="{604B3E88-E790-469E-90DE-C5C4F60F8AC9}"/>
              </a:ext>
            </a:extLst>
          </p:cNvPr>
          <p:cNvSpPr>
            <a:spLocks xmlns:a="http://schemas.openxmlformats.org/drawingml/2006/main" noGrp="1"/>
          </p:cNvSpPr>
          <p:nvPr/>
        </p:nvSpPr>
        <p:spPr>
          <a:xfrm xmlns:a="http://schemas.openxmlformats.org/drawingml/2006/main">
            <a:off x="6057900" y="1752600"/>
            <a:ext cx="5048250" cy="1028700"/>
          </a:xfrm>
          <a:prstGeom xmlns:a="http://schemas.openxmlformats.org/drawingml/2006/main" prst="roundRect">
            <a:avLst>
              <a:gd name="adj" fmla="val 16667"/>
            </a:avLst>
          </a:prstGeom>
          <a:solidFill xmlns:a="http://schemas.openxmlformats.org/drawingml/2006/main">
            <a:srgbClr val="FFFDFC"/>
          </a:solidFill>
          <a:ln xmlns:a="http://schemas.openxmlformats.org/drawingml/2006/main" w="9525">
            <a:solidFill>
              <a:srgbClr val="087E78"/>
            </a:solidFill>
            <a:prstDash val="solid"/>
          </a:ln>
        </p:spPr>
      </p:sp>
      <p:sp>
        <p:nvSpPr>
          <p:cNvPr id="14" name="">
            <a:extLst xmlns:a="http://schemas.openxmlformats.org/drawingml/2006/main">
              <a:ext uri="{FF2B5EF4-FFF2-40B4-BE49-F238E27FC236}">
                <a16:creationId xmlns:a16="http://schemas.microsoft.com/office/drawing/2014/main" id="{CAF4A6C1-0606-470D-AAB3-AACF685A15F6}"/>
              </a:ext>
            </a:extLst>
          </p:cNvPr>
          <p:cNvSpPr>
            <a:spLocks xmlns:a="http://schemas.openxmlformats.org/drawingml/2006/main" noGrp="1"/>
          </p:cNvSpPr>
          <p:nvPr/>
        </p:nvSpPr>
        <p:spPr>
          <a:xfrm xmlns:a="http://schemas.openxmlformats.org/drawingml/2006/main">
            <a:off x="6229350" y="19907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2325" b="1">
                <a:solidFill>
                  <a:srgbClr val="087E78"/>
                </a:solidFill>
                <a:latin typeface="Aptos"/>
                <a:ea typeface="Aptos"/>
                <a:cs typeface="Aptos"/>
              </a:defRPr>
            </a:pPr>
            <a:r>
              <a:rPr sz="2325" b="1">
                <a:solidFill>
                  <a:srgbClr val="087E78"/>
                </a:solidFill>
                <a:latin typeface="Aptos"/>
                <a:ea typeface="Aptos"/>
                <a:cs typeface="Aptos"/>
              </a:rPr>
              <a:t>E</a:t>
            </a:r>
          </a:p>
        </p:txBody>
      </p:sp>
      <p:sp>
        <p:nvSpPr>
          <p:cNvPr id="15" name="">
            <a:extLst xmlns:a="http://schemas.openxmlformats.org/drawingml/2006/main">
              <a:ext uri="{FF2B5EF4-FFF2-40B4-BE49-F238E27FC236}">
                <a16:creationId xmlns:a16="http://schemas.microsoft.com/office/drawing/2014/main" id="{4A1C7640-3BD0-4077-B7F6-2CE6F7F1BD96}"/>
              </a:ext>
            </a:extLst>
          </p:cNvPr>
          <p:cNvSpPr>
            <a:spLocks xmlns:a="http://schemas.openxmlformats.org/drawingml/2006/main" noGrp="1"/>
          </p:cNvSpPr>
          <p:nvPr/>
        </p:nvSpPr>
        <p:spPr>
          <a:xfrm xmlns:a="http://schemas.openxmlformats.org/drawingml/2006/main">
            <a:off x="6781800" y="19431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25" b="1">
                <a:solidFill>
                  <a:srgbClr val="082638"/>
                </a:solidFill>
                <a:latin typeface="Aptos"/>
                <a:ea typeface="Aptos"/>
                <a:cs typeface="Aptos"/>
              </a:defRPr>
            </a:pPr>
            <a:r>
              <a:rPr sz="1125" b="1">
                <a:solidFill>
                  <a:srgbClr val="082638"/>
                </a:solidFill>
                <a:latin typeface="Aptos"/>
                <a:ea typeface="Aptos"/>
                <a:cs typeface="Aptos"/>
              </a:rPr>
              <a:t>EVIDENCE</a:t>
            </a:r>
          </a:p>
        </p:txBody>
      </p:sp>
      <p:sp>
        <p:nvSpPr>
          <p:cNvPr id="16" name="">
            <a:extLst xmlns:a="http://schemas.openxmlformats.org/drawingml/2006/main">
              <a:ext uri="{FF2B5EF4-FFF2-40B4-BE49-F238E27FC236}">
                <a16:creationId xmlns:a16="http://schemas.microsoft.com/office/drawing/2014/main" id="{30711D2B-87D6-45A8-89FF-72E3A633448D}"/>
              </a:ext>
            </a:extLst>
          </p:cNvPr>
          <p:cNvSpPr>
            <a:spLocks xmlns:a="http://schemas.openxmlformats.org/drawingml/2006/main" noGrp="1"/>
          </p:cNvSpPr>
          <p:nvPr/>
        </p:nvSpPr>
        <p:spPr>
          <a:xfrm xmlns:a="http://schemas.openxmlformats.org/drawingml/2006/main">
            <a:off x="6781800" y="2266950"/>
            <a:ext cx="4000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38" b="0">
                <a:solidFill>
                  <a:srgbClr val="183340"/>
                </a:solidFill>
                <a:latin typeface="Aptos"/>
                <a:ea typeface="Aptos"/>
                <a:cs typeface="Aptos"/>
              </a:defRPr>
            </a:pPr>
            <a:r>
              <a:rPr sz="1238" b="0">
                <a:solidFill>
                  <a:srgbClr val="183340"/>
                </a:solidFill>
                <a:latin typeface="Aptos"/>
                <a:ea typeface="Aptos"/>
                <a:cs typeface="Aptos"/>
              </a:rPr>
              <a:t>Original sources, validation and limits</a:t>
            </a:r>
          </a:p>
        </p:txBody>
      </p:sp>
      <p:sp>
        <p:nvSpPr>
          <p:cNvPr id="17" name="">
            <a:extLst xmlns:a="http://schemas.openxmlformats.org/drawingml/2006/main">
              <a:ext uri="{FF2B5EF4-FFF2-40B4-BE49-F238E27FC236}">
                <a16:creationId xmlns:a16="http://schemas.microsoft.com/office/drawing/2014/main" id="{B9861A3E-4484-4D1B-9567-D7835FD4F908}"/>
              </a:ext>
            </a:extLst>
          </p:cNvPr>
          <p:cNvSpPr>
            <a:spLocks xmlns:a="http://schemas.openxmlformats.org/drawingml/2006/main" noGrp="1"/>
          </p:cNvSpPr>
          <p:nvPr/>
        </p:nvSpPr>
        <p:spPr>
          <a:xfrm xmlns:a="http://schemas.openxmlformats.org/drawingml/2006/main">
            <a:off x="628650" y="3009900"/>
            <a:ext cx="5048250" cy="1028700"/>
          </a:xfrm>
          <a:prstGeom xmlns:a="http://schemas.openxmlformats.org/drawingml/2006/main" prst="roundRect">
            <a:avLst>
              <a:gd name="adj" fmla="val 16667"/>
            </a:avLst>
          </a:prstGeom>
          <a:solidFill xmlns:a="http://schemas.openxmlformats.org/drawingml/2006/main">
            <a:srgbClr val="FFFDFC"/>
          </a:solidFill>
          <a:ln xmlns:a="http://schemas.openxmlformats.org/drawingml/2006/main" w="9525">
            <a:solidFill>
              <a:srgbClr val="E8694A"/>
            </a:solidFill>
            <a:prstDash val="solid"/>
          </a:ln>
        </p:spPr>
      </p:sp>
      <p:sp>
        <p:nvSpPr>
          <p:cNvPr id="18" name="">
            <a:extLst xmlns:a="http://schemas.openxmlformats.org/drawingml/2006/main">
              <a:ext uri="{FF2B5EF4-FFF2-40B4-BE49-F238E27FC236}">
                <a16:creationId xmlns:a16="http://schemas.microsoft.com/office/drawing/2014/main" id="{1659AEF7-E489-493A-8DF9-9523EAC82497}"/>
              </a:ext>
            </a:extLst>
          </p:cNvPr>
          <p:cNvSpPr>
            <a:spLocks xmlns:a="http://schemas.openxmlformats.org/drawingml/2006/main" noGrp="1"/>
          </p:cNvSpPr>
          <p:nvPr/>
        </p:nvSpPr>
        <p:spPr>
          <a:xfrm xmlns:a="http://schemas.openxmlformats.org/drawingml/2006/main">
            <a:off x="800100" y="32480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2325" b="1">
                <a:solidFill>
                  <a:srgbClr val="E8694A"/>
                </a:solidFill>
                <a:latin typeface="Aptos"/>
                <a:ea typeface="Aptos"/>
                <a:cs typeface="Aptos"/>
              </a:defRPr>
            </a:pPr>
            <a:r>
              <a:rPr sz="2325" b="1">
                <a:solidFill>
                  <a:srgbClr val="E8694A"/>
                </a:solidFill>
                <a:latin typeface="Aptos"/>
                <a:ea typeface="Aptos"/>
                <a:cs typeface="Aptos"/>
              </a:rPr>
              <a:t>O</a:t>
            </a:r>
          </a:p>
        </p:txBody>
      </p:sp>
      <p:sp>
        <p:nvSpPr>
          <p:cNvPr id="19" name="">
            <a:extLst xmlns:a="http://schemas.openxmlformats.org/drawingml/2006/main">
              <a:ext uri="{FF2B5EF4-FFF2-40B4-BE49-F238E27FC236}">
                <a16:creationId xmlns:a16="http://schemas.microsoft.com/office/drawing/2014/main" id="{C8D9DEE2-625E-4795-9A1C-A6A66DD39836}"/>
              </a:ext>
            </a:extLst>
          </p:cNvPr>
          <p:cNvSpPr>
            <a:spLocks xmlns:a="http://schemas.openxmlformats.org/drawingml/2006/main" noGrp="1"/>
          </p:cNvSpPr>
          <p:nvPr/>
        </p:nvSpPr>
        <p:spPr>
          <a:xfrm xmlns:a="http://schemas.openxmlformats.org/drawingml/2006/main">
            <a:off x="1352550" y="32004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25" b="1">
                <a:solidFill>
                  <a:srgbClr val="082638"/>
                </a:solidFill>
                <a:latin typeface="Aptos"/>
                <a:ea typeface="Aptos"/>
                <a:cs typeface="Aptos"/>
              </a:defRPr>
            </a:pPr>
            <a:r>
              <a:rPr sz="1125" b="1">
                <a:solidFill>
                  <a:srgbClr val="082638"/>
                </a:solidFill>
                <a:latin typeface="Aptos"/>
                <a:ea typeface="Aptos"/>
                <a:cs typeface="Aptos"/>
              </a:rPr>
              <a:t>OWNERSHIP</a:t>
            </a:r>
          </a:p>
        </p:txBody>
      </p:sp>
      <p:sp>
        <p:nvSpPr>
          <p:cNvPr id="20" name="">
            <a:extLst xmlns:a="http://schemas.openxmlformats.org/drawingml/2006/main">
              <a:ext uri="{FF2B5EF4-FFF2-40B4-BE49-F238E27FC236}">
                <a16:creationId xmlns:a16="http://schemas.microsoft.com/office/drawing/2014/main" id="{8111950D-A364-4137-9144-A242C38EFB9D}"/>
              </a:ext>
            </a:extLst>
          </p:cNvPr>
          <p:cNvSpPr>
            <a:spLocks xmlns:a="http://schemas.openxmlformats.org/drawingml/2006/main" noGrp="1"/>
          </p:cNvSpPr>
          <p:nvPr/>
        </p:nvSpPr>
        <p:spPr>
          <a:xfrm xmlns:a="http://schemas.openxmlformats.org/drawingml/2006/main">
            <a:off x="1352550" y="3524250"/>
            <a:ext cx="4000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38" b="0">
                <a:solidFill>
                  <a:srgbClr val="183340"/>
                </a:solidFill>
                <a:latin typeface="Aptos"/>
                <a:ea typeface="Aptos"/>
                <a:cs typeface="Aptos"/>
              </a:defRPr>
            </a:pPr>
            <a:r>
              <a:rPr sz="1238" b="0">
                <a:solidFill>
                  <a:srgbClr val="183340"/>
                </a:solidFill>
                <a:latin typeface="Aptos"/>
                <a:ea typeface="Aptos"/>
                <a:cs typeface="Aptos"/>
              </a:rPr>
              <a:t>Named reviewer, release and escalation</a:t>
            </a:r>
          </a:p>
        </p:txBody>
      </p:sp>
      <p:sp>
        <p:nvSpPr>
          <p:cNvPr id="21" name="">
            <a:extLst xmlns:a="http://schemas.openxmlformats.org/drawingml/2006/main">
              <a:ext uri="{FF2B5EF4-FFF2-40B4-BE49-F238E27FC236}">
                <a16:creationId xmlns:a16="http://schemas.microsoft.com/office/drawing/2014/main" id="{A601DD23-42AC-45EC-9E84-25CC81BA1443}"/>
              </a:ext>
            </a:extLst>
          </p:cNvPr>
          <p:cNvSpPr>
            <a:spLocks xmlns:a="http://schemas.openxmlformats.org/drawingml/2006/main" noGrp="1"/>
          </p:cNvSpPr>
          <p:nvPr/>
        </p:nvSpPr>
        <p:spPr>
          <a:xfrm xmlns:a="http://schemas.openxmlformats.org/drawingml/2006/main">
            <a:off x="6057900" y="3009900"/>
            <a:ext cx="5048250" cy="1028700"/>
          </a:xfrm>
          <a:prstGeom xmlns:a="http://schemas.openxmlformats.org/drawingml/2006/main" prst="roundRect">
            <a:avLst>
              <a:gd name="adj" fmla="val 16667"/>
            </a:avLst>
          </a:prstGeom>
          <a:solidFill xmlns:a="http://schemas.openxmlformats.org/drawingml/2006/main">
            <a:srgbClr val="FFFDFC"/>
          </a:solidFill>
          <a:ln xmlns:a="http://schemas.openxmlformats.org/drawingml/2006/main" w="9525">
            <a:solidFill>
              <a:srgbClr val="087E78"/>
            </a:solidFill>
            <a:prstDash val="solid"/>
          </a:ln>
        </p:spPr>
      </p:sp>
      <p:sp>
        <p:nvSpPr>
          <p:cNvPr id="22" name="">
            <a:extLst xmlns:a="http://schemas.openxmlformats.org/drawingml/2006/main">
              <a:ext uri="{FF2B5EF4-FFF2-40B4-BE49-F238E27FC236}">
                <a16:creationId xmlns:a16="http://schemas.microsoft.com/office/drawing/2014/main" id="{6DEF2625-10F6-4381-BC7C-4A76AB4E19E3}"/>
              </a:ext>
            </a:extLst>
          </p:cNvPr>
          <p:cNvSpPr>
            <a:spLocks xmlns:a="http://schemas.openxmlformats.org/drawingml/2006/main" noGrp="1"/>
          </p:cNvSpPr>
          <p:nvPr/>
        </p:nvSpPr>
        <p:spPr>
          <a:xfrm xmlns:a="http://schemas.openxmlformats.org/drawingml/2006/main">
            <a:off x="6229350" y="32480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2325" b="1">
                <a:solidFill>
                  <a:srgbClr val="087E78"/>
                </a:solidFill>
                <a:latin typeface="Aptos"/>
                <a:ea typeface="Aptos"/>
                <a:cs typeface="Aptos"/>
              </a:defRPr>
            </a:pPr>
            <a:r>
              <a:rPr sz="2325" b="1">
                <a:solidFill>
                  <a:srgbClr val="087E78"/>
                </a:solidFill>
                <a:latin typeface="Aptos"/>
                <a:ea typeface="Aptos"/>
                <a:cs typeface="Aptos"/>
              </a:rPr>
              <a:t>P</a:t>
            </a:r>
          </a:p>
        </p:txBody>
      </p:sp>
      <p:sp>
        <p:nvSpPr>
          <p:cNvPr id="23" name="">
            <a:extLst xmlns:a="http://schemas.openxmlformats.org/drawingml/2006/main">
              <a:ext uri="{FF2B5EF4-FFF2-40B4-BE49-F238E27FC236}">
                <a16:creationId xmlns:a16="http://schemas.microsoft.com/office/drawing/2014/main" id="{DEC7862F-92B4-45F8-AEC6-91DE0A0F9AD0}"/>
              </a:ext>
            </a:extLst>
          </p:cNvPr>
          <p:cNvSpPr>
            <a:spLocks xmlns:a="http://schemas.openxmlformats.org/drawingml/2006/main" noGrp="1"/>
          </p:cNvSpPr>
          <p:nvPr/>
        </p:nvSpPr>
        <p:spPr>
          <a:xfrm xmlns:a="http://schemas.openxmlformats.org/drawingml/2006/main">
            <a:off x="6781800" y="32004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25" b="1">
                <a:solidFill>
                  <a:srgbClr val="082638"/>
                </a:solidFill>
                <a:latin typeface="Aptos"/>
                <a:ea typeface="Aptos"/>
                <a:cs typeface="Aptos"/>
              </a:defRPr>
            </a:pPr>
            <a:r>
              <a:rPr sz="1125" b="1">
                <a:solidFill>
                  <a:srgbClr val="082638"/>
                </a:solidFill>
                <a:latin typeface="Aptos"/>
                <a:ea typeface="Aptos"/>
                <a:cs typeface="Aptos"/>
              </a:rPr>
              <a:t>PRIVACY</a:t>
            </a:r>
          </a:p>
        </p:txBody>
      </p:sp>
      <p:sp>
        <p:nvSpPr>
          <p:cNvPr id="24" name="">
            <a:extLst xmlns:a="http://schemas.openxmlformats.org/drawingml/2006/main">
              <a:ext uri="{FF2B5EF4-FFF2-40B4-BE49-F238E27FC236}">
                <a16:creationId xmlns:a16="http://schemas.microsoft.com/office/drawing/2014/main" id="{66C14110-250F-4AE9-8401-4142EE5AA0CE}"/>
              </a:ext>
            </a:extLst>
          </p:cNvPr>
          <p:cNvSpPr>
            <a:spLocks xmlns:a="http://schemas.openxmlformats.org/drawingml/2006/main" noGrp="1"/>
          </p:cNvSpPr>
          <p:nvPr/>
        </p:nvSpPr>
        <p:spPr>
          <a:xfrm xmlns:a="http://schemas.openxmlformats.org/drawingml/2006/main">
            <a:off x="6781800" y="3524250"/>
            <a:ext cx="4000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38" b="0">
                <a:solidFill>
                  <a:srgbClr val="183340"/>
                </a:solidFill>
                <a:latin typeface="Aptos"/>
                <a:ea typeface="Aptos"/>
                <a:cs typeface="Aptos"/>
              </a:defRPr>
            </a:pPr>
            <a:r>
              <a:rPr sz="1238" b="0">
                <a:solidFill>
                  <a:srgbClr val="183340"/>
                </a:solidFill>
                <a:latin typeface="Aptos"/>
                <a:ea typeface="Aptos"/>
                <a:cs typeface="Aptos"/>
              </a:rPr>
              <a:t>Minimum data, consent, retention and location</a:t>
            </a:r>
          </a:p>
        </p:txBody>
      </p:sp>
      <p:sp>
        <p:nvSpPr>
          <p:cNvPr id="25" name="">
            <a:extLst xmlns:a="http://schemas.openxmlformats.org/drawingml/2006/main">
              <a:ext uri="{FF2B5EF4-FFF2-40B4-BE49-F238E27FC236}">
                <a16:creationId xmlns:a16="http://schemas.microsoft.com/office/drawing/2014/main" id="{7BE8F155-9362-4B10-965E-283E164F79FB}"/>
              </a:ext>
            </a:extLst>
          </p:cNvPr>
          <p:cNvSpPr>
            <a:spLocks xmlns:a="http://schemas.openxmlformats.org/drawingml/2006/main" noGrp="1"/>
          </p:cNvSpPr>
          <p:nvPr/>
        </p:nvSpPr>
        <p:spPr>
          <a:xfrm xmlns:a="http://schemas.openxmlformats.org/drawingml/2006/main">
            <a:off x="628650" y="4267200"/>
            <a:ext cx="5048250" cy="1028700"/>
          </a:xfrm>
          <a:prstGeom xmlns:a="http://schemas.openxmlformats.org/drawingml/2006/main" prst="roundRect">
            <a:avLst>
              <a:gd name="adj" fmla="val 16667"/>
            </a:avLst>
          </a:prstGeom>
          <a:solidFill xmlns:a="http://schemas.openxmlformats.org/drawingml/2006/main">
            <a:srgbClr val="FFFDFC"/>
          </a:solidFill>
          <a:ln xmlns:a="http://schemas.openxmlformats.org/drawingml/2006/main" w="9525">
            <a:solidFill>
              <a:srgbClr val="087E78"/>
            </a:solidFill>
            <a:prstDash val="solid"/>
          </a:ln>
        </p:spPr>
      </p:sp>
      <p:sp>
        <p:nvSpPr>
          <p:cNvPr id="26" name="">
            <a:extLst xmlns:a="http://schemas.openxmlformats.org/drawingml/2006/main">
              <a:ext uri="{FF2B5EF4-FFF2-40B4-BE49-F238E27FC236}">
                <a16:creationId xmlns:a16="http://schemas.microsoft.com/office/drawing/2014/main" id="{8344BBB6-53A0-4E6E-B4DF-811AA6B4312C}"/>
              </a:ext>
            </a:extLst>
          </p:cNvPr>
          <p:cNvSpPr>
            <a:spLocks xmlns:a="http://schemas.openxmlformats.org/drawingml/2006/main" noGrp="1"/>
          </p:cNvSpPr>
          <p:nvPr/>
        </p:nvSpPr>
        <p:spPr>
          <a:xfrm xmlns:a="http://schemas.openxmlformats.org/drawingml/2006/main">
            <a:off x="800100" y="45053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2325" b="1">
                <a:solidFill>
                  <a:srgbClr val="087E78"/>
                </a:solidFill>
                <a:latin typeface="Aptos"/>
                <a:ea typeface="Aptos"/>
                <a:cs typeface="Aptos"/>
              </a:defRPr>
            </a:pPr>
            <a:r>
              <a:rPr sz="2325" b="1">
                <a:solidFill>
                  <a:srgbClr val="087E78"/>
                </a:solidFill>
                <a:latin typeface="Aptos"/>
                <a:ea typeface="Aptos"/>
                <a:cs typeface="Aptos"/>
              </a:rPr>
              <a:t>L</a:t>
            </a:r>
          </a:p>
        </p:txBody>
      </p:sp>
      <p:sp>
        <p:nvSpPr>
          <p:cNvPr id="27" name="">
            <a:extLst xmlns:a="http://schemas.openxmlformats.org/drawingml/2006/main">
              <a:ext uri="{FF2B5EF4-FFF2-40B4-BE49-F238E27FC236}">
                <a16:creationId xmlns:a16="http://schemas.microsoft.com/office/drawing/2014/main" id="{E950216E-FDE6-40BE-A570-96D261E5D286}"/>
              </a:ext>
            </a:extLst>
          </p:cNvPr>
          <p:cNvSpPr>
            <a:spLocks xmlns:a="http://schemas.openxmlformats.org/drawingml/2006/main" noGrp="1"/>
          </p:cNvSpPr>
          <p:nvPr/>
        </p:nvSpPr>
        <p:spPr>
          <a:xfrm xmlns:a="http://schemas.openxmlformats.org/drawingml/2006/main">
            <a:off x="1352550" y="44577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25" b="1">
                <a:solidFill>
                  <a:srgbClr val="082638"/>
                </a:solidFill>
                <a:latin typeface="Aptos"/>
                <a:ea typeface="Aptos"/>
                <a:cs typeface="Aptos"/>
              </a:defRPr>
            </a:pPr>
            <a:r>
              <a:rPr sz="1125" b="1">
                <a:solidFill>
                  <a:srgbClr val="082638"/>
                </a:solidFill>
                <a:latin typeface="Aptos"/>
                <a:ea typeface="Aptos"/>
                <a:cs typeface="Aptos"/>
              </a:rPr>
              <a:t>LOCAL FIT</a:t>
            </a:r>
          </a:p>
        </p:txBody>
      </p:sp>
      <p:sp>
        <p:nvSpPr>
          <p:cNvPr id="28" name="">
            <a:extLst xmlns:a="http://schemas.openxmlformats.org/drawingml/2006/main">
              <a:ext uri="{FF2B5EF4-FFF2-40B4-BE49-F238E27FC236}">
                <a16:creationId xmlns:a16="http://schemas.microsoft.com/office/drawing/2014/main" id="{612DEED6-156E-479E-9289-5F6BBB69D81E}"/>
              </a:ext>
            </a:extLst>
          </p:cNvPr>
          <p:cNvSpPr>
            <a:spLocks xmlns:a="http://schemas.openxmlformats.org/drawingml/2006/main" noGrp="1"/>
          </p:cNvSpPr>
          <p:nvPr/>
        </p:nvSpPr>
        <p:spPr>
          <a:xfrm xmlns:a="http://schemas.openxmlformats.org/drawingml/2006/main">
            <a:off x="1352550" y="4781550"/>
            <a:ext cx="4000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38" b="0">
                <a:solidFill>
                  <a:srgbClr val="183340"/>
                </a:solidFill>
                <a:latin typeface="Aptos"/>
                <a:ea typeface="Aptos"/>
                <a:cs typeface="Aptos"/>
              </a:defRPr>
            </a:pPr>
            <a:r>
              <a:rPr sz="1238" b="0">
                <a:solidFill>
                  <a:srgbClr val="183340"/>
                </a:solidFill>
                <a:latin typeface="Aptos"/>
                <a:ea typeface="Aptos"/>
                <a:cs typeface="Aptos"/>
              </a:rPr>
              <a:t>India access, language, protocol and workflow</a:t>
            </a:r>
          </a:p>
        </p:txBody>
      </p:sp>
      <p:sp>
        <p:nvSpPr>
          <p:cNvPr id="29" name="">
            <a:extLst xmlns:a="http://schemas.openxmlformats.org/drawingml/2006/main">
              <a:ext uri="{FF2B5EF4-FFF2-40B4-BE49-F238E27FC236}">
                <a16:creationId xmlns:a16="http://schemas.microsoft.com/office/drawing/2014/main" id="{F91C76EB-E34E-48E1-89C2-86336CF902BA}"/>
              </a:ext>
            </a:extLst>
          </p:cNvPr>
          <p:cNvSpPr>
            <a:spLocks xmlns:a="http://schemas.openxmlformats.org/drawingml/2006/main" noGrp="1"/>
          </p:cNvSpPr>
          <p:nvPr/>
        </p:nvSpPr>
        <p:spPr>
          <a:xfrm xmlns:a="http://schemas.openxmlformats.org/drawingml/2006/main">
            <a:off x="6057900" y="4267200"/>
            <a:ext cx="5048250" cy="1028700"/>
          </a:xfrm>
          <a:prstGeom xmlns:a="http://schemas.openxmlformats.org/drawingml/2006/main" prst="roundRect">
            <a:avLst>
              <a:gd name="adj" fmla="val 16667"/>
            </a:avLst>
          </a:prstGeom>
          <a:solidFill xmlns:a="http://schemas.openxmlformats.org/drawingml/2006/main">
            <a:srgbClr val="FFFDFC"/>
          </a:solidFill>
          <a:ln xmlns:a="http://schemas.openxmlformats.org/drawingml/2006/main" w="9525">
            <a:solidFill>
              <a:srgbClr val="087E78"/>
            </a:solidFill>
            <a:prstDash val="solid"/>
          </a:ln>
        </p:spPr>
      </p:sp>
      <p:sp>
        <p:nvSpPr>
          <p:cNvPr id="30" name="">
            <a:extLst xmlns:a="http://schemas.openxmlformats.org/drawingml/2006/main">
              <a:ext uri="{FF2B5EF4-FFF2-40B4-BE49-F238E27FC236}">
                <a16:creationId xmlns:a16="http://schemas.microsoft.com/office/drawing/2014/main" id="{A1CD42AD-5470-4BF3-BD77-43143B1BD984}"/>
              </a:ext>
            </a:extLst>
          </p:cNvPr>
          <p:cNvSpPr>
            <a:spLocks xmlns:a="http://schemas.openxmlformats.org/drawingml/2006/main" noGrp="1"/>
          </p:cNvSpPr>
          <p:nvPr/>
        </p:nvSpPr>
        <p:spPr>
          <a:xfrm xmlns:a="http://schemas.openxmlformats.org/drawingml/2006/main">
            <a:off x="6229350" y="45053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2325" b="1">
                <a:solidFill>
                  <a:srgbClr val="087E78"/>
                </a:solidFill>
                <a:latin typeface="Aptos"/>
                <a:ea typeface="Aptos"/>
                <a:cs typeface="Aptos"/>
              </a:defRPr>
            </a:pPr>
            <a:r>
              <a:rPr sz="2325" b="1">
                <a:solidFill>
                  <a:srgbClr val="087E78"/>
                </a:solidFill>
                <a:latin typeface="Aptos"/>
                <a:ea typeface="Aptos"/>
                <a:cs typeface="Aptos"/>
              </a:rPr>
              <a:t>E</a:t>
            </a:r>
          </a:p>
        </p:txBody>
      </p:sp>
      <p:sp>
        <p:nvSpPr>
          <p:cNvPr id="31" name="">
            <a:extLst xmlns:a="http://schemas.openxmlformats.org/drawingml/2006/main">
              <a:ext uri="{FF2B5EF4-FFF2-40B4-BE49-F238E27FC236}">
                <a16:creationId xmlns:a16="http://schemas.microsoft.com/office/drawing/2014/main" id="{CC9496E5-9775-4952-BD6D-184BAE9F24D5}"/>
              </a:ext>
            </a:extLst>
          </p:cNvPr>
          <p:cNvSpPr>
            <a:spLocks xmlns:a="http://schemas.openxmlformats.org/drawingml/2006/main" noGrp="1"/>
          </p:cNvSpPr>
          <p:nvPr/>
        </p:nvSpPr>
        <p:spPr>
          <a:xfrm xmlns:a="http://schemas.openxmlformats.org/drawingml/2006/main">
            <a:off x="6781800" y="44577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25" b="1">
                <a:solidFill>
                  <a:srgbClr val="082638"/>
                </a:solidFill>
                <a:latin typeface="Aptos"/>
                <a:ea typeface="Aptos"/>
                <a:cs typeface="Aptos"/>
              </a:defRPr>
            </a:pPr>
            <a:r>
              <a:rPr sz="1125" b="1">
                <a:solidFill>
                  <a:srgbClr val="082638"/>
                </a:solidFill>
                <a:latin typeface="Aptos"/>
                <a:ea typeface="Aptos"/>
                <a:cs typeface="Aptos"/>
              </a:rPr>
              <a:t>EFFORT</a:t>
            </a:r>
          </a:p>
        </p:txBody>
      </p:sp>
      <p:sp>
        <p:nvSpPr>
          <p:cNvPr id="32" name="">
            <a:extLst xmlns:a="http://schemas.openxmlformats.org/drawingml/2006/main">
              <a:ext uri="{FF2B5EF4-FFF2-40B4-BE49-F238E27FC236}">
                <a16:creationId xmlns:a16="http://schemas.microsoft.com/office/drawing/2014/main" id="{705AFC83-4D30-4699-93A4-4A18A017D5AC}"/>
              </a:ext>
            </a:extLst>
          </p:cNvPr>
          <p:cNvSpPr>
            <a:spLocks xmlns:a="http://schemas.openxmlformats.org/drawingml/2006/main" noGrp="1"/>
          </p:cNvSpPr>
          <p:nvPr/>
        </p:nvSpPr>
        <p:spPr>
          <a:xfrm xmlns:a="http://schemas.openxmlformats.org/drawingml/2006/main">
            <a:off x="6781800" y="4781550"/>
            <a:ext cx="4000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38" b="0">
                <a:solidFill>
                  <a:srgbClr val="183340"/>
                </a:solidFill>
                <a:latin typeface="Aptos"/>
                <a:ea typeface="Aptos"/>
                <a:cs typeface="Aptos"/>
              </a:defRPr>
            </a:pPr>
            <a:r>
              <a:rPr sz="1238" b="0">
                <a:solidFill>
                  <a:srgbClr val="183340"/>
                </a:solidFill>
                <a:latin typeface="Aptos"/>
                <a:ea typeface="Aptos"/>
                <a:cs typeface="Aptos"/>
              </a:rPr>
              <a:t>Training, review burden, cost and integration</a:t>
            </a:r>
          </a:p>
        </p:txBody>
      </p:sp>
    </p:spTree>
    <p:extLst>
      <p:ext uri="{BB962C8B-B14F-4D97-AF65-F5344CB8AC3E}">
        <p14:creationId xmlns:p14="http://schemas.microsoft.com/office/powerpoint/2010/main" val="1320547480"/>
      </p:ext>
    </p:extLst>
  </p:cSld>
</p:sld>
</file>

<file path=ppt/slides/slide55.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052CFA-07A8-45DA-B803-BB55F6DF93A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F6F9F"/>
          </a:solidFill>
          <a:ln xmlns:a="http://schemas.openxmlformats.org/drawingml/2006/main" w="0">
            <a:solidFill>
              <a:srgbClr val="2F6F9F"/>
            </a:solidFill>
            <a:prstDash val="solid"/>
          </a:ln>
        </p:spPr>
      </p:sp>
      <p:sp>
        <p:nvSpPr>
          <p:cNvPr id="2" name="">
            <a:extLst xmlns:a="http://schemas.openxmlformats.org/drawingml/2006/main">
              <a:ext uri="{FF2B5EF4-FFF2-40B4-BE49-F238E27FC236}">
                <a16:creationId xmlns:a16="http://schemas.microsoft.com/office/drawing/2014/main" id="{879D1DA7-08A3-40EE-A4D2-07DA3F68975D}"/>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COMMITMENT</a:t>
            </a:r>
          </a:p>
        </p:txBody>
      </p:sp>
      <p:sp>
        <p:nvSpPr>
          <p:cNvPr id="3" name="">
            <a:extLst xmlns:a="http://schemas.openxmlformats.org/drawingml/2006/main">
              <a:ext uri="{FF2B5EF4-FFF2-40B4-BE49-F238E27FC236}">
                <a16:creationId xmlns:a16="http://schemas.microsoft.com/office/drawing/2014/main" id="{0656384C-E7D4-4D23-9E13-6E408BD07BBB}"/>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Your 30-day capstone is a controlled experiment</a:t>
            </a:r>
          </a:p>
        </p:txBody>
      </p:sp>
      <p:sp>
        <p:nvSpPr>
          <p:cNvPr id="4" name="">
            <a:extLst xmlns:a="http://schemas.openxmlformats.org/drawingml/2006/main">
              <a:ext uri="{FF2B5EF4-FFF2-40B4-BE49-F238E27FC236}">
                <a16:creationId xmlns:a16="http://schemas.microsoft.com/office/drawing/2014/main" id="{3B3ACDDD-FD61-4208-B59C-8BACA01296B7}"/>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539AC07C-7CA1-459D-BC25-2CF98B3BF9CE}"/>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4E06BDE7-5411-4FA8-BB70-F14A01F4D2BA}"/>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EB452B8A-B36F-4BF0-B60D-D250F029E146}"/>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8" name="">
            <a:extLst xmlns:a="http://schemas.openxmlformats.org/drawingml/2006/main">
              <a:ext uri="{FF2B5EF4-FFF2-40B4-BE49-F238E27FC236}">
                <a16:creationId xmlns:a16="http://schemas.microsoft.com/office/drawing/2014/main" id="{D637C758-D9D5-4A67-901F-28AA08E8D54F}"/>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55</a:t>
            </a:r>
          </a:p>
        </p:txBody>
      </p:sp>
      <p:sp>
        <p:nvSpPr>
          <p:cNvPr id="9" name="">
            <a:extLst xmlns:a="http://schemas.openxmlformats.org/drawingml/2006/main">
              <a:ext uri="{FF2B5EF4-FFF2-40B4-BE49-F238E27FC236}">
                <a16:creationId xmlns:a16="http://schemas.microsoft.com/office/drawing/2014/main" id="{ABEDAE5D-9AE0-4669-86AA-97FF1D80B015}"/>
              </a:ext>
            </a:extLst>
          </p:cNvPr>
          <p:cNvSpPr>
            <a:spLocks xmlns:a="http://schemas.openxmlformats.org/drawingml/2006/main" noGrp="1"/>
          </p:cNvSpPr>
          <p:nvPr/>
        </p:nvSpPr>
        <p:spPr>
          <a:xfrm xmlns:a="http://schemas.openxmlformats.org/drawingml/2006/main">
            <a:off x="685800" y="1733550"/>
            <a:ext cx="3619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CFA12FD5-1712-4AB2-8206-20462CE11E05}"/>
              </a:ext>
            </a:extLst>
          </p:cNvPr>
          <p:cNvSpPr>
            <a:spLocks xmlns:a="http://schemas.openxmlformats.org/drawingml/2006/main" noGrp="1"/>
          </p:cNvSpPr>
          <p:nvPr/>
        </p:nvSpPr>
        <p:spPr>
          <a:xfrm xmlns:a="http://schemas.openxmlformats.org/drawingml/2006/main">
            <a:off x="1238250" y="17430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2F6F9F"/>
                </a:solidFill>
                <a:latin typeface="Aptos"/>
                <a:ea typeface="Aptos"/>
                <a:cs typeface="Aptos"/>
              </a:defRPr>
            </a:pPr>
            <a:r>
              <a:rPr sz="1275" b="1">
                <a:solidFill>
                  <a:srgbClr val="2F6F9F"/>
                </a:solidFill>
                <a:latin typeface="Aptos"/>
                <a:ea typeface="Aptos"/>
                <a:cs typeface="Aptos"/>
              </a:rPr>
              <a:t>USE CASE</a:t>
            </a:r>
          </a:p>
        </p:txBody>
      </p:sp>
      <p:sp>
        <p:nvSpPr>
          <p:cNvPr id="11" name="">
            <a:extLst xmlns:a="http://schemas.openxmlformats.org/drawingml/2006/main">
              <a:ext uri="{FF2B5EF4-FFF2-40B4-BE49-F238E27FC236}">
                <a16:creationId xmlns:a16="http://schemas.microsoft.com/office/drawing/2014/main" id="{8F140179-2707-4821-9944-1556A5EF6A0E}"/>
              </a:ext>
            </a:extLst>
          </p:cNvPr>
          <p:cNvSpPr>
            <a:spLocks xmlns:a="http://schemas.openxmlformats.org/drawingml/2006/main" noGrp="1"/>
          </p:cNvSpPr>
          <p:nvPr/>
        </p:nvSpPr>
        <p:spPr>
          <a:xfrm xmlns:a="http://schemas.openxmlformats.org/drawingml/2006/main">
            <a:off x="2838450" y="1743075"/>
            <a:ext cx="819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One friction point, one user, one patient value</a:t>
            </a:r>
          </a:p>
        </p:txBody>
      </p:sp>
      <p:sp>
        <p:nvSpPr>
          <p:cNvPr id="12" name="">
            <a:extLst xmlns:a="http://schemas.openxmlformats.org/drawingml/2006/main">
              <a:ext uri="{FF2B5EF4-FFF2-40B4-BE49-F238E27FC236}">
                <a16:creationId xmlns:a16="http://schemas.microsoft.com/office/drawing/2014/main" id="{29798833-6E41-42A4-B3F9-C7D228081312}"/>
              </a:ext>
            </a:extLst>
          </p:cNvPr>
          <p:cNvSpPr>
            <a:spLocks xmlns:a="http://schemas.openxmlformats.org/drawingml/2006/main" noGrp="1"/>
          </p:cNvSpPr>
          <p:nvPr/>
        </p:nvSpPr>
        <p:spPr>
          <a:xfrm xmlns:a="http://schemas.openxmlformats.org/drawingml/2006/main">
            <a:off x="685800" y="2257425"/>
            <a:ext cx="10334625"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13" name="">
            <a:extLst xmlns:a="http://schemas.openxmlformats.org/drawingml/2006/main">
              <a:ext uri="{FF2B5EF4-FFF2-40B4-BE49-F238E27FC236}">
                <a16:creationId xmlns:a16="http://schemas.microsoft.com/office/drawing/2014/main" id="{0C7A36B3-71E4-425D-BEB0-D481DA5FA467}"/>
              </a:ext>
            </a:extLst>
          </p:cNvPr>
          <p:cNvSpPr>
            <a:spLocks xmlns:a="http://schemas.openxmlformats.org/drawingml/2006/main" noGrp="1"/>
          </p:cNvSpPr>
          <p:nvPr/>
        </p:nvSpPr>
        <p:spPr>
          <a:xfrm xmlns:a="http://schemas.openxmlformats.org/drawingml/2006/main">
            <a:off x="685800" y="2514600"/>
            <a:ext cx="3619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2</a:t>
            </a:r>
          </a:p>
        </p:txBody>
      </p:sp>
      <p:sp>
        <p:nvSpPr>
          <p:cNvPr id="14" name="">
            <a:extLst xmlns:a="http://schemas.openxmlformats.org/drawingml/2006/main">
              <a:ext uri="{FF2B5EF4-FFF2-40B4-BE49-F238E27FC236}">
                <a16:creationId xmlns:a16="http://schemas.microsoft.com/office/drawing/2014/main" id="{ED0D6653-3F83-46CA-B2BD-88A386515AA2}"/>
              </a:ext>
            </a:extLst>
          </p:cNvPr>
          <p:cNvSpPr>
            <a:spLocks xmlns:a="http://schemas.openxmlformats.org/drawingml/2006/main" noGrp="1"/>
          </p:cNvSpPr>
          <p:nvPr/>
        </p:nvSpPr>
        <p:spPr>
          <a:xfrm xmlns:a="http://schemas.openxmlformats.org/drawingml/2006/main">
            <a:off x="1238250" y="25241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2F6F9F"/>
                </a:solidFill>
                <a:latin typeface="Aptos"/>
                <a:ea typeface="Aptos"/>
                <a:cs typeface="Aptos"/>
              </a:defRPr>
            </a:pPr>
            <a:r>
              <a:rPr sz="1275" b="1">
                <a:solidFill>
                  <a:srgbClr val="2F6F9F"/>
                </a:solidFill>
                <a:latin typeface="Aptos"/>
                <a:ea typeface="Aptos"/>
                <a:cs typeface="Aptos"/>
              </a:rPr>
              <a:t>BASELINE</a:t>
            </a:r>
          </a:p>
        </p:txBody>
      </p:sp>
      <p:sp>
        <p:nvSpPr>
          <p:cNvPr id="15" name="">
            <a:extLst xmlns:a="http://schemas.openxmlformats.org/drawingml/2006/main">
              <a:ext uri="{FF2B5EF4-FFF2-40B4-BE49-F238E27FC236}">
                <a16:creationId xmlns:a16="http://schemas.microsoft.com/office/drawing/2014/main" id="{68E923CE-B88D-4454-9998-78DF76E6201A}"/>
              </a:ext>
            </a:extLst>
          </p:cNvPr>
          <p:cNvSpPr>
            <a:spLocks xmlns:a="http://schemas.openxmlformats.org/drawingml/2006/main" noGrp="1"/>
          </p:cNvSpPr>
          <p:nvPr/>
        </p:nvSpPr>
        <p:spPr>
          <a:xfrm xmlns:a="http://schemas.openxmlformats.org/drawingml/2006/main">
            <a:off x="2838450" y="2524125"/>
            <a:ext cx="819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Time, errors, experience or access before AI</a:t>
            </a:r>
          </a:p>
        </p:txBody>
      </p:sp>
      <p:sp>
        <p:nvSpPr>
          <p:cNvPr id="16" name="">
            <a:extLst xmlns:a="http://schemas.openxmlformats.org/drawingml/2006/main">
              <a:ext uri="{FF2B5EF4-FFF2-40B4-BE49-F238E27FC236}">
                <a16:creationId xmlns:a16="http://schemas.microsoft.com/office/drawing/2014/main" id="{3C600A74-EB64-4C80-8D64-B2653B4D66A5}"/>
              </a:ext>
            </a:extLst>
          </p:cNvPr>
          <p:cNvSpPr>
            <a:spLocks xmlns:a="http://schemas.openxmlformats.org/drawingml/2006/main" noGrp="1"/>
          </p:cNvSpPr>
          <p:nvPr/>
        </p:nvSpPr>
        <p:spPr>
          <a:xfrm xmlns:a="http://schemas.openxmlformats.org/drawingml/2006/main">
            <a:off x="685800" y="3038475"/>
            <a:ext cx="10334625"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17" name="">
            <a:extLst xmlns:a="http://schemas.openxmlformats.org/drawingml/2006/main">
              <a:ext uri="{FF2B5EF4-FFF2-40B4-BE49-F238E27FC236}">
                <a16:creationId xmlns:a16="http://schemas.microsoft.com/office/drawing/2014/main" id="{1BE1260C-1408-4A56-A58D-D361C5F4E234}"/>
              </a:ext>
            </a:extLst>
          </p:cNvPr>
          <p:cNvSpPr>
            <a:spLocks xmlns:a="http://schemas.openxmlformats.org/drawingml/2006/main" noGrp="1"/>
          </p:cNvSpPr>
          <p:nvPr/>
        </p:nvSpPr>
        <p:spPr>
          <a:xfrm xmlns:a="http://schemas.openxmlformats.org/drawingml/2006/main">
            <a:off x="685800" y="3295650"/>
            <a:ext cx="3619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EE1C744D-B67F-4047-A853-BE388ECB5D4B}"/>
              </a:ext>
            </a:extLst>
          </p:cNvPr>
          <p:cNvSpPr>
            <a:spLocks xmlns:a="http://schemas.openxmlformats.org/drawingml/2006/main" noGrp="1"/>
          </p:cNvSpPr>
          <p:nvPr/>
        </p:nvSpPr>
        <p:spPr>
          <a:xfrm xmlns:a="http://schemas.openxmlformats.org/drawingml/2006/main">
            <a:off x="1238250" y="33051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2F6F9F"/>
                </a:solidFill>
                <a:latin typeface="Aptos"/>
                <a:ea typeface="Aptos"/>
                <a:cs typeface="Aptos"/>
              </a:defRPr>
            </a:pPr>
            <a:r>
              <a:rPr sz="1275" b="1">
                <a:solidFill>
                  <a:srgbClr val="2F6F9F"/>
                </a:solidFill>
                <a:latin typeface="Aptos"/>
                <a:ea typeface="Aptos"/>
                <a:cs typeface="Aptos"/>
              </a:rPr>
              <a:t>PILOT</a:t>
            </a:r>
          </a:p>
        </p:txBody>
      </p:sp>
      <p:sp>
        <p:nvSpPr>
          <p:cNvPr id="19" name="">
            <a:extLst xmlns:a="http://schemas.openxmlformats.org/drawingml/2006/main">
              <a:ext uri="{FF2B5EF4-FFF2-40B4-BE49-F238E27FC236}">
                <a16:creationId xmlns:a16="http://schemas.microsoft.com/office/drawing/2014/main" id="{98F4672F-8A9A-45D2-A140-693430D1C042}"/>
              </a:ext>
            </a:extLst>
          </p:cNvPr>
          <p:cNvSpPr>
            <a:spLocks xmlns:a="http://schemas.openxmlformats.org/drawingml/2006/main" noGrp="1"/>
          </p:cNvSpPr>
          <p:nvPr/>
        </p:nvSpPr>
        <p:spPr>
          <a:xfrm xmlns:a="http://schemas.openxmlformats.org/drawingml/2006/main">
            <a:off x="2838450" y="3305175"/>
            <a:ext cx="819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Small scope, synthetic/test data first, named owner</a:t>
            </a:r>
          </a:p>
        </p:txBody>
      </p:sp>
      <p:sp>
        <p:nvSpPr>
          <p:cNvPr id="20" name="">
            <a:extLst xmlns:a="http://schemas.openxmlformats.org/drawingml/2006/main">
              <a:ext uri="{FF2B5EF4-FFF2-40B4-BE49-F238E27FC236}">
                <a16:creationId xmlns:a16="http://schemas.microsoft.com/office/drawing/2014/main" id="{1A744151-4B39-4B4B-AE8D-0DC1DBDD9720}"/>
              </a:ext>
            </a:extLst>
          </p:cNvPr>
          <p:cNvSpPr>
            <a:spLocks xmlns:a="http://schemas.openxmlformats.org/drawingml/2006/main" noGrp="1"/>
          </p:cNvSpPr>
          <p:nvPr/>
        </p:nvSpPr>
        <p:spPr>
          <a:xfrm xmlns:a="http://schemas.openxmlformats.org/drawingml/2006/main">
            <a:off x="685800" y="3819525"/>
            <a:ext cx="10334625"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21" name="">
            <a:extLst xmlns:a="http://schemas.openxmlformats.org/drawingml/2006/main">
              <a:ext uri="{FF2B5EF4-FFF2-40B4-BE49-F238E27FC236}">
                <a16:creationId xmlns:a16="http://schemas.microsoft.com/office/drawing/2014/main" id="{DBC7E8A2-ED38-4772-B615-9D5F45189A6E}"/>
              </a:ext>
            </a:extLst>
          </p:cNvPr>
          <p:cNvSpPr>
            <a:spLocks xmlns:a="http://schemas.openxmlformats.org/drawingml/2006/main" noGrp="1"/>
          </p:cNvSpPr>
          <p:nvPr/>
        </p:nvSpPr>
        <p:spPr>
          <a:xfrm xmlns:a="http://schemas.openxmlformats.org/drawingml/2006/main">
            <a:off x="685800" y="4076700"/>
            <a:ext cx="361950" cy="266700"/>
          </a:xfrm>
          <a:prstGeom xmlns:a="http://schemas.openxmlformats.org/drawingml/2006/main" prst="roundRect">
            <a:avLst>
              <a:gd name="adj" fmla="val 50000"/>
            </a:avLst>
          </a:prstGeom>
          <a:solidFill xmlns:a="http://schemas.openxmlformats.org/drawingml/2006/main">
            <a:srgbClr val="2F6F9F"/>
          </a:solidFill>
          <a:ln xmlns:a="http://schemas.openxmlformats.org/drawingml/2006/main" w="9525">
            <a:solidFill>
              <a:srgbClr val="2F6F9F"/>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4</a:t>
            </a:r>
          </a:p>
        </p:txBody>
      </p:sp>
      <p:sp>
        <p:nvSpPr>
          <p:cNvPr id="22" name="">
            <a:extLst xmlns:a="http://schemas.openxmlformats.org/drawingml/2006/main">
              <a:ext uri="{FF2B5EF4-FFF2-40B4-BE49-F238E27FC236}">
                <a16:creationId xmlns:a16="http://schemas.microsoft.com/office/drawing/2014/main" id="{1D116A05-FA90-4ED2-9FD3-FCF419A96464}"/>
              </a:ext>
            </a:extLst>
          </p:cNvPr>
          <p:cNvSpPr>
            <a:spLocks xmlns:a="http://schemas.openxmlformats.org/drawingml/2006/main" noGrp="1"/>
          </p:cNvSpPr>
          <p:nvPr/>
        </p:nvSpPr>
        <p:spPr>
          <a:xfrm xmlns:a="http://schemas.openxmlformats.org/drawingml/2006/main">
            <a:off x="1238250" y="40862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2F6F9F"/>
                </a:solidFill>
                <a:latin typeface="Aptos"/>
                <a:ea typeface="Aptos"/>
                <a:cs typeface="Aptos"/>
              </a:defRPr>
            </a:pPr>
            <a:r>
              <a:rPr sz="1275" b="1">
                <a:solidFill>
                  <a:srgbClr val="2F6F9F"/>
                </a:solidFill>
                <a:latin typeface="Aptos"/>
                <a:ea typeface="Aptos"/>
                <a:cs typeface="Aptos"/>
              </a:rPr>
              <a:t>CHECK</a:t>
            </a:r>
          </a:p>
        </p:txBody>
      </p:sp>
      <p:sp>
        <p:nvSpPr>
          <p:cNvPr id="23" name="">
            <a:extLst xmlns:a="http://schemas.openxmlformats.org/drawingml/2006/main">
              <a:ext uri="{FF2B5EF4-FFF2-40B4-BE49-F238E27FC236}">
                <a16:creationId xmlns:a16="http://schemas.microsoft.com/office/drawing/2014/main" id="{CDCFE951-820B-40A3-B910-9E94F00DC5C5}"/>
              </a:ext>
            </a:extLst>
          </p:cNvPr>
          <p:cNvSpPr>
            <a:spLocks xmlns:a="http://schemas.openxmlformats.org/drawingml/2006/main" noGrp="1"/>
          </p:cNvSpPr>
          <p:nvPr/>
        </p:nvSpPr>
        <p:spPr>
          <a:xfrm xmlns:a="http://schemas.openxmlformats.org/drawingml/2006/main">
            <a:off x="2838450" y="4086225"/>
            <a:ext cx="819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PATIENT + POPLE scorecard, sampling and incident path</a:t>
            </a:r>
          </a:p>
        </p:txBody>
      </p:sp>
      <p:sp>
        <p:nvSpPr>
          <p:cNvPr id="24" name="">
            <a:extLst xmlns:a="http://schemas.openxmlformats.org/drawingml/2006/main">
              <a:ext uri="{FF2B5EF4-FFF2-40B4-BE49-F238E27FC236}">
                <a16:creationId xmlns:a16="http://schemas.microsoft.com/office/drawing/2014/main" id="{3003C473-4E6A-4D28-8201-F7B155198C2A}"/>
              </a:ext>
            </a:extLst>
          </p:cNvPr>
          <p:cNvSpPr>
            <a:spLocks xmlns:a="http://schemas.openxmlformats.org/drawingml/2006/main" noGrp="1"/>
          </p:cNvSpPr>
          <p:nvPr/>
        </p:nvSpPr>
        <p:spPr>
          <a:xfrm xmlns:a="http://schemas.openxmlformats.org/drawingml/2006/main">
            <a:off x="685800" y="4600575"/>
            <a:ext cx="10334625"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25" name="">
            <a:extLst xmlns:a="http://schemas.openxmlformats.org/drawingml/2006/main">
              <a:ext uri="{FF2B5EF4-FFF2-40B4-BE49-F238E27FC236}">
                <a16:creationId xmlns:a16="http://schemas.microsoft.com/office/drawing/2014/main" id="{076895E7-772B-4B10-9C95-5C36E2C7AD68}"/>
              </a:ext>
            </a:extLst>
          </p:cNvPr>
          <p:cNvSpPr>
            <a:spLocks xmlns:a="http://schemas.openxmlformats.org/drawingml/2006/main" noGrp="1"/>
          </p:cNvSpPr>
          <p:nvPr/>
        </p:nvSpPr>
        <p:spPr>
          <a:xfrm xmlns:a="http://schemas.openxmlformats.org/drawingml/2006/main">
            <a:off x="685800" y="4857750"/>
            <a:ext cx="3619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5</a:t>
            </a:r>
          </a:p>
        </p:txBody>
      </p:sp>
      <p:sp>
        <p:nvSpPr>
          <p:cNvPr id="26" name="">
            <a:extLst xmlns:a="http://schemas.openxmlformats.org/drawingml/2006/main">
              <a:ext uri="{FF2B5EF4-FFF2-40B4-BE49-F238E27FC236}">
                <a16:creationId xmlns:a16="http://schemas.microsoft.com/office/drawing/2014/main" id="{C32021CE-5C1C-485F-8955-8F4E6354365A}"/>
              </a:ext>
            </a:extLst>
          </p:cNvPr>
          <p:cNvSpPr>
            <a:spLocks xmlns:a="http://schemas.openxmlformats.org/drawingml/2006/main" noGrp="1"/>
          </p:cNvSpPr>
          <p:nvPr/>
        </p:nvSpPr>
        <p:spPr>
          <a:xfrm xmlns:a="http://schemas.openxmlformats.org/drawingml/2006/main">
            <a:off x="1238250" y="48672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1">
                <a:solidFill>
                  <a:srgbClr val="E8694A"/>
                </a:solidFill>
                <a:latin typeface="Aptos"/>
                <a:ea typeface="Aptos"/>
                <a:cs typeface="Aptos"/>
              </a:defRPr>
            </a:pPr>
            <a:r>
              <a:rPr sz="1275" b="1">
                <a:solidFill>
                  <a:srgbClr val="E8694A"/>
                </a:solidFill>
                <a:latin typeface="Aptos"/>
                <a:ea typeface="Aptos"/>
                <a:cs typeface="Aptos"/>
              </a:rPr>
              <a:t>DECIDE</a:t>
            </a:r>
          </a:p>
        </p:txBody>
      </p:sp>
      <p:sp>
        <p:nvSpPr>
          <p:cNvPr id="27" name="">
            <a:extLst xmlns:a="http://schemas.openxmlformats.org/drawingml/2006/main">
              <a:ext uri="{FF2B5EF4-FFF2-40B4-BE49-F238E27FC236}">
                <a16:creationId xmlns:a16="http://schemas.microsoft.com/office/drawing/2014/main" id="{70A8BA55-53BC-4C11-BAFC-72417F037D75}"/>
              </a:ext>
            </a:extLst>
          </p:cNvPr>
          <p:cNvSpPr>
            <a:spLocks xmlns:a="http://schemas.openxmlformats.org/drawingml/2006/main" noGrp="1"/>
          </p:cNvSpPr>
          <p:nvPr/>
        </p:nvSpPr>
        <p:spPr>
          <a:xfrm xmlns:a="http://schemas.openxmlformats.org/drawingml/2006/main">
            <a:off x="2838450" y="4867275"/>
            <a:ext cx="819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00" b="1">
                <a:solidFill>
                  <a:srgbClr val="082638"/>
                </a:solidFill>
                <a:latin typeface="Aptos"/>
                <a:ea typeface="Aptos"/>
                <a:cs typeface="Aptos"/>
              </a:defRPr>
            </a:pPr>
            <a:r>
              <a:rPr sz="1500" b="1">
                <a:solidFill>
                  <a:srgbClr val="082638"/>
                </a:solidFill>
                <a:latin typeface="Aptos"/>
                <a:ea typeface="Aptos"/>
                <a:cs typeface="Aptos"/>
              </a:rPr>
              <a:t>Continue, redesign or stop on a named date</a:t>
            </a:r>
          </a:p>
        </p:txBody>
      </p:sp>
      <p:sp>
        <p:nvSpPr>
          <p:cNvPr id="28" name="">
            <a:extLst xmlns:a="http://schemas.openxmlformats.org/drawingml/2006/main">
              <a:ext uri="{FF2B5EF4-FFF2-40B4-BE49-F238E27FC236}">
                <a16:creationId xmlns:a16="http://schemas.microsoft.com/office/drawing/2014/main" id="{4CA0FB8D-B4F3-42CB-95FA-32B7871527FE}"/>
              </a:ext>
            </a:extLst>
          </p:cNvPr>
          <p:cNvSpPr>
            <a:spLocks xmlns:a="http://schemas.openxmlformats.org/drawingml/2006/main" noGrp="1"/>
          </p:cNvSpPr>
          <p:nvPr/>
        </p:nvSpPr>
        <p:spPr>
          <a:xfrm xmlns:a="http://schemas.openxmlformats.org/drawingml/2006/main">
            <a:off x="685800" y="5381625"/>
            <a:ext cx="10334625"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Tree>
    <p:extLst>
      <p:ext uri="{BB962C8B-B14F-4D97-AF65-F5344CB8AC3E}">
        <p14:creationId xmlns:p14="http://schemas.microsoft.com/office/powerpoint/2010/main" val="300696324"/>
      </p:ext>
    </p:extLst>
  </p:cSld>
</p:sld>
</file>

<file path=ppt/slides/slide56.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7CC9C3-20F1-417A-82B0-886E5998792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8694A"/>
          </a:solidFill>
          <a:ln xmlns:a="http://schemas.openxmlformats.org/drawingml/2006/main" w="0">
            <a:solidFill>
              <a:srgbClr val="E8694A"/>
            </a:solidFill>
            <a:prstDash val="solid"/>
          </a:ln>
        </p:spPr>
      </p:sp>
      <p:sp>
        <p:nvSpPr>
          <p:cNvPr id="2" name="">
            <a:extLst xmlns:a="http://schemas.openxmlformats.org/drawingml/2006/main">
              <a:ext uri="{FF2B5EF4-FFF2-40B4-BE49-F238E27FC236}">
                <a16:creationId xmlns:a16="http://schemas.microsoft.com/office/drawing/2014/main" id="{79803984-5C30-4BA7-B472-9C21E4F8E26A}"/>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CLOSE</a:t>
            </a:r>
          </a:p>
        </p:txBody>
      </p:sp>
      <p:sp>
        <p:nvSpPr>
          <p:cNvPr id="3" name="">
            <a:extLst xmlns:a="http://schemas.openxmlformats.org/drawingml/2006/main">
              <a:ext uri="{FF2B5EF4-FFF2-40B4-BE49-F238E27FC236}">
                <a16:creationId xmlns:a16="http://schemas.microsoft.com/office/drawing/2014/main" id="{2D90773D-523C-4E54-A1A9-F5B0CB7F4143}"/>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Patient centricity is the outcome—not the slogan</a:t>
            </a:r>
          </a:p>
        </p:txBody>
      </p:sp>
      <p:sp>
        <p:nvSpPr>
          <p:cNvPr id="4" name="">
            <a:extLst xmlns:a="http://schemas.openxmlformats.org/drawingml/2006/main">
              <a:ext uri="{FF2B5EF4-FFF2-40B4-BE49-F238E27FC236}">
                <a16:creationId xmlns:a16="http://schemas.microsoft.com/office/drawing/2014/main" id="{235DBDA7-5345-4090-8620-2C9677D58146}"/>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5485C048-4395-4853-9E5A-FE33C1294942}"/>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FC8DE27E-06C2-4E73-9190-9313D4BB5F4C}"/>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F7FB59FE-08C8-4773-AAC9-BFDFAC4F83E9}"/>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087E78"/>
          </a:solidFill>
          <a:ln xmlns:a="http://schemas.openxmlformats.org/drawingml/2006/main" w="9525">
            <a:solidFill>
              <a:srgbClr val="087E78"/>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LAB</a:t>
            </a:r>
          </a:p>
        </p:txBody>
      </p:sp>
      <p:sp>
        <p:nvSpPr>
          <p:cNvPr id="8" name="">
            <a:extLst xmlns:a="http://schemas.openxmlformats.org/drawingml/2006/main">
              <a:ext uri="{FF2B5EF4-FFF2-40B4-BE49-F238E27FC236}">
                <a16:creationId xmlns:a16="http://schemas.microsoft.com/office/drawing/2014/main" id="{0B15AA79-84DD-4DD7-8A08-5D4D672D4853}"/>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56</a:t>
            </a:r>
          </a:p>
        </p:txBody>
      </p:sp>
      <p:sp>
        <p:nvSpPr>
          <p:cNvPr id="9" name="">
            <a:extLst xmlns:a="http://schemas.openxmlformats.org/drawingml/2006/main">
              <a:ext uri="{FF2B5EF4-FFF2-40B4-BE49-F238E27FC236}">
                <a16:creationId xmlns:a16="http://schemas.microsoft.com/office/drawing/2014/main" id="{ACEA8791-DC2B-498A-87DF-B33F7695A512}"/>
              </a:ext>
            </a:extLst>
          </p:cNvPr>
          <p:cNvSpPr>
            <a:spLocks xmlns:a="http://schemas.openxmlformats.org/drawingml/2006/main" noGrp="1"/>
          </p:cNvSpPr>
          <p:nvPr/>
        </p:nvSpPr>
        <p:spPr>
          <a:xfrm xmlns:a="http://schemas.openxmlformats.org/drawingml/2006/main">
            <a:off x="857250" y="190500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2250" b="1">
                <a:solidFill>
                  <a:srgbClr val="082638"/>
                </a:solidFill>
                <a:latin typeface="Aptos"/>
                <a:ea typeface="Aptos"/>
                <a:cs typeface="Aptos"/>
              </a:defRPr>
            </a:pPr>
            <a:r>
              <a:rPr sz="2250" b="1">
                <a:solidFill>
                  <a:srgbClr val="082638"/>
                </a:solidFill>
                <a:latin typeface="Aptos"/>
                <a:ea typeface="Aptos"/>
                <a:cs typeface="Aptos"/>
              </a:rPr>
              <a:t>The best AI workflow makes the next human conversation</a:t>
            </a:r>
          </a:p>
        </p:txBody>
      </p:sp>
      <p:sp>
        <p:nvSpPr>
          <p:cNvPr id="10" name="">
            <a:extLst xmlns:a="http://schemas.openxmlformats.org/drawingml/2006/main">
              <a:ext uri="{FF2B5EF4-FFF2-40B4-BE49-F238E27FC236}">
                <a16:creationId xmlns:a16="http://schemas.microsoft.com/office/drawing/2014/main" id="{C3D721B2-5298-42AE-A465-412F9779656E}"/>
              </a:ext>
            </a:extLst>
          </p:cNvPr>
          <p:cNvSpPr>
            <a:spLocks xmlns:a="http://schemas.openxmlformats.org/drawingml/2006/main" noGrp="1"/>
          </p:cNvSpPr>
          <p:nvPr/>
        </p:nvSpPr>
        <p:spPr>
          <a:xfrm xmlns:a="http://schemas.openxmlformats.org/drawingml/2006/main">
            <a:off x="1333500" y="2857500"/>
            <a:ext cx="2857500" cy="952500"/>
          </a:xfrm>
          <a:prstGeom xmlns:a="http://schemas.openxmlformats.org/drawingml/2006/main" prst="roundRect">
            <a:avLst>
              <a:gd name="adj" fmla="val 22000"/>
            </a:avLst>
          </a:prstGeom>
          <a:solidFill xmlns:a="http://schemas.openxmlformats.org/drawingml/2006/main">
            <a:srgbClr val="FFFDFC"/>
          </a:solidFill>
          <a:ln xmlns:a="http://schemas.openxmlformats.org/drawingml/2006/main" w="9525">
            <a:solidFill>
              <a:srgbClr val="087E78"/>
            </a:solidFill>
            <a:prstDash val="solid"/>
          </a:ln>
        </p:spPr>
      </p:sp>
      <p:sp>
        <p:nvSpPr>
          <p:cNvPr id="11" name="">
            <a:extLst xmlns:a="http://schemas.openxmlformats.org/drawingml/2006/main">
              <a:ext uri="{FF2B5EF4-FFF2-40B4-BE49-F238E27FC236}">
                <a16:creationId xmlns:a16="http://schemas.microsoft.com/office/drawing/2014/main" id="{F9121A38-01EF-439D-AA81-E9FD82AD5726}"/>
              </a:ext>
            </a:extLst>
          </p:cNvPr>
          <p:cNvSpPr>
            <a:spLocks xmlns:a="http://schemas.openxmlformats.org/drawingml/2006/main" noGrp="1"/>
          </p:cNvSpPr>
          <p:nvPr/>
        </p:nvSpPr>
        <p:spPr>
          <a:xfrm xmlns:a="http://schemas.openxmlformats.org/drawingml/2006/main">
            <a:off x="1504950" y="3162300"/>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950" b="1">
                <a:solidFill>
                  <a:srgbClr val="087E78"/>
                </a:solidFill>
                <a:latin typeface="Aptos"/>
                <a:ea typeface="Aptos"/>
                <a:cs typeface="Aptos"/>
              </a:defRPr>
            </a:pPr>
            <a:r>
              <a:rPr sz="1950" b="1">
                <a:solidFill>
                  <a:srgbClr val="087E78"/>
                </a:solidFill>
                <a:latin typeface="Aptos"/>
                <a:ea typeface="Aptos"/>
                <a:cs typeface="Aptos"/>
              </a:rPr>
              <a:t>CLEARER</a:t>
            </a:r>
          </a:p>
        </p:txBody>
      </p:sp>
      <p:sp>
        <p:nvSpPr>
          <p:cNvPr id="12" name="">
            <a:extLst xmlns:a="http://schemas.openxmlformats.org/drawingml/2006/main">
              <a:ext uri="{FF2B5EF4-FFF2-40B4-BE49-F238E27FC236}">
                <a16:creationId xmlns:a16="http://schemas.microsoft.com/office/drawing/2014/main" id="{5E33AB1E-1D47-4CEB-9E41-47921C30AA1E}"/>
              </a:ext>
            </a:extLst>
          </p:cNvPr>
          <p:cNvSpPr>
            <a:spLocks xmlns:a="http://schemas.openxmlformats.org/drawingml/2006/main" noGrp="1"/>
          </p:cNvSpPr>
          <p:nvPr/>
        </p:nvSpPr>
        <p:spPr>
          <a:xfrm xmlns:a="http://schemas.openxmlformats.org/drawingml/2006/main">
            <a:off x="4667250" y="2857500"/>
            <a:ext cx="2857500" cy="952500"/>
          </a:xfrm>
          <a:prstGeom xmlns:a="http://schemas.openxmlformats.org/drawingml/2006/main" prst="roundRect">
            <a:avLst>
              <a:gd name="adj" fmla="val 22000"/>
            </a:avLst>
          </a:prstGeom>
          <a:solidFill xmlns:a="http://schemas.openxmlformats.org/drawingml/2006/main">
            <a:srgbClr val="FFFDFC"/>
          </a:solidFill>
          <a:ln xmlns:a="http://schemas.openxmlformats.org/drawingml/2006/main" w="9525">
            <a:solidFill>
              <a:srgbClr val="E8694A"/>
            </a:solidFill>
            <a:prstDash val="solid"/>
          </a:ln>
        </p:spPr>
      </p:sp>
      <p:sp>
        <p:nvSpPr>
          <p:cNvPr id="13" name="">
            <a:extLst xmlns:a="http://schemas.openxmlformats.org/drawingml/2006/main">
              <a:ext uri="{FF2B5EF4-FFF2-40B4-BE49-F238E27FC236}">
                <a16:creationId xmlns:a16="http://schemas.microsoft.com/office/drawing/2014/main" id="{876493B6-C57B-4384-8504-BA8E552421D2}"/>
              </a:ext>
            </a:extLst>
          </p:cNvPr>
          <p:cNvSpPr>
            <a:spLocks xmlns:a="http://schemas.openxmlformats.org/drawingml/2006/main" noGrp="1"/>
          </p:cNvSpPr>
          <p:nvPr/>
        </p:nvSpPr>
        <p:spPr>
          <a:xfrm xmlns:a="http://schemas.openxmlformats.org/drawingml/2006/main">
            <a:off x="4838700" y="3162300"/>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950" b="1">
                <a:solidFill>
                  <a:srgbClr val="E8694A"/>
                </a:solidFill>
                <a:latin typeface="Aptos"/>
                <a:ea typeface="Aptos"/>
                <a:cs typeface="Aptos"/>
              </a:defRPr>
            </a:pPr>
            <a:r>
              <a:rPr sz="1950" b="1">
                <a:solidFill>
                  <a:srgbClr val="E8694A"/>
                </a:solidFill>
                <a:latin typeface="Aptos"/>
                <a:ea typeface="Aptos"/>
                <a:cs typeface="Aptos"/>
              </a:rPr>
              <a:t>SAFER</a:t>
            </a:r>
          </a:p>
        </p:txBody>
      </p:sp>
      <p:sp>
        <p:nvSpPr>
          <p:cNvPr id="14" name="">
            <a:extLst xmlns:a="http://schemas.openxmlformats.org/drawingml/2006/main">
              <a:ext uri="{FF2B5EF4-FFF2-40B4-BE49-F238E27FC236}">
                <a16:creationId xmlns:a16="http://schemas.microsoft.com/office/drawing/2014/main" id="{1631BF30-E71F-4428-B913-9CB24BD7F561}"/>
              </a:ext>
            </a:extLst>
          </p:cNvPr>
          <p:cNvSpPr>
            <a:spLocks xmlns:a="http://schemas.openxmlformats.org/drawingml/2006/main" noGrp="1"/>
          </p:cNvSpPr>
          <p:nvPr/>
        </p:nvSpPr>
        <p:spPr>
          <a:xfrm xmlns:a="http://schemas.openxmlformats.org/drawingml/2006/main">
            <a:off x="8001000" y="2857500"/>
            <a:ext cx="2857500" cy="952500"/>
          </a:xfrm>
          <a:prstGeom xmlns:a="http://schemas.openxmlformats.org/drawingml/2006/main" prst="roundRect">
            <a:avLst>
              <a:gd name="adj" fmla="val 22000"/>
            </a:avLst>
          </a:prstGeom>
          <a:solidFill xmlns:a="http://schemas.openxmlformats.org/drawingml/2006/main">
            <a:srgbClr val="FFFDFC"/>
          </a:solidFill>
          <a:ln xmlns:a="http://schemas.openxmlformats.org/drawingml/2006/main" w="9525">
            <a:solidFill>
              <a:srgbClr val="2F6F9F"/>
            </a:solidFill>
            <a:prstDash val="solid"/>
          </a:ln>
        </p:spPr>
      </p:sp>
      <p:sp>
        <p:nvSpPr>
          <p:cNvPr id="15" name="">
            <a:extLst xmlns:a="http://schemas.openxmlformats.org/drawingml/2006/main">
              <a:ext uri="{FF2B5EF4-FFF2-40B4-BE49-F238E27FC236}">
                <a16:creationId xmlns:a16="http://schemas.microsoft.com/office/drawing/2014/main" id="{C417CF90-D7EB-48D4-9271-B2DDC2617B88}"/>
              </a:ext>
            </a:extLst>
          </p:cNvPr>
          <p:cNvSpPr>
            <a:spLocks xmlns:a="http://schemas.openxmlformats.org/drawingml/2006/main" noGrp="1"/>
          </p:cNvSpPr>
          <p:nvPr/>
        </p:nvSpPr>
        <p:spPr>
          <a:xfrm xmlns:a="http://schemas.openxmlformats.org/drawingml/2006/main">
            <a:off x="8172450" y="3162300"/>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950" b="1">
                <a:solidFill>
                  <a:srgbClr val="2F6F9F"/>
                </a:solidFill>
                <a:latin typeface="Aptos"/>
                <a:ea typeface="Aptos"/>
                <a:cs typeface="Aptos"/>
              </a:defRPr>
            </a:pPr>
            <a:r>
              <a:rPr sz="1950" b="1">
                <a:solidFill>
                  <a:srgbClr val="2F6F9F"/>
                </a:solidFill>
                <a:latin typeface="Aptos"/>
                <a:ea typeface="Aptos"/>
                <a:cs typeface="Aptos"/>
              </a:rPr>
              <a:t>MORE HUMAN</a:t>
            </a:r>
          </a:p>
        </p:txBody>
      </p:sp>
      <p:sp>
        <p:nvSpPr>
          <p:cNvPr id="16" name="">
            <a:extLst xmlns:a="http://schemas.openxmlformats.org/drawingml/2006/main">
              <a:ext uri="{FF2B5EF4-FFF2-40B4-BE49-F238E27FC236}">
                <a16:creationId xmlns:a16="http://schemas.microsoft.com/office/drawing/2014/main" id="{08EB8058-BF57-40A3-9EC1-8E554FFDD8F6}"/>
              </a:ext>
            </a:extLst>
          </p:cNvPr>
          <p:cNvSpPr>
            <a:spLocks xmlns:a="http://schemas.openxmlformats.org/drawingml/2006/main" noGrp="1"/>
          </p:cNvSpPr>
          <p:nvPr/>
        </p:nvSpPr>
        <p:spPr>
          <a:xfrm xmlns:a="http://schemas.openxmlformats.org/drawingml/2006/main">
            <a:off x="1905000" y="4762500"/>
            <a:ext cx="8382000" cy="666750"/>
          </a:xfrm>
          <a:prstGeom xmlns:a="http://schemas.openxmlformats.org/drawingml/2006/main" prst="roundRect">
            <a:avLst>
              <a:gd name="adj" fmla="val 25714"/>
            </a:avLst>
          </a:prstGeom>
          <a:solidFill xmlns:a="http://schemas.openxmlformats.org/drawingml/2006/main">
            <a:srgbClr val="082638"/>
          </a:solidFill>
          <a:ln xmlns:a="http://schemas.openxmlformats.org/drawingml/2006/main" w="9525">
            <a:solidFill>
              <a:srgbClr val="082638"/>
            </a:solidFill>
            <a:prstDash val="solid"/>
          </a:ln>
        </p:spPr>
      </p:sp>
      <p:sp>
        <p:nvSpPr>
          <p:cNvPr id="17" name="">
            <a:extLst xmlns:a="http://schemas.openxmlformats.org/drawingml/2006/main">
              <a:ext uri="{FF2B5EF4-FFF2-40B4-BE49-F238E27FC236}">
                <a16:creationId xmlns:a16="http://schemas.microsoft.com/office/drawing/2014/main" id="{5D44DE46-3ACC-49A8-8DCF-DBB4C0B42570}"/>
              </a:ext>
            </a:extLst>
          </p:cNvPr>
          <p:cNvSpPr>
            <a:spLocks xmlns:a="http://schemas.openxmlformats.org/drawingml/2006/main" noGrp="1"/>
          </p:cNvSpPr>
          <p:nvPr/>
        </p:nvSpPr>
        <p:spPr>
          <a:xfrm xmlns:a="http://schemas.openxmlformats.org/drawingml/2006/main">
            <a:off x="2171700" y="4933950"/>
            <a:ext cx="7848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725" b="1">
                <a:solidFill>
                  <a:srgbClr val="FFFFFF"/>
                </a:solidFill>
                <a:latin typeface="Aptos"/>
                <a:ea typeface="Aptos"/>
                <a:cs typeface="Aptos"/>
              </a:defRPr>
            </a:pPr>
            <a:r>
              <a:rPr sz="1725" b="1">
                <a:solidFill>
                  <a:srgbClr val="FFFFFF"/>
                </a:solidFill>
                <a:latin typeface="Aptos"/>
                <a:ea typeface="Aptos"/>
                <a:cs typeface="Aptos"/>
              </a:rPr>
              <a:t>AI assists. Professionals decide. Patients remain the purpose.</a:t>
            </a:r>
          </a:p>
        </p:txBody>
      </p:sp>
      <p:sp>
        <p:nvSpPr>
          <p:cNvPr id="18" name="">
            <a:extLst xmlns:a="http://schemas.openxmlformats.org/drawingml/2006/main">
              <a:ext uri="{FF2B5EF4-FFF2-40B4-BE49-F238E27FC236}">
                <a16:creationId xmlns:a16="http://schemas.microsoft.com/office/drawing/2014/main" id="{2874986F-C734-492F-A000-841DE0954A77}"/>
              </a:ext>
            </a:extLst>
          </p:cNvPr>
          <p:cNvSpPr>
            <a:spLocks xmlns:a="http://schemas.openxmlformats.org/drawingml/2006/main" noGrp="1"/>
          </p:cNvSpPr>
          <p:nvPr/>
        </p:nvSpPr>
        <p:spPr>
          <a:xfrm xmlns:a="http://schemas.openxmlformats.org/drawingml/2006/main">
            <a:off x="2286000" y="581977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200" b="1">
                <a:solidFill>
                  <a:srgbClr val="E8694A"/>
                </a:solidFill>
                <a:latin typeface="Aptos"/>
                <a:ea typeface="Aptos"/>
                <a:cs typeface="Aptos"/>
              </a:defRPr>
            </a:pPr>
            <a:r>
              <a:rPr sz="1200" b="1">
                <a:solidFill>
                  <a:srgbClr val="E8694A"/>
                </a:solidFill>
                <a:latin typeface="Aptos"/>
                <a:ea typeface="Aptos"/>
                <a:cs typeface="Aptos"/>
              </a:rPr>
              <a:t>90 minutes complete  •  total programme = 150 minutes</a:t>
            </a:r>
          </a:p>
        </p:txBody>
      </p:sp>
    </p:spTree>
    <p:extLst>
      <p:ext uri="{BB962C8B-B14F-4D97-AF65-F5344CB8AC3E}">
        <p14:creationId xmlns:p14="http://schemas.microsoft.com/office/powerpoint/2010/main" val="732957417"/>
      </p:ext>
    </p:extLst>
  </p:cSld>
</p:sld>
</file>

<file path=ppt/slides/slide57.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9A10BD-406F-43C0-8682-64A7B212425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63747C"/>
          </a:solidFill>
          <a:ln xmlns:a="http://schemas.openxmlformats.org/drawingml/2006/main" w="0">
            <a:solidFill>
              <a:srgbClr val="63747C"/>
            </a:solidFill>
            <a:prstDash val="solid"/>
          </a:ln>
        </p:spPr>
      </p:sp>
      <p:sp>
        <p:nvSpPr>
          <p:cNvPr id="2" name="">
            <a:extLst xmlns:a="http://schemas.openxmlformats.org/drawingml/2006/main">
              <a:ext uri="{FF2B5EF4-FFF2-40B4-BE49-F238E27FC236}">
                <a16:creationId xmlns:a16="http://schemas.microsoft.com/office/drawing/2014/main" id="{4FE6A784-D47A-4D1C-99B1-BC6D3D0078D3}"/>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APPENDIX</a:t>
            </a:r>
          </a:p>
        </p:txBody>
      </p:sp>
      <p:sp>
        <p:nvSpPr>
          <p:cNvPr id="3" name="">
            <a:extLst xmlns:a="http://schemas.openxmlformats.org/drawingml/2006/main">
              <a:ext uri="{FF2B5EF4-FFF2-40B4-BE49-F238E27FC236}">
                <a16:creationId xmlns:a16="http://schemas.microsoft.com/office/drawing/2014/main" id="{E2D30FAB-3F71-477F-8C75-10E359AD4634}"/>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Specialised-tool menu for facilitator selection</a:t>
            </a:r>
          </a:p>
        </p:txBody>
      </p:sp>
      <p:sp>
        <p:nvSpPr>
          <p:cNvPr id="4" name="">
            <a:extLst xmlns:a="http://schemas.openxmlformats.org/drawingml/2006/main">
              <a:ext uri="{FF2B5EF4-FFF2-40B4-BE49-F238E27FC236}">
                <a16:creationId xmlns:a16="http://schemas.microsoft.com/office/drawing/2014/main" id="{454F1C7B-4419-4200-9B3E-0592986A2ADC}"/>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33E4E226-3FDA-4942-A0DE-37E36849C741}"/>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F96CEAA9-F632-4795-8F9C-2230D96D45CC}"/>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A05687E2-B266-4AE1-BFE9-9016BB837B54}"/>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Access and product status can change; verify before delivery</a:t>
            </a:r>
          </a:p>
        </p:txBody>
      </p:sp>
      <p:sp>
        <p:nvSpPr>
          <p:cNvPr id="8" name="">
            <a:extLst xmlns:a="http://schemas.openxmlformats.org/drawingml/2006/main">
              <a:ext uri="{FF2B5EF4-FFF2-40B4-BE49-F238E27FC236}">
                <a16:creationId xmlns:a16="http://schemas.microsoft.com/office/drawing/2014/main" id="{A7EAA1B1-DE8C-41E9-9F76-E5A0A72EEBDB}"/>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71154"/>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APPENDIX</a:t>
            </a:r>
          </a:p>
        </p:txBody>
      </p:sp>
      <p:sp>
        <p:nvSpPr>
          <p:cNvPr id="9" name="">
            <a:extLst xmlns:a="http://schemas.openxmlformats.org/drawingml/2006/main">
              <a:ext uri="{FF2B5EF4-FFF2-40B4-BE49-F238E27FC236}">
                <a16:creationId xmlns:a16="http://schemas.microsoft.com/office/drawing/2014/main" id="{F4E61ADE-2C27-4027-9F81-67AE4F3479DD}"/>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57</a:t>
            </a:r>
          </a:p>
        </p:txBody>
      </p:sp>
      <p:sp>
        <p:nvSpPr>
          <p:cNvPr id="10" name="">
            <a:extLst xmlns:a="http://schemas.openxmlformats.org/drawingml/2006/main">
              <a:ext uri="{FF2B5EF4-FFF2-40B4-BE49-F238E27FC236}">
                <a16:creationId xmlns:a16="http://schemas.microsoft.com/office/drawing/2014/main" id="{775D391A-3295-49C8-AEB7-BFD551C370F8}"/>
              </a:ext>
            </a:extLst>
          </p:cNvPr>
          <p:cNvSpPr>
            <a:spLocks xmlns:a="http://schemas.openxmlformats.org/drawingml/2006/main" noGrp="1"/>
          </p:cNvSpPr>
          <p:nvPr/>
        </p:nvSpPr>
        <p:spPr>
          <a:xfrm xmlns:a="http://schemas.openxmlformats.org/drawingml/2006/main">
            <a:off x="628650" y="1790700"/>
            <a:ext cx="5048250" cy="1028700"/>
          </a:xfrm>
          <a:prstGeom xmlns:a="http://schemas.openxmlformats.org/drawingml/2006/main" prst="roundRect">
            <a:avLst>
              <a:gd name="adj" fmla="val 16667"/>
            </a:avLst>
          </a:prstGeom>
          <a:solidFill xmlns:a="http://schemas.openxmlformats.org/drawingml/2006/main">
            <a:srgbClr val="FFFDFC"/>
          </a:solidFill>
          <a:ln xmlns:a="http://schemas.openxmlformats.org/drawingml/2006/main" w="9525">
            <a:solidFill>
              <a:srgbClr val="63747C"/>
            </a:solidFill>
            <a:prstDash val="solid"/>
          </a:ln>
        </p:spPr>
      </p:sp>
      <p:sp>
        <p:nvSpPr>
          <p:cNvPr id="11" name="">
            <a:extLst xmlns:a="http://schemas.openxmlformats.org/drawingml/2006/main">
              <a:ext uri="{FF2B5EF4-FFF2-40B4-BE49-F238E27FC236}">
                <a16:creationId xmlns:a16="http://schemas.microsoft.com/office/drawing/2014/main" id="{4038F922-5A35-44C9-B6DB-F5DB01D418AC}"/>
              </a:ext>
            </a:extLst>
          </p:cNvPr>
          <p:cNvSpPr>
            <a:spLocks xmlns:a="http://schemas.openxmlformats.org/drawingml/2006/main" noGrp="1"/>
          </p:cNvSpPr>
          <p:nvPr/>
        </p:nvSpPr>
        <p:spPr>
          <a:xfrm xmlns:a="http://schemas.openxmlformats.org/drawingml/2006/main">
            <a:off x="800100" y="1962150"/>
            <a:ext cx="1476375"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AMBIENT</a:t>
            </a:r>
          </a:p>
        </p:txBody>
      </p:sp>
      <p:sp>
        <p:nvSpPr>
          <p:cNvPr id="12" name="">
            <a:extLst xmlns:a="http://schemas.openxmlformats.org/drawingml/2006/main">
              <a:ext uri="{FF2B5EF4-FFF2-40B4-BE49-F238E27FC236}">
                <a16:creationId xmlns:a16="http://schemas.microsoft.com/office/drawing/2014/main" id="{83646F45-A4D8-4CF2-B9DB-9869B4D60DFE}"/>
              </a:ext>
            </a:extLst>
          </p:cNvPr>
          <p:cNvSpPr>
            <a:spLocks xmlns:a="http://schemas.openxmlformats.org/drawingml/2006/main" noGrp="1"/>
          </p:cNvSpPr>
          <p:nvPr/>
        </p:nvSpPr>
        <p:spPr>
          <a:xfrm xmlns:a="http://schemas.openxmlformats.org/drawingml/2006/main">
            <a:off x="2486025" y="207645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Heidi • Nabla • Abridge</a:t>
            </a:r>
          </a:p>
        </p:txBody>
      </p:sp>
      <p:sp>
        <p:nvSpPr>
          <p:cNvPr id="13" name="">
            <a:extLst xmlns:a="http://schemas.openxmlformats.org/drawingml/2006/main">
              <a:ext uri="{FF2B5EF4-FFF2-40B4-BE49-F238E27FC236}">
                <a16:creationId xmlns:a16="http://schemas.microsoft.com/office/drawing/2014/main" id="{5D74CA12-1AF1-48A8-AE61-6EBCF63B742C}"/>
              </a:ext>
            </a:extLst>
          </p:cNvPr>
          <p:cNvSpPr>
            <a:spLocks xmlns:a="http://schemas.openxmlformats.org/drawingml/2006/main" noGrp="1"/>
          </p:cNvSpPr>
          <p:nvPr/>
        </p:nvSpPr>
        <p:spPr>
          <a:xfrm xmlns:a="http://schemas.openxmlformats.org/drawingml/2006/main">
            <a:off x="6057900" y="1790700"/>
            <a:ext cx="5048250" cy="1028700"/>
          </a:xfrm>
          <a:prstGeom xmlns:a="http://schemas.openxmlformats.org/drawingml/2006/main" prst="roundRect">
            <a:avLst>
              <a:gd name="adj" fmla="val 16667"/>
            </a:avLst>
          </a:prstGeom>
          <a:solidFill xmlns:a="http://schemas.openxmlformats.org/drawingml/2006/main">
            <a:srgbClr val="FFFDFC"/>
          </a:solidFill>
          <a:ln xmlns:a="http://schemas.openxmlformats.org/drawingml/2006/main" w="9525">
            <a:solidFill>
              <a:srgbClr val="63747C"/>
            </a:solidFill>
            <a:prstDash val="solid"/>
          </a:ln>
        </p:spPr>
      </p:sp>
      <p:sp>
        <p:nvSpPr>
          <p:cNvPr id="14" name="">
            <a:extLst xmlns:a="http://schemas.openxmlformats.org/drawingml/2006/main">
              <a:ext uri="{FF2B5EF4-FFF2-40B4-BE49-F238E27FC236}">
                <a16:creationId xmlns:a16="http://schemas.microsoft.com/office/drawing/2014/main" id="{F91672F9-4E42-4340-916A-42306B9CB53D}"/>
              </a:ext>
            </a:extLst>
          </p:cNvPr>
          <p:cNvSpPr>
            <a:spLocks xmlns:a="http://schemas.openxmlformats.org/drawingml/2006/main" noGrp="1"/>
          </p:cNvSpPr>
          <p:nvPr/>
        </p:nvSpPr>
        <p:spPr>
          <a:xfrm xmlns:a="http://schemas.openxmlformats.org/drawingml/2006/main">
            <a:off x="6229350" y="1962150"/>
            <a:ext cx="1476375"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EVIDENCE</a:t>
            </a:r>
          </a:p>
        </p:txBody>
      </p:sp>
      <p:sp>
        <p:nvSpPr>
          <p:cNvPr id="15" name="">
            <a:extLst xmlns:a="http://schemas.openxmlformats.org/drawingml/2006/main">
              <a:ext uri="{FF2B5EF4-FFF2-40B4-BE49-F238E27FC236}">
                <a16:creationId xmlns:a16="http://schemas.microsoft.com/office/drawing/2014/main" id="{D9D98048-7652-461F-9980-4F29BA90F7DE}"/>
              </a:ext>
            </a:extLst>
          </p:cNvPr>
          <p:cNvSpPr>
            <a:spLocks xmlns:a="http://schemas.openxmlformats.org/drawingml/2006/main" noGrp="1"/>
          </p:cNvSpPr>
          <p:nvPr/>
        </p:nvSpPr>
        <p:spPr>
          <a:xfrm xmlns:a="http://schemas.openxmlformats.org/drawingml/2006/main">
            <a:off x="7915275" y="207645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Medscape AI • ClinicalKey AI</a:t>
            </a:r>
          </a:p>
        </p:txBody>
      </p:sp>
      <p:sp>
        <p:nvSpPr>
          <p:cNvPr id="16" name="">
            <a:extLst xmlns:a="http://schemas.openxmlformats.org/drawingml/2006/main">
              <a:ext uri="{FF2B5EF4-FFF2-40B4-BE49-F238E27FC236}">
                <a16:creationId xmlns:a16="http://schemas.microsoft.com/office/drawing/2014/main" id="{7732FD2E-4671-49A4-BE34-61868365CC71}"/>
              </a:ext>
            </a:extLst>
          </p:cNvPr>
          <p:cNvSpPr>
            <a:spLocks xmlns:a="http://schemas.openxmlformats.org/drawingml/2006/main" noGrp="1"/>
          </p:cNvSpPr>
          <p:nvPr/>
        </p:nvSpPr>
        <p:spPr>
          <a:xfrm xmlns:a="http://schemas.openxmlformats.org/drawingml/2006/main">
            <a:off x="628650" y="3048000"/>
            <a:ext cx="5048250" cy="1028700"/>
          </a:xfrm>
          <a:prstGeom xmlns:a="http://schemas.openxmlformats.org/drawingml/2006/main" prst="roundRect">
            <a:avLst>
              <a:gd name="adj" fmla="val 16667"/>
            </a:avLst>
          </a:prstGeom>
          <a:solidFill xmlns:a="http://schemas.openxmlformats.org/drawingml/2006/main">
            <a:srgbClr val="FFFDFC"/>
          </a:solidFill>
          <a:ln xmlns:a="http://schemas.openxmlformats.org/drawingml/2006/main" w="9525">
            <a:solidFill>
              <a:srgbClr val="63747C"/>
            </a:solidFill>
            <a:prstDash val="solid"/>
          </a:ln>
        </p:spPr>
      </p:sp>
      <p:sp>
        <p:nvSpPr>
          <p:cNvPr id="17" name="">
            <a:extLst xmlns:a="http://schemas.openxmlformats.org/drawingml/2006/main">
              <a:ext uri="{FF2B5EF4-FFF2-40B4-BE49-F238E27FC236}">
                <a16:creationId xmlns:a16="http://schemas.microsoft.com/office/drawing/2014/main" id="{2CF41C52-3FD1-4AE5-87C8-EC45279B1C1F}"/>
              </a:ext>
            </a:extLst>
          </p:cNvPr>
          <p:cNvSpPr>
            <a:spLocks xmlns:a="http://schemas.openxmlformats.org/drawingml/2006/main" noGrp="1"/>
          </p:cNvSpPr>
          <p:nvPr/>
        </p:nvSpPr>
        <p:spPr>
          <a:xfrm xmlns:a="http://schemas.openxmlformats.org/drawingml/2006/main">
            <a:off x="800100" y="3219450"/>
            <a:ext cx="1476375"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REASONING</a:t>
            </a:r>
          </a:p>
        </p:txBody>
      </p:sp>
      <p:sp>
        <p:nvSpPr>
          <p:cNvPr id="18" name="">
            <a:extLst xmlns:a="http://schemas.openxmlformats.org/drawingml/2006/main">
              <a:ext uri="{FF2B5EF4-FFF2-40B4-BE49-F238E27FC236}">
                <a16:creationId xmlns:a16="http://schemas.microsoft.com/office/drawing/2014/main" id="{80BA1274-C445-4643-AA22-BEC0E91C67AD}"/>
              </a:ext>
            </a:extLst>
          </p:cNvPr>
          <p:cNvSpPr>
            <a:spLocks xmlns:a="http://schemas.openxmlformats.org/drawingml/2006/main" noGrp="1"/>
          </p:cNvSpPr>
          <p:nvPr/>
        </p:nvSpPr>
        <p:spPr>
          <a:xfrm xmlns:a="http://schemas.openxmlformats.org/drawingml/2006/main">
            <a:off x="2486025" y="333375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DxGPT • VisualDx • iatroX</a:t>
            </a:r>
          </a:p>
        </p:txBody>
      </p:sp>
      <p:sp>
        <p:nvSpPr>
          <p:cNvPr id="19" name="">
            <a:extLst xmlns:a="http://schemas.openxmlformats.org/drawingml/2006/main">
              <a:ext uri="{FF2B5EF4-FFF2-40B4-BE49-F238E27FC236}">
                <a16:creationId xmlns:a16="http://schemas.microsoft.com/office/drawing/2014/main" id="{2A4BA612-06F2-498C-ADCE-246BEAB20ABF}"/>
              </a:ext>
            </a:extLst>
          </p:cNvPr>
          <p:cNvSpPr>
            <a:spLocks xmlns:a="http://schemas.openxmlformats.org/drawingml/2006/main" noGrp="1"/>
          </p:cNvSpPr>
          <p:nvPr/>
        </p:nvSpPr>
        <p:spPr>
          <a:xfrm xmlns:a="http://schemas.openxmlformats.org/drawingml/2006/main">
            <a:off x="6057900" y="3048000"/>
            <a:ext cx="5048250" cy="1028700"/>
          </a:xfrm>
          <a:prstGeom xmlns:a="http://schemas.openxmlformats.org/drawingml/2006/main" prst="roundRect">
            <a:avLst>
              <a:gd name="adj" fmla="val 16667"/>
            </a:avLst>
          </a:prstGeom>
          <a:solidFill xmlns:a="http://schemas.openxmlformats.org/drawingml/2006/main">
            <a:srgbClr val="FFFDFC"/>
          </a:solidFill>
          <a:ln xmlns:a="http://schemas.openxmlformats.org/drawingml/2006/main" w="9525">
            <a:solidFill>
              <a:srgbClr val="63747C"/>
            </a:solidFill>
            <a:prstDash val="solid"/>
          </a:ln>
        </p:spPr>
      </p:sp>
      <p:sp>
        <p:nvSpPr>
          <p:cNvPr id="20" name="">
            <a:extLst xmlns:a="http://schemas.openxmlformats.org/drawingml/2006/main">
              <a:ext uri="{FF2B5EF4-FFF2-40B4-BE49-F238E27FC236}">
                <a16:creationId xmlns:a16="http://schemas.microsoft.com/office/drawing/2014/main" id="{68B87F37-B963-4E5A-9524-C6ADF70FB02B}"/>
              </a:ext>
            </a:extLst>
          </p:cNvPr>
          <p:cNvSpPr>
            <a:spLocks xmlns:a="http://schemas.openxmlformats.org/drawingml/2006/main" noGrp="1"/>
          </p:cNvSpPr>
          <p:nvPr/>
        </p:nvSpPr>
        <p:spPr>
          <a:xfrm xmlns:a="http://schemas.openxmlformats.org/drawingml/2006/main">
            <a:off x="6229350" y="3219450"/>
            <a:ext cx="1476375"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MEDICINES</a:t>
            </a:r>
          </a:p>
        </p:txBody>
      </p:sp>
      <p:sp>
        <p:nvSpPr>
          <p:cNvPr id="21" name="">
            <a:extLst xmlns:a="http://schemas.openxmlformats.org/drawingml/2006/main">
              <a:ext uri="{FF2B5EF4-FFF2-40B4-BE49-F238E27FC236}">
                <a16:creationId xmlns:a16="http://schemas.microsoft.com/office/drawing/2014/main" id="{134F5C5F-381E-4E13-AD6C-FAE373C3C985}"/>
              </a:ext>
            </a:extLst>
          </p:cNvPr>
          <p:cNvSpPr>
            <a:spLocks xmlns:a="http://schemas.openxmlformats.org/drawingml/2006/main" noGrp="1"/>
          </p:cNvSpPr>
          <p:nvPr/>
        </p:nvSpPr>
        <p:spPr>
          <a:xfrm xmlns:a="http://schemas.openxmlformats.org/drawingml/2006/main">
            <a:off x="7915275" y="333375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MDCalc • Epocrates • Lexicomp • Micromedex</a:t>
            </a:r>
          </a:p>
        </p:txBody>
      </p:sp>
      <p:sp>
        <p:nvSpPr>
          <p:cNvPr id="22" name="">
            <a:extLst xmlns:a="http://schemas.openxmlformats.org/drawingml/2006/main">
              <a:ext uri="{FF2B5EF4-FFF2-40B4-BE49-F238E27FC236}">
                <a16:creationId xmlns:a16="http://schemas.microsoft.com/office/drawing/2014/main" id="{89CDD1D2-05CE-4AEA-907B-944D871FF6CF}"/>
              </a:ext>
            </a:extLst>
          </p:cNvPr>
          <p:cNvSpPr>
            <a:spLocks xmlns:a="http://schemas.openxmlformats.org/drawingml/2006/main" noGrp="1"/>
          </p:cNvSpPr>
          <p:nvPr/>
        </p:nvSpPr>
        <p:spPr>
          <a:xfrm xmlns:a="http://schemas.openxmlformats.org/drawingml/2006/main">
            <a:off x="628650" y="4305300"/>
            <a:ext cx="5048250" cy="1028700"/>
          </a:xfrm>
          <a:prstGeom xmlns:a="http://schemas.openxmlformats.org/drawingml/2006/main" prst="roundRect">
            <a:avLst>
              <a:gd name="adj" fmla="val 16667"/>
            </a:avLst>
          </a:prstGeom>
          <a:solidFill xmlns:a="http://schemas.openxmlformats.org/drawingml/2006/main">
            <a:srgbClr val="FFFDFC"/>
          </a:solidFill>
          <a:ln xmlns:a="http://schemas.openxmlformats.org/drawingml/2006/main" w="9525">
            <a:solidFill>
              <a:srgbClr val="63747C"/>
            </a:solidFill>
            <a:prstDash val="solid"/>
          </a:ln>
        </p:spPr>
      </p:sp>
      <p:sp>
        <p:nvSpPr>
          <p:cNvPr id="23" name="">
            <a:extLst xmlns:a="http://schemas.openxmlformats.org/drawingml/2006/main">
              <a:ext uri="{FF2B5EF4-FFF2-40B4-BE49-F238E27FC236}">
                <a16:creationId xmlns:a16="http://schemas.microsoft.com/office/drawing/2014/main" id="{905B9933-9986-4D60-A1F2-86B8F40F4E99}"/>
              </a:ext>
            </a:extLst>
          </p:cNvPr>
          <p:cNvSpPr>
            <a:spLocks xmlns:a="http://schemas.openxmlformats.org/drawingml/2006/main" noGrp="1"/>
          </p:cNvSpPr>
          <p:nvPr/>
        </p:nvSpPr>
        <p:spPr>
          <a:xfrm xmlns:a="http://schemas.openxmlformats.org/drawingml/2006/main">
            <a:off x="800100" y="4476750"/>
            <a:ext cx="1476375"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COMMUNICATION</a:t>
            </a:r>
          </a:p>
        </p:txBody>
      </p:sp>
      <p:sp>
        <p:nvSpPr>
          <p:cNvPr id="24" name="">
            <a:extLst xmlns:a="http://schemas.openxmlformats.org/drawingml/2006/main">
              <a:ext uri="{FF2B5EF4-FFF2-40B4-BE49-F238E27FC236}">
                <a16:creationId xmlns:a16="http://schemas.microsoft.com/office/drawing/2014/main" id="{D3CB372A-108B-4C92-88B4-6424D7DA350A}"/>
              </a:ext>
            </a:extLst>
          </p:cNvPr>
          <p:cNvSpPr>
            <a:spLocks xmlns:a="http://schemas.openxmlformats.org/drawingml/2006/main" noGrp="1"/>
          </p:cNvSpPr>
          <p:nvPr/>
        </p:nvSpPr>
        <p:spPr>
          <a:xfrm xmlns:a="http://schemas.openxmlformats.org/drawingml/2006/main">
            <a:off x="2486025" y="459105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Canva • Gamma • Bhashini</a:t>
            </a:r>
          </a:p>
        </p:txBody>
      </p:sp>
      <p:sp>
        <p:nvSpPr>
          <p:cNvPr id="25" name="">
            <a:extLst xmlns:a="http://schemas.openxmlformats.org/drawingml/2006/main">
              <a:ext uri="{FF2B5EF4-FFF2-40B4-BE49-F238E27FC236}">
                <a16:creationId xmlns:a16="http://schemas.microsoft.com/office/drawing/2014/main" id="{C118E676-4E0A-461E-8FAC-D8543BC3EF35}"/>
              </a:ext>
            </a:extLst>
          </p:cNvPr>
          <p:cNvSpPr>
            <a:spLocks xmlns:a="http://schemas.openxmlformats.org/drawingml/2006/main" noGrp="1"/>
          </p:cNvSpPr>
          <p:nvPr/>
        </p:nvSpPr>
        <p:spPr>
          <a:xfrm xmlns:a="http://schemas.openxmlformats.org/drawingml/2006/main">
            <a:off x="6057900" y="4305300"/>
            <a:ext cx="5048250" cy="1028700"/>
          </a:xfrm>
          <a:prstGeom xmlns:a="http://schemas.openxmlformats.org/drawingml/2006/main" prst="roundRect">
            <a:avLst>
              <a:gd name="adj" fmla="val 16667"/>
            </a:avLst>
          </a:prstGeom>
          <a:solidFill xmlns:a="http://schemas.openxmlformats.org/drawingml/2006/main">
            <a:srgbClr val="FFFDFC"/>
          </a:solidFill>
          <a:ln xmlns:a="http://schemas.openxmlformats.org/drawingml/2006/main" w="9525">
            <a:solidFill>
              <a:srgbClr val="63747C"/>
            </a:solidFill>
            <a:prstDash val="solid"/>
          </a:ln>
        </p:spPr>
      </p:sp>
      <p:sp>
        <p:nvSpPr>
          <p:cNvPr id="26" name="">
            <a:extLst xmlns:a="http://schemas.openxmlformats.org/drawingml/2006/main">
              <a:ext uri="{FF2B5EF4-FFF2-40B4-BE49-F238E27FC236}">
                <a16:creationId xmlns:a16="http://schemas.microsoft.com/office/drawing/2014/main" id="{ECDAD2E5-D039-4AB9-B841-EC57414F6677}"/>
              </a:ext>
            </a:extLst>
          </p:cNvPr>
          <p:cNvSpPr>
            <a:spLocks xmlns:a="http://schemas.openxmlformats.org/drawingml/2006/main" noGrp="1"/>
          </p:cNvSpPr>
          <p:nvPr/>
        </p:nvSpPr>
        <p:spPr>
          <a:xfrm xmlns:a="http://schemas.openxmlformats.org/drawingml/2006/main">
            <a:off x="6229350" y="4476750"/>
            <a:ext cx="1476375"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RESEARCH</a:t>
            </a:r>
          </a:p>
        </p:txBody>
      </p:sp>
      <p:sp>
        <p:nvSpPr>
          <p:cNvPr id="27" name="">
            <a:extLst xmlns:a="http://schemas.openxmlformats.org/drawingml/2006/main">
              <a:ext uri="{FF2B5EF4-FFF2-40B4-BE49-F238E27FC236}">
                <a16:creationId xmlns:a16="http://schemas.microsoft.com/office/drawing/2014/main" id="{CE9C1E63-645E-4887-BBF3-8BE7FFBF8F27}"/>
              </a:ext>
            </a:extLst>
          </p:cNvPr>
          <p:cNvSpPr>
            <a:spLocks xmlns:a="http://schemas.openxmlformats.org/drawingml/2006/main" noGrp="1"/>
          </p:cNvSpPr>
          <p:nvPr/>
        </p:nvSpPr>
        <p:spPr>
          <a:xfrm xmlns:a="http://schemas.openxmlformats.org/drawingml/2006/main">
            <a:off x="7915275" y="459105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PubMed • Elicit • ResearchRabbit • Scite</a:t>
            </a:r>
          </a:p>
        </p:txBody>
      </p:sp>
    </p:spTree>
    <p:extLst>
      <p:ext uri="{BB962C8B-B14F-4D97-AF65-F5344CB8AC3E}">
        <p14:creationId xmlns:p14="http://schemas.microsoft.com/office/powerpoint/2010/main" val="61163379"/>
      </p:ext>
    </p:extLst>
  </p:cSld>
</p:sld>
</file>

<file path=ppt/slides/slide58.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17F67C0-0024-4EB8-A944-18E392486BE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63747C"/>
          </a:solidFill>
          <a:ln xmlns:a="http://schemas.openxmlformats.org/drawingml/2006/main" w="0">
            <a:solidFill>
              <a:srgbClr val="63747C"/>
            </a:solidFill>
            <a:prstDash val="solid"/>
          </a:ln>
        </p:spPr>
      </p:sp>
      <p:sp>
        <p:nvSpPr>
          <p:cNvPr id="2" name="">
            <a:extLst xmlns:a="http://schemas.openxmlformats.org/drawingml/2006/main">
              <a:ext uri="{FF2B5EF4-FFF2-40B4-BE49-F238E27FC236}">
                <a16:creationId xmlns:a16="http://schemas.microsoft.com/office/drawing/2014/main" id="{5FEC2163-121F-4563-ADAB-D9EABA9D4F6C}"/>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APPENDIX</a:t>
            </a:r>
          </a:p>
        </p:txBody>
      </p:sp>
      <p:sp>
        <p:nvSpPr>
          <p:cNvPr id="3" name="">
            <a:extLst xmlns:a="http://schemas.openxmlformats.org/drawingml/2006/main">
              <a:ext uri="{FF2B5EF4-FFF2-40B4-BE49-F238E27FC236}">
                <a16:creationId xmlns:a16="http://schemas.microsoft.com/office/drawing/2014/main" id="{22D8B436-D7E0-4957-9A79-22558FCE1ADA}"/>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Copy-ready prompt index</a:t>
            </a:r>
          </a:p>
        </p:txBody>
      </p:sp>
      <p:sp>
        <p:nvSpPr>
          <p:cNvPr id="4" name="">
            <a:extLst xmlns:a="http://schemas.openxmlformats.org/drawingml/2006/main">
              <a:ext uri="{FF2B5EF4-FFF2-40B4-BE49-F238E27FC236}">
                <a16:creationId xmlns:a16="http://schemas.microsoft.com/office/drawing/2014/main" id="{DB2B2C6B-16C9-4449-AFC5-4D39E7CC65D4}"/>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BB11E702-4CE3-44F9-B8D2-8BB530FB11B9}"/>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7F990E96-2788-4C93-8286-B8CFFB7FDEC0}"/>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7FE32086-3A66-48E3-8D72-DD04B50600AA}"/>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Full text in Prompt Cards PDF</a:t>
            </a:r>
          </a:p>
        </p:txBody>
      </p:sp>
      <p:sp>
        <p:nvSpPr>
          <p:cNvPr id="8" name="">
            <a:extLst xmlns:a="http://schemas.openxmlformats.org/drawingml/2006/main">
              <a:ext uri="{FF2B5EF4-FFF2-40B4-BE49-F238E27FC236}">
                <a16:creationId xmlns:a16="http://schemas.microsoft.com/office/drawing/2014/main" id="{13201242-6401-4F03-BB71-13412E77B36E}"/>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71154"/>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APPENDIX</a:t>
            </a:r>
          </a:p>
        </p:txBody>
      </p:sp>
      <p:sp>
        <p:nvSpPr>
          <p:cNvPr id="9" name="">
            <a:extLst xmlns:a="http://schemas.openxmlformats.org/drawingml/2006/main">
              <a:ext uri="{FF2B5EF4-FFF2-40B4-BE49-F238E27FC236}">
                <a16:creationId xmlns:a16="http://schemas.microsoft.com/office/drawing/2014/main" id="{57DCA3A9-EA72-4BD9-A6A2-C751971541BD}"/>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58</a:t>
            </a:r>
          </a:p>
        </p:txBody>
      </p:sp>
      <p:sp>
        <p:nvSpPr>
          <p:cNvPr id="10" name="">
            <a:extLst xmlns:a="http://schemas.openxmlformats.org/drawingml/2006/main">
              <a:ext uri="{FF2B5EF4-FFF2-40B4-BE49-F238E27FC236}">
                <a16:creationId xmlns:a16="http://schemas.microsoft.com/office/drawing/2014/main" id="{A091EE23-1B82-44A7-8C0B-9BF43DE2F8C5}"/>
              </a:ext>
            </a:extLst>
          </p:cNvPr>
          <p:cNvSpPr>
            <a:spLocks xmlns:a="http://schemas.openxmlformats.org/drawingml/2006/main" noGrp="1"/>
          </p:cNvSpPr>
          <p:nvPr/>
        </p:nvSpPr>
        <p:spPr>
          <a:xfrm xmlns:a="http://schemas.openxmlformats.org/drawingml/2006/main">
            <a:off x="609600" y="1733550"/>
            <a:ext cx="4572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P1</a:t>
            </a:r>
          </a:p>
        </p:txBody>
      </p:sp>
      <p:sp>
        <p:nvSpPr>
          <p:cNvPr id="11" name="">
            <a:extLst xmlns:a="http://schemas.openxmlformats.org/drawingml/2006/main">
              <a:ext uri="{FF2B5EF4-FFF2-40B4-BE49-F238E27FC236}">
                <a16:creationId xmlns:a16="http://schemas.microsoft.com/office/drawing/2014/main" id="{1A20A4B8-0E89-478D-9A78-7EC6E43602CD}"/>
              </a:ext>
            </a:extLst>
          </p:cNvPr>
          <p:cNvSpPr>
            <a:spLocks xmlns:a="http://schemas.openxmlformats.org/drawingml/2006/main" noGrp="1"/>
          </p:cNvSpPr>
          <p:nvPr/>
        </p:nvSpPr>
        <p:spPr>
          <a:xfrm xmlns:a="http://schemas.openxmlformats.org/drawingml/2006/main">
            <a:off x="1228725" y="1733550"/>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Consultation continuity</a:t>
            </a:r>
          </a:p>
        </p:txBody>
      </p:sp>
      <p:sp>
        <p:nvSpPr>
          <p:cNvPr id="12" name="">
            <a:extLst xmlns:a="http://schemas.openxmlformats.org/drawingml/2006/main">
              <a:ext uri="{FF2B5EF4-FFF2-40B4-BE49-F238E27FC236}">
                <a16:creationId xmlns:a16="http://schemas.microsoft.com/office/drawing/2014/main" id="{21297011-9C18-43E4-B144-418658444D45}"/>
              </a:ext>
            </a:extLst>
          </p:cNvPr>
          <p:cNvSpPr>
            <a:spLocks xmlns:a="http://schemas.openxmlformats.org/drawingml/2006/main" noGrp="1"/>
          </p:cNvSpPr>
          <p:nvPr/>
        </p:nvSpPr>
        <p:spPr>
          <a:xfrm xmlns:a="http://schemas.openxmlformats.org/drawingml/2006/main">
            <a:off x="3895725" y="17335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38" b="0">
                <a:solidFill>
                  <a:srgbClr val="63747C"/>
                </a:solidFill>
                <a:latin typeface="Aptos"/>
                <a:ea typeface="Aptos"/>
                <a:cs typeface="Aptos"/>
              </a:defRPr>
            </a:pPr>
            <a:r>
              <a:rPr sz="938" b="0">
                <a:solidFill>
                  <a:srgbClr val="63747C"/>
                </a:solidFill>
                <a:latin typeface="Aptos"/>
                <a:ea typeface="Aptos"/>
                <a:cs typeface="Aptos"/>
              </a:rPr>
              <a:t>ChatGPT; compare with Heidi or Nabla</a:t>
            </a:r>
          </a:p>
        </p:txBody>
      </p:sp>
      <p:sp>
        <p:nvSpPr>
          <p:cNvPr id="13" name="">
            <a:extLst xmlns:a="http://schemas.openxmlformats.org/drawingml/2006/main">
              <a:ext uri="{FF2B5EF4-FFF2-40B4-BE49-F238E27FC236}">
                <a16:creationId xmlns:a16="http://schemas.microsoft.com/office/drawing/2014/main" id="{11DA6225-1210-45C6-B648-DD41B76E8287}"/>
              </a:ext>
            </a:extLst>
          </p:cNvPr>
          <p:cNvSpPr>
            <a:spLocks xmlns:a="http://schemas.openxmlformats.org/drawingml/2006/main" noGrp="1"/>
          </p:cNvSpPr>
          <p:nvPr/>
        </p:nvSpPr>
        <p:spPr>
          <a:xfrm xmlns:a="http://schemas.openxmlformats.org/drawingml/2006/main">
            <a:off x="609600" y="2228850"/>
            <a:ext cx="51435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14" name="">
            <a:extLst xmlns:a="http://schemas.openxmlformats.org/drawingml/2006/main">
              <a:ext uri="{FF2B5EF4-FFF2-40B4-BE49-F238E27FC236}">
                <a16:creationId xmlns:a16="http://schemas.microsoft.com/office/drawing/2014/main" id="{AF077572-7448-4F9B-91E3-98DFEA5BD938}"/>
              </a:ext>
            </a:extLst>
          </p:cNvPr>
          <p:cNvSpPr>
            <a:spLocks xmlns:a="http://schemas.openxmlformats.org/drawingml/2006/main" noGrp="1"/>
          </p:cNvSpPr>
          <p:nvPr/>
        </p:nvSpPr>
        <p:spPr>
          <a:xfrm xmlns:a="http://schemas.openxmlformats.org/drawingml/2006/main">
            <a:off x="609600" y="2419350"/>
            <a:ext cx="4572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P2</a:t>
            </a:r>
          </a:p>
        </p:txBody>
      </p:sp>
      <p:sp>
        <p:nvSpPr>
          <p:cNvPr id="15" name="">
            <a:extLst xmlns:a="http://schemas.openxmlformats.org/drawingml/2006/main">
              <a:ext uri="{FF2B5EF4-FFF2-40B4-BE49-F238E27FC236}">
                <a16:creationId xmlns:a16="http://schemas.microsoft.com/office/drawing/2014/main" id="{2C218DBD-B0AE-490A-9A62-AFED4EA31B3F}"/>
              </a:ext>
            </a:extLst>
          </p:cNvPr>
          <p:cNvSpPr>
            <a:spLocks xmlns:a="http://schemas.openxmlformats.org/drawingml/2006/main" noGrp="1"/>
          </p:cNvSpPr>
          <p:nvPr/>
        </p:nvSpPr>
        <p:spPr>
          <a:xfrm xmlns:a="http://schemas.openxmlformats.org/drawingml/2006/main">
            <a:off x="1228725" y="2419350"/>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6169"/>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Diagnostic reasoning without outsourcing diagnosis</a:t>
            </a:r>
          </a:p>
        </p:txBody>
      </p:sp>
      <p:sp>
        <p:nvSpPr>
          <p:cNvPr id="16" name="">
            <a:extLst xmlns:a="http://schemas.openxmlformats.org/drawingml/2006/main">
              <a:ext uri="{FF2B5EF4-FFF2-40B4-BE49-F238E27FC236}">
                <a16:creationId xmlns:a16="http://schemas.microsoft.com/office/drawing/2014/main" id="{C9DBD905-916F-477D-825E-2CFC10BB1BBB}"/>
              </a:ext>
            </a:extLst>
          </p:cNvPr>
          <p:cNvSpPr>
            <a:spLocks xmlns:a="http://schemas.openxmlformats.org/drawingml/2006/main" noGrp="1"/>
          </p:cNvSpPr>
          <p:nvPr/>
        </p:nvSpPr>
        <p:spPr>
          <a:xfrm xmlns:a="http://schemas.openxmlformats.org/drawingml/2006/main">
            <a:off x="3895725" y="24193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38" b="0">
                <a:solidFill>
                  <a:srgbClr val="63747C"/>
                </a:solidFill>
                <a:latin typeface="Aptos"/>
                <a:ea typeface="Aptos"/>
                <a:cs typeface="Aptos"/>
              </a:defRPr>
            </a:pPr>
            <a:r>
              <a:rPr sz="938" b="0">
                <a:solidFill>
                  <a:srgbClr val="63747C"/>
                </a:solidFill>
                <a:latin typeface="Aptos"/>
                <a:ea typeface="Aptos"/>
                <a:cs typeface="Aptos"/>
              </a:rPr>
              <a:t>ChatGPT; compare with DxGPT and a clinical evidence tool</a:t>
            </a:r>
          </a:p>
        </p:txBody>
      </p:sp>
      <p:sp>
        <p:nvSpPr>
          <p:cNvPr id="17" name="">
            <a:extLst xmlns:a="http://schemas.openxmlformats.org/drawingml/2006/main">
              <a:ext uri="{FF2B5EF4-FFF2-40B4-BE49-F238E27FC236}">
                <a16:creationId xmlns:a16="http://schemas.microsoft.com/office/drawing/2014/main" id="{7EFBB2F2-4694-423F-9DAB-3A2BF4C52959}"/>
              </a:ext>
            </a:extLst>
          </p:cNvPr>
          <p:cNvSpPr>
            <a:spLocks xmlns:a="http://schemas.openxmlformats.org/drawingml/2006/main" noGrp="1"/>
          </p:cNvSpPr>
          <p:nvPr/>
        </p:nvSpPr>
        <p:spPr>
          <a:xfrm xmlns:a="http://schemas.openxmlformats.org/drawingml/2006/main">
            <a:off x="609600" y="2914650"/>
            <a:ext cx="51435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18" name="">
            <a:extLst xmlns:a="http://schemas.openxmlformats.org/drawingml/2006/main">
              <a:ext uri="{FF2B5EF4-FFF2-40B4-BE49-F238E27FC236}">
                <a16:creationId xmlns:a16="http://schemas.microsoft.com/office/drawing/2014/main" id="{6BC987A3-B2F6-4666-9EDA-0A823B304ADF}"/>
              </a:ext>
            </a:extLst>
          </p:cNvPr>
          <p:cNvSpPr>
            <a:spLocks xmlns:a="http://schemas.openxmlformats.org/drawingml/2006/main" noGrp="1"/>
          </p:cNvSpPr>
          <p:nvPr/>
        </p:nvSpPr>
        <p:spPr>
          <a:xfrm xmlns:a="http://schemas.openxmlformats.org/drawingml/2006/main">
            <a:off x="609600" y="3105150"/>
            <a:ext cx="4572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P3</a:t>
            </a:r>
          </a:p>
        </p:txBody>
      </p:sp>
      <p:sp>
        <p:nvSpPr>
          <p:cNvPr id="19" name="">
            <a:extLst xmlns:a="http://schemas.openxmlformats.org/drawingml/2006/main">
              <a:ext uri="{FF2B5EF4-FFF2-40B4-BE49-F238E27FC236}">
                <a16:creationId xmlns:a16="http://schemas.microsoft.com/office/drawing/2014/main" id="{A270AA5A-C10E-428D-9A27-167199F37DA0}"/>
              </a:ext>
            </a:extLst>
          </p:cNvPr>
          <p:cNvSpPr>
            <a:spLocks xmlns:a="http://schemas.openxmlformats.org/drawingml/2006/main" noGrp="1"/>
          </p:cNvSpPr>
          <p:nvPr/>
        </p:nvSpPr>
        <p:spPr>
          <a:xfrm xmlns:a="http://schemas.openxmlformats.org/drawingml/2006/main">
            <a:off x="1228725" y="3105150"/>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238"/>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Medication-reconciliation discussion</a:t>
            </a:r>
          </a:p>
        </p:txBody>
      </p:sp>
      <p:sp>
        <p:nvSpPr>
          <p:cNvPr id="20" name="">
            <a:extLst xmlns:a="http://schemas.openxmlformats.org/drawingml/2006/main">
              <a:ext uri="{FF2B5EF4-FFF2-40B4-BE49-F238E27FC236}">
                <a16:creationId xmlns:a16="http://schemas.microsoft.com/office/drawing/2014/main" id="{7BF69014-3735-486F-9817-53647CBE1954}"/>
              </a:ext>
            </a:extLst>
          </p:cNvPr>
          <p:cNvSpPr>
            <a:spLocks xmlns:a="http://schemas.openxmlformats.org/drawingml/2006/main" noGrp="1"/>
          </p:cNvSpPr>
          <p:nvPr/>
        </p:nvSpPr>
        <p:spPr>
          <a:xfrm xmlns:a="http://schemas.openxmlformats.org/drawingml/2006/main">
            <a:off x="3895725" y="31051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941"/>
          </a:bodyPr>
          <a:lstStyle xmlns:a="http://schemas.openxmlformats.org/drawingml/2006/main"/>
          <a:p xmlns:a="http://schemas.openxmlformats.org/drawingml/2006/main">
            <a:pPr algn="r">
              <a:lnSpc>
                <a:spcPct val="103000"/>
              </a:lnSpc>
              <a:buNone/>
              <a:defRPr sz="938" b="0">
                <a:solidFill>
                  <a:srgbClr val="63747C"/>
                </a:solidFill>
                <a:latin typeface="Aptos"/>
                <a:ea typeface="Aptos"/>
                <a:cs typeface="Aptos"/>
              </a:defRPr>
            </a:pPr>
            <a:r>
              <a:rPr sz="938" b="0">
                <a:solidFill>
                  <a:srgbClr val="63747C"/>
                </a:solidFill>
                <a:latin typeface="Aptos"/>
                <a:ea typeface="Aptos"/>
                <a:cs typeface="Aptos"/>
              </a:rPr>
              <a:t>ChatGPT; compare with Epocrates, Lexicomp, Micromedex or an approved reference</a:t>
            </a:r>
          </a:p>
        </p:txBody>
      </p:sp>
      <p:sp>
        <p:nvSpPr>
          <p:cNvPr id="21" name="">
            <a:extLst xmlns:a="http://schemas.openxmlformats.org/drawingml/2006/main">
              <a:ext uri="{FF2B5EF4-FFF2-40B4-BE49-F238E27FC236}">
                <a16:creationId xmlns:a16="http://schemas.microsoft.com/office/drawing/2014/main" id="{8769B5A5-DAE9-47D8-BDDE-C34E1EA2C4D7}"/>
              </a:ext>
            </a:extLst>
          </p:cNvPr>
          <p:cNvSpPr>
            <a:spLocks xmlns:a="http://schemas.openxmlformats.org/drawingml/2006/main" noGrp="1"/>
          </p:cNvSpPr>
          <p:nvPr/>
        </p:nvSpPr>
        <p:spPr>
          <a:xfrm xmlns:a="http://schemas.openxmlformats.org/drawingml/2006/main">
            <a:off x="609600" y="3600450"/>
            <a:ext cx="51435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22" name="">
            <a:extLst xmlns:a="http://schemas.openxmlformats.org/drawingml/2006/main">
              <a:ext uri="{FF2B5EF4-FFF2-40B4-BE49-F238E27FC236}">
                <a16:creationId xmlns:a16="http://schemas.microsoft.com/office/drawing/2014/main" id="{28D2BC06-D68B-41A2-97E0-8094069F437A}"/>
              </a:ext>
            </a:extLst>
          </p:cNvPr>
          <p:cNvSpPr>
            <a:spLocks xmlns:a="http://schemas.openxmlformats.org/drawingml/2006/main" noGrp="1"/>
          </p:cNvSpPr>
          <p:nvPr/>
        </p:nvSpPr>
        <p:spPr>
          <a:xfrm xmlns:a="http://schemas.openxmlformats.org/drawingml/2006/main">
            <a:off x="609600" y="3790950"/>
            <a:ext cx="4572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P4</a:t>
            </a:r>
          </a:p>
        </p:txBody>
      </p:sp>
      <p:sp>
        <p:nvSpPr>
          <p:cNvPr id="23" name="">
            <a:extLst xmlns:a="http://schemas.openxmlformats.org/drawingml/2006/main">
              <a:ext uri="{FF2B5EF4-FFF2-40B4-BE49-F238E27FC236}">
                <a16:creationId xmlns:a16="http://schemas.microsoft.com/office/drawing/2014/main" id="{4D41C074-FBE3-4D27-BFCD-C2DBB2E91EB7}"/>
              </a:ext>
            </a:extLst>
          </p:cNvPr>
          <p:cNvSpPr>
            <a:spLocks xmlns:a="http://schemas.openxmlformats.org/drawingml/2006/main" noGrp="1"/>
          </p:cNvSpPr>
          <p:nvPr/>
        </p:nvSpPr>
        <p:spPr>
          <a:xfrm xmlns:a="http://schemas.openxmlformats.org/drawingml/2006/main">
            <a:off x="1228725" y="3790950"/>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Patient-education asset</a:t>
            </a:r>
          </a:p>
        </p:txBody>
      </p:sp>
      <p:sp>
        <p:nvSpPr>
          <p:cNvPr id="24" name="">
            <a:extLst xmlns:a="http://schemas.openxmlformats.org/drawingml/2006/main">
              <a:ext uri="{FF2B5EF4-FFF2-40B4-BE49-F238E27FC236}">
                <a16:creationId xmlns:a16="http://schemas.microsoft.com/office/drawing/2014/main" id="{03DB57C0-8B6E-4CF0-91FB-17D1BFF3AE9A}"/>
              </a:ext>
            </a:extLst>
          </p:cNvPr>
          <p:cNvSpPr>
            <a:spLocks xmlns:a="http://schemas.openxmlformats.org/drawingml/2006/main" noGrp="1"/>
          </p:cNvSpPr>
          <p:nvPr/>
        </p:nvSpPr>
        <p:spPr>
          <a:xfrm xmlns:a="http://schemas.openxmlformats.org/drawingml/2006/main">
            <a:off x="3895725" y="37909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38" b="0">
                <a:solidFill>
                  <a:srgbClr val="63747C"/>
                </a:solidFill>
                <a:latin typeface="Aptos"/>
                <a:ea typeface="Aptos"/>
                <a:cs typeface="Aptos"/>
              </a:defRPr>
            </a:pPr>
            <a:r>
              <a:rPr sz="938" b="0">
                <a:solidFill>
                  <a:srgbClr val="63747C"/>
                </a:solidFill>
                <a:latin typeface="Aptos"/>
                <a:ea typeface="Aptos"/>
                <a:cs typeface="Aptos"/>
              </a:rPr>
              <a:t>ChatGPT plus Canva/Gamma; bilingual review may use Bhashini</a:t>
            </a:r>
          </a:p>
        </p:txBody>
      </p:sp>
      <p:sp>
        <p:nvSpPr>
          <p:cNvPr id="25" name="">
            <a:extLst xmlns:a="http://schemas.openxmlformats.org/drawingml/2006/main">
              <a:ext uri="{FF2B5EF4-FFF2-40B4-BE49-F238E27FC236}">
                <a16:creationId xmlns:a16="http://schemas.microsoft.com/office/drawing/2014/main" id="{D4BA21BB-CEAD-42DF-BAAC-824B19410740}"/>
              </a:ext>
            </a:extLst>
          </p:cNvPr>
          <p:cNvSpPr>
            <a:spLocks xmlns:a="http://schemas.openxmlformats.org/drawingml/2006/main" noGrp="1"/>
          </p:cNvSpPr>
          <p:nvPr/>
        </p:nvSpPr>
        <p:spPr>
          <a:xfrm xmlns:a="http://schemas.openxmlformats.org/drawingml/2006/main">
            <a:off x="609600" y="4286250"/>
            <a:ext cx="51435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26" name="">
            <a:extLst xmlns:a="http://schemas.openxmlformats.org/drawingml/2006/main">
              <a:ext uri="{FF2B5EF4-FFF2-40B4-BE49-F238E27FC236}">
                <a16:creationId xmlns:a16="http://schemas.microsoft.com/office/drawing/2014/main" id="{7854FB94-92E1-4FED-A8B1-67D34BB500D8}"/>
              </a:ext>
            </a:extLst>
          </p:cNvPr>
          <p:cNvSpPr>
            <a:spLocks xmlns:a="http://schemas.openxmlformats.org/drawingml/2006/main" noGrp="1"/>
          </p:cNvSpPr>
          <p:nvPr/>
        </p:nvSpPr>
        <p:spPr>
          <a:xfrm xmlns:a="http://schemas.openxmlformats.org/drawingml/2006/main">
            <a:off x="609600" y="4476750"/>
            <a:ext cx="4572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P5</a:t>
            </a:r>
          </a:p>
        </p:txBody>
      </p:sp>
      <p:sp>
        <p:nvSpPr>
          <p:cNvPr id="27" name="">
            <a:extLst xmlns:a="http://schemas.openxmlformats.org/drawingml/2006/main">
              <a:ext uri="{FF2B5EF4-FFF2-40B4-BE49-F238E27FC236}">
                <a16:creationId xmlns:a16="http://schemas.microsoft.com/office/drawing/2014/main" id="{4829625B-B286-4700-BC1F-D7D17B7CDE33}"/>
              </a:ext>
            </a:extLst>
          </p:cNvPr>
          <p:cNvSpPr>
            <a:spLocks xmlns:a="http://schemas.openxmlformats.org/drawingml/2006/main" noGrp="1"/>
          </p:cNvSpPr>
          <p:nvPr/>
        </p:nvSpPr>
        <p:spPr>
          <a:xfrm xmlns:a="http://schemas.openxmlformats.org/drawingml/2006/main">
            <a:off x="1228725" y="4476750"/>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49"/>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Redesigning an unhelpful clinical alert</a:t>
            </a:r>
          </a:p>
        </p:txBody>
      </p:sp>
      <p:sp>
        <p:nvSpPr>
          <p:cNvPr id="28" name="">
            <a:extLst xmlns:a="http://schemas.openxmlformats.org/drawingml/2006/main">
              <a:ext uri="{FF2B5EF4-FFF2-40B4-BE49-F238E27FC236}">
                <a16:creationId xmlns:a16="http://schemas.microsoft.com/office/drawing/2014/main" id="{8E55FBD3-AB8E-4EF9-90DA-F9EAAD8551C8}"/>
              </a:ext>
            </a:extLst>
          </p:cNvPr>
          <p:cNvSpPr>
            <a:spLocks xmlns:a="http://schemas.openxmlformats.org/drawingml/2006/main" noGrp="1"/>
          </p:cNvSpPr>
          <p:nvPr/>
        </p:nvSpPr>
        <p:spPr>
          <a:xfrm xmlns:a="http://schemas.openxmlformats.org/drawingml/2006/main">
            <a:off x="3895725" y="44767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38" b="0">
                <a:solidFill>
                  <a:srgbClr val="63747C"/>
                </a:solidFill>
                <a:latin typeface="Aptos"/>
                <a:ea typeface="Aptos"/>
                <a:cs typeface="Aptos"/>
              </a:defRPr>
            </a:pPr>
            <a:r>
              <a:rPr sz="938" b="0">
                <a:solidFill>
                  <a:srgbClr val="63747C"/>
                </a:solidFill>
                <a:latin typeface="Aptos"/>
                <a:ea typeface="Aptos"/>
                <a:cs typeface="Aptos"/>
              </a:rPr>
              <a:t>ChatGPT discussion prompt</a:t>
            </a:r>
          </a:p>
        </p:txBody>
      </p:sp>
      <p:sp>
        <p:nvSpPr>
          <p:cNvPr id="29" name="">
            <a:extLst xmlns:a="http://schemas.openxmlformats.org/drawingml/2006/main">
              <a:ext uri="{FF2B5EF4-FFF2-40B4-BE49-F238E27FC236}">
                <a16:creationId xmlns:a16="http://schemas.microsoft.com/office/drawing/2014/main" id="{66CD0794-9D70-4502-B61E-84117A598FCC}"/>
              </a:ext>
            </a:extLst>
          </p:cNvPr>
          <p:cNvSpPr>
            <a:spLocks xmlns:a="http://schemas.openxmlformats.org/drawingml/2006/main" noGrp="1"/>
          </p:cNvSpPr>
          <p:nvPr/>
        </p:nvSpPr>
        <p:spPr>
          <a:xfrm xmlns:a="http://schemas.openxmlformats.org/drawingml/2006/main">
            <a:off x="609600" y="4972050"/>
            <a:ext cx="51435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30" name="">
            <a:extLst xmlns:a="http://schemas.openxmlformats.org/drawingml/2006/main">
              <a:ext uri="{FF2B5EF4-FFF2-40B4-BE49-F238E27FC236}">
                <a16:creationId xmlns:a16="http://schemas.microsoft.com/office/drawing/2014/main" id="{F99A4D6C-4664-4A3F-9A53-2E18C8B3B14E}"/>
              </a:ext>
            </a:extLst>
          </p:cNvPr>
          <p:cNvSpPr>
            <a:spLocks xmlns:a="http://schemas.openxmlformats.org/drawingml/2006/main" noGrp="1"/>
          </p:cNvSpPr>
          <p:nvPr/>
        </p:nvSpPr>
        <p:spPr>
          <a:xfrm xmlns:a="http://schemas.openxmlformats.org/drawingml/2006/main">
            <a:off x="609600" y="5162550"/>
            <a:ext cx="4572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P6</a:t>
            </a:r>
          </a:p>
        </p:txBody>
      </p:sp>
      <p:sp>
        <p:nvSpPr>
          <p:cNvPr id="31" name="">
            <a:extLst xmlns:a="http://schemas.openxmlformats.org/drawingml/2006/main">
              <a:ext uri="{FF2B5EF4-FFF2-40B4-BE49-F238E27FC236}">
                <a16:creationId xmlns:a16="http://schemas.microsoft.com/office/drawing/2014/main" id="{B8C3DD7A-CA05-4481-BD17-F948776F1783}"/>
              </a:ext>
            </a:extLst>
          </p:cNvPr>
          <p:cNvSpPr>
            <a:spLocks xmlns:a="http://schemas.openxmlformats.org/drawingml/2006/main" noGrp="1"/>
          </p:cNvSpPr>
          <p:nvPr/>
        </p:nvSpPr>
        <p:spPr>
          <a:xfrm xmlns:a="http://schemas.openxmlformats.org/drawingml/2006/main">
            <a:off x="1228725" y="5162550"/>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Ambient-scribe pilot plan</a:t>
            </a:r>
          </a:p>
        </p:txBody>
      </p:sp>
      <p:sp>
        <p:nvSpPr>
          <p:cNvPr id="32" name="">
            <a:extLst xmlns:a="http://schemas.openxmlformats.org/drawingml/2006/main">
              <a:ext uri="{FF2B5EF4-FFF2-40B4-BE49-F238E27FC236}">
                <a16:creationId xmlns:a16="http://schemas.microsoft.com/office/drawing/2014/main" id="{B597DB80-A374-459A-9096-95F872D5653C}"/>
              </a:ext>
            </a:extLst>
          </p:cNvPr>
          <p:cNvSpPr>
            <a:spLocks xmlns:a="http://schemas.openxmlformats.org/drawingml/2006/main" noGrp="1"/>
          </p:cNvSpPr>
          <p:nvPr/>
        </p:nvSpPr>
        <p:spPr>
          <a:xfrm xmlns:a="http://schemas.openxmlformats.org/drawingml/2006/main">
            <a:off x="3895725" y="51625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38" b="0">
                <a:solidFill>
                  <a:srgbClr val="63747C"/>
                </a:solidFill>
                <a:latin typeface="Aptos"/>
                <a:ea typeface="Aptos"/>
                <a:cs typeface="Aptos"/>
              </a:defRPr>
            </a:pPr>
            <a:r>
              <a:rPr sz="938" b="0">
                <a:solidFill>
                  <a:srgbClr val="63747C"/>
                </a:solidFill>
                <a:latin typeface="Aptos"/>
                <a:ea typeface="Aptos"/>
                <a:cs typeface="Aptos"/>
              </a:rPr>
              <a:t>ChatGPT; compare with Heidi/Nabla governance settings</a:t>
            </a:r>
          </a:p>
        </p:txBody>
      </p:sp>
      <p:sp>
        <p:nvSpPr>
          <p:cNvPr id="33" name="">
            <a:extLst xmlns:a="http://schemas.openxmlformats.org/drawingml/2006/main">
              <a:ext uri="{FF2B5EF4-FFF2-40B4-BE49-F238E27FC236}">
                <a16:creationId xmlns:a16="http://schemas.microsoft.com/office/drawing/2014/main" id="{C80EEC9B-421E-432C-9069-B15CC2A256AD}"/>
              </a:ext>
            </a:extLst>
          </p:cNvPr>
          <p:cNvSpPr>
            <a:spLocks xmlns:a="http://schemas.openxmlformats.org/drawingml/2006/main" noGrp="1"/>
          </p:cNvSpPr>
          <p:nvPr/>
        </p:nvSpPr>
        <p:spPr>
          <a:xfrm xmlns:a="http://schemas.openxmlformats.org/drawingml/2006/main">
            <a:off x="609600" y="5657850"/>
            <a:ext cx="51435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34" name="">
            <a:extLst xmlns:a="http://schemas.openxmlformats.org/drawingml/2006/main">
              <a:ext uri="{FF2B5EF4-FFF2-40B4-BE49-F238E27FC236}">
                <a16:creationId xmlns:a16="http://schemas.microsoft.com/office/drawing/2014/main" id="{4030F5A2-F6C1-436A-9544-11BA12D8B904}"/>
              </a:ext>
            </a:extLst>
          </p:cNvPr>
          <p:cNvSpPr>
            <a:spLocks xmlns:a="http://schemas.openxmlformats.org/drawingml/2006/main" noGrp="1"/>
          </p:cNvSpPr>
          <p:nvPr/>
        </p:nvSpPr>
        <p:spPr>
          <a:xfrm xmlns:a="http://schemas.openxmlformats.org/drawingml/2006/main">
            <a:off x="6038850" y="1733550"/>
            <a:ext cx="4572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P7</a:t>
            </a:r>
          </a:p>
        </p:txBody>
      </p:sp>
      <p:sp>
        <p:nvSpPr>
          <p:cNvPr id="35" name="">
            <a:extLst xmlns:a="http://schemas.openxmlformats.org/drawingml/2006/main">
              <a:ext uri="{FF2B5EF4-FFF2-40B4-BE49-F238E27FC236}">
                <a16:creationId xmlns:a16="http://schemas.microsoft.com/office/drawing/2014/main" id="{0C83792F-8301-49D2-8FE6-4513D8077F51}"/>
              </a:ext>
            </a:extLst>
          </p:cNvPr>
          <p:cNvSpPr>
            <a:spLocks xmlns:a="http://schemas.openxmlformats.org/drawingml/2006/main" noGrp="1"/>
          </p:cNvSpPr>
          <p:nvPr/>
        </p:nvSpPr>
        <p:spPr>
          <a:xfrm xmlns:a="http://schemas.openxmlformats.org/drawingml/2006/main">
            <a:off x="6657975" y="1733550"/>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348"/>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Pharma medical-information and safety triage</a:t>
            </a:r>
          </a:p>
        </p:txBody>
      </p:sp>
      <p:sp>
        <p:nvSpPr>
          <p:cNvPr id="36" name="">
            <a:extLst xmlns:a="http://schemas.openxmlformats.org/drawingml/2006/main">
              <a:ext uri="{FF2B5EF4-FFF2-40B4-BE49-F238E27FC236}">
                <a16:creationId xmlns:a16="http://schemas.microsoft.com/office/drawing/2014/main" id="{C50101F3-376F-424C-B007-DFC7CCECE6B1}"/>
              </a:ext>
            </a:extLst>
          </p:cNvPr>
          <p:cNvSpPr>
            <a:spLocks xmlns:a="http://schemas.openxmlformats.org/drawingml/2006/main" noGrp="1"/>
          </p:cNvSpPr>
          <p:nvPr/>
        </p:nvSpPr>
        <p:spPr>
          <a:xfrm xmlns:a="http://schemas.openxmlformats.org/drawingml/2006/main">
            <a:off x="9324975" y="17335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453"/>
          </a:bodyPr>
          <a:lstStyle xmlns:a="http://schemas.openxmlformats.org/drawingml/2006/main"/>
          <a:p xmlns:a="http://schemas.openxmlformats.org/drawingml/2006/main">
            <a:pPr algn="r">
              <a:lnSpc>
                <a:spcPct val="103000"/>
              </a:lnSpc>
              <a:buNone/>
              <a:defRPr sz="938" b="0">
                <a:solidFill>
                  <a:srgbClr val="63747C"/>
                </a:solidFill>
                <a:latin typeface="Aptos"/>
                <a:ea typeface="Aptos"/>
                <a:cs typeface="Aptos"/>
              </a:defRPr>
            </a:pPr>
            <a:r>
              <a:rPr sz="938" b="0">
                <a:solidFill>
                  <a:srgbClr val="63747C"/>
                </a:solidFill>
                <a:latin typeface="Aptos"/>
                <a:ea typeface="Aptos"/>
                <a:cs typeface="Aptos"/>
              </a:rPr>
              <a:t>ChatGPT discussion prompt; compare with approved medical-information/PV workflow</a:t>
            </a:r>
          </a:p>
        </p:txBody>
      </p:sp>
      <p:sp>
        <p:nvSpPr>
          <p:cNvPr id="37" name="">
            <a:extLst xmlns:a="http://schemas.openxmlformats.org/drawingml/2006/main">
              <a:ext uri="{FF2B5EF4-FFF2-40B4-BE49-F238E27FC236}">
                <a16:creationId xmlns:a16="http://schemas.microsoft.com/office/drawing/2014/main" id="{2D79A59F-2B14-4716-A4AA-539B802993EF}"/>
              </a:ext>
            </a:extLst>
          </p:cNvPr>
          <p:cNvSpPr>
            <a:spLocks xmlns:a="http://schemas.openxmlformats.org/drawingml/2006/main" noGrp="1"/>
          </p:cNvSpPr>
          <p:nvPr/>
        </p:nvSpPr>
        <p:spPr>
          <a:xfrm xmlns:a="http://schemas.openxmlformats.org/drawingml/2006/main">
            <a:off x="6038850" y="2228850"/>
            <a:ext cx="51435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38" name="">
            <a:extLst xmlns:a="http://schemas.openxmlformats.org/drawingml/2006/main">
              <a:ext uri="{FF2B5EF4-FFF2-40B4-BE49-F238E27FC236}">
                <a16:creationId xmlns:a16="http://schemas.microsoft.com/office/drawing/2014/main" id="{9240923F-DE51-40E0-AF06-B084A914EF32}"/>
              </a:ext>
            </a:extLst>
          </p:cNvPr>
          <p:cNvSpPr>
            <a:spLocks xmlns:a="http://schemas.openxmlformats.org/drawingml/2006/main" noGrp="1"/>
          </p:cNvSpPr>
          <p:nvPr/>
        </p:nvSpPr>
        <p:spPr>
          <a:xfrm xmlns:a="http://schemas.openxmlformats.org/drawingml/2006/main">
            <a:off x="6038850" y="2419350"/>
            <a:ext cx="4572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P8</a:t>
            </a:r>
          </a:p>
        </p:txBody>
      </p:sp>
      <p:sp>
        <p:nvSpPr>
          <p:cNvPr id="39" name="">
            <a:extLst xmlns:a="http://schemas.openxmlformats.org/drawingml/2006/main">
              <a:ext uri="{FF2B5EF4-FFF2-40B4-BE49-F238E27FC236}">
                <a16:creationId xmlns:a16="http://schemas.microsoft.com/office/drawing/2014/main" id="{C1B6C706-A71E-4CCD-A351-9EC6F690C1D8}"/>
              </a:ext>
            </a:extLst>
          </p:cNvPr>
          <p:cNvSpPr>
            <a:spLocks xmlns:a="http://schemas.openxmlformats.org/drawingml/2006/main" noGrp="1"/>
          </p:cNvSpPr>
          <p:nvPr/>
        </p:nvSpPr>
        <p:spPr>
          <a:xfrm xmlns:a="http://schemas.openxmlformats.org/drawingml/2006/main">
            <a:off x="6657975" y="2419350"/>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Explainable-AI vendor evaluation</a:t>
            </a:r>
          </a:p>
        </p:txBody>
      </p:sp>
      <p:sp>
        <p:nvSpPr>
          <p:cNvPr id="40" name="">
            <a:extLst xmlns:a="http://schemas.openxmlformats.org/drawingml/2006/main">
              <a:ext uri="{FF2B5EF4-FFF2-40B4-BE49-F238E27FC236}">
                <a16:creationId xmlns:a16="http://schemas.microsoft.com/office/drawing/2014/main" id="{BF7E71C4-B456-4113-BAB1-81428FE91ABE}"/>
              </a:ext>
            </a:extLst>
          </p:cNvPr>
          <p:cNvSpPr>
            <a:spLocks xmlns:a="http://schemas.openxmlformats.org/drawingml/2006/main" noGrp="1"/>
          </p:cNvSpPr>
          <p:nvPr/>
        </p:nvSpPr>
        <p:spPr>
          <a:xfrm xmlns:a="http://schemas.openxmlformats.org/drawingml/2006/main">
            <a:off x="9324975" y="24193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38" b="0">
                <a:solidFill>
                  <a:srgbClr val="63747C"/>
                </a:solidFill>
                <a:latin typeface="Aptos"/>
                <a:ea typeface="Aptos"/>
                <a:cs typeface="Aptos"/>
              </a:defRPr>
            </a:pPr>
            <a:r>
              <a:rPr sz="938" b="0">
                <a:solidFill>
                  <a:srgbClr val="63747C"/>
                </a:solidFill>
                <a:latin typeface="Aptos"/>
                <a:ea typeface="Aptos"/>
                <a:cs typeface="Aptos"/>
              </a:rPr>
              <a:t>ChatGPT discussion prompt</a:t>
            </a:r>
          </a:p>
        </p:txBody>
      </p:sp>
      <p:sp>
        <p:nvSpPr>
          <p:cNvPr id="41" name="">
            <a:extLst xmlns:a="http://schemas.openxmlformats.org/drawingml/2006/main">
              <a:ext uri="{FF2B5EF4-FFF2-40B4-BE49-F238E27FC236}">
                <a16:creationId xmlns:a16="http://schemas.microsoft.com/office/drawing/2014/main" id="{B3810DEE-E390-4C9C-889A-D4B0D6FE676A}"/>
              </a:ext>
            </a:extLst>
          </p:cNvPr>
          <p:cNvSpPr>
            <a:spLocks xmlns:a="http://schemas.openxmlformats.org/drawingml/2006/main" noGrp="1"/>
          </p:cNvSpPr>
          <p:nvPr/>
        </p:nvSpPr>
        <p:spPr>
          <a:xfrm xmlns:a="http://schemas.openxmlformats.org/drawingml/2006/main">
            <a:off x="6038850" y="2914650"/>
            <a:ext cx="51435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42" name="">
            <a:extLst xmlns:a="http://schemas.openxmlformats.org/drawingml/2006/main">
              <a:ext uri="{FF2B5EF4-FFF2-40B4-BE49-F238E27FC236}">
                <a16:creationId xmlns:a16="http://schemas.microsoft.com/office/drawing/2014/main" id="{5EDB9CF4-47D3-459B-99EC-13CCB708D28C}"/>
              </a:ext>
            </a:extLst>
          </p:cNvPr>
          <p:cNvSpPr>
            <a:spLocks xmlns:a="http://schemas.openxmlformats.org/drawingml/2006/main" noGrp="1"/>
          </p:cNvSpPr>
          <p:nvPr/>
        </p:nvSpPr>
        <p:spPr>
          <a:xfrm xmlns:a="http://schemas.openxmlformats.org/drawingml/2006/main">
            <a:off x="6038850" y="3105150"/>
            <a:ext cx="4572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P9</a:t>
            </a:r>
          </a:p>
        </p:txBody>
      </p:sp>
      <p:sp>
        <p:nvSpPr>
          <p:cNvPr id="43" name="">
            <a:extLst xmlns:a="http://schemas.openxmlformats.org/drawingml/2006/main">
              <a:ext uri="{FF2B5EF4-FFF2-40B4-BE49-F238E27FC236}">
                <a16:creationId xmlns:a16="http://schemas.microsoft.com/office/drawing/2014/main" id="{0E89A9F1-A359-465B-A596-2DDFCEA76E08}"/>
              </a:ext>
            </a:extLst>
          </p:cNvPr>
          <p:cNvSpPr>
            <a:spLocks xmlns:a="http://schemas.openxmlformats.org/drawingml/2006/main" noGrp="1"/>
          </p:cNvSpPr>
          <p:nvPr/>
        </p:nvSpPr>
        <p:spPr>
          <a:xfrm xmlns:a="http://schemas.openxmlformats.org/drawingml/2006/main">
            <a:off x="6657975" y="3105150"/>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Socratic medical teaching</a:t>
            </a:r>
          </a:p>
        </p:txBody>
      </p:sp>
      <p:sp>
        <p:nvSpPr>
          <p:cNvPr id="44" name="">
            <a:extLst xmlns:a="http://schemas.openxmlformats.org/drawingml/2006/main">
              <a:ext uri="{FF2B5EF4-FFF2-40B4-BE49-F238E27FC236}">
                <a16:creationId xmlns:a16="http://schemas.microsoft.com/office/drawing/2014/main" id="{B51DD23A-C8CB-441D-8E12-C9706CB59AE4}"/>
              </a:ext>
            </a:extLst>
          </p:cNvPr>
          <p:cNvSpPr>
            <a:spLocks xmlns:a="http://schemas.openxmlformats.org/drawingml/2006/main" noGrp="1"/>
          </p:cNvSpPr>
          <p:nvPr/>
        </p:nvSpPr>
        <p:spPr>
          <a:xfrm xmlns:a="http://schemas.openxmlformats.org/drawingml/2006/main">
            <a:off x="9324975" y="31051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38" b="0">
                <a:solidFill>
                  <a:srgbClr val="63747C"/>
                </a:solidFill>
                <a:latin typeface="Aptos"/>
                <a:ea typeface="Aptos"/>
                <a:cs typeface="Aptos"/>
              </a:defRPr>
            </a:pPr>
            <a:r>
              <a:rPr sz="938" b="0">
                <a:solidFill>
                  <a:srgbClr val="63747C"/>
                </a:solidFill>
                <a:latin typeface="Aptos"/>
                <a:ea typeface="Aptos"/>
                <a:cs typeface="Aptos"/>
              </a:rPr>
              <a:t>ChatGPT</a:t>
            </a:r>
          </a:p>
        </p:txBody>
      </p:sp>
      <p:sp>
        <p:nvSpPr>
          <p:cNvPr id="45" name="">
            <a:extLst xmlns:a="http://schemas.openxmlformats.org/drawingml/2006/main">
              <a:ext uri="{FF2B5EF4-FFF2-40B4-BE49-F238E27FC236}">
                <a16:creationId xmlns:a16="http://schemas.microsoft.com/office/drawing/2014/main" id="{34030FC9-0B75-44C1-99B7-70B3335FD103}"/>
              </a:ext>
            </a:extLst>
          </p:cNvPr>
          <p:cNvSpPr>
            <a:spLocks xmlns:a="http://schemas.openxmlformats.org/drawingml/2006/main" noGrp="1"/>
          </p:cNvSpPr>
          <p:nvPr/>
        </p:nvSpPr>
        <p:spPr>
          <a:xfrm xmlns:a="http://schemas.openxmlformats.org/drawingml/2006/main">
            <a:off x="6038850" y="3600450"/>
            <a:ext cx="51435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46" name="">
            <a:extLst xmlns:a="http://schemas.openxmlformats.org/drawingml/2006/main">
              <a:ext uri="{FF2B5EF4-FFF2-40B4-BE49-F238E27FC236}">
                <a16:creationId xmlns:a16="http://schemas.microsoft.com/office/drawing/2014/main" id="{BDDF76C8-A56D-49F1-B734-B2A996C2B968}"/>
              </a:ext>
            </a:extLst>
          </p:cNvPr>
          <p:cNvSpPr>
            <a:spLocks xmlns:a="http://schemas.openxmlformats.org/drawingml/2006/main" noGrp="1"/>
          </p:cNvSpPr>
          <p:nvPr/>
        </p:nvSpPr>
        <p:spPr>
          <a:xfrm xmlns:a="http://schemas.openxmlformats.org/drawingml/2006/main">
            <a:off x="6038850" y="3790950"/>
            <a:ext cx="4572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P10</a:t>
            </a:r>
          </a:p>
        </p:txBody>
      </p:sp>
      <p:sp>
        <p:nvSpPr>
          <p:cNvPr id="47" name="">
            <a:extLst xmlns:a="http://schemas.openxmlformats.org/drawingml/2006/main">
              <a:ext uri="{FF2B5EF4-FFF2-40B4-BE49-F238E27FC236}">
                <a16:creationId xmlns:a16="http://schemas.microsoft.com/office/drawing/2014/main" id="{2413947B-8283-40B5-B986-9CBFD2369414}"/>
              </a:ext>
            </a:extLst>
          </p:cNvPr>
          <p:cNvSpPr>
            <a:spLocks xmlns:a="http://schemas.openxmlformats.org/drawingml/2006/main" noGrp="1"/>
          </p:cNvSpPr>
          <p:nvPr/>
        </p:nvSpPr>
        <p:spPr>
          <a:xfrm xmlns:a="http://schemas.openxmlformats.org/drawingml/2006/main">
            <a:off x="6657975" y="3790950"/>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Professional projection</a:t>
            </a:r>
          </a:p>
        </p:txBody>
      </p:sp>
      <p:sp>
        <p:nvSpPr>
          <p:cNvPr id="48" name="">
            <a:extLst xmlns:a="http://schemas.openxmlformats.org/drawingml/2006/main">
              <a:ext uri="{FF2B5EF4-FFF2-40B4-BE49-F238E27FC236}">
                <a16:creationId xmlns:a16="http://schemas.microsoft.com/office/drawing/2014/main" id="{68E6C133-D11D-40C9-9F08-A9120C3856D4}"/>
              </a:ext>
            </a:extLst>
          </p:cNvPr>
          <p:cNvSpPr>
            <a:spLocks xmlns:a="http://schemas.openxmlformats.org/drawingml/2006/main" noGrp="1"/>
          </p:cNvSpPr>
          <p:nvPr/>
        </p:nvSpPr>
        <p:spPr>
          <a:xfrm xmlns:a="http://schemas.openxmlformats.org/drawingml/2006/main">
            <a:off x="9324975" y="37909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38" b="0">
                <a:solidFill>
                  <a:srgbClr val="63747C"/>
                </a:solidFill>
                <a:latin typeface="Aptos"/>
                <a:ea typeface="Aptos"/>
                <a:cs typeface="Aptos"/>
              </a:defRPr>
            </a:pPr>
            <a:r>
              <a:rPr sz="938" b="0">
                <a:solidFill>
                  <a:srgbClr val="63747C"/>
                </a:solidFill>
                <a:latin typeface="Aptos"/>
                <a:ea typeface="Aptos"/>
                <a:cs typeface="Aptos"/>
              </a:rPr>
              <a:t>ChatGPT plus approved publishing/design workflow</a:t>
            </a:r>
          </a:p>
        </p:txBody>
      </p:sp>
      <p:sp>
        <p:nvSpPr>
          <p:cNvPr id="49" name="">
            <a:extLst xmlns:a="http://schemas.openxmlformats.org/drawingml/2006/main">
              <a:ext uri="{FF2B5EF4-FFF2-40B4-BE49-F238E27FC236}">
                <a16:creationId xmlns:a16="http://schemas.microsoft.com/office/drawing/2014/main" id="{9331B9B7-C22E-42CE-9BD4-22793741E2AD}"/>
              </a:ext>
            </a:extLst>
          </p:cNvPr>
          <p:cNvSpPr>
            <a:spLocks xmlns:a="http://schemas.openxmlformats.org/drawingml/2006/main" noGrp="1"/>
          </p:cNvSpPr>
          <p:nvPr/>
        </p:nvSpPr>
        <p:spPr>
          <a:xfrm xmlns:a="http://schemas.openxmlformats.org/drawingml/2006/main">
            <a:off x="6038850" y="4286250"/>
            <a:ext cx="51435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0" name="">
            <a:extLst xmlns:a="http://schemas.openxmlformats.org/drawingml/2006/main">
              <a:ext uri="{FF2B5EF4-FFF2-40B4-BE49-F238E27FC236}">
                <a16:creationId xmlns:a16="http://schemas.microsoft.com/office/drawing/2014/main" id="{7F40CB56-E574-45EA-8B08-181E9063E013}"/>
              </a:ext>
            </a:extLst>
          </p:cNvPr>
          <p:cNvSpPr>
            <a:spLocks xmlns:a="http://schemas.openxmlformats.org/drawingml/2006/main" noGrp="1"/>
          </p:cNvSpPr>
          <p:nvPr/>
        </p:nvSpPr>
        <p:spPr>
          <a:xfrm xmlns:a="http://schemas.openxmlformats.org/drawingml/2006/main">
            <a:off x="6038850" y="4476750"/>
            <a:ext cx="457200" cy="266700"/>
          </a:xfrm>
          <a:prstGeom xmlns:a="http://schemas.openxmlformats.org/drawingml/2006/main" prst="roundRect">
            <a:avLst>
              <a:gd name="adj" fmla="val 50000"/>
            </a:avLst>
          </a:prstGeom>
          <a:solidFill xmlns:a="http://schemas.openxmlformats.org/drawingml/2006/main">
            <a:srgbClr val="E8694A"/>
          </a:solidFill>
          <a:ln xmlns:a="http://schemas.openxmlformats.org/drawingml/2006/main" w="9525">
            <a:solidFill>
              <a:srgbClr val="E8694A"/>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P11</a:t>
            </a:r>
          </a:p>
        </p:txBody>
      </p:sp>
      <p:sp>
        <p:nvSpPr>
          <p:cNvPr id="51" name="">
            <a:extLst xmlns:a="http://schemas.openxmlformats.org/drawingml/2006/main">
              <a:ext uri="{FF2B5EF4-FFF2-40B4-BE49-F238E27FC236}">
                <a16:creationId xmlns:a16="http://schemas.microsoft.com/office/drawing/2014/main" id="{D12BF9BE-35F6-4FBF-BEA0-1F41E5F071F6}"/>
              </a:ext>
            </a:extLst>
          </p:cNvPr>
          <p:cNvSpPr>
            <a:spLocks xmlns:a="http://schemas.openxmlformats.org/drawingml/2006/main" noGrp="1"/>
          </p:cNvSpPr>
          <p:nvPr/>
        </p:nvSpPr>
        <p:spPr>
          <a:xfrm xmlns:a="http://schemas.openxmlformats.org/drawingml/2006/main">
            <a:off x="6657975" y="4476750"/>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38" b="1">
                <a:solidFill>
                  <a:srgbClr val="082638"/>
                </a:solidFill>
                <a:latin typeface="Aptos"/>
                <a:ea typeface="Aptos"/>
                <a:cs typeface="Aptos"/>
              </a:defRPr>
            </a:pPr>
            <a:r>
              <a:rPr sz="1238" b="1">
                <a:solidFill>
                  <a:srgbClr val="082638"/>
                </a:solidFill>
                <a:latin typeface="Aptos"/>
                <a:ea typeface="Aptos"/>
                <a:cs typeface="Aptos"/>
              </a:rPr>
              <a:t>Rapid evidence map</a:t>
            </a:r>
          </a:p>
        </p:txBody>
      </p:sp>
      <p:sp>
        <p:nvSpPr>
          <p:cNvPr id="52" name="">
            <a:extLst xmlns:a="http://schemas.openxmlformats.org/drawingml/2006/main">
              <a:ext uri="{FF2B5EF4-FFF2-40B4-BE49-F238E27FC236}">
                <a16:creationId xmlns:a16="http://schemas.microsoft.com/office/drawing/2014/main" id="{6133754E-35DC-433B-8D72-A92DB9B65694}"/>
              </a:ext>
            </a:extLst>
          </p:cNvPr>
          <p:cNvSpPr>
            <a:spLocks xmlns:a="http://schemas.openxmlformats.org/drawingml/2006/main" noGrp="1"/>
          </p:cNvSpPr>
          <p:nvPr/>
        </p:nvSpPr>
        <p:spPr>
          <a:xfrm xmlns:a="http://schemas.openxmlformats.org/drawingml/2006/main">
            <a:off x="9324975" y="44767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938" b="0">
                <a:solidFill>
                  <a:srgbClr val="63747C"/>
                </a:solidFill>
                <a:latin typeface="Aptos"/>
                <a:ea typeface="Aptos"/>
                <a:cs typeface="Aptos"/>
              </a:defRPr>
            </a:pPr>
            <a:r>
              <a:rPr sz="938" b="0">
                <a:solidFill>
                  <a:srgbClr val="63747C"/>
                </a:solidFill>
                <a:latin typeface="Aptos"/>
                <a:ea typeface="Aptos"/>
                <a:cs typeface="Aptos"/>
              </a:rPr>
              <a:t>ChatGPT plus PubMed/Elicit/ResearchRabbit/Scite</a:t>
            </a:r>
          </a:p>
        </p:txBody>
      </p:sp>
      <p:sp>
        <p:nvSpPr>
          <p:cNvPr id="53" name="">
            <a:extLst xmlns:a="http://schemas.openxmlformats.org/drawingml/2006/main">
              <a:ext uri="{FF2B5EF4-FFF2-40B4-BE49-F238E27FC236}">
                <a16:creationId xmlns:a16="http://schemas.microsoft.com/office/drawing/2014/main" id="{A0F76C32-A377-42BD-94CB-B5B578DF060A}"/>
              </a:ext>
            </a:extLst>
          </p:cNvPr>
          <p:cNvSpPr>
            <a:spLocks xmlns:a="http://schemas.openxmlformats.org/drawingml/2006/main" noGrp="1"/>
          </p:cNvSpPr>
          <p:nvPr/>
        </p:nvSpPr>
        <p:spPr>
          <a:xfrm xmlns:a="http://schemas.openxmlformats.org/drawingml/2006/main">
            <a:off x="6038850" y="4972050"/>
            <a:ext cx="51435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Tree>
    <p:extLst>
      <p:ext uri="{BB962C8B-B14F-4D97-AF65-F5344CB8AC3E}">
        <p14:creationId xmlns:p14="http://schemas.microsoft.com/office/powerpoint/2010/main" val="674092032"/>
      </p:ext>
    </p:extLst>
  </p:cSld>
</p:sld>
</file>

<file path=ppt/slides/slide59.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9BBB7E-1C98-4D17-BC31-2B2460E508B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63747C"/>
          </a:solidFill>
          <a:ln xmlns:a="http://schemas.openxmlformats.org/drawingml/2006/main" w="0">
            <a:solidFill>
              <a:srgbClr val="63747C"/>
            </a:solidFill>
            <a:prstDash val="solid"/>
          </a:ln>
        </p:spPr>
      </p:sp>
      <p:sp>
        <p:nvSpPr>
          <p:cNvPr id="2" name="">
            <a:extLst xmlns:a="http://schemas.openxmlformats.org/drawingml/2006/main">
              <a:ext uri="{FF2B5EF4-FFF2-40B4-BE49-F238E27FC236}">
                <a16:creationId xmlns:a16="http://schemas.microsoft.com/office/drawing/2014/main" id="{F7E5CAE4-945D-450E-AE66-35FA328856C3}"/>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APPENDIX</a:t>
            </a:r>
          </a:p>
        </p:txBody>
      </p:sp>
      <p:sp>
        <p:nvSpPr>
          <p:cNvPr id="3" name="">
            <a:extLst xmlns:a="http://schemas.openxmlformats.org/drawingml/2006/main">
              <a:ext uri="{FF2B5EF4-FFF2-40B4-BE49-F238E27FC236}">
                <a16:creationId xmlns:a16="http://schemas.microsoft.com/office/drawing/2014/main" id="{B46330F8-4DEE-4A27-AF46-65D9E7137A36}"/>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India governance sources to open before procurement</a:t>
            </a:r>
          </a:p>
        </p:txBody>
      </p:sp>
      <p:sp>
        <p:nvSpPr>
          <p:cNvPr id="4" name="">
            <a:extLst xmlns:a="http://schemas.openxmlformats.org/drawingml/2006/main">
              <a:ext uri="{FF2B5EF4-FFF2-40B4-BE49-F238E27FC236}">
                <a16:creationId xmlns:a16="http://schemas.microsoft.com/office/drawing/2014/main" id="{CB8F1020-C828-493E-B741-437E65AA475C}"/>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F6C75F70-1740-4B53-B816-32E664D2665A}"/>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E14C87FA-2FFF-4A1B-86B5-E168524A39AC}"/>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872129D0-FF69-455A-8A33-86CE5A538568}"/>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Official sources; verify current versions</a:t>
            </a:r>
          </a:p>
        </p:txBody>
      </p:sp>
      <p:sp>
        <p:nvSpPr>
          <p:cNvPr id="8" name="">
            <a:extLst xmlns:a="http://schemas.openxmlformats.org/drawingml/2006/main">
              <a:ext uri="{FF2B5EF4-FFF2-40B4-BE49-F238E27FC236}">
                <a16:creationId xmlns:a16="http://schemas.microsoft.com/office/drawing/2014/main" id="{7ADFC2D2-245D-4333-82B9-2D2FB75C03BF}"/>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71154"/>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APPENDIX</a:t>
            </a:r>
          </a:p>
        </p:txBody>
      </p:sp>
      <p:sp>
        <p:nvSpPr>
          <p:cNvPr id="9" name="">
            <a:extLst xmlns:a="http://schemas.openxmlformats.org/drawingml/2006/main">
              <a:ext uri="{FF2B5EF4-FFF2-40B4-BE49-F238E27FC236}">
                <a16:creationId xmlns:a16="http://schemas.microsoft.com/office/drawing/2014/main" id="{81FFC307-039D-4392-8D42-4C429D43BF5F}"/>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59</a:t>
            </a:r>
          </a:p>
        </p:txBody>
      </p:sp>
      <p:sp>
        <p:nvSpPr>
          <p:cNvPr id="10" name="">
            <a:extLst xmlns:a="http://schemas.openxmlformats.org/drawingml/2006/main">
              <a:ext uri="{FF2B5EF4-FFF2-40B4-BE49-F238E27FC236}">
                <a16:creationId xmlns:a16="http://schemas.microsoft.com/office/drawing/2014/main" id="{DBBF0004-5B27-4E2D-BED7-87AE0D1C261E}"/>
              </a:ext>
            </a:extLst>
          </p:cNvPr>
          <p:cNvSpPr>
            <a:spLocks xmlns:a="http://schemas.openxmlformats.org/drawingml/2006/main" noGrp="1"/>
          </p:cNvSpPr>
          <p:nvPr/>
        </p:nvSpPr>
        <p:spPr>
          <a:xfrm xmlns:a="http://schemas.openxmlformats.org/drawingml/2006/main">
            <a:off x="666750" y="1752600"/>
            <a:ext cx="20002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MEITY</a:t>
            </a:r>
          </a:p>
        </p:txBody>
      </p:sp>
      <p:sp>
        <p:nvSpPr>
          <p:cNvPr id="11" name="">
            <a:extLst xmlns:a="http://schemas.openxmlformats.org/drawingml/2006/main">
              <a:ext uri="{FF2B5EF4-FFF2-40B4-BE49-F238E27FC236}">
                <a16:creationId xmlns:a16="http://schemas.microsoft.com/office/drawing/2014/main" id="{5B6D31E0-94BC-4B43-BB15-07F3DF89D4BD}"/>
              </a:ext>
            </a:extLst>
          </p:cNvPr>
          <p:cNvSpPr>
            <a:spLocks xmlns:a="http://schemas.openxmlformats.org/drawingml/2006/main" noGrp="1"/>
          </p:cNvSpPr>
          <p:nvPr/>
        </p:nvSpPr>
        <p:spPr>
          <a:xfrm xmlns:a="http://schemas.openxmlformats.org/drawingml/2006/main">
            <a:off x="2895600" y="1752600"/>
            <a:ext cx="4667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Digital Personal Data Protection Act/Rules</a:t>
            </a:r>
          </a:p>
        </p:txBody>
      </p:sp>
      <p:sp>
        <p:nvSpPr>
          <p:cNvPr id="12" name="">
            <a:extLst xmlns:a="http://schemas.openxmlformats.org/drawingml/2006/main">
              <a:ext uri="{FF2B5EF4-FFF2-40B4-BE49-F238E27FC236}">
                <a16:creationId xmlns:a16="http://schemas.microsoft.com/office/drawing/2014/main" id="{6A2A9391-F2C0-490E-A3C1-F4A9B60CBECC}"/>
              </a:ext>
            </a:extLst>
          </p:cNvPr>
          <p:cNvSpPr>
            <a:spLocks xmlns:a="http://schemas.openxmlformats.org/drawingml/2006/main" noGrp="1"/>
          </p:cNvSpPr>
          <p:nvPr/>
        </p:nvSpPr>
        <p:spPr>
          <a:xfrm xmlns:a="http://schemas.openxmlformats.org/drawingml/2006/main">
            <a:off x="7696200" y="17621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1050" b="0">
                <a:solidFill>
                  <a:srgbClr val="2F6F9F"/>
                </a:solidFill>
                <a:latin typeface="Aptos"/>
                <a:ea typeface="Aptos"/>
                <a:cs typeface="Aptos"/>
              </a:defRPr>
            </a:pPr>
            <a:r>
              <a:rPr sz="1050" b="0">
                <a:solidFill>
                  <a:srgbClr val="2F6F9F"/>
                </a:solidFill>
                <a:latin typeface="Aptos"/>
                <a:ea typeface="Aptos"/>
                <a:cs typeface="Aptos"/>
              </a:rPr>
              <a:t>https://www.meity.gov.in/</a:t>
            </a:r>
          </a:p>
        </p:txBody>
      </p:sp>
      <p:sp>
        <p:nvSpPr>
          <p:cNvPr id="13" name="">
            <a:extLst xmlns:a="http://schemas.openxmlformats.org/drawingml/2006/main">
              <a:ext uri="{FF2B5EF4-FFF2-40B4-BE49-F238E27FC236}">
                <a16:creationId xmlns:a16="http://schemas.microsoft.com/office/drawing/2014/main" id="{F507B1F8-18EA-44B1-BC97-DB4A1E4B9508}"/>
              </a:ext>
            </a:extLst>
          </p:cNvPr>
          <p:cNvSpPr>
            <a:spLocks xmlns:a="http://schemas.openxmlformats.org/drawingml/2006/main" noGrp="1"/>
          </p:cNvSpPr>
          <p:nvPr/>
        </p:nvSpPr>
        <p:spPr>
          <a:xfrm xmlns:a="http://schemas.openxmlformats.org/drawingml/2006/main">
            <a:off x="666750" y="2276475"/>
            <a:ext cx="104584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14" name="">
            <a:extLst xmlns:a="http://schemas.openxmlformats.org/drawingml/2006/main">
              <a:ext uri="{FF2B5EF4-FFF2-40B4-BE49-F238E27FC236}">
                <a16:creationId xmlns:a16="http://schemas.microsoft.com/office/drawing/2014/main" id="{D6F112C8-E1AB-44F5-B11D-D4E860785C4B}"/>
              </a:ext>
            </a:extLst>
          </p:cNvPr>
          <p:cNvSpPr>
            <a:spLocks xmlns:a="http://schemas.openxmlformats.org/drawingml/2006/main" noGrp="1"/>
          </p:cNvSpPr>
          <p:nvPr/>
        </p:nvSpPr>
        <p:spPr>
          <a:xfrm xmlns:a="http://schemas.openxmlformats.org/drawingml/2006/main">
            <a:off x="666750" y="2552700"/>
            <a:ext cx="20002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ICMR</a:t>
            </a:r>
          </a:p>
        </p:txBody>
      </p:sp>
      <p:sp>
        <p:nvSpPr>
          <p:cNvPr id="15" name="">
            <a:extLst xmlns:a="http://schemas.openxmlformats.org/drawingml/2006/main">
              <a:ext uri="{FF2B5EF4-FFF2-40B4-BE49-F238E27FC236}">
                <a16:creationId xmlns:a16="http://schemas.microsoft.com/office/drawing/2014/main" id="{243B7ABE-38AD-4F84-B2B3-FCA2ACE79579}"/>
              </a:ext>
            </a:extLst>
          </p:cNvPr>
          <p:cNvSpPr>
            <a:spLocks xmlns:a="http://schemas.openxmlformats.org/drawingml/2006/main" noGrp="1"/>
          </p:cNvSpPr>
          <p:nvPr/>
        </p:nvSpPr>
        <p:spPr>
          <a:xfrm xmlns:a="http://schemas.openxmlformats.org/drawingml/2006/main">
            <a:off x="2895600" y="2552700"/>
            <a:ext cx="4667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058"/>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Ethical Guidelines for AI in Biomedical Research and Healthcare</a:t>
            </a:r>
          </a:p>
        </p:txBody>
      </p:sp>
      <p:sp>
        <p:nvSpPr>
          <p:cNvPr id="16" name="">
            <a:extLst xmlns:a="http://schemas.openxmlformats.org/drawingml/2006/main">
              <a:ext uri="{FF2B5EF4-FFF2-40B4-BE49-F238E27FC236}">
                <a16:creationId xmlns:a16="http://schemas.microsoft.com/office/drawing/2014/main" id="{33287AA2-0B67-470D-B026-1E6BFF1C61F9}"/>
              </a:ext>
            </a:extLst>
          </p:cNvPr>
          <p:cNvSpPr>
            <a:spLocks xmlns:a="http://schemas.openxmlformats.org/drawingml/2006/main" noGrp="1"/>
          </p:cNvSpPr>
          <p:nvPr/>
        </p:nvSpPr>
        <p:spPr>
          <a:xfrm xmlns:a="http://schemas.openxmlformats.org/drawingml/2006/main">
            <a:off x="7696200" y="25622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1050" b="0">
                <a:solidFill>
                  <a:srgbClr val="2F6F9F"/>
                </a:solidFill>
                <a:latin typeface="Aptos"/>
                <a:ea typeface="Aptos"/>
                <a:cs typeface="Aptos"/>
              </a:defRPr>
            </a:pPr>
            <a:r>
              <a:rPr sz="1050" b="0">
                <a:solidFill>
                  <a:srgbClr val="2F6F9F"/>
                </a:solidFill>
                <a:latin typeface="Aptos"/>
                <a:ea typeface="Aptos"/>
                <a:cs typeface="Aptos"/>
              </a:rPr>
              <a:t>https://ethics.ncdirindia.org/</a:t>
            </a:r>
          </a:p>
        </p:txBody>
      </p:sp>
      <p:sp>
        <p:nvSpPr>
          <p:cNvPr id="17" name="">
            <a:extLst xmlns:a="http://schemas.openxmlformats.org/drawingml/2006/main">
              <a:ext uri="{FF2B5EF4-FFF2-40B4-BE49-F238E27FC236}">
                <a16:creationId xmlns:a16="http://schemas.microsoft.com/office/drawing/2014/main" id="{57C93181-24BB-49B1-9544-5B6601F982B9}"/>
              </a:ext>
            </a:extLst>
          </p:cNvPr>
          <p:cNvSpPr>
            <a:spLocks xmlns:a="http://schemas.openxmlformats.org/drawingml/2006/main" noGrp="1"/>
          </p:cNvSpPr>
          <p:nvPr/>
        </p:nvSpPr>
        <p:spPr>
          <a:xfrm xmlns:a="http://schemas.openxmlformats.org/drawingml/2006/main">
            <a:off x="666750" y="3076575"/>
            <a:ext cx="104584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18" name="">
            <a:extLst xmlns:a="http://schemas.openxmlformats.org/drawingml/2006/main">
              <a:ext uri="{FF2B5EF4-FFF2-40B4-BE49-F238E27FC236}">
                <a16:creationId xmlns:a16="http://schemas.microsoft.com/office/drawing/2014/main" id="{490E8F76-EDE3-4089-B5B7-18981395C480}"/>
              </a:ext>
            </a:extLst>
          </p:cNvPr>
          <p:cNvSpPr>
            <a:spLocks xmlns:a="http://schemas.openxmlformats.org/drawingml/2006/main" noGrp="1"/>
          </p:cNvSpPr>
          <p:nvPr/>
        </p:nvSpPr>
        <p:spPr>
          <a:xfrm xmlns:a="http://schemas.openxmlformats.org/drawingml/2006/main">
            <a:off x="666750" y="3352800"/>
            <a:ext cx="20002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CDSCO</a:t>
            </a:r>
          </a:p>
        </p:txBody>
      </p:sp>
      <p:sp>
        <p:nvSpPr>
          <p:cNvPr id="19" name="">
            <a:extLst xmlns:a="http://schemas.openxmlformats.org/drawingml/2006/main">
              <a:ext uri="{FF2B5EF4-FFF2-40B4-BE49-F238E27FC236}">
                <a16:creationId xmlns:a16="http://schemas.microsoft.com/office/drawing/2014/main" id="{743E083B-5AD4-4A66-9CF4-7B1BB1708BCF}"/>
              </a:ext>
            </a:extLst>
          </p:cNvPr>
          <p:cNvSpPr>
            <a:spLocks xmlns:a="http://schemas.openxmlformats.org/drawingml/2006/main" noGrp="1"/>
          </p:cNvSpPr>
          <p:nvPr/>
        </p:nvSpPr>
        <p:spPr>
          <a:xfrm xmlns:a="http://schemas.openxmlformats.org/drawingml/2006/main">
            <a:off x="2895600" y="3352800"/>
            <a:ext cx="4667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Medical device/software guidance and notices</a:t>
            </a:r>
          </a:p>
        </p:txBody>
      </p:sp>
      <p:sp>
        <p:nvSpPr>
          <p:cNvPr id="20" name="">
            <a:extLst xmlns:a="http://schemas.openxmlformats.org/drawingml/2006/main">
              <a:ext uri="{FF2B5EF4-FFF2-40B4-BE49-F238E27FC236}">
                <a16:creationId xmlns:a16="http://schemas.microsoft.com/office/drawing/2014/main" id="{6621DF77-F834-40FA-BF40-062AB3CB5286}"/>
              </a:ext>
            </a:extLst>
          </p:cNvPr>
          <p:cNvSpPr>
            <a:spLocks xmlns:a="http://schemas.openxmlformats.org/drawingml/2006/main" noGrp="1"/>
          </p:cNvSpPr>
          <p:nvPr/>
        </p:nvSpPr>
        <p:spPr>
          <a:xfrm xmlns:a="http://schemas.openxmlformats.org/drawingml/2006/main">
            <a:off x="7696200" y="33623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1050" b="0">
                <a:solidFill>
                  <a:srgbClr val="2F6F9F"/>
                </a:solidFill>
                <a:latin typeface="Aptos"/>
                <a:ea typeface="Aptos"/>
                <a:cs typeface="Aptos"/>
              </a:defRPr>
            </a:pPr>
            <a:r>
              <a:rPr sz="1050" b="0">
                <a:solidFill>
                  <a:srgbClr val="2F6F9F"/>
                </a:solidFill>
                <a:latin typeface="Aptos"/>
                <a:ea typeface="Aptos"/>
                <a:cs typeface="Aptos"/>
              </a:rPr>
              <a:t>https://cdsco.gov.in/</a:t>
            </a:r>
          </a:p>
        </p:txBody>
      </p:sp>
      <p:sp>
        <p:nvSpPr>
          <p:cNvPr id="21" name="">
            <a:extLst xmlns:a="http://schemas.openxmlformats.org/drawingml/2006/main">
              <a:ext uri="{FF2B5EF4-FFF2-40B4-BE49-F238E27FC236}">
                <a16:creationId xmlns:a16="http://schemas.microsoft.com/office/drawing/2014/main" id="{830A47DC-EB43-4BEB-AF3C-A25FA95626C8}"/>
              </a:ext>
            </a:extLst>
          </p:cNvPr>
          <p:cNvSpPr>
            <a:spLocks xmlns:a="http://schemas.openxmlformats.org/drawingml/2006/main" noGrp="1"/>
          </p:cNvSpPr>
          <p:nvPr/>
        </p:nvSpPr>
        <p:spPr>
          <a:xfrm xmlns:a="http://schemas.openxmlformats.org/drawingml/2006/main">
            <a:off x="666750" y="3876675"/>
            <a:ext cx="104584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22" name="">
            <a:extLst xmlns:a="http://schemas.openxmlformats.org/drawingml/2006/main">
              <a:ext uri="{FF2B5EF4-FFF2-40B4-BE49-F238E27FC236}">
                <a16:creationId xmlns:a16="http://schemas.microsoft.com/office/drawing/2014/main" id="{E417FDB3-A9E5-4BF8-A411-B6D1E0408E9E}"/>
              </a:ext>
            </a:extLst>
          </p:cNvPr>
          <p:cNvSpPr>
            <a:spLocks xmlns:a="http://schemas.openxmlformats.org/drawingml/2006/main" noGrp="1"/>
          </p:cNvSpPr>
          <p:nvPr/>
        </p:nvSpPr>
        <p:spPr>
          <a:xfrm xmlns:a="http://schemas.openxmlformats.org/drawingml/2006/main">
            <a:off x="666750" y="4152900"/>
            <a:ext cx="20002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87858"/>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DEPARTMENT OF PHARMACEUTICALS</a:t>
            </a:r>
          </a:p>
        </p:txBody>
      </p:sp>
      <p:sp>
        <p:nvSpPr>
          <p:cNvPr id="23" name="">
            <a:extLst xmlns:a="http://schemas.openxmlformats.org/drawingml/2006/main">
              <a:ext uri="{FF2B5EF4-FFF2-40B4-BE49-F238E27FC236}">
                <a16:creationId xmlns:a16="http://schemas.microsoft.com/office/drawing/2014/main" id="{E9447CA8-DBF8-438D-8DF2-41560AE2AAA0}"/>
              </a:ext>
            </a:extLst>
          </p:cNvPr>
          <p:cNvSpPr>
            <a:spLocks xmlns:a="http://schemas.openxmlformats.org/drawingml/2006/main" noGrp="1"/>
          </p:cNvSpPr>
          <p:nvPr/>
        </p:nvSpPr>
        <p:spPr>
          <a:xfrm xmlns:a="http://schemas.openxmlformats.org/drawingml/2006/main">
            <a:off x="2895600" y="4152900"/>
            <a:ext cx="4667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UCPMP 2024</a:t>
            </a:r>
          </a:p>
        </p:txBody>
      </p:sp>
      <p:sp>
        <p:nvSpPr>
          <p:cNvPr id="24" name="">
            <a:extLst xmlns:a="http://schemas.openxmlformats.org/drawingml/2006/main">
              <a:ext uri="{FF2B5EF4-FFF2-40B4-BE49-F238E27FC236}">
                <a16:creationId xmlns:a16="http://schemas.microsoft.com/office/drawing/2014/main" id="{CAE38C5F-3D0B-4BF1-AF99-00226929CD25}"/>
              </a:ext>
            </a:extLst>
          </p:cNvPr>
          <p:cNvSpPr>
            <a:spLocks xmlns:a="http://schemas.openxmlformats.org/drawingml/2006/main" noGrp="1"/>
          </p:cNvSpPr>
          <p:nvPr/>
        </p:nvSpPr>
        <p:spPr>
          <a:xfrm xmlns:a="http://schemas.openxmlformats.org/drawingml/2006/main">
            <a:off x="7696200" y="41624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1050" b="0">
                <a:solidFill>
                  <a:srgbClr val="2F6F9F"/>
                </a:solidFill>
                <a:latin typeface="Aptos"/>
                <a:ea typeface="Aptos"/>
                <a:cs typeface="Aptos"/>
              </a:defRPr>
            </a:pPr>
            <a:r>
              <a:rPr sz="1050" b="0">
                <a:solidFill>
                  <a:srgbClr val="2F6F9F"/>
                </a:solidFill>
                <a:latin typeface="Aptos"/>
                <a:ea typeface="Aptos"/>
                <a:cs typeface="Aptos"/>
              </a:rPr>
              <a:t>https://pharmaceuticals.gov.in/</a:t>
            </a:r>
          </a:p>
        </p:txBody>
      </p:sp>
      <p:sp>
        <p:nvSpPr>
          <p:cNvPr id="25" name="">
            <a:extLst xmlns:a="http://schemas.openxmlformats.org/drawingml/2006/main">
              <a:ext uri="{FF2B5EF4-FFF2-40B4-BE49-F238E27FC236}">
                <a16:creationId xmlns:a16="http://schemas.microsoft.com/office/drawing/2014/main" id="{D75319CE-8F7B-45A5-A317-80899CF90624}"/>
              </a:ext>
            </a:extLst>
          </p:cNvPr>
          <p:cNvSpPr>
            <a:spLocks xmlns:a="http://schemas.openxmlformats.org/drawingml/2006/main" noGrp="1"/>
          </p:cNvSpPr>
          <p:nvPr/>
        </p:nvSpPr>
        <p:spPr>
          <a:xfrm xmlns:a="http://schemas.openxmlformats.org/drawingml/2006/main">
            <a:off x="666750" y="4676775"/>
            <a:ext cx="104584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26" name="">
            <a:extLst xmlns:a="http://schemas.openxmlformats.org/drawingml/2006/main">
              <a:ext uri="{FF2B5EF4-FFF2-40B4-BE49-F238E27FC236}">
                <a16:creationId xmlns:a16="http://schemas.microsoft.com/office/drawing/2014/main" id="{1A65B085-19EF-4F67-8CB8-2288AF9AA8E4}"/>
              </a:ext>
            </a:extLst>
          </p:cNvPr>
          <p:cNvSpPr>
            <a:spLocks xmlns:a="http://schemas.openxmlformats.org/drawingml/2006/main" noGrp="1"/>
          </p:cNvSpPr>
          <p:nvPr/>
        </p:nvSpPr>
        <p:spPr>
          <a:xfrm xmlns:a="http://schemas.openxmlformats.org/drawingml/2006/main">
            <a:off x="666750" y="4953000"/>
            <a:ext cx="20002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NMC</a:t>
            </a:r>
          </a:p>
        </p:txBody>
      </p:sp>
      <p:sp>
        <p:nvSpPr>
          <p:cNvPr id="27" name="">
            <a:extLst xmlns:a="http://schemas.openxmlformats.org/drawingml/2006/main">
              <a:ext uri="{FF2B5EF4-FFF2-40B4-BE49-F238E27FC236}">
                <a16:creationId xmlns:a16="http://schemas.microsoft.com/office/drawing/2014/main" id="{B641D32C-0713-4A2D-B1DD-1654227AEC60}"/>
              </a:ext>
            </a:extLst>
          </p:cNvPr>
          <p:cNvSpPr>
            <a:spLocks xmlns:a="http://schemas.openxmlformats.org/drawingml/2006/main" noGrp="1"/>
          </p:cNvSpPr>
          <p:nvPr/>
        </p:nvSpPr>
        <p:spPr>
          <a:xfrm xmlns:a="http://schemas.openxmlformats.org/drawingml/2006/main">
            <a:off x="2895600" y="4953000"/>
            <a:ext cx="4667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a:solidFill>
                  <a:srgbClr val="082638"/>
                </a:solidFill>
                <a:latin typeface="Aptos"/>
                <a:ea typeface="Aptos"/>
                <a:cs typeface="Aptos"/>
              </a:defRPr>
            </a:pPr>
            <a:r>
              <a:rPr sz="1350" b="1">
                <a:solidFill>
                  <a:srgbClr val="082638"/>
                </a:solidFill>
                <a:latin typeface="Aptos"/>
                <a:ea typeface="Aptos"/>
                <a:cs typeface="Aptos"/>
              </a:rPr>
              <a:t>Professional and telemedicine guidance</a:t>
            </a:r>
          </a:p>
        </p:txBody>
      </p:sp>
      <p:sp>
        <p:nvSpPr>
          <p:cNvPr id="28" name="">
            <a:extLst xmlns:a="http://schemas.openxmlformats.org/drawingml/2006/main">
              <a:ext uri="{FF2B5EF4-FFF2-40B4-BE49-F238E27FC236}">
                <a16:creationId xmlns:a16="http://schemas.microsoft.com/office/drawing/2014/main" id="{16DA45D5-E478-41C5-B8F7-806D41357979}"/>
              </a:ext>
            </a:extLst>
          </p:cNvPr>
          <p:cNvSpPr>
            <a:spLocks xmlns:a="http://schemas.openxmlformats.org/drawingml/2006/main" noGrp="1"/>
          </p:cNvSpPr>
          <p:nvPr/>
        </p:nvSpPr>
        <p:spPr>
          <a:xfrm xmlns:a="http://schemas.openxmlformats.org/drawingml/2006/main">
            <a:off x="7696200" y="49625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1050" b="0">
                <a:solidFill>
                  <a:srgbClr val="2F6F9F"/>
                </a:solidFill>
                <a:latin typeface="Aptos"/>
                <a:ea typeface="Aptos"/>
                <a:cs typeface="Aptos"/>
              </a:defRPr>
            </a:pPr>
            <a:r>
              <a:rPr sz="1050" b="0">
                <a:solidFill>
                  <a:srgbClr val="2F6F9F"/>
                </a:solidFill>
                <a:latin typeface="Aptos"/>
                <a:ea typeface="Aptos"/>
                <a:cs typeface="Aptos"/>
              </a:rPr>
              <a:t>https://www.nmc.org.in/</a:t>
            </a:r>
          </a:p>
        </p:txBody>
      </p:sp>
      <p:sp>
        <p:nvSpPr>
          <p:cNvPr id="29" name="">
            <a:extLst xmlns:a="http://schemas.openxmlformats.org/drawingml/2006/main">
              <a:ext uri="{FF2B5EF4-FFF2-40B4-BE49-F238E27FC236}">
                <a16:creationId xmlns:a16="http://schemas.microsoft.com/office/drawing/2014/main" id="{B81D8AC7-25E1-4ABD-807A-6438BEC08AEB}"/>
              </a:ext>
            </a:extLst>
          </p:cNvPr>
          <p:cNvSpPr>
            <a:spLocks xmlns:a="http://schemas.openxmlformats.org/drawingml/2006/main" noGrp="1"/>
          </p:cNvSpPr>
          <p:nvPr/>
        </p:nvSpPr>
        <p:spPr>
          <a:xfrm xmlns:a="http://schemas.openxmlformats.org/drawingml/2006/main">
            <a:off x="666750" y="5476875"/>
            <a:ext cx="104584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Tree>
    <p:extLst>
      <p:ext uri="{BB962C8B-B14F-4D97-AF65-F5344CB8AC3E}">
        <p14:creationId xmlns:p14="http://schemas.microsoft.com/office/powerpoint/2010/main" val="420515172"/>
      </p:ext>
    </p:extLst>
  </p:cSld>
</p:sld>
</file>

<file path=ppt/slides/slide60.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380006-8E85-4055-8643-D7B124C41DC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63747C"/>
          </a:solidFill>
          <a:ln xmlns:a="http://schemas.openxmlformats.org/drawingml/2006/main" w="0">
            <a:solidFill>
              <a:srgbClr val="63747C"/>
            </a:solidFill>
            <a:prstDash val="solid"/>
          </a:ln>
        </p:spPr>
      </p:sp>
      <p:sp>
        <p:nvSpPr>
          <p:cNvPr id="2" name="">
            <a:extLst xmlns:a="http://schemas.openxmlformats.org/drawingml/2006/main">
              <a:ext uri="{FF2B5EF4-FFF2-40B4-BE49-F238E27FC236}">
                <a16:creationId xmlns:a16="http://schemas.microsoft.com/office/drawing/2014/main" id="{4E082D75-0A81-4EC3-AA2F-0738E954148C}"/>
              </a:ext>
            </a:extLst>
          </p:cNvPr>
          <p:cNvSpPr>
            <a:spLocks xmlns:a="http://schemas.openxmlformats.org/drawingml/2006/main" noGrp="1"/>
          </p:cNvSpPr>
          <p:nvPr/>
        </p:nvSpPr>
        <p:spPr>
          <a:xfrm xmlns:a="http://schemas.openxmlformats.org/drawingml/2006/main">
            <a:off x="590550" y="285750"/>
            <a:ext cx="12382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APPENDIX</a:t>
            </a:r>
          </a:p>
        </p:txBody>
      </p:sp>
      <p:sp>
        <p:nvSpPr>
          <p:cNvPr id="3" name="">
            <a:extLst xmlns:a="http://schemas.openxmlformats.org/drawingml/2006/main">
              <a:ext uri="{FF2B5EF4-FFF2-40B4-BE49-F238E27FC236}">
                <a16:creationId xmlns:a16="http://schemas.microsoft.com/office/drawing/2014/main" id="{D270949A-6D41-4D77-9FD6-A7A9559E2A17}"/>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Seven case sources</a:t>
            </a:r>
          </a:p>
        </p:txBody>
      </p:sp>
      <p:sp>
        <p:nvSpPr>
          <p:cNvPr id="4" name="">
            <a:extLst xmlns:a="http://schemas.openxmlformats.org/drawingml/2006/main">
              <a:ext uri="{FF2B5EF4-FFF2-40B4-BE49-F238E27FC236}">
                <a16:creationId xmlns:a16="http://schemas.microsoft.com/office/drawing/2014/main" id="{92940AF3-817D-4DD5-9814-47187A835CE5}"/>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80120881-9A9C-47EF-94F4-47F36D6B6942}"/>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72EECC15-02AA-4CD7-A2B3-7DD3260F5A7B}"/>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47EA9024-EAA5-4951-9980-6EC433E49FBA}"/>
              </a:ext>
            </a:extLst>
          </p:cNvPr>
          <p:cNvSpPr>
            <a:spLocks xmlns:a="http://schemas.openxmlformats.org/drawingml/2006/main" noGrp="1"/>
          </p:cNvSpPr>
          <p:nvPr/>
        </p:nvSpPr>
        <p:spPr>
          <a:xfrm xmlns:a="http://schemas.openxmlformats.org/drawingml/2006/main">
            <a:off x="4095750" y="64865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623" b="0">
                <a:solidFill>
                  <a:srgbClr val="63747C"/>
                </a:solidFill>
                <a:latin typeface="Aptos"/>
                <a:ea typeface="Aptos"/>
                <a:cs typeface="Aptos"/>
              </a:defRPr>
            </a:pPr>
            <a:r>
              <a:rPr sz="623" b="0">
                <a:solidFill>
                  <a:srgbClr val="63747C"/>
                </a:solidFill>
                <a:latin typeface="Aptos"/>
                <a:ea typeface="Aptos"/>
                <a:cs typeface="Aptos"/>
              </a:rPr>
              <a:t>URLs checked 21 Jul 2026</a:t>
            </a:r>
          </a:p>
        </p:txBody>
      </p:sp>
      <p:sp>
        <p:nvSpPr>
          <p:cNvPr id="8" name="">
            <a:extLst xmlns:a="http://schemas.openxmlformats.org/drawingml/2006/main">
              <a:ext uri="{FF2B5EF4-FFF2-40B4-BE49-F238E27FC236}">
                <a16:creationId xmlns:a16="http://schemas.microsoft.com/office/drawing/2014/main" id="{21FE2BD6-8C26-43A9-9DEE-822E44DD3D81}"/>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71154"/>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APPENDIX</a:t>
            </a:r>
          </a:p>
        </p:txBody>
      </p:sp>
      <p:sp>
        <p:nvSpPr>
          <p:cNvPr id="9" name="">
            <a:extLst xmlns:a="http://schemas.openxmlformats.org/drawingml/2006/main">
              <a:ext uri="{FF2B5EF4-FFF2-40B4-BE49-F238E27FC236}">
                <a16:creationId xmlns:a16="http://schemas.microsoft.com/office/drawing/2014/main" id="{415FE25F-02A9-42C1-9FA7-35A31AF3B931}"/>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60</a:t>
            </a:r>
          </a:p>
        </p:txBody>
      </p:sp>
      <p:sp>
        <p:nvSpPr>
          <p:cNvPr id="10" name="">
            <a:extLst xmlns:a="http://schemas.openxmlformats.org/drawingml/2006/main">
              <a:ext uri="{FF2B5EF4-FFF2-40B4-BE49-F238E27FC236}">
                <a16:creationId xmlns:a16="http://schemas.microsoft.com/office/drawing/2014/main" id="{562D236D-A318-4FE8-9142-F4548E0C6A0A}"/>
              </a:ext>
            </a:extLst>
          </p:cNvPr>
          <p:cNvSpPr>
            <a:spLocks xmlns:a="http://schemas.openxmlformats.org/drawingml/2006/main" noGrp="1"/>
          </p:cNvSpPr>
          <p:nvPr/>
        </p:nvSpPr>
        <p:spPr>
          <a:xfrm xmlns:a="http://schemas.openxmlformats.org/drawingml/2006/main">
            <a:off x="619125" y="1704975"/>
            <a:ext cx="6667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1</a:t>
            </a:r>
          </a:p>
        </p:txBody>
      </p:sp>
      <p:sp>
        <p:nvSpPr>
          <p:cNvPr id="11" name="">
            <a:extLst xmlns:a="http://schemas.openxmlformats.org/drawingml/2006/main">
              <a:ext uri="{FF2B5EF4-FFF2-40B4-BE49-F238E27FC236}">
                <a16:creationId xmlns:a16="http://schemas.microsoft.com/office/drawing/2014/main" id="{A9ED16E1-BFB5-4FB4-B2A5-7AB45C931096}"/>
              </a:ext>
            </a:extLst>
          </p:cNvPr>
          <p:cNvSpPr>
            <a:spLocks xmlns:a="http://schemas.openxmlformats.org/drawingml/2006/main" noGrp="1"/>
          </p:cNvSpPr>
          <p:nvPr/>
        </p:nvSpPr>
        <p:spPr>
          <a:xfrm xmlns:a="http://schemas.openxmlformats.org/drawingml/2006/main">
            <a:off x="1466850" y="1704975"/>
            <a:ext cx="600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63" b="1">
                <a:solidFill>
                  <a:srgbClr val="082638"/>
                </a:solidFill>
                <a:latin typeface="Aptos"/>
                <a:ea typeface="Aptos"/>
                <a:cs typeface="Aptos"/>
              </a:defRPr>
            </a:pPr>
            <a:r>
              <a:rPr sz="1163" b="1">
                <a:solidFill>
                  <a:srgbClr val="082638"/>
                </a:solidFill>
                <a:latin typeface="Aptos"/>
                <a:ea typeface="Aptos"/>
                <a:cs typeface="Aptos"/>
              </a:rPr>
              <a:t>EHR-embedded X-ray triage and no-show prediction</a:t>
            </a:r>
          </a:p>
        </p:txBody>
      </p:sp>
      <p:sp>
        <p:nvSpPr>
          <p:cNvPr id="12" name="">
            <a:extLst xmlns:a="http://schemas.openxmlformats.org/drawingml/2006/main">
              <a:ext uri="{FF2B5EF4-FFF2-40B4-BE49-F238E27FC236}">
                <a16:creationId xmlns:a16="http://schemas.microsoft.com/office/drawing/2014/main" id="{F802C49A-8E99-4586-93A1-75A40DC86355}"/>
              </a:ext>
            </a:extLst>
          </p:cNvPr>
          <p:cNvSpPr>
            <a:spLocks xmlns:a="http://schemas.openxmlformats.org/drawingml/2006/main" noGrp="1"/>
          </p:cNvSpPr>
          <p:nvPr/>
        </p:nvSpPr>
        <p:spPr>
          <a:xfrm xmlns:a="http://schemas.openxmlformats.org/drawingml/2006/main">
            <a:off x="7620000" y="1704975"/>
            <a:ext cx="3638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863" b="0">
                <a:solidFill>
                  <a:srgbClr val="2F6F9F"/>
                </a:solidFill>
                <a:latin typeface="Aptos"/>
                <a:ea typeface="Aptos"/>
                <a:cs typeface="Aptos"/>
              </a:defRPr>
            </a:pPr>
            <a:r>
              <a:rPr sz="863" b="0">
                <a:solidFill>
                  <a:srgbClr val="2F6F9F"/>
                </a:solidFill>
                <a:latin typeface="Aptos"/>
                <a:ea typeface="Aptos"/>
                <a:cs typeface="Aptos"/>
              </a:rPr>
              <a:t>https://www.mdpi.com/2073-431X/14/8/320</a:t>
            </a:r>
          </a:p>
        </p:txBody>
      </p:sp>
      <p:sp>
        <p:nvSpPr>
          <p:cNvPr id="13" name="">
            <a:extLst xmlns:a="http://schemas.openxmlformats.org/drawingml/2006/main">
              <a:ext uri="{FF2B5EF4-FFF2-40B4-BE49-F238E27FC236}">
                <a16:creationId xmlns:a16="http://schemas.microsoft.com/office/drawing/2014/main" id="{A9D6F090-C582-4C35-887E-44F38AA96A94}"/>
              </a:ext>
            </a:extLst>
          </p:cNvPr>
          <p:cNvSpPr>
            <a:spLocks xmlns:a="http://schemas.openxmlformats.org/drawingml/2006/main" noGrp="1"/>
          </p:cNvSpPr>
          <p:nvPr/>
        </p:nvSpPr>
        <p:spPr>
          <a:xfrm xmlns:a="http://schemas.openxmlformats.org/drawingml/2006/main">
            <a:off x="619125" y="2114550"/>
            <a:ext cx="10648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14" name="">
            <a:extLst xmlns:a="http://schemas.openxmlformats.org/drawingml/2006/main">
              <a:ext uri="{FF2B5EF4-FFF2-40B4-BE49-F238E27FC236}">
                <a16:creationId xmlns:a16="http://schemas.microsoft.com/office/drawing/2014/main" id="{54DCC3B3-D21C-4DD4-B700-C5A3535446B5}"/>
              </a:ext>
            </a:extLst>
          </p:cNvPr>
          <p:cNvSpPr>
            <a:spLocks xmlns:a="http://schemas.openxmlformats.org/drawingml/2006/main" noGrp="1"/>
          </p:cNvSpPr>
          <p:nvPr/>
        </p:nvSpPr>
        <p:spPr>
          <a:xfrm xmlns:a="http://schemas.openxmlformats.org/drawingml/2006/main">
            <a:off x="619125" y="2286000"/>
            <a:ext cx="6667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2</a:t>
            </a:r>
          </a:p>
        </p:txBody>
      </p:sp>
      <p:sp>
        <p:nvSpPr>
          <p:cNvPr id="15" name="">
            <a:extLst xmlns:a="http://schemas.openxmlformats.org/drawingml/2006/main">
              <a:ext uri="{FF2B5EF4-FFF2-40B4-BE49-F238E27FC236}">
                <a16:creationId xmlns:a16="http://schemas.microsoft.com/office/drawing/2014/main" id="{729CB43C-83BD-44EE-942A-1EB64895E1C9}"/>
              </a:ext>
            </a:extLst>
          </p:cNvPr>
          <p:cNvSpPr>
            <a:spLocks xmlns:a="http://schemas.openxmlformats.org/drawingml/2006/main" noGrp="1"/>
          </p:cNvSpPr>
          <p:nvPr/>
        </p:nvSpPr>
        <p:spPr>
          <a:xfrm xmlns:a="http://schemas.openxmlformats.org/drawingml/2006/main">
            <a:off x="1466850" y="2286000"/>
            <a:ext cx="600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63" b="1">
                <a:solidFill>
                  <a:srgbClr val="082638"/>
                </a:solidFill>
                <a:latin typeface="Aptos"/>
                <a:ea typeface="Aptos"/>
                <a:cs typeface="Aptos"/>
              </a:defRPr>
            </a:pPr>
            <a:r>
              <a:rPr sz="1163" b="1">
                <a:solidFill>
                  <a:srgbClr val="082638"/>
                </a:solidFill>
                <a:latin typeface="Aptos"/>
                <a:ea typeface="Aptos"/>
                <a:cs typeface="Aptos"/>
              </a:rPr>
              <a:t>What family physicians expect and fear</a:t>
            </a:r>
          </a:p>
        </p:txBody>
      </p:sp>
      <p:sp>
        <p:nvSpPr>
          <p:cNvPr id="16" name="">
            <a:extLst xmlns:a="http://schemas.openxmlformats.org/drawingml/2006/main">
              <a:ext uri="{FF2B5EF4-FFF2-40B4-BE49-F238E27FC236}">
                <a16:creationId xmlns:a16="http://schemas.microsoft.com/office/drawing/2014/main" id="{5E7FF1F9-9492-4DF5-B640-FBD490645922}"/>
              </a:ext>
            </a:extLst>
          </p:cNvPr>
          <p:cNvSpPr>
            <a:spLocks xmlns:a="http://schemas.openxmlformats.org/drawingml/2006/main" noGrp="1"/>
          </p:cNvSpPr>
          <p:nvPr/>
        </p:nvSpPr>
        <p:spPr>
          <a:xfrm xmlns:a="http://schemas.openxmlformats.org/drawingml/2006/main">
            <a:off x="7620000" y="2286000"/>
            <a:ext cx="3638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863" b="0">
                <a:solidFill>
                  <a:srgbClr val="2F6F9F"/>
                </a:solidFill>
                <a:latin typeface="Aptos"/>
                <a:ea typeface="Aptos"/>
                <a:cs typeface="Aptos"/>
              </a:defRPr>
            </a:pPr>
            <a:r>
              <a:rPr sz="863" b="0">
                <a:solidFill>
                  <a:srgbClr val="2F6F9F"/>
                </a:solidFill>
                <a:latin typeface="Aptos"/>
                <a:ea typeface="Aptos"/>
                <a:cs typeface="Aptos"/>
              </a:rPr>
              <a:t>https://ai.jmir.org/2024/1/e40781</a:t>
            </a:r>
          </a:p>
        </p:txBody>
      </p:sp>
      <p:sp>
        <p:nvSpPr>
          <p:cNvPr id="17" name="">
            <a:extLst xmlns:a="http://schemas.openxmlformats.org/drawingml/2006/main">
              <a:ext uri="{FF2B5EF4-FFF2-40B4-BE49-F238E27FC236}">
                <a16:creationId xmlns:a16="http://schemas.microsoft.com/office/drawing/2014/main" id="{5AF6B4D9-060A-4F0B-A1F2-F2CEB8260C84}"/>
              </a:ext>
            </a:extLst>
          </p:cNvPr>
          <p:cNvSpPr>
            <a:spLocks xmlns:a="http://schemas.openxmlformats.org/drawingml/2006/main" noGrp="1"/>
          </p:cNvSpPr>
          <p:nvPr/>
        </p:nvSpPr>
        <p:spPr>
          <a:xfrm xmlns:a="http://schemas.openxmlformats.org/drawingml/2006/main">
            <a:off x="619125" y="2695575"/>
            <a:ext cx="10648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18" name="">
            <a:extLst xmlns:a="http://schemas.openxmlformats.org/drawingml/2006/main">
              <a:ext uri="{FF2B5EF4-FFF2-40B4-BE49-F238E27FC236}">
                <a16:creationId xmlns:a16="http://schemas.microsoft.com/office/drawing/2014/main" id="{0332B634-BB50-4702-8BD5-60245EC4BEEB}"/>
              </a:ext>
            </a:extLst>
          </p:cNvPr>
          <p:cNvSpPr>
            <a:spLocks xmlns:a="http://schemas.openxmlformats.org/drawingml/2006/main" noGrp="1"/>
          </p:cNvSpPr>
          <p:nvPr/>
        </p:nvSpPr>
        <p:spPr>
          <a:xfrm xmlns:a="http://schemas.openxmlformats.org/drawingml/2006/main">
            <a:off x="619125" y="2867025"/>
            <a:ext cx="6667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3</a:t>
            </a:r>
          </a:p>
        </p:txBody>
      </p:sp>
      <p:sp>
        <p:nvSpPr>
          <p:cNvPr id="19" name="">
            <a:extLst xmlns:a="http://schemas.openxmlformats.org/drawingml/2006/main">
              <a:ext uri="{FF2B5EF4-FFF2-40B4-BE49-F238E27FC236}">
                <a16:creationId xmlns:a16="http://schemas.microsoft.com/office/drawing/2014/main" id="{561D31B4-E95F-4405-B4E2-C86844FD2F1A}"/>
              </a:ext>
            </a:extLst>
          </p:cNvPr>
          <p:cNvSpPr>
            <a:spLocks xmlns:a="http://schemas.openxmlformats.org/drawingml/2006/main" noGrp="1"/>
          </p:cNvSpPr>
          <p:nvPr/>
        </p:nvSpPr>
        <p:spPr>
          <a:xfrm xmlns:a="http://schemas.openxmlformats.org/drawingml/2006/main">
            <a:off x="1466850" y="2867025"/>
            <a:ext cx="600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63" b="1">
                <a:solidFill>
                  <a:srgbClr val="082638"/>
                </a:solidFill>
                <a:latin typeface="Aptos"/>
                <a:ea typeface="Aptos"/>
                <a:cs typeface="Aptos"/>
              </a:defRPr>
            </a:pPr>
            <a:r>
              <a:rPr sz="1163" b="1">
                <a:solidFill>
                  <a:srgbClr val="082638"/>
                </a:solidFill>
                <a:latin typeface="Aptos"/>
                <a:ea typeface="Aptos"/>
                <a:cs typeface="Aptos"/>
              </a:rPr>
              <a:t>Generative AI in case-based medical learning</a:t>
            </a:r>
          </a:p>
        </p:txBody>
      </p:sp>
      <p:sp>
        <p:nvSpPr>
          <p:cNvPr id="20" name="">
            <a:extLst xmlns:a="http://schemas.openxmlformats.org/drawingml/2006/main">
              <a:ext uri="{FF2B5EF4-FFF2-40B4-BE49-F238E27FC236}">
                <a16:creationId xmlns:a16="http://schemas.microsoft.com/office/drawing/2014/main" id="{BB2915F8-E9F4-4288-9EC3-5F663C951E35}"/>
              </a:ext>
            </a:extLst>
          </p:cNvPr>
          <p:cNvSpPr>
            <a:spLocks xmlns:a="http://schemas.openxmlformats.org/drawingml/2006/main" noGrp="1"/>
          </p:cNvSpPr>
          <p:nvPr/>
        </p:nvSpPr>
        <p:spPr>
          <a:xfrm xmlns:a="http://schemas.openxmlformats.org/drawingml/2006/main">
            <a:off x="7620000" y="2867025"/>
            <a:ext cx="3638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863" b="0">
                <a:solidFill>
                  <a:srgbClr val="2F6F9F"/>
                </a:solidFill>
                <a:latin typeface="Aptos"/>
                <a:ea typeface="Aptos"/>
                <a:cs typeface="Aptos"/>
              </a:defRPr>
            </a:pPr>
            <a:r>
              <a:rPr sz="863" b="0">
                <a:solidFill>
                  <a:srgbClr val="2F6F9F"/>
                </a:solidFill>
                <a:latin typeface="Aptos"/>
                <a:ea typeface="Aptos"/>
                <a:cs typeface="Aptos"/>
              </a:rPr>
              <a:t>https://link.springer.com/article/10.1186/s12909-025-07567-z</a:t>
            </a:r>
          </a:p>
        </p:txBody>
      </p:sp>
      <p:sp>
        <p:nvSpPr>
          <p:cNvPr id="21" name="">
            <a:extLst xmlns:a="http://schemas.openxmlformats.org/drawingml/2006/main">
              <a:ext uri="{FF2B5EF4-FFF2-40B4-BE49-F238E27FC236}">
                <a16:creationId xmlns:a16="http://schemas.microsoft.com/office/drawing/2014/main" id="{58F84553-9035-4746-BCF7-408DAC330D2F}"/>
              </a:ext>
            </a:extLst>
          </p:cNvPr>
          <p:cNvSpPr>
            <a:spLocks xmlns:a="http://schemas.openxmlformats.org/drawingml/2006/main" noGrp="1"/>
          </p:cNvSpPr>
          <p:nvPr/>
        </p:nvSpPr>
        <p:spPr>
          <a:xfrm xmlns:a="http://schemas.openxmlformats.org/drawingml/2006/main">
            <a:off x="619125" y="3276600"/>
            <a:ext cx="10648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22" name="">
            <a:extLst xmlns:a="http://schemas.openxmlformats.org/drawingml/2006/main">
              <a:ext uri="{FF2B5EF4-FFF2-40B4-BE49-F238E27FC236}">
                <a16:creationId xmlns:a16="http://schemas.microsoft.com/office/drawing/2014/main" id="{7AB67D3E-223C-46AF-A1DC-145955FD0009}"/>
              </a:ext>
            </a:extLst>
          </p:cNvPr>
          <p:cNvSpPr>
            <a:spLocks xmlns:a="http://schemas.openxmlformats.org/drawingml/2006/main" noGrp="1"/>
          </p:cNvSpPr>
          <p:nvPr/>
        </p:nvSpPr>
        <p:spPr>
          <a:xfrm xmlns:a="http://schemas.openxmlformats.org/drawingml/2006/main">
            <a:off x="619125" y="3448050"/>
            <a:ext cx="6667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4</a:t>
            </a:r>
          </a:p>
        </p:txBody>
      </p:sp>
      <p:sp>
        <p:nvSpPr>
          <p:cNvPr id="23" name="">
            <a:extLst xmlns:a="http://schemas.openxmlformats.org/drawingml/2006/main">
              <a:ext uri="{FF2B5EF4-FFF2-40B4-BE49-F238E27FC236}">
                <a16:creationId xmlns:a16="http://schemas.microsoft.com/office/drawing/2014/main" id="{80148CBC-5694-4451-B8CD-AB1C52E314D3}"/>
              </a:ext>
            </a:extLst>
          </p:cNvPr>
          <p:cNvSpPr>
            <a:spLocks xmlns:a="http://schemas.openxmlformats.org/drawingml/2006/main" noGrp="1"/>
          </p:cNvSpPr>
          <p:nvPr/>
        </p:nvSpPr>
        <p:spPr>
          <a:xfrm xmlns:a="http://schemas.openxmlformats.org/drawingml/2006/main">
            <a:off x="1466850" y="3448050"/>
            <a:ext cx="600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63" b="1">
                <a:solidFill>
                  <a:srgbClr val="082638"/>
                </a:solidFill>
                <a:latin typeface="Aptos"/>
                <a:ea typeface="Aptos"/>
                <a:cs typeface="Aptos"/>
              </a:defRPr>
            </a:pPr>
            <a:r>
              <a:rPr sz="1163" b="1">
                <a:solidFill>
                  <a:srgbClr val="082638"/>
                </a:solidFill>
                <a:latin typeface="Aptos"/>
                <a:ea typeface="Aptos"/>
                <a:cs typeface="Aptos"/>
              </a:rPr>
              <a:t>AI-supported scenario planning for medical curricula</a:t>
            </a:r>
          </a:p>
        </p:txBody>
      </p:sp>
      <p:sp>
        <p:nvSpPr>
          <p:cNvPr id="24" name="">
            <a:extLst xmlns:a="http://schemas.openxmlformats.org/drawingml/2006/main">
              <a:ext uri="{FF2B5EF4-FFF2-40B4-BE49-F238E27FC236}">
                <a16:creationId xmlns:a16="http://schemas.microsoft.com/office/drawing/2014/main" id="{0A1CF4F4-EBD2-48EF-8D25-AE8DEDC61F96}"/>
              </a:ext>
            </a:extLst>
          </p:cNvPr>
          <p:cNvSpPr>
            <a:spLocks xmlns:a="http://schemas.openxmlformats.org/drawingml/2006/main" noGrp="1"/>
          </p:cNvSpPr>
          <p:nvPr/>
        </p:nvSpPr>
        <p:spPr>
          <a:xfrm xmlns:a="http://schemas.openxmlformats.org/drawingml/2006/main">
            <a:off x="7620000" y="3448050"/>
            <a:ext cx="3638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863" b="0">
                <a:solidFill>
                  <a:srgbClr val="2F6F9F"/>
                </a:solidFill>
                <a:latin typeface="Aptos"/>
                <a:ea typeface="Aptos"/>
                <a:cs typeface="Aptos"/>
              </a:defRPr>
            </a:pPr>
            <a:r>
              <a:rPr sz="863" b="0">
                <a:solidFill>
                  <a:srgbClr val="2F6F9F"/>
                </a:solidFill>
                <a:latin typeface="Aptos"/>
                <a:ea typeface="Aptos"/>
                <a:cs typeface="Aptos"/>
              </a:rPr>
              <a:t>https://www.jmir.org/2025/1/e73173</a:t>
            </a:r>
          </a:p>
        </p:txBody>
      </p:sp>
      <p:sp>
        <p:nvSpPr>
          <p:cNvPr id="25" name="">
            <a:extLst xmlns:a="http://schemas.openxmlformats.org/drawingml/2006/main">
              <a:ext uri="{FF2B5EF4-FFF2-40B4-BE49-F238E27FC236}">
                <a16:creationId xmlns:a16="http://schemas.microsoft.com/office/drawing/2014/main" id="{315D41A3-6D1C-4BAD-8D93-186AFFCE8200}"/>
              </a:ext>
            </a:extLst>
          </p:cNvPr>
          <p:cNvSpPr>
            <a:spLocks xmlns:a="http://schemas.openxmlformats.org/drawingml/2006/main" noGrp="1"/>
          </p:cNvSpPr>
          <p:nvPr/>
        </p:nvSpPr>
        <p:spPr>
          <a:xfrm xmlns:a="http://schemas.openxmlformats.org/drawingml/2006/main">
            <a:off x="619125" y="3857625"/>
            <a:ext cx="10648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26" name="">
            <a:extLst xmlns:a="http://schemas.openxmlformats.org/drawingml/2006/main">
              <a:ext uri="{FF2B5EF4-FFF2-40B4-BE49-F238E27FC236}">
                <a16:creationId xmlns:a16="http://schemas.microsoft.com/office/drawing/2014/main" id="{51E15371-C1EC-473C-94E6-A1AE0F54C09C}"/>
              </a:ext>
            </a:extLst>
          </p:cNvPr>
          <p:cNvSpPr>
            <a:spLocks xmlns:a="http://schemas.openxmlformats.org/drawingml/2006/main" noGrp="1"/>
          </p:cNvSpPr>
          <p:nvPr/>
        </p:nvSpPr>
        <p:spPr>
          <a:xfrm xmlns:a="http://schemas.openxmlformats.org/drawingml/2006/main">
            <a:off x="619125" y="4029075"/>
            <a:ext cx="6667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5</a:t>
            </a:r>
          </a:p>
        </p:txBody>
      </p:sp>
      <p:sp>
        <p:nvSpPr>
          <p:cNvPr id="27" name="">
            <a:extLst xmlns:a="http://schemas.openxmlformats.org/drawingml/2006/main">
              <a:ext uri="{FF2B5EF4-FFF2-40B4-BE49-F238E27FC236}">
                <a16:creationId xmlns:a16="http://schemas.microsoft.com/office/drawing/2014/main" id="{D2CCDF14-7D0A-4A1E-BE91-8A050B37A6EE}"/>
              </a:ext>
            </a:extLst>
          </p:cNvPr>
          <p:cNvSpPr>
            <a:spLocks xmlns:a="http://schemas.openxmlformats.org/drawingml/2006/main" noGrp="1"/>
          </p:cNvSpPr>
          <p:nvPr/>
        </p:nvSpPr>
        <p:spPr>
          <a:xfrm xmlns:a="http://schemas.openxmlformats.org/drawingml/2006/main">
            <a:off x="1466850" y="4029075"/>
            <a:ext cx="600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63" b="1">
                <a:solidFill>
                  <a:srgbClr val="082638"/>
                </a:solidFill>
                <a:latin typeface="Aptos"/>
                <a:ea typeface="Aptos"/>
                <a:cs typeface="Aptos"/>
              </a:defRPr>
            </a:pPr>
            <a:r>
              <a:rPr sz="1163" b="1">
                <a:solidFill>
                  <a:srgbClr val="082638"/>
                </a:solidFill>
                <a:latin typeface="Aptos"/>
                <a:ea typeface="Aptos"/>
                <a:cs typeface="Aptos"/>
              </a:rPr>
              <a:t>Why clinicians ignore alerts—and how design can restore trust</a:t>
            </a:r>
          </a:p>
        </p:txBody>
      </p:sp>
      <p:sp>
        <p:nvSpPr>
          <p:cNvPr id="28" name="">
            <a:extLst xmlns:a="http://schemas.openxmlformats.org/drawingml/2006/main">
              <a:ext uri="{FF2B5EF4-FFF2-40B4-BE49-F238E27FC236}">
                <a16:creationId xmlns:a16="http://schemas.microsoft.com/office/drawing/2014/main" id="{EC139502-66C7-437A-A018-378407199E09}"/>
              </a:ext>
            </a:extLst>
          </p:cNvPr>
          <p:cNvSpPr>
            <a:spLocks xmlns:a="http://schemas.openxmlformats.org/drawingml/2006/main" noGrp="1"/>
          </p:cNvSpPr>
          <p:nvPr/>
        </p:nvSpPr>
        <p:spPr>
          <a:xfrm xmlns:a="http://schemas.openxmlformats.org/drawingml/2006/main">
            <a:off x="7620000" y="4029075"/>
            <a:ext cx="3638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863" b="0">
                <a:solidFill>
                  <a:srgbClr val="2F6F9F"/>
                </a:solidFill>
                <a:latin typeface="Aptos"/>
                <a:ea typeface="Aptos"/>
                <a:cs typeface="Aptos"/>
              </a:defRPr>
            </a:pPr>
            <a:r>
              <a:rPr sz="863" b="0">
                <a:solidFill>
                  <a:srgbClr val="2F6F9F"/>
                </a:solidFill>
                <a:latin typeface="Aptos"/>
                <a:ea typeface="Aptos"/>
                <a:cs typeface="Aptos"/>
              </a:rPr>
              <a:t>https://pmc.ncbi.nlm.nih.gov/articles/PMC11149368/</a:t>
            </a:r>
          </a:p>
        </p:txBody>
      </p:sp>
      <p:sp>
        <p:nvSpPr>
          <p:cNvPr id="29" name="">
            <a:extLst xmlns:a="http://schemas.openxmlformats.org/drawingml/2006/main">
              <a:ext uri="{FF2B5EF4-FFF2-40B4-BE49-F238E27FC236}">
                <a16:creationId xmlns:a16="http://schemas.microsoft.com/office/drawing/2014/main" id="{BB6E35E7-6135-4852-A7EF-C7E4C30F7AF1}"/>
              </a:ext>
            </a:extLst>
          </p:cNvPr>
          <p:cNvSpPr>
            <a:spLocks xmlns:a="http://schemas.openxmlformats.org/drawingml/2006/main" noGrp="1"/>
          </p:cNvSpPr>
          <p:nvPr/>
        </p:nvSpPr>
        <p:spPr>
          <a:xfrm xmlns:a="http://schemas.openxmlformats.org/drawingml/2006/main">
            <a:off x="619125" y="4438650"/>
            <a:ext cx="10648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30" name="">
            <a:extLst xmlns:a="http://schemas.openxmlformats.org/drawingml/2006/main">
              <a:ext uri="{FF2B5EF4-FFF2-40B4-BE49-F238E27FC236}">
                <a16:creationId xmlns:a16="http://schemas.microsoft.com/office/drawing/2014/main" id="{79C2A6C6-0425-48E4-9D9B-1FED09417BEF}"/>
              </a:ext>
            </a:extLst>
          </p:cNvPr>
          <p:cNvSpPr>
            <a:spLocks xmlns:a="http://schemas.openxmlformats.org/drawingml/2006/main" noGrp="1"/>
          </p:cNvSpPr>
          <p:nvPr/>
        </p:nvSpPr>
        <p:spPr>
          <a:xfrm xmlns:a="http://schemas.openxmlformats.org/drawingml/2006/main">
            <a:off x="619125" y="4610100"/>
            <a:ext cx="6667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6</a:t>
            </a:r>
          </a:p>
        </p:txBody>
      </p:sp>
      <p:sp>
        <p:nvSpPr>
          <p:cNvPr id="31" name="">
            <a:extLst xmlns:a="http://schemas.openxmlformats.org/drawingml/2006/main">
              <a:ext uri="{FF2B5EF4-FFF2-40B4-BE49-F238E27FC236}">
                <a16:creationId xmlns:a16="http://schemas.microsoft.com/office/drawing/2014/main" id="{031861EE-E483-4BDC-A0BE-3F1315A7B935}"/>
              </a:ext>
            </a:extLst>
          </p:cNvPr>
          <p:cNvSpPr>
            <a:spLocks xmlns:a="http://schemas.openxmlformats.org/drawingml/2006/main" noGrp="1"/>
          </p:cNvSpPr>
          <p:nvPr/>
        </p:nvSpPr>
        <p:spPr>
          <a:xfrm xmlns:a="http://schemas.openxmlformats.org/drawingml/2006/main">
            <a:off x="1466850" y="4610100"/>
            <a:ext cx="600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63" b="1">
                <a:solidFill>
                  <a:srgbClr val="082638"/>
                </a:solidFill>
                <a:latin typeface="Aptos"/>
                <a:ea typeface="Aptos"/>
                <a:cs typeface="Aptos"/>
              </a:defRPr>
            </a:pPr>
            <a:r>
              <a:rPr sz="1163" b="1">
                <a:solidFill>
                  <a:srgbClr val="082638"/>
                </a:solidFill>
                <a:latin typeface="Aptos"/>
                <a:ea typeface="Aptos"/>
                <a:cs typeface="Aptos"/>
              </a:rPr>
              <a:t>The real workflow cost and payoff of ambient documentation</a:t>
            </a:r>
          </a:p>
        </p:txBody>
      </p:sp>
      <p:sp>
        <p:nvSpPr>
          <p:cNvPr id="32" name="">
            <a:extLst xmlns:a="http://schemas.openxmlformats.org/drawingml/2006/main">
              <a:ext uri="{FF2B5EF4-FFF2-40B4-BE49-F238E27FC236}">
                <a16:creationId xmlns:a16="http://schemas.microsoft.com/office/drawing/2014/main" id="{9BDFFC57-0196-4857-96E6-440DF23947E1}"/>
              </a:ext>
            </a:extLst>
          </p:cNvPr>
          <p:cNvSpPr>
            <a:spLocks xmlns:a="http://schemas.openxmlformats.org/drawingml/2006/main" noGrp="1"/>
          </p:cNvSpPr>
          <p:nvPr/>
        </p:nvSpPr>
        <p:spPr>
          <a:xfrm xmlns:a="http://schemas.openxmlformats.org/drawingml/2006/main">
            <a:off x="7620000" y="4610100"/>
            <a:ext cx="3638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406"/>
          </a:bodyPr>
          <a:lstStyle xmlns:a="http://schemas.openxmlformats.org/drawingml/2006/main"/>
          <a:p xmlns:a="http://schemas.openxmlformats.org/drawingml/2006/main">
            <a:pPr algn="r">
              <a:lnSpc>
                <a:spcPct val="103000"/>
              </a:lnSpc>
              <a:buNone/>
              <a:defRPr sz="863" b="0">
                <a:solidFill>
                  <a:srgbClr val="2F6F9F"/>
                </a:solidFill>
                <a:latin typeface="Aptos"/>
                <a:ea typeface="Aptos"/>
                <a:cs typeface="Aptos"/>
              </a:defRPr>
            </a:pPr>
            <a:r>
              <a:rPr sz="863" b="0">
                <a:solidFill>
                  <a:srgbClr val="2F6F9F"/>
                </a:solidFill>
                <a:latin typeface="Aptos"/>
                <a:ea typeface="Aptos"/>
                <a:cs typeface="Aptos"/>
              </a:rPr>
              <a:t>https://www.proquest.com/openview/574eebe7a1f1dcd2ca5d88f6a9a22a7b/1?pq-origsite=gscholar&amp;cbl=18750&amp;diss=y</a:t>
            </a:r>
          </a:p>
        </p:txBody>
      </p:sp>
      <p:sp>
        <p:nvSpPr>
          <p:cNvPr id="33" name="">
            <a:extLst xmlns:a="http://schemas.openxmlformats.org/drawingml/2006/main">
              <a:ext uri="{FF2B5EF4-FFF2-40B4-BE49-F238E27FC236}">
                <a16:creationId xmlns:a16="http://schemas.microsoft.com/office/drawing/2014/main" id="{F4B390CA-C813-43E0-BB03-49A2B10AC76D}"/>
              </a:ext>
            </a:extLst>
          </p:cNvPr>
          <p:cNvSpPr>
            <a:spLocks xmlns:a="http://schemas.openxmlformats.org/drawingml/2006/main" noGrp="1"/>
          </p:cNvSpPr>
          <p:nvPr/>
        </p:nvSpPr>
        <p:spPr>
          <a:xfrm xmlns:a="http://schemas.openxmlformats.org/drawingml/2006/main">
            <a:off x="619125" y="5019675"/>
            <a:ext cx="10648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34" name="">
            <a:extLst xmlns:a="http://schemas.openxmlformats.org/drawingml/2006/main">
              <a:ext uri="{FF2B5EF4-FFF2-40B4-BE49-F238E27FC236}">
                <a16:creationId xmlns:a16="http://schemas.microsoft.com/office/drawing/2014/main" id="{CA131EED-906B-4BFA-B500-A3480BD79253}"/>
              </a:ext>
            </a:extLst>
          </p:cNvPr>
          <p:cNvSpPr>
            <a:spLocks xmlns:a="http://schemas.openxmlformats.org/drawingml/2006/main" noGrp="1"/>
          </p:cNvSpPr>
          <p:nvPr/>
        </p:nvSpPr>
        <p:spPr>
          <a:xfrm xmlns:a="http://schemas.openxmlformats.org/drawingml/2006/main">
            <a:off x="619125" y="5191125"/>
            <a:ext cx="66675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CASE 7</a:t>
            </a:r>
          </a:p>
        </p:txBody>
      </p:sp>
      <p:sp>
        <p:nvSpPr>
          <p:cNvPr id="35" name="">
            <a:extLst xmlns:a="http://schemas.openxmlformats.org/drawingml/2006/main">
              <a:ext uri="{FF2B5EF4-FFF2-40B4-BE49-F238E27FC236}">
                <a16:creationId xmlns:a16="http://schemas.microsoft.com/office/drawing/2014/main" id="{053FE047-580A-450A-9350-44156D51BF7C}"/>
              </a:ext>
            </a:extLst>
          </p:cNvPr>
          <p:cNvSpPr>
            <a:spLocks xmlns:a="http://schemas.openxmlformats.org/drawingml/2006/main" noGrp="1"/>
          </p:cNvSpPr>
          <p:nvPr/>
        </p:nvSpPr>
        <p:spPr>
          <a:xfrm xmlns:a="http://schemas.openxmlformats.org/drawingml/2006/main">
            <a:off x="1466850" y="5191125"/>
            <a:ext cx="600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163" b="1">
                <a:solidFill>
                  <a:srgbClr val="082638"/>
                </a:solidFill>
                <a:latin typeface="Aptos"/>
                <a:ea typeface="Aptos"/>
                <a:cs typeface="Aptos"/>
              </a:defRPr>
            </a:pPr>
            <a:r>
              <a:rPr sz="1163" b="1">
                <a:solidFill>
                  <a:srgbClr val="082638"/>
                </a:solidFill>
                <a:latin typeface="Aptos"/>
                <a:ea typeface="Aptos"/>
                <a:cs typeface="Aptos"/>
              </a:rPr>
              <a:t>Why a visible explanation is necessary—but not sufficient</a:t>
            </a:r>
          </a:p>
        </p:txBody>
      </p:sp>
      <p:sp>
        <p:nvSpPr>
          <p:cNvPr id="36" name="">
            <a:extLst xmlns:a="http://schemas.openxmlformats.org/drawingml/2006/main">
              <a:ext uri="{FF2B5EF4-FFF2-40B4-BE49-F238E27FC236}">
                <a16:creationId xmlns:a16="http://schemas.microsoft.com/office/drawing/2014/main" id="{150DAE2F-C5E9-4E6D-8BC4-09184798B695}"/>
              </a:ext>
            </a:extLst>
          </p:cNvPr>
          <p:cNvSpPr>
            <a:spLocks xmlns:a="http://schemas.openxmlformats.org/drawingml/2006/main" noGrp="1"/>
          </p:cNvSpPr>
          <p:nvPr/>
        </p:nvSpPr>
        <p:spPr>
          <a:xfrm xmlns:a="http://schemas.openxmlformats.org/drawingml/2006/main">
            <a:off x="7620000" y="5191125"/>
            <a:ext cx="3638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863" b="0">
                <a:solidFill>
                  <a:srgbClr val="2F6F9F"/>
                </a:solidFill>
                <a:latin typeface="Aptos"/>
                <a:ea typeface="Aptos"/>
                <a:cs typeface="Aptos"/>
              </a:defRPr>
            </a:pPr>
            <a:r>
              <a:rPr sz="863" b="0">
                <a:solidFill>
                  <a:srgbClr val="2F6F9F"/>
                </a:solidFill>
                <a:latin typeface="Aptos"/>
                <a:ea typeface="Aptos"/>
                <a:cs typeface="Aptos"/>
              </a:rPr>
              <a:t>https://www.sciencedirect.com/science/article/pii/B9780443239793000063</a:t>
            </a:r>
          </a:p>
        </p:txBody>
      </p:sp>
      <p:sp>
        <p:nvSpPr>
          <p:cNvPr id="37" name="">
            <a:extLst xmlns:a="http://schemas.openxmlformats.org/drawingml/2006/main">
              <a:ext uri="{FF2B5EF4-FFF2-40B4-BE49-F238E27FC236}">
                <a16:creationId xmlns:a16="http://schemas.microsoft.com/office/drawing/2014/main" id="{9451A20C-2B9E-46C5-A91C-777A5E135ACD}"/>
              </a:ext>
            </a:extLst>
          </p:cNvPr>
          <p:cNvSpPr>
            <a:spLocks xmlns:a="http://schemas.openxmlformats.org/drawingml/2006/main" noGrp="1"/>
          </p:cNvSpPr>
          <p:nvPr/>
        </p:nvSpPr>
        <p:spPr>
          <a:xfrm xmlns:a="http://schemas.openxmlformats.org/drawingml/2006/main">
            <a:off x="619125" y="5600700"/>
            <a:ext cx="10648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Tree>
    <p:extLst>
      <p:ext uri="{BB962C8B-B14F-4D97-AF65-F5344CB8AC3E}">
        <p14:creationId xmlns:p14="http://schemas.microsoft.com/office/powerpoint/2010/main" val="158452080"/>
      </p:ext>
    </p:extLst>
  </p:cSld>
</p:sld>
</file>

<file path=ppt/slides/slide6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2FDDFA-D6DE-4CD5-8BBC-DA53CFD222B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63747C"/>
          </a:solidFill>
          <a:ln xmlns:a="http://schemas.openxmlformats.org/drawingml/2006/main" w="0">
            <a:solidFill>
              <a:srgbClr val="63747C"/>
            </a:solidFill>
            <a:prstDash val="solid"/>
          </a:ln>
        </p:spPr>
      </p:sp>
      <p:sp>
        <p:nvSpPr>
          <p:cNvPr id="2" name="">
            <a:extLst xmlns:a="http://schemas.openxmlformats.org/drawingml/2006/main">
              <a:ext uri="{FF2B5EF4-FFF2-40B4-BE49-F238E27FC236}">
                <a16:creationId xmlns:a16="http://schemas.microsoft.com/office/drawing/2014/main" id="{FA127677-F65A-47F1-981E-1E678E09E728}"/>
              </a:ext>
            </a:extLst>
          </p:cNvPr>
          <p:cNvSpPr>
            <a:spLocks xmlns:a="http://schemas.openxmlformats.org/drawingml/2006/main" noGrp="1"/>
          </p:cNvSpPr>
          <p:nvPr/>
        </p:nvSpPr>
        <p:spPr>
          <a:xfrm xmlns:a="http://schemas.openxmlformats.org/drawingml/2006/main">
            <a:off x="590550" y="285750"/>
            <a:ext cx="164592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89900"/>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APPENDIX FALLBACK MATRIX</a:t>
            </a:r>
          </a:p>
        </p:txBody>
      </p:sp>
      <p:sp>
        <p:nvSpPr>
          <p:cNvPr id="3" name="">
            <a:extLst xmlns:a="http://schemas.openxmlformats.org/drawingml/2006/main">
              <a:ext uri="{FF2B5EF4-FFF2-40B4-BE49-F238E27FC236}">
                <a16:creationId xmlns:a16="http://schemas.microsoft.com/office/drawing/2014/main" id="{20521FE2-F5CD-45A0-8C08-EC961B49DAA7}"/>
              </a:ext>
            </a:extLst>
          </p:cNvPr>
          <p:cNvSpPr>
            <a:spLocks xmlns:a="http://schemas.openxmlformats.org/drawingml/2006/main" noGrp="1"/>
          </p:cNvSpPr>
          <p:nvPr/>
        </p:nvSpPr>
        <p:spPr>
          <a:xfrm xmlns:a="http://schemas.openxmlformats.org/drawingml/2006/main">
            <a:off x="590550" y="685800"/>
            <a:ext cx="11001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775" b="1">
                <a:solidFill>
                  <a:srgbClr val="082638"/>
                </a:solidFill>
                <a:latin typeface="Aptos"/>
                <a:ea typeface="Aptos"/>
                <a:cs typeface="Aptos"/>
              </a:defRPr>
            </a:pPr>
            <a:r>
              <a:rPr sz="2775" b="1">
                <a:solidFill>
                  <a:srgbClr val="082638"/>
                </a:solidFill>
                <a:latin typeface="Aptos"/>
                <a:ea typeface="Aptos"/>
                <a:cs typeface="Aptos"/>
              </a:rPr>
              <a:t>Demo failure is a facilitation branch—not a workshop failure</a:t>
            </a:r>
          </a:p>
        </p:txBody>
      </p:sp>
      <p:sp>
        <p:nvSpPr>
          <p:cNvPr id="4" name="">
            <a:extLst xmlns:a="http://schemas.openxmlformats.org/drawingml/2006/main">
              <a:ext uri="{FF2B5EF4-FFF2-40B4-BE49-F238E27FC236}">
                <a16:creationId xmlns:a16="http://schemas.microsoft.com/office/drawing/2014/main" id="{5CB8C3BE-E117-4B55-97AF-0E58312D3666}"/>
              </a:ext>
            </a:extLst>
          </p:cNvPr>
          <p:cNvSpPr>
            <a:spLocks xmlns:a="http://schemas.openxmlformats.org/drawingml/2006/main" noGrp="1"/>
          </p:cNvSpPr>
          <p:nvPr/>
        </p:nvSpPr>
        <p:spPr>
          <a:xfrm xmlns:a="http://schemas.openxmlformats.org/drawingml/2006/main">
            <a:off x="590550" y="1447800"/>
            <a:ext cx="1102995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5" name="">
            <a:extLst xmlns:a="http://schemas.openxmlformats.org/drawingml/2006/main">
              <a:ext uri="{FF2B5EF4-FFF2-40B4-BE49-F238E27FC236}">
                <a16:creationId xmlns:a16="http://schemas.microsoft.com/office/drawing/2014/main" id="{EBBD6B3E-D7F0-4F85-AF24-2A99230CCD8A}"/>
              </a:ext>
            </a:extLst>
          </p:cNvPr>
          <p:cNvSpPr>
            <a:spLocks xmlns:a="http://schemas.openxmlformats.org/drawingml/2006/main" noGrp="1"/>
          </p:cNvSpPr>
          <p:nvPr/>
        </p:nvSpPr>
        <p:spPr>
          <a:xfrm xmlns:a="http://schemas.openxmlformats.org/drawingml/2006/main">
            <a:off x="552450" y="6400800"/>
            <a:ext cx="11087100" cy="0"/>
          </a:xfrm>
          <a:prstGeom xmlns:a="http://schemas.openxmlformats.org/drawingml/2006/main" prst="line">
            <a:avLst/>
          </a:prstGeom>
          <a:noFill xmlns:a="http://schemas.openxmlformats.org/drawingml/2006/main"/>
          <a:ln xmlns:a="http://schemas.openxmlformats.org/drawingml/2006/main" w="9525">
            <a:solidFill>
              <a:srgbClr val="D3DDDE"/>
            </a:solidFill>
            <a:prstDash val="solid"/>
          </a:ln>
        </p:spPr>
      </p:sp>
      <p:sp>
        <p:nvSpPr>
          <p:cNvPr id="6" name="">
            <a:extLst xmlns:a="http://schemas.openxmlformats.org/drawingml/2006/main">
              <a:ext uri="{FF2B5EF4-FFF2-40B4-BE49-F238E27FC236}">
                <a16:creationId xmlns:a16="http://schemas.microsoft.com/office/drawing/2014/main" id="{60046630-338B-4BBF-A4BD-F1ABF114A171}"/>
              </a:ext>
            </a:extLst>
          </p:cNvPr>
          <p:cNvSpPr>
            <a:spLocks xmlns:a="http://schemas.openxmlformats.org/drawingml/2006/main" noGrp="1"/>
          </p:cNvSpPr>
          <p:nvPr/>
        </p:nvSpPr>
        <p:spPr>
          <a:xfrm xmlns:a="http://schemas.openxmlformats.org/drawingml/2006/main">
            <a:off x="590550" y="64865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713" b="0">
                <a:solidFill>
                  <a:srgbClr val="63747C"/>
                </a:solidFill>
                <a:latin typeface="Aptos"/>
                <a:ea typeface="Aptos"/>
                <a:cs typeface="Aptos"/>
              </a:defRPr>
            </a:pPr>
            <a:r>
              <a:rPr sz="713" b="0">
                <a:solidFill>
                  <a:srgbClr val="63747C"/>
                </a:solidFill>
                <a:latin typeface="Aptos"/>
                <a:ea typeface="Aptos"/>
                <a:cs typeface="Aptos"/>
              </a:rPr>
              <a:t>Patient-Centric Healthcare 5.0  •  Dr. Alok Tiwari</a:t>
            </a:r>
          </a:p>
        </p:txBody>
      </p:sp>
      <p:sp>
        <p:nvSpPr>
          <p:cNvPr id="7" name="">
            <a:extLst xmlns:a="http://schemas.openxmlformats.org/drawingml/2006/main">
              <a:ext uri="{FF2B5EF4-FFF2-40B4-BE49-F238E27FC236}">
                <a16:creationId xmlns:a16="http://schemas.microsoft.com/office/drawing/2014/main" id="{5F455D01-640B-4D9D-951D-9143957992BA}"/>
              </a:ext>
            </a:extLst>
          </p:cNvPr>
          <p:cNvSpPr>
            <a:spLocks xmlns:a="http://schemas.openxmlformats.org/drawingml/2006/main" noGrp="1"/>
          </p:cNvSpPr>
          <p:nvPr/>
        </p:nvSpPr>
        <p:spPr>
          <a:xfrm xmlns:a="http://schemas.openxmlformats.org/drawingml/2006/main">
            <a:off x="10839450" y="6457950"/>
            <a:ext cx="571500" cy="266700"/>
          </a:xfrm>
          <a:prstGeom xmlns:a="http://schemas.openxmlformats.org/drawingml/2006/main" prst="roundRect">
            <a:avLst>
              <a:gd name="adj" fmla="val 50000"/>
            </a:avLst>
          </a:prstGeom>
          <a:solidFill xmlns:a="http://schemas.openxmlformats.org/drawingml/2006/main">
            <a:srgbClr val="63747C"/>
          </a:solidFill>
          <a:ln xmlns:a="http://schemas.openxmlformats.org/drawingml/2006/main" w="9525">
            <a:solidFill>
              <a:srgbClr val="63747C"/>
            </a:solidFill>
            <a:prstDash val="solid"/>
          </a:ln>
        </p:spPr>
        <p:txBody>
          <a:bodyPr xmlns:a="http://schemas.openxmlformats.org/drawingml/2006/main" lIns="47625" tIns="19050" rIns="47625" bIns="19050" anchor="ctr">
            <a:normAutofit fontScale="71154"/>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APPENDIX</a:t>
            </a:r>
          </a:p>
        </p:txBody>
      </p:sp>
      <p:sp>
        <p:nvSpPr>
          <p:cNvPr id="8" name="">
            <a:extLst xmlns:a="http://schemas.openxmlformats.org/drawingml/2006/main">
              <a:ext uri="{FF2B5EF4-FFF2-40B4-BE49-F238E27FC236}">
                <a16:creationId xmlns:a16="http://schemas.microsoft.com/office/drawing/2014/main" id="{D19A072C-893C-4B43-AC68-D5F533DF938A}"/>
              </a:ext>
            </a:extLst>
          </p:cNvPr>
          <p:cNvSpPr>
            <a:spLocks xmlns:a="http://schemas.openxmlformats.org/drawingml/2006/main" noGrp="1"/>
          </p:cNvSpPr>
          <p:nvPr/>
        </p:nvSpPr>
        <p:spPr>
          <a:xfrm xmlns:a="http://schemas.openxmlformats.org/drawingml/2006/main">
            <a:off x="11458575" y="6486525"/>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3000"/>
              </a:lnSpc>
              <a:buNone/>
              <a:defRPr sz="750" b="1">
                <a:solidFill>
                  <a:srgbClr val="082638"/>
                </a:solidFill>
                <a:latin typeface="Aptos"/>
                <a:ea typeface="Aptos"/>
                <a:cs typeface="Aptos"/>
              </a:defRPr>
            </a:pPr>
            <a:r>
              <a:rPr sz="750" b="1">
                <a:solidFill>
                  <a:srgbClr val="082638"/>
                </a:solidFill>
                <a:latin typeface="Aptos"/>
                <a:ea typeface="Aptos"/>
                <a:cs typeface="Aptos"/>
              </a:rPr>
              <a:t>61</a:t>
            </a:r>
          </a:p>
        </p:txBody>
      </p:sp>
      <p:sp>
        <p:nvSpPr>
          <p:cNvPr id="9" name="">
            <a:extLst xmlns:a="http://schemas.openxmlformats.org/drawingml/2006/main">
              <a:ext uri="{FF2B5EF4-FFF2-40B4-BE49-F238E27FC236}">
                <a16:creationId xmlns:a16="http://schemas.microsoft.com/office/drawing/2014/main" id="{C5E1701E-858C-4C1D-A090-460F8A5E8615}"/>
              </a:ext>
            </a:extLst>
          </p:cNvPr>
          <p:cNvSpPr>
            <a:spLocks xmlns:a="http://schemas.openxmlformats.org/drawingml/2006/main" noGrp="1"/>
          </p:cNvSpPr>
          <p:nvPr/>
        </p:nvSpPr>
        <p:spPr>
          <a:xfrm xmlns:a="http://schemas.openxmlformats.org/drawingml/2006/main">
            <a:off x="609600" y="1733550"/>
            <a:ext cx="2457450" cy="400050"/>
          </a:xfrm>
          <a:prstGeom xmlns:a="http://schemas.openxmlformats.org/drawingml/2006/main" prst="rect">
            <a:avLst/>
          </a:prstGeom>
          <a:solidFill xmlns:a="http://schemas.openxmlformats.org/drawingml/2006/main">
            <a:srgbClr val="63747C"/>
          </a:solidFill>
          <a:ln xmlns:a="http://schemas.openxmlformats.org/drawingml/2006/main" w="0">
            <a:solidFill>
              <a:srgbClr val="63747C"/>
            </a:solidFill>
            <a:prstDash val="solid"/>
          </a:ln>
        </p:spPr>
      </p:sp>
      <p:sp>
        <p:nvSpPr>
          <p:cNvPr id="10" name="">
            <a:extLst xmlns:a="http://schemas.openxmlformats.org/drawingml/2006/main">
              <a:ext uri="{FF2B5EF4-FFF2-40B4-BE49-F238E27FC236}">
                <a16:creationId xmlns:a16="http://schemas.microsoft.com/office/drawing/2014/main" id="{DC8A2F10-A5E0-4331-98E7-EAC44142CCEA}"/>
              </a:ext>
            </a:extLst>
          </p:cNvPr>
          <p:cNvSpPr>
            <a:spLocks xmlns:a="http://schemas.openxmlformats.org/drawingml/2006/main" noGrp="1"/>
          </p:cNvSpPr>
          <p:nvPr/>
        </p:nvSpPr>
        <p:spPr>
          <a:xfrm xmlns:a="http://schemas.openxmlformats.org/drawingml/2006/main">
            <a:off x="685800" y="1847850"/>
            <a:ext cx="2305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938" b="1">
                <a:solidFill>
                  <a:srgbClr val="FFFFFF"/>
                </a:solidFill>
                <a:latin typeface="Aptos"/>
                <a:ea typeface="Aptos"/>
                <a:cs typeface="Aptos"/>
              </a:defRPr>
            </a:pPr>
            <a:r>
              <a:rPr sz="938" b="1">
                <a:solidFill>
                  <a:srgbClr val="FFFFFF"/>
                </a:solidFill>
                <a:latin typeface="Aptos"/>
                <a:ea typeface="Aptos"/>
                <a:cs typeface="Aptos"/>
              </a:rPr>
              <a:t>FAILURE</a:t>
            </a:r>
          </a:p>
        </p:txBody>
      </p:sp>
      <p:sp>
        <p:nvSpPr>
          <p:cNvPr id="11" name="">
            <a:extLst xmlns:a="http://schemas.openxmlformats.org/drawingml/2006/main">
              <a:ext uri="{FF2B5EF4-FFF2-40B4-BE49-F238E27FC236}">
                <a16:creationId xmlns:a16="http://schemas.microsoft.com/office/drawing/2014/main" id="{D005C03F-1E8C-4DC0-9F0A-E1B6732F5169}"/>
              </a:ext>
            </a:extLst>
          </p:cNvPr>
          <p:cNvSpPr>
            <a:spLocks xmlns:a="http://schemas.openxmlformats.org/drawingml/2006/main" noGrp="1"/>
          </p:cNvSpPr>
          <p:nvPr/>
        </p:nvSpPr>
        <p:spPr>
          <a:xfrm xmlns:a="http://schemas.openxmlformats.org/drawingml/2006/main">
            <a:off x="3124200" y="1733550"/>
            <a:ext cx="3162300" cy="400050"/>
          </a:xfrm>
          <a:prstGeom xmlns:a="http://schemas.openxmlformats.org/drawingml/2006/main" prst="rect">
            <a:avLst/>
          </a:prstGeom>
          <a:solidFill xmlns:a="http://schemas.openxmlformats.org/drawingml/2006/main">
            <a:srgbClr val="63747C"/>
          </a:solidFill>
          <a:ln xmlns:a="http://schemas.openxmlformats.org/drawingml/2006/main" w="0">
            <a:solidFill>
              <a:srgbClr val="63747C"/>
            </a:solidFill>
            <a:prstDash val="solid"/>
          </a:ln>
        </p:spPr>
      </p:sp>
      <p:sp>
        <p:nvSpPr>
          <p:cNvPr id="12" name="">
            <a:extLst xmlns:a="http://schemas.openxmlformats.org/drawingml/2006/main">
              <a:ext uri="{FF2B5EF4-FFF2-40B4-BE49-F238E27FC236}">
                <a16:creationId xmlns:a16="http://schemas.microsoft.com/office/drawing/2014/main" id="{717B40BD-5CFD-404E-AE8E-C1F18BB614D9}"/>
              </a:ext>
            </a:extLst>
          </p:cNvPr>
          <p:cNvSpPr>
            <a:spLocks xmlns:a="http://schemas.openxmlformats.org/drawingml/2006/main" noGrp="1"/>
          </p:cNvSpPr>
          <p:nvPr/>
        </p:nvSpPr>
        <p:spPr>
          <a:xfrm xmlns:a="http://schemas.openxmlformats.org/drawingml/2006/main">
            <a:off x="3200400" y="184785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938" b="1">
                <a:solidFill>
                  <a:srgbClr val="FFFFFF"/>
                </a:solidFill>
                <a:latin typeface="Aptos"/>
                <a:ea typeface="Aptos"/>
                <a:cs typeface="Aptos"/>
              </a:defRPr>
            </a:pPr>
            <a:r>
              <a:rPr sz="938" b="1">
                <a:solidFill>
                  <a:srgbClr val="FFFFFF"/>
                </a:solidFill>
                <a:latin typeface="Aptos"/>
                <a:ea typeface="Aptos"/>
                <a:cs typeface="Aptos"/>
              </a:rPr>
              <a:t>FALLBACK</a:t>
            </a:r>
          </a:p>
        </p:txBody>
      </p:sp>
      <p:sp>
        <p:nvSpPr>
          <p:cNvPr id="13" name="">
            <a:extLst xmlns:a="http://schemas.openxmlformats.org/drawingml/2006/main">
              <a:ext uri="{FF2B5EF4-FFF2-40B4-BE49-F238E27FC236}">
                <a16:creationId xmlns:a16="http://schemas.microsoft.com/office/drawing/2014/main" id="{DF930DE4-13DE-4BF8-9720-3FEE5BE88550}"/>
              </a:ext>
            </a:extLst>
          </p:cNvPr>
          <p:cNvSpPr>
            <a:spLocks xmlns:a="http://schemas.openxmlformats.org/drawingml/2006/main" noGrp="1"/>
          </p:cNvSpPr>
          <p:nvPr/>
        </p:nvSpPr>
        <p:spPr>
          <a:xfrm xmlns:a="http://schemas.openxmlformats.org/drawingml/2006/main">
            <a:off x="6343650" y="1733550"/>
            <a:ext cx="4953000" cy="400050"/>
          </a:xfrm>
          <a:prstGeom xmlns:a="http://schemas.openxmlformats.org/drawingml/2006/main" prst="rect">
            <a:avLst/>
          </a:prstGeom>
          <a:solidFill xmlns:a="http://schemas.openxmlformats.org/drawingml/2006/main">
            <a:srgbClr val="63747C"/>
          </a:solidFill>
          <a:ln xmlns:a="http://schemas.openxmlformats.org/drawingml/2006/main" w="0">
            <a:solidFill>
              <a:srgbClr val="63747C"/>
            </a:solidFill>
            <a:prstDash val="solid"/>
          </a:ln>
        </p:spPr>
      </p:sp>
      <p:sp>
        <p:nvSpPr>
          <p:cNvPr id="14" name="">
            <a:extLst xmlns:a="http://schemas.openxmlformats.org/drawingml/2006/main">
              <a:ext uri="{FF2B5EF4-FFF2-40B4-BE49-F238E27FC236}">
                <a16:creationId xmlns:a16="http://schemas.microsoft.com/office/drawing/2014/main" id="{1F1EDB7E-54DC-4B3F-BFC9-AD923786AFE1}"/>
              </a:ext>
            </a:extLst>
          </p:cNvPr>
          <p:cNvSpPr>
            <a:spLocks xmlns:a="http://schemas.openxmlformats.org/drawingml/2006/main" noGrp="1"/>
          </p:cNvSpPr>
          <p:nvPr/>
        </p:nvSpPr>
        <p:spPr>
          <a:xfrm xmlns:a="http://schemas.openxmlformats.org/drawingml/2006/main">
            <a:off x="6419850" y="1847850"/>
            <a:ext cx="480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938" b="1">
                <a:solidFill>
                  <a:srgbClr val="FFFFFF"/>
                </a:solidFill>
                <a:latin typeface="Aptos"/>
                <a:ea typeface="Aptos"/>
                <a:cs typeface="Aptos"/>
              </a:defRPr>
            </a:pPr>
            <a:r>
              <a:rPr sz="938" b="1">
                <a:solidFill>
                  <a:srgbClr val="FFFFFF"/>
                </a:solidFill>
                <a:latin typeface="Aptos"/>
                <a:ea typeface="Aptos"/>
                <a:cs typeface="Aptos"/>
              </a:rPr>
              <a:t>LEARNING PRESERVED</a:t>
            </a:r>
          </a:p>
        </p:txBody>
      </p:sp>
      <p:sp>
        <p:nvSpPr>
          <p:cNvPr id="15" name="">
            <a:extLst xmlns:a="http://schemas.openxmlformats.org/drawingml/2006/main">
              <a:ext uri="{FF2B5EF4-FFF2-40B4-BE49-F238E27FC236}">
                <a16:creationId xmlns:a16="http://schemas.microsoft.com/office/drawing/2014/main" id="{CC80BE78-FC0E-4F69-BADC-2937F6D08022}"/>
              </a:ext>
            </a:extLst>
          </p:cNvPr>
          <p:cNvSpPr>
            <a:spLocks xmlns:a="http://schemas.openxmlformats.org/drawingml/2006/main" noGrp="1"/>
          </p:cNvSpPr>
          <p:nvPr/>
        </p:nvSpPr>
        <p:spPr>
          <a:xfrm xmlns:a="http://schemas.openxmlformats.org/drawingml/2006/main">
            <a:off x="609600" y="2133600"/>
            <a:ext cx="2457450" cy="552450"/>
          </a:xfrm>
          <a:prstGeom xmlns:a="http://schemas.openxmlformats.org/drawingml/2006/main" prst="rect">
            <a:avLst/>
          </a:prstGeom>
          <a:solidFill xmlns:a="http://schemas.openxmlformats.org/drawingml/2006/main">
            <a:srgbClr val="E2EEF7"/>
          </a:solidFill>
          <a:ln xmlns:a="http://schemas.openxmlformats.org/drawingml/2006/main" w="9525">
            <a:solidFill>
              <a:srgbClr val="D3DDDE"/>
            </a:solidFill>
            <a:prstDash val="solid"/>
          </a:ln>
        </p:spPr>
      </p:sp>
      <p:sp>
        <p:nvSpPr>
          <p:cNvPr id="16" name="">
            <a:extLst xmlns:a="http://schemas.openxmlformats.org/drawingml/2006/main">
              <a:ext uri="{FF2B5EF4-FFF2-40B4-BE49-F238E27FC236}">
                <a16:creationId xmlns:a16="http://schemas.microsoft.com/office/drawing/2014/main" id="{46C40AD2-0A6A-4C6A-83C7-26DF00976F95}"/>
              </a:ext>
            </a:extLst>
          </p:cNvPr>
          <p:cNvSpPr>
            <a:spLocks xmlns:a="http://schemas.openxmlformats.org/drawingml/2006/main" noGrp="1"/>
          </p:cNvSpPr>
          <p:nvPr/>
        </p:nvSpPr>
        <p:spPr>
          <a:xfrm xmlns:a="http://schemas.openxmlformats.org/drawingml/2006/main">
            <a:off x="695325" y="22288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088" b="1">
                <a:solidFill>
                  <a:srgbClr val="B7433D"/>
                </a:solidFill>
                <a:latin typeface="Aptos"/>
                <a:ea typeface="Aptos"/>
                <a:cs typeface="Aptos"/>
              </a:defRPr>
            </a:pPr>
            <a:r>
              <a:rPr sz="1088" b="1">
                <a:solidFill>
                  <a:srgbClr val="B7433D"/>
                </a:solidFill>
                <a:latin typeface="Aptos"/>
                <a:ea typeface="Aptos"/>
                <a:cs typeface="Aptos"/>
              </a:rPr>
              <a:t>No account</a:t>
            </a:r>
          </a:p>
        </p:txBody>
      </p:sp>
      <p:sp>
        <p:nvSpPr>
          <p:cNvPr id="17" name="">
            <a:extLst xmlns:a="http://schemas.openxmlformats.org/drawingml/2006/main">
              <a:ext uri="{FF2B5EF4-FFF2-40B4-BE49-F238E27FC236}">
                <a16:creationId xmlns:a16="http://schemas.microsoft.com/office/drawing/2014/main" id="{6C11AED0-5379-411D-87A7-A56778F175AA}"/>
              </a:ext>
            </a:extLst>
          </p:cNvPr>
          <p:cNvSpPr>
            <a:spLocks xmlns:a="http://schemas.openxmlformats.org/drawingml/2006/main" noGrp="1"/>
          </p:cNvSpPr>
          <p:nvPr/>
        </p:nvSpPr>
        <p:spPr>
          <a:xfrm xmlns:a="http://schemas.openxmlformats.org/drawingml/2006/main">
            <a:off x="3124200" y="2133600"/>
            <a:ext cx="3162300" cy="552450"/>
          </a:xfrm>
          <a:prstGeom xmlns:a="http://schemas.openxmlformats.org/drawingml/2006/main" prst="rect">
            <a:avLst/>
          </a:prstGeom>
          <a:solidFill xmlns:a="http://schemas.openxmlformats.org/drawingml/2006/main">
            <a:srgbClr val="E2EEF7"/>
          </a:solidFill>
          <a:ln xmlns:a="http://schemas.openxmlformats.org/drawingml/2006/main" w="9525">
            <a:solidFill>
              <a:srgbClr val="D3DDDE"/>
            </a:solidFill>
            <a:prstDash val="solid"/>
          </a:ln>
        </p:spPr>
      </p:sp>
      <p:sp>
        <p:nvSpPr>
          <p:cNvPr id="18" name="">
            <a:extLst xmlns:a="http://schemas.openxmlformats.org/drawingml/2006/main">
              <a:ext uri="{FF2B5EF4-FFF2-40B4-BE49-F238E27FC236}">
                <a16:creationId xmlns:a16="http://schemas.microsoft.com/office/drawing/2014/main" id="{18244E26-71C9-4CFE-9E6B-9F672A33F218}"/>
              </a:ext>
            </a:extLst>
          </p:cNvPr>
          <p:cNvSpPr>
            <a:spLocks xmlns:a="http://schemas.openxmlformats.org/drawingml/2006/main" noGrp="1"/>
          </p:cNvSpPr>
          <p:nvPr/>
        </p:nvSpPr>
        <p:spPr>
          <a:xfrm xmlns:a="http://schemas.openxmlformats.org/drawingml/2006/main">
            <a:off x="3209925" y="222885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088" b="0">
                <a:solidFill>
                  <a:srgbClr val="183340"/>
                </a:solidFill>
                <a:latin typeface="Aptos"/>
                <a:ea typeface="Aptos"/>
                <a:cs typeface="Aptos"/>
              </a:defRPr>
            </a:pPr>
            <a:r>
              <a:rPr sz="1088" b="0">
                <a:solidFill>
                  <a:srgbClr val="183340"/>
                </a:solidFill>
                <a:latin typeface="Aptos"/>
                <a:ea typeface="Aptos"/>
                <a:cs typeface="Aptos"/>
              </a:rPr>
              <a:t>Prepared screenshots/output</a:t>
            </a:r>
          </a:p>
        </p:txBody>
      </p:sp>
      <p:sp>
        <p:nvSpPr>
          <p:cNvPr id="19" name="">
            <a:extLst xmlns:a="http://schemas.openxmlformats.org/drawingml/2006/main">
              <a:ext uri="{FF2B5EF4-FFF2-40B4-BE49-F238E27FC236}">
                <a16:creationId xmlns:a16="http://schemas.microsoft.com/office/drawing/2014/main" id="{54371083-0BEB-421D-8D61-CDDC831DA77A}"/>
              </a:ext>
            </a:extLst>
          </p:cNvPr>
          <p:cNvSpPr>
            <a:spLocks xmlns:a="http://schemas.openxmlformats.org/drawingml/2006/main" noGrp="1"/>
          </p:cNvSpPr>
          <p:nvPr/>
        </p:nvSpPr>
        <p:spPr>
          <a:xfrm xmlns:a="http://schemas.openxmlformats.org/drawingml/2006/main">
            <a:off x="6343650" y="2133600"/>
            <a:ext cx="4953000" cy="552450"/>
          </a:xfrm>
          <a:prstGeom xmlns:a="http://schemas.openxmlformats.org/drawingml/2006/main" prst="rect">
            <a:avLst/>
          </a:prstGeom>
          <a:solidFill xmlns:a="http://schemas.openxmlformats.org/drawingml/2006/main">
            <a:srgbClr val="E2EEF7"/>
          </a:solidFill>
          <a:ln xmlns:a="http://schemas.openxmlformats.org/drawingml/2006/main" w="9525">
            <a:solidFill>
              <a:srgbClr val="D3DDDE"/>
            </a:solidFill>
            <a:prstDash val="solid"/>
          </a:ln>
        </p:spPr>
      </p:sp>
      <p:sp>
        <p:nvSpPr>
          <p:cNvPr id="20" name="">
            <a:extLst xmlns:a="http://schemas.openxmlformats.org/drawingml/2006/main">
              <a:ext uri="{FF2B5EF4-FFF2-40B4-BE49-F238E27FC236}">
                <a16:creationId xmlns:a16="http://schemas.microsoft.com/office/drawing/2014/main" id="{044AB828-8EB3-4CA2-BFF4-C2C1FD802B00}"/>
              </a:ext>
            </a:extLst>
          </p:cNvPr>
          <p:cNvSpPr>
            <a:spLocks xmlns:a="http://schemas.openxmlformats.org/drawingml/2006/main" noGrp="1"/>
          </p:cNvSpPr>
          <p:nvPr/>
        </p:nvSpPr>
        <p:spPr>
          <a:xfrm xmlns:a="http://schemas.openxmlformats.org/drawingml/2006/main">
            <a:off x="6429375" y="2228850"/>
            <a:ext cx="478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088" b="0">
                <a:solidFill>
                  <a:srgbClr val="183340"/>
                </a:solidFill>
                <a:latin typeface="Aptos"/>
                <a:ea typeface="Aptos"/>
                <a:cs typeface="Aptos"/>
              </a:defRPr>
            </a:pPr>
            <a:r>
              <a:rPr sz="1088" b="0">
                <a:solidFill>
                  <a:srgbClr val="183340"/>
                </a:solidFill>
                <a:latin typeface="Aptos"/>
                <a:ea typeface="Aptos"/>
                <a:cs typeface="Aptos"/>
              </a:rPr>
              <a:t>Analyse output with same prompt + checkpoint</a:t>
            </a:r>
          </a:p>
        </p:txBody>
      </p:sp>
      <p:sp>
        <p:nvSpPr>
          <p:cNvPr id="21" name="">
            <a:extLst xmlns:a="http://schemas.openxmlformats.org/drawingml/2006/main">
              <a:ext uri="{FF2B5EF4-FFF2-40B4-BE49-F238E27FC236}">
                <a16:creationId xmlns:a16="http://schemas.microsoft.com/office/drawing/2014/main" id="{9382D0C0-8C0A-4733-8860-4A4E611FB07E}"/>
              </a:ext>
            </a:extLst>
          </p:cNvPr>
          <p:cNvSpPr>
            <a:spLocks xmlns:a="http://schemas.openxmlformats.org/drawingml/2006/main" noGrp="1"/>
          </p:cNvSpPr>
          <p:nvPr/>
        </p:nvSpPr>
        <p:spPr>
          <a:xfrm xmlns:a="http://schemas.openxmlformats.org/drawingml/2006/main">
            <a:off x="609600" y="2762250"/>
            <a:ext cx="2457450" cy="5524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22" name="">
            <a:extLst xmlns:a="http://schemas.openxmlformats.org/drawingml/2006/main">
              <a:ext uri="{FF2B5EF4-FFF2-40B4-BE49-F238E27FC236}">
                <a16:creationId xmlns:a16="http://schemas.microsoft.com/office/drawing/2014/main" id="{DBAC9CC2-AFB5-4C79-915A-8E49EC792728}"/>
              </a:ext>
            </a:extLst>
          </p:cNvPr>
          <p:cNvSpPr>
            <a:spLocks xmlns:a="http://schemas.openxmlformats.org/drawingml/2006/main" noGrp="1"/>
          </p:cNvSpPr>
          <p:nvPr/>
        </p:nvSpPr>
        <p:spPr>
          <a:xfrm xmlns:a="http://schemas.openxmlformats.org/drawingml/2006/main">
            <a:off x="695325" y="285750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088" b="1">
                <a:solidFill>
                  <a:srgbClr val="B7433D"/>
                </a:solidFill>
                <a:latin typeface="Aptos"/>
                <a:ea typeface="Aptos"/>
                <a:cs typeface="Aptos"/>
              </a:defRPr>
            </a:pPr>
            <a:r>
              <a:rPr sz="1088" b="1">
                <a:solidFill>
                  <a:srgbClr val="B7433D"/>
                </a:solidFill>
                <a:latin typeface="Aptos"/>
                <a:ea typeface="Aptos"/>
                <a:cs typeface="Aptos"/>
              </a:rPr>
              <a:t>Network failure</a:t>
            </a:r>
          </a:p>
        </p:txBody>
      </p:sp>
      <p:sp>
        <p:nvSpPr>
          <p:cNvPr id="23" name="">
            <a:extLst xmlns:a="http://schemas.openxmlformats.org/drawingml/2006/main">
              <a:ext uri="{FF2B5EF4-FFF2-40B4-BE49-F238E27FC236}">
                <a16:creationId xmlns:a16="http://schemas.microsoft.com/office/drawing/2014/main" id="{628E0C68-0F8E-4CA5-91C4-600BACE1E37C}"/>
              </a:ext>
            </a:extLst>
          </p:cNvPr>
          <p:cNvSpPr>
            <a:spLocks xmlns:a="http://schemas.openxmlformats.org/drawingml/2006/main" noGrp="1"/>
          </p:cNvSpPr>
          <p:nvPr/>
        </p:nvSpPr>
        <p:spPr>
          <a:xfrm xmlns:a="http://schemas.openxmlformats.org/drawingml/2006/main">
            <a:off x="3124200" y="2762250"/>
            <a:ext cx="3162300" cy="5524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24" name="">
            <a:extLst xmlns:a="http://schemas.openxmlformats.org/drawingml/2006/main">
              <a:ext uri="{FF2B5EF4-FFF2-40B4-BE49-F238E27FC236}">
                <a16:creationId xmlns:a16="http://schemas.microsoft.com/office/drawing/2014/main" id="{293D762B-47D9-430B-9495-1EA37FD27F16}"/>
              </a:ext>
            </a:extLst>
          </p:cNvPr>
          <p:cNvSpPr>
            <a:spLocks xmlns:a="http://schemas.openxmlformats.org/drawingml/2006/main" noGrp="1"/>
          </p:cNvSpPr>
          <p:nvPr/>
        </p:nvSpPr>
        <p:spPr>
          <a:xfrm xmlns:a="http://schemas.openxmlformats.org/drawingml/2006/main">
            <a:off x="3209925" y="28575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088" b="0">
                <a:solidFill>
                  <a:srgbClr val="183340"/>
                </a:solidFill>
                <a:latin typeface="Aptos"/>
                <a:ea typeface="Aptos"/>
                <a:cs typeface="Aptos"/>
              </a:defRPr>
            </a:pPr>
            <a:r>
              <a:rPr sz="1088" b="0">
                <a:solidFill>
                  <a:srgbClr val="183340"/>
                </a:solidFill>
                <a:latin typeface="Aptos"/>
                <a:ea typeface="Aptos"/>
                <a:cs typeface="Aptos"/>
              </a:rPr>
              <a:t>Offline synthetic packet</a:t>
            </a:r>
          </a:p>
        </p:txBody>
      </p:sp>
      <p:sp>
        <p:nvSpPr>
          <p:cNvPr id="25" name="">
            <a:extLst xmlns:a="http://schemas.openxmlformats.org/drawingml/2006/main">
              <a:ext uri="{FF2B5EF4-FFF2-40B4-BE49-F238E27FC236}">
                <a16:creationId xmlns:a16="http://schemas.microsoft.com/office/drawing/2014/main" id="{040A0BA5-E949-4884-8B02-9CB043F8C05E}"/>
              </a:ext>
            </a:extLst>
          </p:cNvPr>
          <p:cNvSpPr>
            <a:spLocks xmlns:a="http://schemas.openxmlformats.org/drawingml/2006/main" noGrp="1"/>
          </p:cNvSpPr>
          <p:nvPr/>
        </p:nvSpPr>
        <p:spPr>
          <a:xfrm xmlns:a="http://schemas.openxmlformats.org/drawingml/2006/main">
            <a:off x="6343650" y="2762250"/>
            <a:ext cx="4953000" cy="5524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26" name="">
            <a:extLst xmlns:a="http://schemas.openxmlformats.org/drawingml/2006/main">
              <a:ext uri="{FF2B5EF4-FFF2-40B4-BE49-F238E27FC236}">
                <a16:creationId xmlns:a16="http://schemas.microsoft.com/office/drawing/2014/main" id="{1CB240C5-8132-462F-B630-BED6DBCD5679}"/>
              </a:ext>
            </a:extLst>
          </p:cNvPr>
          <p:cNvSpPr>
            <a:spLocks xmlns:a="http://schemas.openxmlformats.org/drawingml/2006/main" noGrp="1"/>
          </p:cNvSpPr>
          <p:nvPr/>
        </p:nvSpPr>
        <p:spPr>
          <a:xfrm xmlns:a="http://schemas.openxmlformats.org/drawingml/2006/main">
            <a:off x="6429375" y="2857500"/>
            <a:ext cx="478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088" b="0">
                <a:solidFill>
                  <a:srgbClr val="183340"/>
                </a:solidFill>
                <a:latin typeface="Aptos"/>
                <a:ea typeface="Aptos"/>
                <a:cs typeface="Aptos"/>
              </a:defRPr>
            </a:pPr>
            <a:r>
              <a:rPr sz="1088" b="0">
                <a:solidFill>
                  <a:srgbClr val="183340"/>
                </a:solidFill>
                <a:latin typeface="Aptos"/>
                <a:ea typeface="Aptos"/>
                <a:cs typeface="Aptos"/>
              </a:rPr>
              <a:t>Role-play reviewer and patient advocate</a:t>
            </a:r>
          </a:p>
        </p:txBody>
      </p:sp>
      <p:sp>
        <p:nvSpPr>
          <p:cNvPr id="27" name="">
            <a:extLst xmlns:a="http://schemas.openxmlformats.org/drawingml/2006/main">
              <a:ext uri="{FF2B5EF4-FFF2-40B4-BE49-F238E27FC236}">
                <a16:creationId xmlns:a16="http://schemas.microsoft.com/office/drawing/2014/main" id="{82E1C366-1F86-4C3F-823A-27CC662EEFE5}"/>
              </a:ext>
            </a:extLst>
          </p:cNvPr>
          <p:cNvSpPr>
            <a:spLocks xmlns:a="http://schemas.openxmlformats.org/drawingml/2006/main" noGrp="1"/>
          </p:cNvSpPr>
          <p:nvPr/>
        </p:nvSpPr>
        <p:spPr>
          <a:xfrm xmlns:a="http://schemas.openxmlformats.org/drawingml/2006/main">
            <a:off x="609600" y="3390900"/>
            <a:ext cx="2457450" cy="552450"/>
          </a:xfrm>
          <a:prstGeom xmlns:a="http://schemas.openxmlformats.org/drawingml/2006/main" prst="rect">
            <a:avLst/>
          </a:prstGeom>
          <a:solidFill xmlns:a="http://schemas.openxmlformats.org/drawingml/2006/main">
            <a:srgbClr val="E2EEF7"/>
          </a:solidFill>
          <a:ln xmlns:a="http://schemas.openxmlformats.org/drawingml/2006/main" w="9525">
            <a:solidFill>
              <a:srgbClr val="D3DDDE"/>
            </a:solidFill>
            <a:prstDash val="solid"/>
          </a:ln>
        </p:spPr>
      </p:sp>
      <p:sp>
        <p:nvSpPr>
          <p:cNvPr id="28" name="">
            <a:extLst xmlns:a="http://schemas.openxmlformats.org/drawingml/2006/main">
              <a:ext uri="{FF2B5EF4-FFF2-40B4-BE49-F238E27FC236}">
                <a16:creationId xmlns:a16="http://schemas.microsoft.com/office/drawing/2014/main" id="{040A1DDC-178E-4021-B422-4B6718AC6DD4}"/>
              </a:ext>
            </a:extLst>
          </p:cNvPr>
          <p:cNvSpPr>
            <a:spLocks xmlns:a="http://schemas.openxmlformats.org/drawingml/2006/main" noGrp="1"/>
          </p:cNvSpPr>
          <p:nvPr/>
        </p:nvSpPr>
        <p:spPr>
          <a:xfrm xmlns:a="http://schemas.openxmlformats.org/drawingml/2006/main">
            <a:off x="695325" y="34861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088" b="1">
                <a:solidFill>
                  <a:srgbClr val="B7433D"/>
                </a:solidFill>
                <a:latin typeface="Aptos"/>
                <a:ea typeface="Aptos"/>
                <a:cs typeface="Aptos"/>
              </a:defRPr>
            </a:pPr>
            <a:r>
              <a:rPr sz="1088" b="1">
                <a:solidFill>
                  <a:srgbClr val="B7433D"/>
                </a:solidFill>
                <a:latin typeface="Aptos"/>
                <a:ea typeface="Aptos"/>
                <a:cs typeface="Aptos"/>
              </a:rPr>
              <a:t>Tool region-blocked</a:t>
            </a:r>
          </a:p>
        </p:txBody>
      </p:sp>
      <p:sp>
        <p:nvSpPr>
          <p:cNvPr id="29" name="">
            <a:extLst xmlns:a="http://schemas.openxmlformats.org/drawingml/2006/main">
              <a:ext uri="{FF2B5EF4-FFF2-40B4-BE49-F238E27FC236}">
                <a16:creationId xmlns:a16="http://schemas.microsoft.com/office/drawing/2014/main" id="{B71372A1-D47C-4934-BA0F-51688559DC40}"/>
              </a:ext>
            </a:extLst>
          </p:cNvPr>
          <p:cNvSpPr>
            <a:spLocks xmlns:a="http://schemas.openxmlformats.org/drawingml/2006/main" noGrp="1"/>
          </p:cNvSpPr>
          <p:nvPr/>
        </p:nvSpPr>
        <p:spPr>
          <a:xfrm xmlns:a="http://schemas.openxmlformats.org/drawingml/2006/main">
            <a:off x="3124200" y="3390900"/>
            <a:ext cx="3162300" cy="552450"/>
          </a:xfrm>
          <a:prstGeom xmlns:a="http://schemas.openxmlformats.org/drawingml/2006/main" prst="rect">
            <a:avLst/>
          </a:prstGeom>
          <a:solidFill xmlns:a="http://schemas.openxmlformats.org/drawingml/2006/main">
            <a:srgbClr val="E2EEF7"/>
          </a:solidFill>
          <a:ln xmlns:a="http://schemas.openxmlformats.org/drawingml/2006/main" w="9525">
            <a:solidFill>
              <a:srgbClr val="D3DDDE"/>
            </a:solidFill>
            <a:prstDash val="solid"/>
          </a:ln>
        </p:spPr>
      </p:sp>
      <p:sp>
        <p:nvSpPr>
          <p:cNvPr id="30" name="">
            <a:extLst xmlns:a="http://schemas.openxmlformats.org/drawingml/2006/main">
              <a:ext uri="{FF2B5EF4-FFF2-40B4-BE49-F238E27FC236}">
                <a16:creationId xmlns:a16="http://schemas.microsoft.com/office/drawing/2014/main" id="{8A136A56-7226-447D-B4EB-2A018B1AF016}"/>
              </a:ext>
            </a:extLst>
          </p:cNvPr>
          <p:cNvSpPr>
            <a:spLocks xmlns:a="http://schemas.openxmlformats.org/drawingml/2006/main" noGrp="1"/>
          </p:cNvSpPr>
          <p:nvPr/>
        </p:nvSpPr>
        <p:spPr>
          <a:xfrm xmlns:a="http://schemas.openxmlformats.org/drawingml/2006/main">
            <a:off x="3209925" y="348615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088" b="0">
                <a:solidFill>
                  <a:srgbClr val="183340"/>
                </a:solidFill>
                <a:latin typeface="Aptos"/>
                <a:ea typeface="Aptos"/>
                <a:cs typeface="Aptos"/>
              </a:defRPr>
            </a:pPr>
            <a:r>
              <a:rPr sz="1088" b="0">
                <a:solidFill>
                  <a:srgbClr val="183340"/>
                </a:solidFill>
                <a:latin typeface="Aptos"/>
                <a:ea typeface="Aptos"/>
                <a:cs typeface="Aptos"/>
              </a:rPr>
              <a:t>ChatGPT paired prompt</a:t>
            </a:r>
          </a:p>
        </p:txBody>
      </p:sp>
      <p:sp>
        <p:nvSpPr>
          <p:cNvPr id="31" name="">
            <a:extLst xmlns:a="http://schemas.openxmlformats.org/drawingml/2006/main">
              <a:ext uri="{FF2B5EF4-FFF2-40B4-BE49-F238E27FC236}">
                <a16:creationId xmlns:a16="http://schemas.microsoft.com/office/drawing/2014/main" id="{C800190B-A577-4D38-B9EB-3D74B9C2190E}"/>
              </a:ext>
            </a:extLst>
          </p:cNvPr>
          <p:cNvSpPr>
            <a:spLocks xmlns:a="http://schemas.openxmlformats.org/drawingml/2006/main" noGrp="1"/>
          </p:cNvSpPr>
          <p:nvPr/>
        </p:nvSpPr>
        <p:spPr>
          <a:xfrm xmlns:a="http://schemas.openxmlformats.org/drawingml/2006/main">
            <a:off x="6343650" y="3390900"/>
            <a:ext cx="4953000" cy="552450"/>
          </a:xfrm>
          <a:prstGeom xmlns:a="http://schemas.openxmlformats.org/drawingml/2006/main" prst="rect">
            <a:avLst/>
          </a:prstGeom>
          <a:solidFill xmlns:a="http://schemas.openxmlformats.org/drawingml/2006/main">
            <a:srgbClr val="E2EEF7"/>
          </a:solidFill>
          <a:ln xmlns:a="http://schemas.openxmlformats.org/drawingml/2006/main" w="9525">
            <a:solidFill>
              <a:srgbClr val="D3DDDE"/>
            </a:solidFill>
            <a:prstDash val="solid"/>
          </a:ln>
        </p:spPr>
      </p:sp>
      <p:sp>
        <p:nvSpPr>
          <p:cNvPr id="32" name="">
            <a:extLst xmlns:a="http://schemas.openxmlformats.org/drawingml/2006/main">
              <a:ext uri="{FF2B5EF4-FFF2-40B4-BE49-F238E27FC236}">
                <a16:creationId xmlns:a16="http://schemas.microsoft.com/office/drawing/2014/main" id="{21795B90-1365-4765-9D46-91F3B9396C5F}"/>
              </a:ext>
            </a:extLst>
          </p:cNvPr>
          <p:cNvSpPr>
            <a:spLocks xmlns:a="http://schemas.openxmlformats.org/drawingml/2006/main" noGrp="1"/>
          </p:cNvSpPr>
          <p:nvPr/>
        </p:nvSpPr>
        <p:spPr>
          <a:xfrm xmlns:a="http://schemas.openxmlformats.org/drawingml/2006/main">
            <a:off x="6429375" y="3486150"/>
            <a:ext cx="478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088" b="0">
                <a:solidFill>
                  <a:srgbClr val="183340"/>
                </a:solidFill>
                <a:latin typeface="Aptos"/>
                <a:ea typeface="Aptos"/>
                <a:cs typeface="Aptos"/>
              </a:defRPr>
            </a:pPr>
            <a:r>
              <a:rPr sz="1088" b="0">
                <a:solidFill>
                  <a:srgbClr val="183340"/>
                </a:solidFill>
                <a:latin typeface="Aptos"/>
                <a:ea typeface="Aptos"/>
                <a:cs typeface="Aptos"/>
              </a:rPr>
              <a:t>Compare to saved specialised-tool output</a:t>
            </a:r>
          </a:p>
        </p:txBody>
      </p:sp>
      <p:sp>
        <p:nvSpPr>
          <p:cNvPr id="33" name="">
            <a:extLst xmlns:a="http://schemas.openxmlformats.org/drawingml/2006/main">
              <a:ext uri="{FF2B5EF4-FFF2-40B4-BE49-F238E27FC236}">
                <a16:creationId xmlns:a16="http://schemas.microsoft.com/office/drawing/2014/main" id="{7676D5D4-F114-4EE2-BF34-1840F4ECAF81}"/>
              </a:ext>
            </a:extLst>
          </p:cNvPr>
          <p:cNvSpPr>
            <a:spLocks xmlns:a="http://schemas.openxmlformats.org/drawingml/2006/main" noGrp="1"/>
          </p:cNvSpPr>
          <p:nvPr/>
        </p:nvSpPr>
        <p:spPr>
          <a:xfrm xmlns:a="http://schemas.openxmlformats.org/drawingml/2006/main">
            <a:off x="609600" y="4019550"/>
            <a:ext cx="2457450" cy="5524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34" name="">
            <a:extLst xmlns:a="http://schemas.openxmlformats.org/drawingml/2006/main">
              <a:ext uri="{FF2B5EF4-FFF2-40B4-BE49-F238E27FC236}">
                <a16:creationId xmlns:a16="http://schemas.microsoft.com/office/drawing/2014/main" id="{8CC12E80-27D4-4E93-9DED-A968CC345597}"/>
              </a:ext>
            </a:extLst>
          </p:cNvPr>
          <p:cNvSpPr>
            <a:spLocks xmlns:a="http://schemas.openxmlformats.org/drawingml/2006/main" noGrp="1"/>
          </p:cNvSpPr>
          <p:nvPr/>
        </p:nvSpPr>
        <p:spPr>
          <a:xfrm xmlns:a="http://schemas.openxmlformats.org/drawingml/2006/main">
            <a:off x="695325" y="411480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088" b="1">
                <a:solidFill>
                  <a:srgbClr val="B7433D"/>
                </a:solidFill>
                <a:latin typeface="Aptos"/>
                <a:ea typeface="Aptos"/>
                <a:cs typeface="Aptos"/>
              </a:defRPr>
            </a:pPr>
            <a:r>
              <a:rPr sz="1088" b="1">
                <a:solidFill>
                  <a:srgbClr val="B7433D"/>
                </a:solidFill>
                <a:latin typeface="Aptos"/>
                <a:ea typeface="Aptos"/>
                <a:cs typeface="Aptos"/>
              </a:rPr>
              <a:t>Model unsafe output</a:t>
            </a:r>
          </a:p>
        </p:txBody>
      </p:sp>
      <p:sp>
        <p:nvSpPr>
          <p:cNvPr id="35" name="">
            <a:extLst xmlns:a="http://schemas.openxmlformats.org/drawingml/2006/main">
              <a:ext uri="{FF2B5EF4-FFF2-40B4-BE49-F238E27FC236}">
                <a16:creationId xmlns:a16="http://schemas.microsoft.com/office/drawing/2014/main" id="{7763498E-CA0C-4923-BE45-465CF72D468B}"/>
              </a:ext>
            </a:extLst>
          </p:cNvPr>
          <p:cNvSpPr>
            <a:spLocks xmlns:a="http://schemas.openxmlformats.org/drawingml/2006/main" noGrp="1"/>
          </p:cNvSpPr>
          <p:nvPr/>
        </p:nvSpPr>
        <p:spPr>
          <a:xfrm xmlns:a="http://schemas.openxmlformats.org/drawingml/2006/main">
            <a:off x="3124200" y="4019550"/>
            <a:ext cx="3162300" cy="5524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36" name="">
            <a:extLst xmlns:a="http://schemas.openxmlformats.org/drawingml/2006/main">
              <a:ext uri="{FF2B5EF4-FFF2-40B4-BE49-F238E27FC236}">
                <a16:creationId xmlns:a16="http://schemas.microsoft.com/office/drawing/2014/main" id="{1C21068C-3C30-4FD5-BF7D-C71508E4F9E6}"/>
              </a:ext>
            </a:extLst>
          </p:cNvPr>
          <p:cNvSpPr>
            <a:spLocks xmlns:a="http://schemas.openxmlformats.org/drawingml/2006/main" noGrp="1"/>
          </p:cNvSpPr>
          <p:nvPr/>
        </p:nvSpPr>
        <p:spPr>
          <a:xfrm xmlns:a="http://schemas.openxmlformats.org/drawingml/2006/main">
            <a:off x="3209925" y="41148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088" b="0">
                <a:solidFill>
                  <a:srgbClr val="183340"/>
                </a:solidFill>
                <a:latin typeface="Aptos"/>
                <a:ea typeface="Aptos"/>
                <a:cs typeface="Aptos"/>
              </a:defRPr>
            </a:pPr>
            <a:r>
              <a:rPr sz="1088" b="0">
                <a:solidFill>
                  <a:srgbClr val="183340"/>
                </a:solidFill>
                <a:latin typeface="Aptos"/>
                <a:ea typeface="Aptos"/>
                <a:cs typeface="Aptos"/>
              </a:rPr>
              <a:t>Stop and label failure</a:t>
            </a:r>
          </a:p>
        </p:txBody>
      </p:sp>
      <p:sp>
        <p:nvSpPr>
          <p:cNvPr id="37" name="">
            <a:extLst xmlns:a="http://schemas.openxmlformats.org/drawingml/2006/main">
              <a:ext uri="{FF2B5EF4-FFF2-40B4-BE49-F238E27FC236}">
                <a16:creationId xmlns:a16="http://schemas.microsoft.com/office/drawing/2014/main" id="{095AACB9-1DA7-434A-8704-5FAA94CC6326}"/>
              </a:ext>
            </a:extLst>
          </p:cNvPr>
          <p:cNvSpPr>
            <a:spLocks xmlns:a="http://schemas.openxmlformats.org/drawingml/2006/main" noGrp="1"/>
          </p:cNvSpPr>
          <p:nvPr/>
        </p:nvSpPr>
        <p:spPr>
          <a:xfrm xmlns:a="http://schemas.openxmlformats.org/drawingml/2006/main">
            <a:off x="6343650" y="4019550"/>
            <a:ext cx="4953000" cy="5524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38" name="">
            <a:extLst xmlns:a="http://schemas.openxmlformats.org/drawingml/2006/main">
              <a:ext uri="{FF2B5EF4-FFF2-40B4-BE49-F238E27FC236}">
                <a16:creationId xmlns:a16="http://schemas.microsoft.com/office/drawing/2014/main" id="{44927171-12E2-478B-B08D-C5359E282FE6}"/>
              </a:ext>
            </a:extLst>
          </p:cNvPr>
          <p:cNvSpPr>
            <a:spLocks xmlns:a="http://schemas.openxmlformats.org/drawingml/2006/main" noGrp="1"/>
          </p:cNvSpPr>
          <p:nvPr/>
        </p:nvSpPr>
        <p:spPr>
          <a:xfrm xmlns:a="http://schemas.openxmlformats.org/drawingml/2006/main">
            <a:off x="6429375" y="4114800"/>
            <a:ext cx="478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088" b="0">
                <a:solidFill>
                  <a:srgbClr val="183340"/>
                </a:solidFill>
                <a:latin typeface="Aptos"/>
                <a:ea typeface="Aptos"/>
                <a:cs typeface="Aptos"/>
              </a:defRPr>
            </a:pPr>
            <a:r>
              <a:rPr sz="1088" b="0">
                <a:solidFill>
                  <a:srgbClr val="183340"/>
                </a:solidFill>
                <a:latin typeface="Aptos"/>
                <a:ea typeface="Aptos"/>
                <a:cs typeface="Aptos"/>
              </a:rPr>
              <a:t>Apply escalation + pilot stop rule</a:t>
            </a:r>
          </a:p>
        </p:txBody>
      </p:sp>
      <p:sp>
        <p:nvSpPr>
          <p:cNvPr id="39" name="">
            <a:extLst xmlns:a="http://schemas.openxmlformats.org/drawingml/2006/main">
              <a:ext uri="{FF2B5EF4-FFF2-40B4-BE49-F238E27FC236}">
                <a16:creationId xmlns:a16="http://schemas.microsoft.com/office/drawing/2014/main" id="{ACD6428F-0AD3-454D-81C4-844376394DB6}"/>
              </a:ext>
            </a:extLst>
          </p:cNvPr>
          <p:cNvSpPr>
            <a:spLocks xmlns:a="http://schemas.openxmlformats.org/drawingml/2006/main" noGrp="1"/>
          </p:cNvSpPr>
          <p:nvPr/>
        </p:nvSpPr>
        <p:spPr>
          <a:xfrm xmlns:a="http://schemas.openxmlformats.org/drawingml/2006/main">
            <a:off x="609600" y="4648200"/>
            <a:ext cx="2457450" cy="552450"/>
          </a:xfrm>
          <a:prstGeom xmlns:a="http://schemas.openxmlformats.org/drawingml/2006/main" prst="rect">
            <a:avLst/>
          </a:prstGeom>
          <a:solidFill xmlns:a="http://schemas.openxmlformats.org/drawingml/2006/main">
            <a:srgbClr val="E2EEF7"/>
          </a:solidFill>
          <a:ln xmlns:a="http://schemas.openxmlformats.org/drawingml/2006/main" w="9525">
            <a:solidFill>
              <a:srgbClr val="D3DDDE"/>
            </a:solidFill>
            <a:prstDash val="solid"/>
          </a:ln>
        </p:spPr>
      </p:sp>
      <p:sp>
        <p:nvSpPr>
          <p:cNvPr id="40" name="">
            <a:extLst xmlns:a="http://schemas.openxmlformats.org/drawingml/2006/main">
              <a:ext uri="{FF2B5EF4-FFF2-40B4-BE49-F238E27FC236}">
                <a16:creationId xmlns:a16="http://schemas.microsoft.com/office/drawing/2014/main" id="{819199AF-0248-4BD0-ABA7-E4690D3BB7DD}"/>
              </a:ext>
            </a:extLst>
          </p:cNvPr>
          <p:cNvSpPr>
            <a:spLocks xmlns:a="http://schemas.openxmlformats.org/drawingml/2006/main" noGrp="1"/>
          </p:cNvSpPr>
          <p:nvPr/>
        </p:nvSpPr>
        <p:spPr>
          <a:xfrm xmlns:a="http://schemas.openxmlformats.org/drawingml/2006/main">
            <a:off x="695325" y="47434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088" b="1">
                <a:solidFill>
                  <a:srgbClr val="B7433D"/>
                </a:solidFill>
                <a:latin typeface="Aptos"/>
                <a:ea typeface="Aptos"/>
                <a:cs typeface="Aptos"/>
              </a:defRPr>
            </a:pPr>
            <a:r>
              <a:rPr sz="1088" b="1">
                <a:solidFill>
                  <a:srgbClr val="B7433D"/>
                </a:solidFill>
                <a:latin typeface="Aptos"/>
                <a:ea typeface="Aptos"/>
                <a:cs typeface="Aptos"/>
              </a:rPr>
              <a:t>Time overrun</a:t>
            </a:r>
          </a:p>
        </p:txBody>
      </p:sp>
      <p:sp>
        <p:nvSpPr>
          <p:cNvPr id="41" name="">
            <a:extLst xmlns:a="http://schemas.openxmlformats.org/drawingml/2006/main">
              <a:ext uri="{FF2B5EF4-FFF2-40B4-BE49-F238E27FC236}">
                <a16:creationId xmlns:a16="http://schemas.microsoft.com/office/drawing/2014/main" id="{D1AE88D0-A82B-41D9-BCC3-044090D7810C}"/>
              </a:ext>
            </a:extLst>
          </p:cNvPr>
          <p:cNvSpPr>
            <a:spLocks xmlns:a="http://schemas.openxmlformats.org/drawingml/2006/main" noGrp="1"/>
          </p:cNvSpPr>
          <p:nvPr/>
        </p:nvSpPr>
        <p:spPr>
          <a:xfrm xmlns:a="http://schemas.openxmlformats.org/drawingml/2006/main">
            <a:off x="3124200" y="4648200"/>
            <a:ext cx="3162300" cy="552450"/>
          </a:xfrm>
          <a:prstGeom xmlns:a="http://schemas.openxmlformats.org/drawingml/2006/main" prst="rect">
            <a:avLst/>
          </a:prstGeom>
          <a:solidFill xmlns:a="http://schemas.openxmlformats.org/drawingml/2006/main">
            <a:srgbClr val="E2EEF7"/>
          </a:solidFill>
          <a:ln xmlns:a="http://schemas.openxmlformats.org/drawingml/2006/main" w="9525">
            <a:solidFill>
              <a:srgbClr val="D3DDDE"/>
            </a:solidFill>
            <a:prstDash val="solid"/>
          </a:ln>
        </p:spPr>
      </p:sp>
      <p:sp>
        <p:nvSpPr>
          <p:cNvPr id="42" name="">
            <a:extLst xmlns:a="http://schemas.openxmlformats.org/drawingml/2006/main">
              <a:ext uri="{FF2B5EF4-FFF2-40B4-BE49-F238E27FC236}">
                <a16:creationId xmlns:a16="http://schemas.microsoft.com/office/drawing/2014/main" id="{6926291C-582B-4C4A-B4B6-20B3B9C5A94C}"/>
              </a:ext>
            </a:extLst>
          </p:cNvPr>
          <p:cNvSpPr>
            <a:spLocks xmlns:a="http://schemas.openxmlformats.org/drawingml/2006/main" noGrp="1"/>
          </p:cNvSpPr>
          <p:nvPr/>
        </p:nvSpPr>
        <p:spPr>
          <a:xfrm xmlns:a="http://schemas.openxmlformats.org/drawingml/2006/main">
            <a:off x="3209925" y="474345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088" b="0">
                <a:solidFill>
                  <a:srgbClr val="183340"/>
                </a:solidFill>
                <a:latin typeface="Aptos"/>
                <a:ea typeface="Aptos"/>
                <a:cs typeface="Aptos"/>
              </a:defRPr>
            </a:pPr>
            <a:r>
              <a:rPr sz="1088" b="0">
                <a:solidFill>
                  <a:srgbClr val="183340"/>
                </a:solidFill>
                <a:latin typeface="Aptos"/>
                <a:ea typeface="Aptos"/>
                <a:cs typeface="Aptos"/>
              </a:rPr>
              <a:t>Skip interface tour</a:t>
            </a:r>
          </a:p>
        </p:txBody>
      </p:sp>
      <p:sp>
        <p:nvSpPr>
          <p:cNvPr id="43" name="">
            <a:extLst xmlns:a="http://schemas.openxmlformats.org/drawingml/2006/main">
              <a:ext uri="{FF2B5EF4-FFF2-40B4-BE49-F238E27FC236}">
                <a16:creationId xmlns:a16="http://schemas.microsoft.com/office/drawing/2014/main" id="{19892129-5F57-44DE-9BC6-3CE8F7CFCCBF}"/>
              </a:ext>
            </a:extLst>
          </p:cNvPr>
          <p:cNvSpPr>
            <a:spLocks xmlns:a="http://schemas.openxmlformats.org/drawingml/2006/main" noGrp="1"/>
          </p:cNvSpPr>
          <p:nvPr/>
        </p:nvSpPr>
        <p:spPr>
          <a:xfrm xmlns:a="http://schemas.openxmlformats.org/drawingml/2006/main">
            <a:off x="6343650" y="4648200"/>
            <a:ext cx="4953000" cy="552450"/>
          </a:xfrm>
          <a:prstGeom xmlns:a="http://schemas.openxmlformats.org/drawingml/2006/main" prst="rect">
            <a:avLst/>
          </a:prstGeom>
          <a:solidFill xmlns:a="http://schemas.openxmlformats.org/drawingml/2006/main">
            <a:srgbClr val="E2EEF7"/>
          </a:solidFill>
          <a:ln xmlns:a="http://schemas.openxmlformats.org/drawingml/2006/main" w="9525">
            <a:solidFill>
              <a:srgbClr val="D3DDDE"/>
            </a:solidFill>
            <a:prstDash val="solid"/>
          </a:ln>
        </p:spPr>
      </p:sp>
      <p:sp>
        <p:nvSpPr>
          <p:cNvPr id="44" name="">
            <a:extLst xmlns:a="http://schemas.openxmlformats.org/drawingml/2006/main">
              <a:ext uri="{FF2B5EF4-FFF2-40B4-BE49-F238E27FC236}">
                <a16:creationId xmlns:a16="http://schemas.microsoft.com/office/drawing/2014/main" id="{8BE752E9-4F8C-4AA4-A430-FE7CF677FD19}"/>
              </a:ext>
            </a:extLst>
          </p:cNvPr>
          <p:cNvSpPr>
            <a:spLocks xmlns:a="http://schemas.openxmlformats.org/drawingml/2006/main" noGrp="1"/>
          </p:cNvSpPr>
          <p:nvPr/>
        </p:nvSpPr>
        <p:spPr>
          <a:xfrm xmlns:a="http://schemas.openxmlformats.org/drawingml/2006/main">
            <a:off x="6429375" y="4743450"/>
            <a:ext cx="478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088" b="0">
                <a:solidFill>
                  <a:srgbClr val="183340"/>
                </a:solidFill>
                <a:latin typeface="Aptos"/>
                <a:ea typeface="Aptos"/>
                <a:cs typeface="Aptos"/>
              </a:defRPr>
            </a:pPr>
            <a:r>
              <a:rPr sz="1088" b="0">
                <a:solidFill>
                  <a:srgbClr val="183340"/>
                </a:solidFill>
                <a:latin typeface="Aptos"/>
                <a:ea typeface="Aptos"/>
                <a:cs typeface="Aptos"/>
              </a:rPr>
              <a:t>Keep case, decision and debrief</a:t>
            </a:r>
          </a:p>
        </p:txBody>
      </p:sp>
      <p:sp>
        <p:nvSpPr>
          <p:cNvPr id="45" name="">
            <a:extLst xmlns:a="http://schemas.openxmlformats.org/drawingml/2006/main">
              <a:ext uri="{FF2B5EF4-FFF2-40B4-BE49-F238E27FC236}">
                <a16:creationId xmlns:a16="http://schemas.microsoft.com/office/drawing/2014/main" id="{29569392-DEDF-4091-9CB1-C5730295CB84}"/>
              </a:ext>
            </a:extLst>
          </p:cNvPr>
          <p:cNvSpPr>
            <a:spLocks xmlns:a="http://schemas.openxmlformats.org/drawingml/2006/main" noGrp="1"/>
          </p:cNvSpPr>
          <p:nvPr/>
        </p:nvSpPr>
        <p:spPr>
          <a:xfrm xmlns:a="http://schemas.openxmlformats.org/drawingml/2006/main">
            <a:off x="609600" y="5276850"/>
            <a:ext cx="2457450" cy="5524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46" name="">
            <a:extLst xmlns:a="http://schemas.openxmlformats.org/drawingml/2006/main">
              <a:ext uri="{FF2B5EF4-FFF2-40B4-BE49-F238E27FC236}">
                <a16:creationId xmlns:a16="http://schemas.microsoft.com/office/drawing/2014/main" id="{1DEF0E9E-6640-4744-8BAB-5BED1BC9216D}"/>
              </a:ext>
            </a:extLst>
          </p:cNvPr>
          <p:cNvSpPr>
            <a:spLocks xmlns:a="http://schemas.openxmlformats.org/drawingml/2006/main" noGrp="1"/>
          </p:cNvSpPr>
          <p:nvPr/>
        </p:nvSpPr>
        <p:spPr>
          <a:xfrm xmlns:a="http://schemas.openxmlformats.org/drawingml/2006/main">
            <a:off x="695325" y="537210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1088" b="1">
                <a:solidFill>
                  <a:srgbClr val="B7433D"/>
                </a:solidFill>
                <a:latin typeface="Aptos"/>
                <a:ea typeface="Aptos"/>
                <a:cs typeface="Aptos"/>
              </a:defRPr>
            </a:pPr>
            <a:r>
              <a:rPr sz="1088" b="1">
                <a:solidFill>
                  <a:srgbClr val="B7433D"/>
                </a:solidFill>
                <a:latin typeface="Aptos"/>
                <a:ea typeface="Aptos"/>
                <a:cs typeface="Aptos"/>
              </a:rPr>
              <a:t>Privacy concern</a:t>
            </a:r>
          </a:p>
        </p:txBody>
      </p:sp>
      <p:sp>
        <p:nvSpPr>
          <p:cNvPr id="47" name="">
            <a:extLst xmlns:a="http://schemas.openxmlformats.org/drawingml/2006/main">
              <a:ext uri="{FF2B5EF4-FFF2-40B4-BE49-F238E27FC236}">
                <a16:creationId xmlns:a16="http://schemas.microsoft.com/office/drawing/2014/main" id="{14407DEA-262B-40EF-BB4E-C48E32391320}"/>
              </a:ext>
            </a:extLst>
          </p:cNvPr>
          <p:cNvSpPr>
            <a:spLocks xmlns:a="http://schemas.openxmlformats.org/drawingml/2006/main" noGrp="1"/>
          </p:cNvSpPr>
          <p:nvPr/>
        </p:nvSpPr>
        <p:spPr>
          <a:xfrm xmlns:a="http://schemas.openxmlformats.org/drawingml/2006/main">
            <a:off x="3124200" y="5276850"/>
            <a:ext cx="3162300" cy="5524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48" name="">
            <a:extLst xmlns:a="http://schemas.openxmlformats.org/drawingml/2006/main">
              <a:ext uri="{FF2B5EF4-FFF2-40B4-BE49-F238E27FC236}">
                <a16:creationId xmlns:a16="http://schemas.microsoft.com/office/drawing/2014/main" id="{1EFA46D0-230A-4886-898B-5FE6562E3AD2}"/>
              </a:ext>
            </a:extLst>
          </p:cNvPr>
          <p:cNvSpPr>
            <a:spLocks xmlns:a="http://schemas.openxmlformats.org/drawingml/2006/main" noGrp="1"/>
          </p:cNvSpPr>
          <p:nvPr/>
        </p:nvSpPr>
        <p:spPr>
          <a:xfrm xmlns:a="http://schemas.openxmlformats.org/drawingml/2006/main">
            <a:off x="3209925" y="53721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088" b="0">
                <a:solidFill>
                  <a:srgbClr val="183340"/>
                </a:solidFill>
                <a:latin typeface="Aptos"/>
                <a:ea typeface="Aptos"/>
                <a:cs typeface="Aptos"/>
              </a:defRPr>
            </a:pPr>
            <a:r>
              <a:rPr sz="1088" b="0">
                <a:solidFill>
                  <a:srgbClr val="183340"/>
                </a:solidFill>
                <a:latin typeface="Aptos"/>
                <a:ea typeface="Aptos"/>
                <a:cs typeface="Aptos"/>
              </a:rPr>
              <a:t>Do not enter data</a:t>
            </a:r>
          </a:p>
        </p:txBody>
      </p:sp>
      <p:sp>
        <p:nvSpPr>
          <p:cNvPr id="49" name="">
            <a:extLst xmlns:a="http://schemas.openxmlformats.org/drawingml/2006/main">
              <a:ext uri="{FF2B5EF4-FFF2-40B4-BE49-F238E27FC236}">
                <a16:creationId xmlns:a16="http://schemas.microsoft.com/office/drawing/2014/main" id="{8BDCFEAF-3DDA-409E-A571-075955FD8C7A}"/>
              </a:ext>
            </a:extLst>
          </p:cNvPr>
          <p:cNvSpPr>
            <a:spLocks xmlns:a="http://schemas.openxmlformats.org/drawingml/2006/main" noGrp="1"/>
          </p:cNvSpPr>
          <p:nvPr/>
        </p:nvSpPr>
        <p:spPr>
          <a:xfrm xmlns:a="http://schemas.openxmlformats.org/drawingml/2006/main">
            <a:off x="6343650" y="5276850"/>
            <a:ext cx="4953000" cy="552450"/>
          </a:xfrm>
          <a:prstGeom xmlns:a="http://schemas.openxmlformats.org/drawingml/2006/main" prst="rect">
            <a:avLst/>
          </a:prstGeom>
          <a:solidFill xmlns:a="http://schemas.openxmlformats.org/drawingml/2006/main">
            <a:srgbClr val="FFFDFC"/>
          </a:solidFill>
          <a:ln xmlns:a="http://schemas.openxmlformats.org/drawingml/2006/main" w="9525">
            <a:solidFill>
              <a:srgbClr val="D3DDDE"/>
            </a:solidFill>
            <a:prstDash val="solid"/>
          </a:ln>
        </p:spPr>
      </p:sp>
      <p:sp>
        <p:nvSpPr>
          <p:cNvPr id="50" name="">
            <a:extLst xmlns:a="http://schemas.openxmlformats.org/drawingml/2006/main">
              <a:ext uri="{FF2B5EF4-FFF2-40B4-BE49-F238E27FC236}">
                <a16:creationId xmlns:a16="http://schemas.microsoft.com/office/drawing/2014/main" id="{C4866DD1-D195-40C1-AB5F-8BF512FB6D94}"/>
              </a:ext>
            </a:extLst>
          </p:cNvPr>
          <p:cNvSpPr>
            <a:spLocks xmlns:a="http://schemas.openxmlformats.org/drawingml/2006/main" noGrp="1"/>
          </p:cNvSpPr>
          <p:nvPr/>
        </p:nvSpPr>
        <p:spPr>
          <a:xfrm xmlns:a="http://schemas.openxmlformats.org/drawingml/2006/main">
            <a:off x="6429375" y="5372100"/>
            <a:ext cx="478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3000"/>
              </a:lnSpc>
              <a:buNone/>
              <a:defRPr sz="1088" b="0">
                <a:solidFill>
                  <a:srgbClr val="183340"/>
                </a:solidFill>
                <a:latin typeface="Aptos"/>
                <a:ea typeface="Aptos"/>
                <a:cs typeface="Aptos"/>
              </a:defRPr>
            </a:pPr>
            <a:r>
              <a:rPr sz="1088" b="0">
                <a:solidFill>
                  <a:srgbClr val="183340"/>
                </a:solidFill>
                <a:latin typeface="Aptos"/>
                <a:ea typeface="Aptos"/>
                <a:cs typeface="Aptos"/>
              </a:rPr>
              <a:t>Use only the supplied synthetic vignette</a:t>
            </a:r>
          </a:p>
        </p:txBody>
      </p:sp>
    </p:spTree>
    <p:extLst>
      <p:ext uri="{BB962C8B-B14F-4D97-AF65-F5344CB8AC3E}">
        <p14:creationId xmlns:p14="http://schemas.microsoft.com/office/powerpoint/2010/main" val="14144305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2026-07-21T09:16:53.9100000Z</dcterms:created>
  <dcterms:modified xsi:type="dcterms:W3CDTF">2026-07-21T09:16:53.9100000Z</dcterms:modified>
</coreProperties>
</file>